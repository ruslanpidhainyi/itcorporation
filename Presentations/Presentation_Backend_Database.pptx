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7"/>
  </p:notesMasterIdLst>
  <p:sldIdLst>
    <p:sldId id="256" r:id="rId2"/>
    <p:sldId id="351" r:id="rId3"/>
    <p:sldId id="378" r:id="rId4"/>
    <p:sldId id="294" r:id="rId5"/>
    <p:sldId id="258" r:id="rId6"/>
    <p:sldId id="257" r:id="rId7"/>
    <p:sldId id="259" r:id="rId8"/>
    <p:sldId id="383" r:id="rId9"/>
    <p:sldId id="381" r:id="rId10"/>
    <p:sldId id="387" r:id="rId11"/>
    <p:sldId id="385" r:id="rId12"/>
    <p:sldId id="382" r:id="rId13"/>
    <p:sldId id="384" r:id="rId14"/>
    <p:sldId id="386" r:id="rId15"/>
    <p:sldId id="391" r:id="rId16"/>
    <p:sldId id="359" r:id="rId17"/>
    <p:sldId id="260" r:id="rId18"/>
    <p:sldId id="355" r:id="rId19"/>
    <p:sldId id="356" r:id="rId20"/>
    <p:sldId id="357" r:id="rId21"/>
    <p:sldId id="358" r:id="rId22"/>
    <p:sldId id="375" r:id="rId23"/>
    <p:sldId id="390" r:id="rId24"/>
    <p:sldId id="393" r:id="rId25"/>
    <p:sldId id="261" r:id="rId26"/>
    <p:sldId id="262" r:id="rId27"/>
    <p:sldId id="263" r:id="rId28"/>
    <p:sldId id="296" r:id="rId29"/>
    <p:sldId id="316" r:id="rId30"/>
    <p:sldId id="317" r:id="rId31"/>
    <p:sldId id="318" r:id="rId32"/>
    <p:sldId id="319" r:id="rId33"/>
    <p:sldId id="350" r:id="rId34"/>
    <p:sldId id="394" r:id="rId35"/>
    <p:sldId id="395" r:id="rId36"/>
    <p:sldId id="396" r:id="rId37"/>
    <p:sldId id="397" r:id="rId38"/>
    <p:sldId id="398" r:id="rId39"/>
    <p:sldId id="399" r:id="rId40"/>
    <p:sldId id="379" r:id="rId41"/>
    <p:sldId id="290" r:id="rId42"/>
    <p:sldId id="291" r:id="rId43"/>
    <p:sldId id="295" r:id="rId44"/>
    <p:sldId id="288" r:id="rId45"/>
    <p:sldId id="292" r:id="rId46"/>
    <p:sldId id="293" r:id="rId47"/>
    <p:sldId id="265" r:id="rId48"/>
    <p:sldId id="297" r:id="rId49"/>
    <p:sldId id="298" r:id="rId50"/>
    <p:sldId id="300" r:id="rId51"/>
    <p:sldId id="352" r:id="rId52"/>
    <p:sldId id="353" r:id="rId53"/>
    <p:sldId id="354" r:id="rId54"/>
    <p:sldId id="283" r:id="rId55"/>
    <p:sldId id="306" r:id="rId56"/>
    <p:sldId id="284" r:id="rId57"/>
    <p:sldId id="307" r:id="rId58"/>
    <p:sldId id="363" r:id="rId59"/>
    <p:sldId id="308" r:id="rId60"/>
    <p:sldId id="286" r:id="rId61"/>
    <p:sldId id="309" r:id="rId62"/>
    <p:sldId id="287" r:id="rId63"/>
    <p:sldId id="310" r:id="rId64"/>
    <p:sldId id="400" r:id="rId65"/>
    <p:sldId id="401" r:id="rId66"/>
    <p:sldId id="402" r:id="rId67"/>
    <p:sldId id="403" r:id="rId68"/>
    <p:sldId id="404" r:id="rId69"/>
    <p:sldId id="405" r:id="rId70"/>
    <p:sldId id="380" r:id="rId71"/>
    <p:sldId id="367" r:id="rId72"/>
    <p:sldId id="366" r:id="rId73"/>
    <p:sldId id="369" r:id="rId74"/>
    <p:sldId id="368" r:id="rId75"/>
    <p:sldId id="301" r:id="rId76"/>
    <p:sldId id="311" r:id="rId77"/>
    <p:sldId id="312" r:id="rId78"/>
    <p:sldId id="313" r:id="rId79"/>
    <p:sldId id="314" r:id="rId80"/>
    <p:sldId id="302" r:id="rId81"/>
    <p:sldId id="303" r:id="rId82"/>
    <p:sldId id="407" r:id="rId83"/>
    <p:sldId id="305" r:id="rId84"/>
    <p:sldId id="338" r:id="rId85"/>
    <p:sldId id="339" r:id="rId86"/>
    <p:sldId id="321" r:id="rId87"/>
    <p:sldId id="340" r:id="rId88"/>
    <p:sldId id="341" r:id="rId89"/>
    <p:sldId id="342" r:id="rId90"/>
    <p:sldId id="322" r:id="rId91"/>
    <p:sldId id="323" r:id="rId92"/>
    <p:sldId id="320" r:id="rId93"/>
    <p:sldId id="377" r:id="rId94"/>
    <p:sldId id="410" r:id="rId95"/>
    <p:sldId id="406" r:id="rId96"/>
    <p:sldId id="408" r:id="rId97"/>
    <p:sldId id="411" r:id="rId98"/>
    <p:sldId id="409" r:id="rId99"/>
    <p:sldId id="412" r:id="rId100"/>
    <p:sldId id="388" r:id="rId101"/>
    <p:sldId id="413" r:id="rId102"/>
    <p:sldId id="324" r:id="rId103"/>
    <p:sldId id="325" r:id="rId104"/>
    <p:sldId id="331" r:id="rId105"/>
    <p:sldId id="332" r:id="rId106"/>
    <p:sldId id="326" r:id="rId107"/>
    <p:sldId id="389" r:id="rId108"/>
    <p:sldId id="327" r:id="rId109"/>
    <p:sldId id="334" r:id="rId110"/>
    <p:sldId id="335" r:id="rId111"/>
    <p:sldId id="328" r:id="rId112"/>
    <p:sldId id="336" r:id="rId113"/>
    <p:sldId id="329" r:id="rId114"/>
    <p:sldId id="337" r:id="rId115"/>
    <p:sldId id="343" r:id="rId116"/>
    <p:sldId id="347" r:id="rId117"/>
    <p:sldId id="348" r:id="rId118"/>
    <p:sldId id="345" r:id="rId119"/>
    <p:sldId id="346" r:id="rId120"/>
    <p:sldId id="414" r:id="rId121"/>
    <p:sldId id="415" r:id="rId122"/>
    <p:sldId id="417" r:id="rId123"/>
    <p:sldId id="418" r:id="rId124"/>
    <p:sldId id="419" r:id="rId125"/>
    <p:sldId id="416" r:id="rId1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63C3"/>
    <a:srgbClr val="309070"/>
    <a:srgbClr val="0066FF"/>
    <a:srgbClr val="FFCC66"/>
    <a:srgbClr val="6699FF"/>
    <a:srgbClr val="9966FF"/>
    <a:srgbClr val="3399FF"/>
    <a:srgbClr val="FF7C80"/>
    <a:srgbClr val="FF33CC"/>
    <a:srgbClr val="C92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76" autoAdjust="0"/>
    <p:restoredTop sz="95196" autoAdjust="0"/>
  </p:normalViewPr>
  <p:slideViewPr>
    <p:cSldViewPr snapToGrid="0">
      <p:cViewPr varScale="1">
        <p:scale>
          <a:sx n="85" d="100"/>
          <a:sy n="85" d="100"/>
        </p:scale>
        <p:origin x="3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D3BC46-0F9E-49BB-B6A8-F9A1D87E05E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807C0-8609-48BC-809D-A7A19DEB92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3122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807C0-8609-48BC-809D-A7A19DEB92EC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8573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29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488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6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935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836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22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813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53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503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98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55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6806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1856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361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556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2598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3065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B236A9-3DF9-445B-954D-A7405BFD7BD3}" type="datetimeFigureOut">
              <a:rPr lang="en-GB" smtClean="0"/>
              <a:t>28/08/2025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91C76-D75D-4D65-A293-AFBEC305A3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786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azure.com/dmytrokiselyov0389/Dev%20Workshop%20DK/_git/Dev%20Workshop%20D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HTTP#Request_methods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en.wikipedia.org/wiki/List_of_HTTP_status_codes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hyperlink" Target="https://localhost:7067/api/projects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localhost:7067/api/projects/1/with-employees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localhost:7067/api/projects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hyperlink" Target="https://localhost:7067/api/projects/6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localhost:7067/api/projects/6" TargetMode="Externa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host:7067/api/projects/6" TargetMode="External"/><Relationship Id="rId2" Type="http://schemas.openxmlformats.org/officeDocument/2006/relationships/hyperlink" Target="https://localhost:7067/api/projects/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localhost:7067/api/projects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microsoft.visualstudio.testtools.unittesting.assert?view=mstest-net-3.9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5733C-E4D7-B8C5-691D-9279456722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2902" y="1286929"/>
            <a:ext cx="2216031" cy="4284129"/>
          </a:xfrm>
        </p:spPr>
        <p:txBody>
          <a:bodyPr anchor="ctr">
            <a:normAutofit/>
          </a:bodyPr>
          <a:lstStyle/>
          <a:p>
            <a:pPr algn="l"/>
            <a:endParaRPr lang="en-GB" sz="28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04B68B-89EB-6A36-5EA7-26BDE2513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1286929"/>
            <a:ext cx="7674983" cy="4284129"/>
          </a:xfrm>
        </p:spPr>
        <p:txBody>
          <a:bodyPr anchor="ctr">
            <a:normAutofit/>
          </a:bodyPr>
          <a:lstStyle/>
          <a:p>
            <a:r>
              <a:rPr lang="en-GB" sz="8000" b="1" dirty="0"/>
              <a:t>Backend &amp; Database</a:t>
            </a:r>
          </a:p>
        </p:txBody>
      </p:sp>
    </p:spTree>
    <p:extLst>
      <p:ext uri="{BB962C8B-B14F-4D97-AF65-F5344CB8AC3E}">
        <p14:creationId xmlns:p14="http://schemas.microsoft.com/office/powerpoint/2010/main" val="1657081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736C4-483C-0BCF-02BA-7351ABA84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Посилання на репозиторій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9BCB1-431D-3AF7-4B4E-51A1952F9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061" y="2254987"/>
            <a:ext cx="9613861" cy="35993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pl-PL" sz="2000" b="1" dirty="0"/>
          </a:p>
          <a:p>
            <a:pPr marL="0" indent="0" algn="ctr">
              <a:buNone/>
            </a:pPr>
            <a:endParaRPr lang="pl-PL" sz="2000" b="1" dirty="0"/>
          </a:p>
          <a:p>
            <a:pPr marL="0" indent="0" algn="ctr">
              <a:buNone/>
            </a:pPr>
            <a:endParaRPr lang="pl-PL" sz="2000" b="1" dirty="0"/>
          </a:p>
          <a:p>
            <a:pPr marL="0" indent="0" algn="ctr">
              <a:buNone/>
            </a:pPr>
            <a:endParaRPr lang="pl-PL" sz="2000" b="1" dirty="0"/>
          </a:p>
          <a:p>
            <a:pPr marL="0" indent="0" algn="ctr">
              <a:buNone/>
            </a:pPr>
            <a:r>
              <a:rPr lang="en-GB" sz="2000" b="1" dirty="0">
                <a:hlinkClick r:id="rId2"/>
              </a:rPr>
              <a:t>https://dev.azure.com/dmytrokiselyov0389/Dev%20Workshop%20DK/_git/Dev%20Workshop%20DK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86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2BDC6-0611-CC2A-12B2-A003E9104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Зміст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8D679-90AB-ED84-A24F-AA6D244A0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10642772" cy="4245897"/>
          </a:xfrm>
        </p:spPr>
        <p:txBody>
          <a:bodyPr>
            <a:normAutofit/>
          </a:bodyPr>
          <a:lstStyle/>
          <a:p>
            <a:r>
              <a:rPr lang="en-US" b="1" dirty="0"/>
              <a:t>Backend</a:t>
            </a:r>
          </a:p>
          <a:p>
            <a:pPr lvl="1">
              <a:lnSpc>
                <a:spcPct val="110000"/>
              </a:lnSpc>
            </a:pPr>
            <a:r>
              <a:rPr lang="en-US" dirty="0" err="1"/>
              <a:t>.Net</a:t>
            </a:r>
            <a:r>
              <a:rPr lang="uk-UA" dirty="0"/>
              <a:t>(</a:t>
            </a:r>
            <a:r>
              <a:rPr lang="en-US" dirty="0"/>
              <a:t> C</a:t>
            </a:r>
            <a:r>
              <a:rPr lang="en-US" b="1" dirty="0"/>
              <a:t>#/</a:t>
            </a:r>
            <a:r>
              <a:rPr lang="en-US" b="1" dirty="0" err="1"/>
              <a:t>ASP.Net</a:t>
            </a:r>
            <a:r>
              <a:rPr lang="en-US" b="1" dirty="0"/>
              <a:t> ) </a:t>
            </a:r>
            <a:endParaRPr lang="pl-PL" b="1" dirty="0"/>
          </a:p>
          <a:p>
            <a:pPr lvl="1">
              <a:lnSpc>
                <a:spcPct val="110000"/>
              </a:lnSpc>
            </a:pPr>
            <a:r>
              <a:rPr lang="pl-PL" dirty="0" err="1"/>
              <a:t>Backend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Database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IDE (Visual Studio)</a:t>
            </a:r>
            <a:endParaRPr lang="pl-PL" dirty="0"/>
          </a:p>
          <a:p>
            <a:pPr lvl="1">
              <a:lnSpc>
                <a:spcPct val="110000"/>
              </a:lnSpc>
            </a:pPr>
            <a:r>
              <a:rPr lang="pl-PL" dirty="0"/>
              <a:t>Client-Server </a:t>
            </a:r>
            <a:r>
              <a:rPr lang="pl-PL" dirty="0" err="1"/>
              <a:t>architecture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Request/Response HTTP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Swagger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00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629"/>
            <a:ext cx="11525954" cy="27594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1525954" cy="537949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78A596B-3235-C6C7-4BC4-9080B2682882}"/>
              </a:ext>
            </a:extLst>
          </p:cNvPr>
          <p:cNvSpPr txBox="1">
            <a:spLocks/>
          </p:cNvSpPr>
          <p:nvPr/>
        </p:nvSpPr>
        <p:spPr>
          <a:xfrm>
            <a:off x="4063113" y="1997765"/>
            <a:ext cx="5872891" cy="26966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6000" b="1">
                <a:solidFill>
                  <a:srgbClr val="FFFFFF"/>
                </a:solidFill>
              </a:rPr>
              <a:t>Backend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4686838"/>
            <a:ext cx="1602997" cy="144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3034068"/>
            <a:ext cx="1602997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01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9550B-9F6B-4623-919E-9799AE61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.NET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C43D4-67DB-73D4-EF3F-DF59E9E4E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2231696"/>
            <a:ext cx="7444031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000" b="1" dirty="0"/>
              <a:t>.NET </a:t>
            </a:r>
            <a:r>
              <a:rPr lang="ru-RU" sz="2000" dirty="0"/>
              <a:t>— це </a:t>
            </a:r>
            <a:r>
              <a:rPr lang="ru-RU" sz="2000" b="1" dirty="0"/>
              <a:t>платформа</a:t>
            </a:r>
            <a:r>
              <a:rPr lang="ru-RU" sz="2000" dirty="0"/>
              <a:t>, яка дозволяє створювати та запускати програми різними мовами програмування, такими як C#, F# та VB.NET.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ru-RU" sz="2000" b="1" dirty="0"/>
              <a:t>.NET</a:t>
            </a:r>
            <a:r>
              <a:rPr lang="ru-RU" sz="2000" dirty="0"/>
              <a:t> це </a:t>
            </a:r>
            <a:r>
              <a:rPr lang="ru-RU" sz="2000" b="1" dirty="0"/>
              <a:t>кросплатформна технологія</a:t>
            </a:r>
            <a:r>
              <a:rPr lang="ru-RU" sz="2000" dirty="0"/>
              <a:t>, яка дозволяє використовувати її на різних операційних системах, таких як: </a:t>
            </a:r>
          </a:p>
          <a:p>
            <a:pPr lvl="1">
              <a:lnSpc>
                <a:spcPct val="100000"/>
              </a:lnSpc>
            </a:pPr>
            <a:r>
              <a:rPr lang="pl-PL" dirty="0"/>
              <a:t>Windows </a:t>
            </a:r>
            <a:endParaRPr lang="uk-UA" dirty="0"/>
          </a:p>
          <a:p>
            <a:pPr lvl="1">
              <a:lnSpc>
                <a:spcPct val="100000"/>
              </a:lnSpc>
            </a:pPr>
            <a:r>
              <a:rPr lang="pl-PL" dirty="0"/>
              <a:t>macOS</a:t>
            </a:r>
            <a:endParaRPr lang="uk-UA" dirty="0"/>
          </a:p>
          <a:p>
            <a:pPr lvl="1">
              <a:lnSpc>
                <a:spcPct val="100000"/>
              </a:lnSpc>
            </a:pPr>
            <a:r>
              <a:rPr lang="pl-PL" dirty="0"/>
              <a:t>Linux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52028D-DC9F-76C7-34DB-F165DA65F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926" y="355698"/>
            <a:ext cx="2102179" cy="210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16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0B87-D915-361A-B57E-D6D2D20F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Що таке </a:t>
            </a:r>
            <a:r>
              <a:rPr lang="en-US" b="1" dirty="0"/>
              <a:t>C#</a:t>
            </a:r>
            <a:r>
              <a:rPr lang="uk-UA" b="1" dirty="0"/>
              <a:t> 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FBCB6-F5F5-A8B0-34DC-30B2F07A7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045" y="2101397"/>
            <a:ext cx="9218422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uk-UA" sz="2000" b="1" dirty="0"/>
              <a:t>С</a:t>
            </a:r>
            <a:r>
              <a:rPr lang="en-US" sz="2000" b="1" dirty="0"/>
              <a:t>#</a:t>
            </a:r>
            <a:r>
              <a:rPr lang="uk-UA" sz="2000" dirty="0"/>
              <a:t> -</a:t>
            </a:r>
            <a:r>
              <a:rPr lang="en-US" sz="2000" dirty="0"/>
              <a:t> </a:t>
            </a:r>
            <a:r>
              <a:rPr lang="uk-UA" sz="2000" dirty="0"/>
              <a:t>це </a:t>
            </a:r>
            <a:r>
              <a:rPr lang="uk-UA" sz="2000" b="1" dirty="0"/>
              <a:t>компільована</a:t>
            </a:r>
            <a:r>
              <a:rPr lang="uk-UA" sz="2000" dirty="0"/>
              <a:t>, </a:t>
            </a:r>
            <a:r>
              <a:rPr lang="uk-UA" sz="2000" b="1" dirty="0"/>
              <a:t>високорівнева</a:t>
            </a:r>
            <a:r>
              <a:rPr lang="uk-UA" sz="2000" dirty="0"/>
              <a:t> та </a:t>
            </a:r>
            <a:r>
              <a:rPr lang="uk-UA" sz="2000" b="1" dirty="0"/>
              <a:t>об'єктно-орієнтована мова програмування</a:t>
            </a:r>
            <a:r>
              <a:rPr lang="uk-UA" sz="2000" dirty="0"/>
              <a:t>, яка працює на платформі </a:t>
            </a:r>
            <a:r>
              <a:rPr lang="en-US" sz="2000" dirty="0"/>
              <a:t>.NET</a:t>
            </a:r>
            <a:endParaRPr lang="uk-UA" sz="2000" dirty="0"/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ru-RU" sz="2000" dirty="0"/>
              <a:t>C# також є </a:t>
            </a:r>
            <a:r>
              <a:rPr lang="ru-RU" sz="2000" b="1" dirty="0"/>
              <a:t>кросплатформною</a:t>
            </a:r>
            <a:r>
              <a:rPr lang="ru-RU" sz="2000" dirty="0"/>
              <a:t> мовою, що дозволяє нам використовувати її в різних сферах розробки.</a:t>
            </a:r>
            <a:endParaRPr lang="uk-UA" sz="2000" dirty="0"/>
          </a:p>
          <a:p>
            <a:pPr>
              <a:lnSpc>
                <a:spcPct val="100000"/>
              </a:lnSpc>
            </a:pPr>
            <a:r>
              <a:rPr lang="uk-UA" sz="2000" dirty="0"/>
              <a:t>Наприклад:</a:t>
            </a:r>
          </a:p>
          <a:p>
            <a:pPr lvl="1">
              <a:lnSpc>
                <a:spcPct val="100000"/>
              </a:lnSpc>
            </a:pPr>
            <a:r>
              <a:rPr lang="uk-UA" dirty="0"/>
              <a:t>мобільні додатки</a:t>
            </a:r>
          </a:p>
          <a:p>
            <a:pPr lvl="1">
              <a:lnSpc>
                <a:spcPct val="100000"/>
              </a:lnSpc>
            </a:pPr>
            <a:r>
              <a:rPr lang="uk-UA" dirty="0"/>
              <a:t>веб-сервіси</a:t>
            </a:r>
          </a:p>
          <a:p>
            <a:pPr lvl="1">
              <a:lnSpc>
                <a:spcPct val="100000"/>
              </a:lnSpc>
            </a:pPr>
            <a:r>
              <a:rPr lang="uk-UA" dirty="0"/>
              <a:t>ігри</a:t>
            </a:r>
            <a:endParaRPr lang="en-GB" dirty="0"/>
          </a:p>
          <a:p>
            <a:pPr lvl="1">
              <a:lnSpc>
                <a:spcPct val="100000"/>
              </a:lnSpc>
            </a:pPr>
            <a:r>
              <a:rPr lang="uk-UA" dirty="0"/>
              <a:t>тощо</a:t>
            </a:r>
          </a:p>
          <a:p>
            <a:pPr>
              <a:lnSpc>
                <a:spcPct val="100000"/>
              </a:lnSpc>
            </a:pPr>
            <a:r>
              <a:rPr lang="uk-UA" sz="2000" dirty="0"/>
              <a:t>Для цього існують різноманітні фреймворки:</a:t>
            </a:r>
            <a:br>
              <a:rPr lang="uk-UA" sz="2000" dirty="0"/>
            </a:br>
            <a:r>
              <a:rPr lang="uk-UA" sz="2000" b="1" dirty="0"/>
              <a:t>.</a:t>
            </a:r>
            <a:r>
              <a:rPr lang="en-GB" sz="2000" b="1" dirty="0"/>
              <a:t>NET MAUI, ASP.NET, Unity </a:t>
            </a:r>
            <a:r>
              <a:rPr lang="uk-UA" sz="2000" dirty="0"/>
              <a:t>та інші.</a:t>
            </a:r>
          </a:p>
        </p:txBody>
      </p:sp>
    </p:spTree>
    <p:extLst>
      <p:ext uri="{BB962C8B-B14F-4D97-AF65-F5344CB8AC3E}">
        <p14:creationId xmlns:p14="http://schemas.microsoft.com/office/powerpoint/2010/main" val="2770911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77B5-9DF8-0734-E4B4-08743CDEC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Синтаксис С</a:t>
            </a:r>
            <a:r>
              <a:rPr lang="en-US" b="1" dirty="0"/>
              <a:t>#</a:t>
            </a:r>
            <a:r>
              <a:rPr lang="uk-UA" b="1" dirty="0"/>
              <a:t> </a:t>
            </a:r>
            <a:endParaRPr lang="en-GB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E9C6C0C-6FE6-24BB-20D2-62372D1C1A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7276" y="2078611"/>
            <a:ext cx="8126790" cy="446271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29FF83-CC92-6048-A82E-B040001F27AD}"/>
              </a:ext>
            </a:extLst>
          </p:cNvPr>
          <p:cNvSpPr txBox="1"/>
          <p:nvPr/>
        </p:nvSpPr>
        <p:spPr>
          <a:xfrm>
            <a:off x="452848" y="2116440"/>
            <a:ext cx="29241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Синтаксис</a:t>
            </a:r>
            <a:r>
              <a:rPr lang="ru-RU" sz="2000" dirty="0"/>
              <a:t> – це </a:t>
            </a:r>
            <a:r>
              <a:rPr lang="ru-RU" sz="2000" b="1" dirty="0"/>
              <a:t>структура</a:t>
            </a:r>
            <a:r>
              <a:rPr lang="ru-RU" sz="2000" dirty="0"/>
              <a:t> або </a:t>
            </a:r>
            <a:r>
              <a:rPr lang="ru-RU" sz="2000" b="1" dirty="0"/>
              <a:t>набір</a:t>
            </a:r>
            <a:r>
              <a:rPr lang="ru-RU" sz="2000" dirty="0"/>
              <a:t> </a:t>
            </a:r>
            <a:r>
              <a:rPr lang="ru-RU" sz="2000" b="1" dirty="0"/>
              <a:t>правил</a:t>
            </a:r>
            <a:r>
              <a:rPr lang="ru-RU" sz="2000" dirty="0"/>
              <a:t>, які описують, як правильно використовувати конкретні конструкції мови програмування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96691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31E8-13A1-FF53-27A2-E728D87B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types</a:t>
            </a:r>
            <a:endParaRPr lang="en-GB" b="1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C2A6B14-518A-A974-895E-B422C4F56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7341" y="2116440"/>
            <a:ext cx="5452062" cy="437756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D4700C-DE21-C4C1-0667-91EEB6BB8214}"/>
              </a:ext>
            </a:extLst>
          </p:cNvPr>
          <p:cNvSpPr txBox="1"/>
          <p:nvPr/>
        </p:nvSpPr>
        <p:spPr>
          <a:xfrm>
            <a:off x="372165" y="2116440"/>
            <a:ext cx="57238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C# це строго типізована мова програмування, </a:t>
            </a:r>
            <a:r>
              <a:rPr lang="ru-RU" dirty="0"/>
              <a:t>що означає жорстке дотримання типів даних.</a:t>
            </a:r>
            <a:br>
              <a:rPr lang="ru-RU" dirty="0"/>
            </a:br>
            <a:r>
              <a:rPr lang="ru-RU" dirty="0"/>
              <a:t>Типи даних допомагають зберігати певну інформацію, а кожен із них має визначений обсяг пам’яті, який ми можемо використовувати.</a:t>
            </a:r>
          </a:p>
          <a:p>
            <a:endParaRPr lang="ru-RU" dirty="0"/>
          </a:p>
          <a:p>
            <a:r>
              <a:rPr lang="uk-UA" dirty="0"/>
              <a:t>Класифікація типів даних:</a:t>
            </a:r>
          </a:p>
          <a:p>
            <a:r>
              <a:rPr lang="ru-RU" dirty="0"/>
              <a:t> 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Numeric / Integer types </a:t>
            </a:r>
            <a:r>
              <a:rPr lang="en-GB" dirty="0"/>
              <a:t>— </a:t>
            </a:r>
            <a:r>
              <a:rPr lang="uk-UA" dirty="0"/>
              <a:t>цілі числа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Floating-point types </a:t>
            </a:r>
            <a:r>
              <a:rPr lang="en-GB" dirty="0"/>
              <a:t>— </a:t>
            </a:r>
            <a:r>
              <a:rPr lang="uk-UA" dirty="0"/>
              <a:t>числа з плаваючою комою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Character types </a:t>
            </a:r>
            <a:r>
              <a:rPr lang="en-GB" dirty="0"/>
              <a:t>— </a:t>
            </a:r>
            <a:r>
              <a:rPr lang="uk-UA" dirty="0"/>
              <a:t>символи та текст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Boolean type </a:t>
            </a:r>
            <a:r>
              <a:rPr lang="en-GB" dirty="0"/>
              <a:t>— </a:t>
            </a:r>
            <a:r>
              <a:rPr lang="uk-UA" dirty="0"/>
              <a:t>логічний тип даних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Special type </a:t>
            </a:r>
            <a:r>
              <a:rPr lang="en-GB" dirty="0"/>
              <a:t>— </a:t>
            </a:r>
            <a:r>
              <a:rPr lang="uk-UA" dirty="0"/>
              <a:t>об’єкти. Об’єктами можуть бути класи, інтерфейси, делегати тощо.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0334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EFE7E-A15E-3BF7-C9E4-663FACCF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Code: </a:t>
            </a:r>
            <a:r>
              <a:rPr lang="en-US" b="1" dirty="0"/>
              <a:t>Data types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F134C1-9416-B016-0AA3-D916D5A7A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8665" y="2076824"/>
            <a:ext cx="6785260" cy="4521199"/>
          </a:xfrm>
        </p:spPr>
      </p:pic>
    </p:spTree>
    <p:extLst>
      <p:ext uri="{BB962C8B-B14F-4D97-AF65-F5344CB8AC3E}">
        <p14:creationId xmlns:p14="http://schemas.microsoft.com/office/powerpoint/2010/main" val="3677120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00746-DAAA-37D7-8409-72D68DE0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Code: </a:t>
            </a:r>
            <a:r>
              <a:rPr lang="en-US" b="1" dirty="0"/>
              <a:t>Data types</a:t>
            </a:r>
            <a:endParaRPr lang="en-GB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4223C0-2E9B-40D0-4CD6-CC73721BA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7341" y="2148540"/>
            <a:ext cx="6246589" cy="4374563"/>
          </a:xfr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35C3043D-8DC6-D7D7-701B-F9E0017D7453}"/>
              </a:ext>
            </a:extLst>
          </p:cNvPr>
          <p:cNvSpPr/>
          <p:nvPr/>
        </p:nvSpPr>
        <p:spPr>
          <a:xfrm>
            <a:off x="7581900" y="4272280"/>
            <a:ext cx="1242060" cy="975360"/>
          </a:xfrm>
          <a:prstGeom prst="frame">
            <a:avLst>
              <a:gd name="adj1" fmla="val 336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970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8B9E-9A83-C964-4C50-A22EC963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Types</a:t>
            </a:r>
            <a:r>
              <a:rPr lang="pl-PL" b="1" dirty="0"/>
              <a:t>: Value and Reference</a:t>
            </a:r>
            <a:endParaRPr lang="en-GB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D43DDA-62DE-248D-396A-879F9B76E198}"/>
              </a:ext>
            </a:extLst>
          </p:cNvPr>
          <p:cNvSpPr txBox="1"/>
          <p:nvPr/>
        </p:nvSpPr>
        <p:spPr>
          <a:xfrm>
            <a:off x="4774557" y="1998240"/>
            <a:ext cx="142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Data </a:t>
            </a:r>
            <a:r>
              <a:rPr lang="pl-PL" b="1" dirty="0" err="1"/>
              <a:t>types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D71090-E6B6-392B-513A-17CC32F3983B}"/>
              </a:ext>
            </a:extLst>
          </p:cNvPr>
          <p:cNvSpPr txBox="1"/>
          <p:nvPr/>
        </p:nvSpPr>
        <p:spPr>
          <a:xfrm>
            <a:off x="1872234" y="3091468"/>
            <a:ext cx="1434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Value </a:t>
            </a:r>
            <a:r>
              <a:rPr lang="pl-PL" b="1" dirty="0" err="1"/>
              <a:t>types</a:t>
            </a:r>
            <a:endParaRPr lang="en-GB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A19CA3-C45D-07F3-7FC6-496810D896B2}"/>
              </a:ext>
            </a:extLst>
          </p:cNvPr>
          <p:cNvCxnSpPr>
            <a:cxnSpLocks/>
          </p:cNvCxnSpPr>
          <p:nvPr/>
        </p:nvCxnSpPr>
        <p:spPr>
          <a:xfrm flipH="1">
            <a:off x="3424518" y="2303929"/>
            <a:ext cx="1350039" cy="744682"/>
          </a:xfrm>
          <a:prstGeom prst="straightConnector1">
            <a:avLst/>
          </a:prstGeom>
          <a:ln w="41275"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648E6BF-C360-FF9D-1317-54F5DA1959D4}"/>
              </a:ext>
            </a:extLst>
          </p:cNvPr>
          <p:cNvSpPr txBox="1"/>
          <p:nvPr/>
        </p:nvSpPr>
        <p:spPr>
          <a:xfrm>
            <a:off x="6744764" y="3048611"/>
            <a:ext cx="1958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/>
              <a:t>Reference </a:t>
            </a:r>
            <a:r>
              <a:rPr lang="pl-PL" b="1" dirty="0" err="1"/>
              <a:t>types</a:t>
            </a:r>
            <a:endParaRPr lang="en-GB" b="1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0B56A7E-0109-7F41-9174-358E4CC4DD45}"/>
              </a:ext>
            </a:extLst>
          </p:cNvPr>
          <p:cNvCxnSpPr>
            <a:cxnSpLocks/>
          </p:cNvCxnSpPr>
          <p:nvPr/>
        </p:nvCxnSpPr>
        <p:spPr>
          <a:xfrm>
            <a:off x="6199945" y="2303929"/>
            <a:ext cx="953890" cy="768567"/>
          </a:xfrm>
          <a:prstGeom prst="straightConnector1">
            <a:avLst/>
          </a:prstGeom>
          <a:ln w="41275">
            <a:solidFill>
              <a:srgbClr val="00206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B502F6C-B249-4E9A-F7B2-A8AEA96372C2}"/>
              </a:ext>
            </a:extLst>
          </p:cNvPr>
          <p:cNvSpPr txBox="1"/>
          <p:nvPr/>
        </p:nvSpPr>
        <p:spPr>
          <a:xfrm>
            <a:off x="1905851" y="3469765"/>
            <a:ext cx="143435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(s)</a:t>
            </a:r>
            <a:r>
              <a:rPr lang="pl-PL" b="1" dirty="0" err="1"/>
              <a:t>byte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(u)</a:t>
            </a:r>
            <a:r>
              <a:rPr lang="pl-PL" b="1" dirty="0" err="1"/>
              <a:t>int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(u)</a:t>
            </a:r>
            <a:r>
              <a:rPr lang="pl-PL" b="1" dirty="0" err="1"/>
              <a:t>short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(u)</a:t>
            </a:r>
            <a:r>
              <a:rPr lang="pl-PL" b="1" dirty="0" err="1"/>
              <a:t>long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 err="1"/>
              <a:t>float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 err="1"/>
              <a:t>double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 err="1"/>
              <a:t>decimal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char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 err="1"/>
              <a:t>bool</a:t>
            </a:r>
            <a:endParaRPr lang="en-GB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DD6252-872A-F73F-AB9F-A52B958AEF29}"/>
              </a:ext>
            </a:extLst>
          </p:cNvPr>
          <p:cNvSpPr txBox="1"/>
          <p:nvPr/>
        </p:nvSpPr>
        <p:spPr>
          <a:xfrm>
            <a:off x="6199945" y="3429000"/>
            <a:ext cx="46775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Ми можемо зберігати об'єкти в типах посилань, і такими типовими об'єктами можуть бути:</a:t>
            </a:r>
            <a:endParaRPr lang="pl-PL" b="1" dirty="0"/>
          </a:p>
          <a:p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	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	</a:t>
            </a:r>
            <a:r>
              <a:rPr lang="pl-PL" b="1" dirty="0" err="1"/>
              <a:t>array</a:t>
            </a:r>
            <a:r>
              <a:rPr lang="pl-PL" b="1" dirty="0"/>
              <a:t> (</a:t>
            </a:r>
            <a:r>
              <a:rPr lang="pl-PL" b="1" dirty="0" err="1"/>
              <a:t>int</a:t>
            </a:r>
            <a:r>
              <a:rPr lang="pl-PL" b="1" dirty="0"/>
              <a:t>[], </a:t>
            </a:r>
            <a:r>
              <a:rPr lang="pl-PL" b="1" dirty="0" err="1"/>
              <a:t>double</a:t>
            </a:r>
            <a:r>
              <a:rPr lang="pl-PL" b="1" dirty="0"/>
              <a:t>[,])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	</a:t>
            </a:r>
            <a:r>
              <a:rPr lang="pl-PL" b="1" dirty="0" err="1"/>
              <a:t>class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	</a:t>
            </a:r>
            <a:r>
              <a:rPr lang="pl-PL" b="1" dirty="0" err="1"/>
              <a:t>interface</a:t>
            </a:r>
            <a:endParaRPr lang="pl-PL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b="1" dirty="0"/>
              <a:t>	</a:t>
            </a:r>
            <a:r>
              <a:rPr lang="pl-PL" b="1" dirty="0" err="1"/>
              <a:t>delegate</a:t>
            </a:r>
            <a:endParaRPr lang="pl-PL" b="1" dirty="0"/>
          </a:p>
          <a:p>
            <a:r>
              <a:rPr lang="pl-PL" b="1" dirty="0"/>
              <a:t>	 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61958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39006-5944-5078-5215-9054D873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Code: Value types &amp; Reference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CFED6-6F41-BAB4-C4A4-D38C5C153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594" y="2136379"/>
            <a:ext cx="8907391" cy="454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99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B7088-F6DF-7921-0AFC-0BE2B6256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Console: Value types &amp; Reference types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764EC-B23E-7167-FED2-E9A4B3493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154206"/>
            <a:ext cx="7414636" cy="441513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3400EA-595C-48A5-BD7D-37B9355C30FD}"/>
              </a:ext>
            </a:extLst>
          </p:cNvPr>
          <p:cNvCxnSpPr/>
          <p:nvPr/>
        </p:nvCxnSpPr>
        <p:spPr>
          <a:xfrm>
            <a:off x="3268980" y="4076700"/>
            <a:ext cx="133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D965E-0B83-3743-9577-09064E80B918}"/>
              </a:ext>
            </a:extLst>
          </p:cNvPr>
          <p:cNvCxnSpPr>
            <a:cxnSpLocks/>
          </p:cNvCxnSpPr>
          <p:nvPr/>
        </p:nvCxnSpPr>
        <p:spPr>
          <a:xfrm>
            <a:off x="5326380" y="4091940"/>
            <a:ext cx="20193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C587969-4678-17ED-F23F-1658FECD6DD7}"/>
              </a:ext>
            </a:extLst>
          </p:cNvPr>
          <p:cNvCxnSpPr>
            <a:cxnSpLocks/>
          </p:cNvCxnSpPr>
          <p:nvPr/>
        </p:nvCxnSpPr>
        <p:spPr>
          <a:xfrm>
            <a:off x="3268980" y="6210300"/>
            <a:ext cx="19431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6BFC-1EAC-66CA-E984-006DDE08281F}"/>
              </a:ext>
            </a:extLst>
          </p:cNvPr>
          <p:cNvCxnSpPr>
            <a:cxnSpLocks/>
          </p:cNvCxnSpPr>
          <p:nvPr/>
        </p:nvCxnSpPr>
        <p:spPr>
          <a:xfrm>
            <a:off x="5951220" y="6225540"/>
            <a:ext cx="235458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890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1FF1-68E2-FD81-E5D9-C728BADE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Backend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C5F16-6F68-8706-7A7D-E1C1F9D02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687166"/>
            <a:ext cx="6384670" cy="3599316"/>
          </a:xfrm>
        </p:spPr>
        <p:txBody>
          <a:bodyPr>
            <a:normAutofit/>
          </a:bodyPr>
          <a:lstStyle/>
          <a:p>
            <a:r>
              <a:rPr lang="uk-UA" sz="2000" dirty="0"/>
              <a:t>Серверна частина веб-сайту — це все те, чого користувач не бачить: б’юче серце або двигун, який реагує на запити, надсилаючи дані на фронтенд для відображення.</a:t>
            </a:r>
            <a:endParaRPr lang="en-US" sz="2000" dirty="0"/>
          </a:p>
          <a:p>
            <a:endParaRPr lang="uk-UA" sz="2000" dirty="0"/>
          </a:p>
          <a:p>
            <a:r>
              <a:rPr lang="uk-UA" sz="2000" dirty="0"/>
              <a:t>Бекенд складається з серверів, баз даних, операційних систем, </a:t>
            </a:r>
            <a:r>
              <a:rPr lang="en-GB" sz="2000" dirty="0"/>
              <a:t>API </a:t>
            </a:r>
            <a:r>
              <a:rPr lang="uk-UA" sz="2000" dirty="0"/>
              <a:t>та інших компонентів, які працюють разом, щоб якомога швидше надати користувачеві потрібну інформацію.</a:t>
            </a:r>
            <a:endParaRPr lang="en-GB" sz="2000" dirty="0"/>
          </a:p>
        </p:txBody>
      </p:sp>
      <p:pic>
        <p:nvPicPr>
          <p:cNvPr id="9" name="Picture 8" descr="A computer server and a server&#10;&#10;AI-generated content may be incorrect.">
            <a:extLst>
              <a:ext uri="{FF2B5EF4-FFF2-40B4-BE49-F238E27FC236}">
                <a16:creationId xmlns:a16="http://schemas.microsoft.com/office/drawing/2014/main" id="{05C3E78D-C9BB-8B5E-A819-89836BCE0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42" t="44445" r="24351" b="35854"/>
          <a:stretch>
            <a:fillRect/>
          </a:stretch>
        </p:blipFill>
        <p:spPr>
          <a:xfrm>
            <a:off x="7133227" y="3323475"/>
            <a:ext cx="4872251" cy="26997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F17A67-8952-FDFC-CBD1-92A8FE9294CB}"/>
              </a:ext>
            </a:extLst>
          </p:cNvPr>
          <p:cNvSpPr txBox="1"/>
          <p:nvPr/>
        </p:nvSpPr>
        <p:spPr>
          <a:xfrm>
            <a:off x="10369697" y="5775500"/>
            <a:ext cx="13195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Database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60B63-2F57-CBF8-60A7-B6E6E2B37EC7}"/>
              </a:ext>
            </a:extLst>
          </p:cNvPr>
          <p:cNvSpPr txBox="1"/>
          <p:nvPr/>
        </p:nvSpPr>
        <p:spPr>
          <a:xfrm>
            <a:off x="7928175" y="5776290"/>
            <a:ext cx="102414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Server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B0066F-62D5-F7D3-CE32-45F8255944C7}"/>
              </a:ext>
            </a:extLst>
          </p:cNvPr>
          <p:cNvSpPr txBox="1"/>
          <p:nvPr/>
        </p:nvSpPr>
        <p:spPr>
          <a:xfrm>
            <a:off x="8859364" y="2134559"/>
            <a:ext cx="1419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Backend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E4A31F46-2841-5F8A-5E35-900E9C683989}"/>
              </a:ext>
            </a:extLst>
          </p:cNvPr>
          <p:cNvSpPr/>
          <p:nvPr/>
        </p:nvSpPr>
        <p:spPr>
          <a:xfrm rot="5400000">
            <a:off x="9213756" y="2077263"/>
            <a:ext cx="631174" cy="1975476"/>
          </a:xfrm>
          <a:prstGeom prst="leftBrace">
            <a:avLst>
              <a:gd name="adj1" fmla="val 22005"/>
              <a:gd name="adj2" fmla="val 50000"/>
            </a:avLst>
          </a:prstGeom>
          <a:noFill/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300951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49E31-7C21-C28A-347F-C61EB8C5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Чому бекенд важливий для веб-сайту?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3A11-91AA-86F8-1D09-672FC8B4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639" y="2372731"/>
            <a:ext cx="10686926" cy="415357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uk-UA" sz="2000" b="1" dirty="0"/>
              <a:t>Обробка запитів і бізнес‑логіка</a:t>
            </a: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endParaRPr lang="uk-UA" sz="2000" b="1" dirty="0"/>
          </a:p>
          <a:p>
            <a:pPr marL="457200" indent="-457200">
              <a:buFont typeface="+mj-lt"/>
              <a:buAutoNum type="arabicPeriod"/>
            </a:pPr>
            <a:r>
              <a:rPr lang="uk-UA" sz="2000" b="1" dirty="0"/>
              <a:t>Аутентифікація та авторизація</a:t>
            </a: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endParaRPr lang="uk-UA" sz="2000" b="1" dirty="0"/>
          </a:p>
          <a:p>
            <a:pPr marL="457200" indent="-457200">
              <a:buFont typeface="+mj-lt"/>
              <a:buAutoNum type="arabicPeriod"/>
            </a:pPr>
            <a:r>
              <a:rPr lang="uk-UA" sz="2000" b="1" dirty="0"/>
              <a:t>Зберігання й керування даними</a:t>
            </a: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endParaRPr lang="uk-UA" sz="2000" b="1" dirty="0"/>
          </a:p>
          <a:p>
            <a:pPr marL="457200" indent="-457200">
              <a:buFont typeface="+mj-lt"/>
              <a:buAutoNum type="arabicPeriod"/>
            </a:pPr>
            <a:r>
              <a:rPr lang="uk-UA" sz="2000" b="1" dirty="0"/>
              <a:t>Безпека</a:t>
            </a:r>
            <a:endParaRPr lang="en-US" sz="2000" b="1" dirty="0"/>
          </a:p>
          <a:p>
            <a:pPr marL="457200" indent="-457200">
              <a:buFont typeface="+mj-lt"/>
              <a:buAutoNum type="arabicPeriod"/>
            </a:pPr>
            <a:endParaRPr lang="uk-UA" sz="2000" b="1" dirty="0"/>
          </a:p>
          <a:p>
            <a:pPr marL="457200" indent="-457200">
              <a:buFont typeface="+mj-lt"/>
              <a:buAutoNum type="arabicPeriod"/>
            </a:pPr>
            <a:r>
              <a:rPr lang="uk-UA" sz="2000" b="1" dirty="0"/>
              <a:t>Гнучке розгортання</a:t>
            </a:r>
            <a:endParaRPr lang="en-GB" sz="2000" b="1" dirty="0"/>
          </a:p>
        </p:txBody>
      </p:sp>
      <p:pic>
        <p:nvPicPr>
          <p:cNvPr id="5" name="Picture 4" descr="A circular diagram of a system&#10;&#10;AI-generated content may be incorrect.">
            <a:extLst>
              <a:ext uri="{FF2B5EF4-FFF2-40B4-BE49-F238E27FC236}">
                <a16:creationId xmlns:a16="http://schemas.microsoft.com/office/drawing/2014/main" id="{A9995BD3-25BD-8D1E-AE5E-5010D0FEA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018" y="2152891"/>
            <a:ext cx="4238125" cy="415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82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2D75D-8975-4A47-CDCA-03621E77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5AFFC-28EC-226F-9D59-7D2DE363D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72" y="3352097"/>
            <a:ext cx="7321611" cy="151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000" b="1" dirty="0"/>
              <a:t>База даних</a:t>
            </a:r>
            <a:r>
              <a:rPr lang="ru-RU" sz="2000" dirty="0"/>
              <a:t> — це впорядкований набір даних, які зберігаються в комп’ютерній системі в електронному вигляді. Вона дозволяє швидко вводити, редагувати, впорядковувати та завантажувати інформацію.</a:t>
            </a:r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B13E59-847D-F3B0-8B37-86015FEB6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625" y="2662615"/>
            <a:ext cx="2708816" cy="27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29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62085-F563-351D-0E31-B481065E7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ASP.NET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157A9-7774-B65B-3A3F-4BA61C2AD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217510"/>
            <a:ext cx="7608216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b="1" dirty="0"/>
              <a:t>ASP.NET </a:t>
            </a:r>
            <a:r>
              <a:rPr lang="en-GB" sz="2000" dirty="0"/>
              <a:t>— </a:t>
            </a:r>
            <a:r>
              <a:rPr lang="uk-UA" sz="2000" dirty="0"/>
              <a:t>це </a:t>
            </a:r>
            <a:r>
              <a:rPr lang="uk-UA" sz="2000" b="1" dirty="0"/>
              <a:t>фреймворк</a:t>
            </a:r>
            <a:r>
              <a:rPr lang="uk-UA" sz="2000" dirty="0"/>
              <a:t>, який є </a:t>
            </a:r>
            <a:r>
              <a:rPr lang="uk-UA" sz="2000" b="1" dirty="0"/>
              <a:t>кросплатформним</a:t>
            </a:r>
            <a:r>
              <a:rPr lang="uk-UA" sz="2000" dirty="0"/>
              <a:t> і має </a:t>
            </a:r>
            <a:r>
              <a:rPr lang="uk-UA" sz="2000" b="1" dirty="0"/>
              <a:t>відкритий вихідний код</a:t>
            </a:r>
            <a:r>
              <a:rPr lang="uk-UA" sz="2000" dirty="0"/>
              <a:t>.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uk-UA" sz="2000" dirty="0"/>
          </a:p>
          <a:p>
            <a:pPr>
              <a:lnSpc>
                <a:spcPct val="100000"/>
              </a:lnSpc>
            </a:pPr>
            <a:r>
              <a:rPr lang="ru-RU" sz="2000" dirty="0"/>
              <a:t>Фреймворк призначений для створення веб-додатків та сервісів за допомогою .NET і C#. Наприклад:</a:t>
            </a:r>
          </a:p>
          <a:p>
            <a:pPr lvl="1">
              <a:lnSpc>
                <a:spcPct val="100000"/>
              </a:lnSpc>
            </a:pPr>
            <a:r>
              <a:rPr lang="uk-UA" dirty="0"/>
              <a:t>Створення ендпоінтів із використанням </a:t>
            </a:r>
            <a:r>
              <a:rPr lang="en-GB" dirty="0"/>
              <a:t>REST API </a:t>
            </a:r>
            <a:r>
              <a:rPr lang="uk-UA" dirty="0"/>
              <a:t>та реалізація функціональності відповідно до заданої бізнес-логіки, такої як автентифікація, авторизація або обробка даних. </a:t>
            </a:r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8728FEEE-940B-92E5-2DE5-8CF4ED1C6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744" y="545873"/>
            <a:ext cx="2243470" cy="149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06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77C5-E02D-A554-1051-7BBF1448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70C18-409D-271B-6604-B9D0B5028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IDE (Integrated Development Environment) </a:t>
            </a:r>
            <a:r>
              <a:rPr lang="en-GB" sz="2000" dirty="0"/>
              <a:t>– </a:t>
            </a:r>
            <a:r>
              <a:rPr lang="ru-RU" sz="2000" dirty="0"/>
              <a:t>Це програмне забезпечення, необхідні для написання програм. До складу IDE зазвичай входять такі інструменти:</a:t>
            </a:r>
          </a:p>
          <a:p>
            <a:pPr lvl="1"/>
            <a:r>
              <a:rPr lang="uk-UA" dirty="0"/>
              <a:t>Редактор коду</a:t>
            </a:r>
          </a:p>
          <a:p>
            <a:pPr lvl="1"/>
            <a:r>
              <a:rPr lang="uk-UA" dirty="0"/>
              <a:t>Компілятор</a:t>
            </a:r>
            <a:r>
              <a:rPr lang="en-US" dirty="0"/>
              <a:t>/</a:t>
            </a:r>
            <a:r>
              <a:rPr lang="uk-UA" dirty="0"/>
              <a:t>Інтерпритатор</a:t>
            </a:r>
          </a:p>
          <a:p>
            <a:pPr lvl="1"/>
            <a:r>
              <a:rPr lang="uk-UA" dirty="0"/>
              <a:t>Засоби тестування</a:t>
            </a:r>
          </a:p>
          <a:p>
            <a:pPr lvl="1"/>
            <a:r>
              <a:rPr lang="en-GB" dirty="0"/>
              <a:t>Builder</a:t>
            </a:r>
            <a:endParaRPr lang="uk-UA" dirty="0"/>
          </a:p>
          <a:p>
            <a:pPr lvl="1"/>
            <a:r>
              <a:rPr lang="en-GB" dirty="0"/>
              <a:t>Debugger</a:t>
            </a:r>
            <a:endParaRPr lang="uk-UA" dirty="0"/>
          </a:p>
          <a:p>
            <a:pPr lvl="1"/>
            <a:r>
              <a:rPr lang="en-US" dirty="0"/>
              <a:t>Package manager</a:t>
            </a:r>
            <a:endParaRPr lang="en-GB" dirty="0"/>
          </a:p>
          <a:p>
            <a:endParaRPr lang="uk-UA" sz="2000" dirty="0"/>
          </a:p>
          <a:p>
            <a:endParaRPr lang="uk-UA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452655-D8A9-0643-C2C9-7C8C9D7067EE}"/>
              </a:ext>
            </a:extLst>
          </p:cNvPr>
          <p:cNvSpPr txBox="1"/>
          <p:nvPr/>
        </p:nvSpPr>
        <p:spPr>
          <a:xfrm>
            <a:off x="978504" y="5582246"/>
            <a:ext cx="103388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Іншими словами, це комплексне середовище, що спрощує процес розробки, роблячи його більш ефективним та зручним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78461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4BAC4-4B5A-14AE-280A-D7AF0AC1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Visual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CEEFA-8A3C-F84D-EF36-4261E1FA2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Visual Studio – </a:t>
            </a:r>
            <a:r>
              <a:rPr lang="ru-RU" sz="2000" dirty="0"/>
              <a:t>це інтегроване середовище розробки, створене компанією Microsoft.</a:t>
            </a:r>
            <a:endParaRPr lang="pl-PL" sz="2000" dirty="0"/>
          </a:p>
          <a:p>
            <a:endParaRPr lang="uk-UA" sz="2000" dirty="0"/>
          </a:p>
          <a:p>
            <a:r>
              <a:rPr lang="en-GB" sz="2000" dirty="0"/>
              <a:t>Visual Studio </a:t>
            </a:r>
            <a:r>
              <a:rPr lang="uk-UA" sz="2000" dirty="0"/>
              <a:t>підтримує мови програмування: </a:t>
            </a:r>
            <a:r>
              <a:rPr lang="en-GB" sz="2000" dirty="0"/>
              <a:t>C#, C++, JavaScript, TypeScript, Python, F#</a:t>
            </a:r>
            <a:endParaRPr lang="pl-PL" sz="2000" dirty="0"/>
          </a:p>
          <a:p>
            <a:endParaRPr lang="en-GB" sz="2000" dirty="0"/>
          </a:p>
          <a:p>
            <a:r>
              <a:rPr lang="en-GB" sz="2000" dirty="0"/>
              <a:t>Visual Studio </a:t>
            </a:r>
            <a:r>
              <a:rPr lang="uk-UA" sz="2000" dirty="0"/>
              <a:t>дає змогу використовувати такі фреймворки: .</a:t>
            </a:r>
            <a:r>
              <a:rPr lang="en-GB" sz="2000" dirty="0"/>
              <a:t>NET (Framework/Core), </a:t>
            </a:r>
            <a:r>
              <a:rPr lang="en-GB" sz="2000" dirty="0" err="1"/>
              <a:t>MSTest</a:t>
            </a:r>
            <a:r>
              <a:rPr lang="en-GB" sz="2000" dirty="0"/>
              <a:t>, </a:t>
            </a:r>
            <a:r>
              <a:rPr lang="en-GB" sz="2000" dirty="0" err="1"/>
              <a:t>xUnit</a:t>
            </a:r>
            <a:r>
              <a:rPr lang="en-GB" sz="2000" dirty="0"/>
              <a:t> </a:t>
            </a:r>
            <a:endParaRPr lang="uk-UA" sz="2000" dirty="0"/>
          </a:p>
          <a:p>
            <a:endParaRPr lang="uk-UA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55436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50BD-6303-E136-6C7D-4F157A46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Графічний інтерфейс </a:t>
            </a:r>
            <a:r>
              <a:rPr lang="en-GB" b="1" dirty="0"/>
              <a:t>VS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571014-512D-44BD-0D0C-27380FAD2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7665" y="2336800"/>
            <a:ext cx="7634428" cy="4064000"/>
          </a:xfrm>
          <a:ln>
            <a:solidFill>
              <a:srgbClr val="FFCC66"/>
            </a:solidFill>
          </a:ln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7986973E-0EC2-F07B-5161-75329DEE8412}"/>
              </a:ext>
            </a:extLst>
          </p:cNvPr>
          <p:cNvSpPr/>
          <p:nvPr/>
        </p:nvSpPr>
        <p:spPr>
          <a:xfrm>
            <a:off x="2207260" y="2849880"/>
            <a:ext cx="6394704" cy="2584701"/>
          </a:xfrm>
          <a:prstGeom prst="frame">
            <a:avLst>
              <a:gd name="adj1" fmla="val 1404"/>
            </a:avLst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99FF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A1C24C99-1F7E-259C-B22C-563AE676BE86}"/>
              </a:ext>
            </a:extLst>
          </p:cNvPr>
          <p:cNvSpPr/>
          <p:nvPr/>
        </p:nvSpPr>
        <p:spPr>
          <a:xfrm>
            <a:off x="2207260" y="5412740"/>
            <a:ext cx="7424420" cy="889690"/>
          </a:xfrm>
          <a:prstGeom prst="frame">
            <a:avLst>
              <a:gd name="adj1" fmla="val 336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030A0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6CC9B7B6-C446-58D9-2EAB-888B531415BE}"/>
              </a:ext>
            </a:extLst>
          </p:cNvPr>
          <p:cNvSpPr/>
          <p:nvPr/>
        </p:nvSpPr>
        <p:spPr>
          <a:xfrm>
            <a:off x="8601964" y="2641633"/>
            <a:ext cx="1029716" cy="2792950"/>
          </a:xfrm>
          <a:prstGeom prst="frame">
            <a:avLst>
              <a:gd name="adj1" fmla="val 2706"/>
            </a:avLst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BA4820CD-04CE-21B1-D044-1F774CEB211F}"/>
              </a:ext>
            </a:extLst>
          </p:cNvPr>
          <p:cNvSpPr/>
          <p:nvPr/>
        </p:nvSpPr>
        <p:spPr>
          <a:xfrm>
            <a:off x="4634484" y="2456889"/>
            <a:ext cx="351854" cy="190500"/>
          </a:xfrm>
          <a:prstGeom prst="frame">
            <a:avLst>
              <a:gd name="adj1" fmla="val 10773"/>
            </a:avLst>
          </a:prstGeom>
          <a:solidFill>
            <a:srgbClr val="3D63C3"/>
          </a:solidFill>
          <a:ln>
            <a:solidFill>
              <a:srgbClr val="3D6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981A71-AC0D-710D-3A98-980D47BE36B4}"/>
              </a:ext>
            </a:extLst>
          </p:cNvPr>
          <p:cNvCxnSpPr>
            <a:cxnSpLocks/>
          </p:cNvCxnSpPr>
          <p:nvPr/>
        </p:nvCxnSpPr>
        <p:spPr>
          <a:xfrm flipH="1">
            <a:off x="1378424" y="3661745"/>
            <a:ext cx="828836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5D70E6-79C5-2B9E-3B02-4D0A87531437}"/>
              </a:ext>
            </a:extLst>
          </p:cNvPr>
          <p:cNvCxnSpPr>
            <a:cxnSpLocks/>
          </p:cNvCxnSpPr>
          <p:nvPr/>
        </p:nvCxnSpPr>
        <p:spPr>
          <a:xfrm flipH="1">
            <a:off x="1378424" y="5513489"/>
            <a:ext cx="850426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155687-830E-0146-3389-E806856383AF}"/>
              </a:ext>
            </a:extLst>
          </p:cNvPr>
          <p:cNvCxnSpPr>
            <a:cxnSpLocks/>
          </p:cNvCxnSpPr>
          <p:nvPr/>
        </p:nvCxnSpPr>
        <p:spPr>
          <a:xfrm flipH="1" flipV="1">
            <a:off x="1378424" y="2456889"/>
            <a:ext cx="3381536" cy="708"/>
          </a:xfrm>
          <a:prstGeom prst="line">
            <a:avLst/>
          </a:prstGeom>
          <a:ln w="38100">
            <a:solidFill>
              <a:srgbClr val="3D63C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8E4DA9-A42E-E15F-8B5A-528A8CF5392E}"/>
              </a:ext>
            </a:extLst>
          </p:cNvPr>
          <p:cNvCxnSpPr>
            <a:cxnSpLocks/>
          </p:cNvCxnSpPr>
          <p:nvPr/>
        </p:nvCxnSpPr>
        <p:spPr>
          <a:xfrm>
            <a:off x="9551671" y="2654447"/>
            <a:ext cx="760729" cy="0"/>
          </a:xfrm>
          <a:prstGeom prst="line">
            <a:avLst/>
          </a:prstGeom>
          <a:ln w="38100">
            <a:solidFill>
              <a:srgbClr val="FFCC66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2C6A6E2-435A-D3A0-F19A-B1FA62A28A61}"/>
              </a:ext>
            </a:extLst>
          </p:cNvPr>
          <p:cNvSpPr txBox="1"/>
          <p:nvPr/>
        </p:nvSpPr>
        <p:spPr>
          <a:xfrm>
            <a:off x="136564" y="2159671"/>
            <a:ext cx="1848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Кнопка запуску (</a:t>
            </a:r>
            <a:r>
              <a:rPr lang="en-GB" b="1" dirty="0"/>
              <a:t>Start</a:t>
            </a:r>
            <a:r>
              <a:rPr lang="uk-UA" b="1" dirty="0"/>
              <a:t>)</a:t>
            </a:r>
            <a:endParaRPr lang="en-GB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466984-245D-7AD8-ED8A-65A2C9B1A37B}"/>
              </a:ext>
            </a:extLst>
          </p:cNvPr>
          <p:cNvSpPr txBox="1"/>
          <p:nvPr/>
        </p:nvSpPr>
        <p:spPr>
          <a:xfrm>
            <a:off x="182822" y="3273462"/>
            <a:ext cx="1756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Редактор коду</a:t>
            </a:r>
            <a:endParaRPr lang="en-GB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138E94-E849-881A-DDBA-4C749A35A2F2}"/>
              </a:ext>
            </a:extLst>
          </p:cNvPr>
          <p:cNvSpPr txBox="1"/>
          <p:nvPr/>
        </p:nvSpPr>
        <p:spPr>
          <a:xfrm>
            <a:off x="212993" y="5211254"/>
            <a:ext cx="13243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Список помилок</a:t>
            </a:r>
            <a:endParaRPr lang="en-GB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737B44-18D4-030B-B270-C3A0B7FC7724}"/>
              </a:ext>
            </a:extLst>
          </p:cNvPr>
          <p:cNvSpPr txBox="1"/>
          <p:nvPr/>
        </p:nvSpPr>
        <p:spPr>
          <a:xfrm>
            <a:off x="10412858" y="2366256"/>
            <a:ext cx="1414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Solution Explorer</a:t>
            </a:r>
          </a:p>
        </p:txBody>
      </p:sp>
    </p:spTree>
    <p:extLst>
      <p:ext uri="{BB962C8B-B14F-4D97-AF65-F5344CB8AC3E}">
        <p14:creationId xmlns:p14="http://schemas.microsoft.com/office/powerpoint/2010/main" val="1201792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2D13-E6C6-90F7-8DB9-E8A09898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Графічний інтерфейс </a:t>
            </a:r>
            <a:r>
              <a:rPr lang="en-GB" b="1" dirty="0"/>
              <a:t>VS</a:t>
            </a:r>
            <a:endParaRPr lang="en-GB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3A6E315-131D-9C71-BC31-42C5643BC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2515" y="2336800"/>
            <a:ext cx="7734412" cy="4123139"/>
          </a:xfrm>
        </p:spPr>
      </p:pic>
      <p:sp>
        <p:nvSpPr>
          <p:cNvPr id="13" name="Frame 12">
            <a:extLst>
              <a:ext uri="{FF2B5EF4-FFF2-40B4-BE49-F238E27FC236}">
                <a16:creationId xmlns:a16="http://schemas.microsoft.com/office/drawing/2014/main" id="{F5F8F625-4FAA-E42A-5ED3-BBB30F787595}"/>
              </a:ext>
            </a:extLst>
          </p:cNvPr>
          <p:cNvSpPr/>
          <p:nvPr/>
        </p:nvSpPr>
        <p:spPr>
          <a:xfrm>
            <a:off x="2106930" y="4585969"/>
            <a:ext cx="169640" cy="112109"/>
          </a:xfrm>
          <a:prstGeom prst="frame">
            <a:avLst/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6F8254-B21F-5063-7C0A-74B3CEE824B0}"/>
              </a:ext>
            </a:extLst>
          </p:cNvPr>
          <p:cNvCxnSpPr>
            <a:cxnSpLocks/>
          </p:cNvCxnSpPr>
          <p:nvPr/>
        </p:nvCxnSpPr>
        <p:spPr>
          <a:xfrm flipH="1">
            <a:off x="1285866" y="4637291"/>
            <a:ext cx="829580" cy="0"/>
          </a:xfrm>
          <a:prstGeom prst="line">
            <a:avLst/>
          </a:prstGeom>
          <a:ln w="38100">
            <a:solidFill>
              <a:srgbClr val="9966FF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7083BD-E137-604A-F71D-8C71C374E3EA}"/>
              </a:ext>
            </a:extLst>
          </p:cNvPr>
          <p:cNvSpPr txBox="1"/>
          <p:nvPr/>
        </p:nvSpPr>
        <p:spPr>
          <a:xfrm>
            <a:off x="-34601" y="4417614"/>
            <a:ext cx="1361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Breakpoint</a:t>
            </a:r>
          </a:p>
        </p:txBody>
      </p:sp>
      <p:sp>
        <p:nvSpPr>
          <p:cNvPr id="21" name="Frame 20">
            <a:extLst>
              <a:ext uri="{FF2B5EF4-FFF2-40B4-BE49-F238E27FC236}">
                <a16:creationId xmlns:a16="http://schemas.microsoft.com/office/drawing/2014/main" id="{DEEE0BD0-BC67-E2A7-073B-931D82CE8AB1}"/>
              </a:ext>
            </a:extLst>
          </p:cNvPr>
          <p:cNvSpPr/>
          <p:nvPr/>
        </p:nvSpPr>
        <p:spPr>
          <a:xfrm>
            <a:off x="4617720" y="4726939"/>
            <a:ext cx="1028700" cy="212090"/>
          </a:xfrm>
          <a:prstGeom prst="frame">
            <a:avLst/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5EEBF93-E8E3-9CDF-4BFE-92F5214DB9D2}"/>
              </a:ext>
            </a:extLst>
          </p:cNvPr>
          <p:cNvCxnSpPr>
            <a:cxnSpLocks/>
          </p:cNvCxnSpPr>
          <p:nvPr/>
        </p:nvCxnSpPr>
        <p:spPr>
          <a:xfrm flipH="1">
            <a:off x="1386840" y="4917755"/>
            <a:ext cx="3228088" cy="785815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6A9E81-AEFA-1796-B823-72A5A418B4CC}"/>
              </a:ext>
            </a:extLst>
          </p:cNvPr>
          <p:cNvSpPr txBox="1"/>
          <p:nvPr/>
        </p:nvSpPr>
        <p:spPr>
          <a:xfrm>
            <a:off x="0" y="5409260"/>
            <a:ext cx="16602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Детальна інформація про об'єкт «project»</a:t>
            </a:r>
            <a:endParaRPr lang="en-GB" b="1" dirty="0"/>
          </a:p>
        </p:txBody>
      </p:sp>
      <p:sp>
        <p:nvSpPr>
          <p:cNvPr id="26" name="Frame 25">
            <a:extLst>
              <a:ext uri="{FF2B5EF4-FFF2-40B4-BE49-F238E27FC236}">
                <a16:creationId xmlns:a16="http://schemas.microsoft.com/office/drawing/2014/main" id="{0314D64E-A92F-ADD0-DFC2-E1FAD9AEEF5C}"/>
              </a:ext>
            </a:extLst>
          </p:cNvPr>
          <p:cNvSpPr/>
          <p:nvPr/>
        </p:nvSpPr>
        <p:spPr>
          <a:xfrm>
            <a:off x="4656047" y="2475306"/>
            <a:ext cx="476023" cy="158496"/>
          </a:xfrm>
          <a:prstGeom prst="frame">
            <a:avLst/>
          </a:prstGeom>
          <a:solidFill>
            <a:srgbClr val="3D63C3"/>
          </a:solidFill>
          <a:ln>
            <a:solidFill>
              <a:srgbClr val="3D6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Frame 26">
            <a:extLst>
              <a:ext uri="{FF2B5EF4-FFF2-40B4-BE49-F238E27FC236}">
                <a16:creationId xmlns:a16="http://schemas.microsoft.com/office/drawing/2014/main" id="{B4CA4B56-5A78-3633-1556-3659AA1581C6}"/>
              </a:ext>
            </a:extLst>
          </p:cNvPr>
          <p:cNvSpPr/>
          <p:nvPr/>
        </p:nvSpPr>
        <p:spPr>
          <a:xfrm>
            <a:off x="5955789" y="2491740"/>
            <a:ext cx="688314" cy="135458"/>
          </a:xfrm>
          <a:prstGeom prst="frame">
            <a:avLst>
              <a:gd name="adj1" fmla="val 6410"/>
            </a:avLst>
          </a:prstGeom>
          <a:solidFill>
            <a:srgbClr val="3D63C3"/>
          </a:solidFill>
          <a:ln>
            <a:solidFill>
              <a:srgbClr val="3D63C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45307D-D6FF-88DD-8A03-9FDD5A041863}"/>
              </a:ext>
            </a:extLst>
          </p:cNvPr>
          <p:cNvCxnSpPr>
            <a:cxnSpLocks/>
          </p:cNvCxnSpPr>
          <p:nvPr/>
        </p:nvCxnSpPr>
        <p:spPr>
          <a:xfrm flipH="1" flipV="1">
            <a:off x="1326838" y="2327723"/>
            <a:ext cx="3346991" cy="198065"/>
          </a:xfrm>
          <a:prstGeom prst="line">
            <a:avLst/>
          </a:prstGeom>
          <a:ln w="38100">
            <a:solidFill>
              <a:srgbClr val="3D63C3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6098D22-2D58-AFCD-5FDA-D1189748C5A7}"/>
              </a:ext>
            </a:extLst>
          </p:cNvPr>
          <p:cNvCxnSpPr>
            <a:cxnSpLocks/>
          </p:cNvCxnSpPr>
          <p:nvPr/>
        </p:nvCxnSpPr>
        <p:spPr>
          <a:xfrm flipH="1" flipV="1">
            <a:off x="1295400" y="2320150"/>
            <a:ext cx="4831080" cy="174130"/>
          </a:xfrm>
          <a:prstGeom prst="line">
            <a:avLst/>
          </a:prstGeom>
          <a:ln w="38100">
            <a:solidFill>
              <a:srgbClr val="3D63C3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DC38E22-53FC-B8E6-26A8-3F790D9A91CF}"/>
              </a:ext>
            </a:extLst>
          </p:cNvPr>
          <p:cNvSpPr txBox="1"/>
          <p:nvPr/>
        </p:nvSpPr>
        <p:spPr>
          <a:xfrm>
            <a:off x="772" y="1948640"/>
            <a:ext cx="16998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Кнопки для </a:t>
            </a:r>
            <a:r>
              <a:rPr lang="en-GB" b="1" dirty="0"/>
              <a:t>Debugger</a:t>
            </a:r>
          </a:p>
        </p:txBody>
      </p:sp>
    </p:spTree>
    <p:extLst>
      <p:ext uri="{BB962C8B-B14F-4D97-AF65-F5344CB8AC3E}">
        <p14:creationId xmlns:p14="http://schemas.microsoft.com/office/powerpoint/2010/main" val="3903137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520FD-BC89-CCC7-4CCD-09F36B15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DC7E-FE65-82A2-4F3D-8DC735EEB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Тести – «</a:t>
            </a:r>
            <a:r>
              <a:rPr lang="en-GB" b="1" dirty="0"/>
              <a:t>Test Explorer</a:t>
            </a:r>
            <a:r>
              <a:rPr lang="uk-UA" b="1" dirty="0"/>
              <a:t>»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FF3C1-CA90-E23E-94BC-FAEAB13AF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uk-UA" sz="2000" dirty="0"/>
              <a:t>У редакторі коду </a:t>
            </a:r>
            <a:r>
              <a:rPr lang="en-GB" sz="2000" dirty="0"/>
              <a:t>Visual Studio </a:t>
            </a:r>
            <a:r>
              <a:rPr lang="uk-UA" sz="2000" dirty="0"/>
              <a:t>є вкладка “</a:t>
            </a:r>
            <a:r>
              <a:rPr lang="en-GB" sz="2000" dirty="0"/>
              <a:t>Test Explorer”, </a:t>
            </a:r>
            <a:r>
              <a:rPr lang="uk-UA" sz="2000" dirty="0"/>
              <a:t>де можна запускати тести, бачити їх статуси та повідомлення про помилки, якщо вони є.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21264E-BF1F-76DD-C0D8-2CD038BE4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948" y="3787241"/>
            <a:ext cx="8533282" cy="1961320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A32E642C-8E0F-2146-51A0-5EA390A292D5}"/>
              </a:ext>
            </a:extLst>
          </p:cNvPr>
          <p:cNvSpPr/>
          <p:nvPr/>
        </p:nvSpPr>
        <p:spPr>
          <a:xfrm>
            <a:off x="1647949" y="3916680"/>
            <a:ext cx="431042" cy="190500"/>
          </a:xfrm>
          <a:prstGeom prst="frame">
            <a:avLst/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B7A61D3F-D099-ED29-7A9E-ECEF32541E69}"/>
              </a:ext>
            </a:extLst>
          </p:cNvPr>
          <p:cNvSpPr/>
          <p:nvPr/>
        </p:nvSpPr>
        <p:spPr>
          <a:xfrm>
            <a:off x="2512951" y="3890010"/>
            <a:ext cx="1041780" cy="243840"/>
          </a:xfrm>
          <a:prstGeom prst="frame">
            <a:avLst/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76636F51-62A6-2706-2C21-7CE152EE33C5}"/>
              </a:ext>
            </a:extLst>
          </p:cNvPr>
          <p:cNvSpPr/>
          <p:nvPr/>
        </p:nvSpPr>
        <p:spPr>
          <a:xfrm>
            <a:off x="1647949" y="4210302"/>
            <a:ext cx="2568452" cy="1419101"/>
          </a:xfrm>
          <a:prstGeom prst="frame">
            <a:avLst>
              <a:gd name="adj1" fmla="val 1435"/>
            </a:avLst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30E168F9-5F77-0E95-B245-BBFFF2E4FBAC}"/>
              </a:ext>
            </a:extLst>
          </p:cNvPr>
          <p:cNvSpPr/>
          <p:nvPr/>
        </p:nvSpPr>
        <p:spPr>
          <a:xfrm>
            <a:off x="4218264" y="4210301"/>
            <a:ext cx="4200311" cy="1419101"/>
          </a:xfrm>
          <a:prstGeom prst="frame">
            <a:avLst>
              <a:gd name="adj1" fmla="val 1435"/>
            </a:avLst>
          </a:prstGeom>
          <a:solidFill>
            <a:srgbClr val="9966FF"/>
          </a:solidFill>
          <a:ln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2D0595-EC02-C6EF-3337-CC1E21EFBB05}"/>
              </a:ext>
            </a:extLst>
          </p:cNvPr>
          <p:cNvCxnSpPr>
            <a:cxnSpLocks/>
          </p:cNvCxnSpPr>
          <p:nvPr/>
        </p:nvCxnSpPr>
        <p:spPr>
          <a:xfrm flipH="1" flipV="1">
            <a:off x="1124712" y="3925206"/>
            <a:ext cx="565909" cy="6858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9C337E4-86A8-A47A-6E76-6F492C2528C3}"/>
              </a:ext>
            </a:extLst>
          </p:cNvPr>
          <p:cNvCxnSpPr>
            <a:cxnSpLocks/>
          </p:cNvCxnSpPr>
          <p:nvPr/>
        </p:nvCxnSpPr>
        <p:spPr>
          <a:xfrm flipH="1" flipV="1">
            <a:off x="1103376" y="4919851"/>
            <a:ext cx="565909" cy="6858"/>
          </a:xfrm>
          <a:prstGeom prst="line">
            <a:avLst/>
          </a:prstGeom>
          <a:ln w="38100">
            <a:solidFill>
              <a:srgbClr val="FFCC66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2A391E-14CC-5743-9C1F-7674815F7593}"/>
              </a:ext>
            </a:extLst>
          </p:cNvPr>
          <p:cNvCxnSpPr>
            <a:cxnSpLocks/>
          </p:cNvCxnSpPr>
          <p:nvPr/>
        </p:nvCxnSpPr>
        <p:spPr>
          <a:xfrm flipH="1">
            <a:off x="8406382" y="4767901"/>
            <a:ext cx="2440688" cy="0"/>
          </a:xfrm>
          <a:prstGeom prst="line">
            <a:avLst/>
          </a:prstGeom>
          <a:ln w="38100">
            <a:solidFill>
              <a:srgbClr val="9966FF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AE6437-94A0-46EB-EC5C-EC4F4B73D075}"/>
              </a:ext>
            </a:extLst>
          </p:cNvPr>
          <p:cNvCxnSpPr>
            <a:cxnSpLocks/>
          </p:cNvCxnSpPr>
          <p:nvPr/>
        </p:nvCxnSpPr>
        <p:spPr>
          <a:xfrm flipH="1">
            <a:off x="3512058" y="3906918"/>
            <a:ext cx="7305360" cy="0"/>
          </a:xfrm>
          <a:prstGeom prst="line">
            <a:avLst/>
          </a:prstGeom>
          <a:ln w="38100">
            <a:solidFill>
              <a:srgbClr val="6699FF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E0F2A37-0D3D-CEA8-814E-92E32409BCB8}"/>
              </a:ext>
            </a:extLst>
          </p:cNvPr>
          <p:cNvSpPr txBox="1"/>
          <p:nvPr/>
        </p:nvSpPr>
        <p:spPr>
          <a:xfrm>
            <a:off x="75277" y="3390671"/>
            <a:ext cx="10938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Кнопки запуску (</a:t>
            </a:r>
            <a:r>
              <a:rPr lang="en-GB" b="1" dirty="0"/>
              <a:t>Start</a:t>
            </a:r>
            <a:r>
              <a:rPr lang="uk-UA" b="1" dirty="0"/>
              <a:t>)</a:t>
            </a:r>
            <a:endParaRPr lang="en-GB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9DA961-5F1A-AE1D-206D-27B97372166F}"/>
              </a:ext>
            </a:extLst>
          </p:cNvPr>
          <p:cNvSpPr txBox="1"/>
          <p:nvPr/>
        </p:nvSpPr>
        <p:spPr>
          <a:xfrm>
            <a:off x="10922594" y="4444735"/>
            <a:ext cx="1178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Список помилок</a:t>
            </a:r>
            <a:endParaRPr lang="en-GB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545E88-CE63-B8E3-CBCF-D72E3E787524}"/>
              </a:ext>
            </a:extLst>
          </p:cNvPr>
          <p:cNvSpPr txBox="1"/>
          <p:nvPr/>
        </p:nvSpPr>
        <p:spPr>
          <a:xfrm>
            <a:off x="10899226" y="3597324"/>
            <a:ext cx="10719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Статуси тестів</a:t>
            </a:r>
            <a:endParaRPr lang="en-GB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801A83-E59D-FB57-443F-58C345E45CED}"/>
              </a:ext>
            </a:extLst>
          </p:cNvPr>
          <p:cNvSpPr txBox="1"/>
          <p:nvPr/>
        </p:nvSpPr>
        <p:spPr>
          <a:xfrm>
            <a:off x="91236" y="4603543"/>
            <a:ext cx="1178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Список тестів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520196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59C12-44A5-02B4-91E6-A3E28FDE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Client-Server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9A35A-EE19-E83E-6A84-474D5314F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000" b="1" dirty="0"/>
              <a:t>Клієнт-серверна архітектура</a:t>
            </a:r>
            <a:r>
              <a:rPr lang="uk-UA" sz="2000" dirty="0"/>
              <a:t> — один із ключових шаблонів розробки пограмного забезпечення, що домінує у створенні розподілених мережевих застосунків. Вона ґрунтується на взаємодії та обміні даними між </a:t>
            </a:r>
            <a:r>
              <a:rPr lang="uk-UA" sz="2000" b="1" dirty="0"/>
              <a:t>клієнтом</a:t>
            </a:r>
            <a:r>
              <a:rPr lang="uk-UA" sz="2000" dirty="0"/>
              <a:t> і </a:t>
            </a:r>
            <a:r>
              <a:rPr lang="uk-UA" sz="2000" b="1" dirty="0"/>
              <a:t>сервером</a:t>
            </a:r>
            <a:r>
              <a:rPr lang="uk-UA" sz="2000" dirty="0"/>
              <a:t> через </a:t>
            </a:r>
            <a:r>
              <a:rPr lang="uk-UA" sz="2000" b="1" dirty="0"/>
              <a:t>мережу</a:t>
            </a:r>
            <a:r>
              <a:rPr lang="uk-UA" sz="2000" dirty="0"/>
              <a:t>.</a:t>
            </a:r>
          </a:p>
          <a:p>
            <a:endParaRPr lang="uk-UA" sz="2000" dirty="0"/>
          </a:p>
          <a:p>
            <a:r>
              <a:rPr lang="ru-RU" sz="2000" dirty="0"/>
              <a:t>Вона передбачає такі основні компоненти:</a:t>
            </a:r>
            <a:endParaRPr lang="en-GB" sz="2000" dirty="0"/>
          </a:p>
          <a:p>
            <a:pPr lvl="1"/>
            <a:r>
              <a:rPr lang="uk-UA" dirty="0"/>
              <a:t>Клієнт </a:t>
            </a:r>
          </a:p>
          <a:p>
            <a:pPr lvl="1"/>
            <a:r>
              <a:rPr lang="uk-UA" dirty="0"/>
              <a:t>Сервер </a:t>
            </a:r>
          </a:p>
          <a:p>
            <a:pPr lvl="1"/>
            <a:r>
              <a:rPr lang="uk-UA" dirty="0"/>
              <a:t>Мережа</a:t>
            </a:r>
            <a:endParaRPr lang="ru-RU" dirty="0"/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41874F-91C6-92FA-713D-E167C14D9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140" y="3600930"/>
            <a:ext cx="4173071" cy="2503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2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1627-B3B9-F224-6E77-87CD023AE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Client-Server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7FFF-C640-7316-C7C0-661ABAA82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693" y="2336873"/>
            <a:ext cx="9443319" cy="4207362"/>
          </a:xfrm>
        </p:spPr>
        <p:txBody>
          <a:bodyPr>
            <a:normAutofit/>
          </a:bodyPr>
          <a:lstStyle/>
          <a:p>
            <a:r>
              <a:rPr lang="uk-UA" sz="2000" b="1" dirty="0"/>
              <a:t>Клієнт</a:t>
            </a:r>
            <a:r>
              <a:rPr lang="uk-UA" sz="2000" dirty="0"/>
              <a:t> - </a:t>
            </a:r>
            <a:r>
              <a:rPr lang="ru-RU" sz="2000" dirty="0"/>
              <a:t>ініціює запити й відображає результати на пристрої користувача (ПК, телефон, браузер).</a:t>
            </a:r>
          </a:p>
          <a:p>
            <a:pPr marL="0" indent="0">
              <a:buNone/>
            </a:pPr>
            <a:r>
              <a:rPr lang="en-GB" sz="2000" dirty="0"/>
              <a:t>   </a:t>
            </a:r>
            <a:r>
              <a:rPr lang="ru-RU" sz="2000" dirty="0"/>
              <a:t>(У нашому проєкті клієнт </a:t>
            </a:r>
            <a:r>
              <a:rPr lang="uk-UA" sz="2000" dirty="0"/>
              <a:t>реалізований на</a:t>
            </a:r>
            <a:r>
              <a:rPr lang="ru-RU" sz="2000" dirty="0"/>
              <a:t> </a:t>
            </a:r>
            <a:r>
              <a:rPr lang="en-GB" sz="2000" dirty="0"/>
              <a:t>Angular</a:t>
            </a:r>
            <a:r>
              <a:rPr lang="ru-RU" sz="2000" dirty="0"/>
              <a:t>)</a:t>
            </a:r>
          </a:p>
          <a:p>
            <a:endParaRPr lang="ru-RU" sz="2000" dirty="0"/>
          </a:p>
          <a:p>
            <a:r>
              <a:rPr lang="ru-RU" sz="2000" b="1" dirty="0"/>
              <a:t>Сервер</a:t>
            </a:r>
            <a:r>
              <a:rPr lang="ru-RU" sz="2000" dirty="0"/>
              <a:t> - обробляє запити, виконує бізнес-логіку й звертається до БД, формує відповідь.</a:t>
            </a:r>
            <a:r>
              <a:rPr lang="uk-UA" sz="2000" dirty="0"/>
              <a:t> Зазвичай розгорнутий у центрі обробки даних або хмарі.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   </a:t>
            </a:r>
            <a:r>
              <a:rPr lang="ru-RU" sz="2000" dirty="0"/>
              <a:t>(У нас сервер написано на </a:t>
            </a:r>
            <a:r>
              <a:rPr lang="ru-RU" sz="2000" b="1" dirty="0"/>
              <a:t>ASP.NET Core</a:t>
            </a:r>
            <a:r>
              <a:rPr lang="ru-RU" sz="2000" dirty="0"/>
              <a:t>, а дані зберігаються в </a:t>
            </a:r>
            <a:r>
              <a:rPr lang="ru-RU" sz="2000" b="1" dirty="0"/>
              <a:t>PostgreSQL</a:t>
            </a:r>
            <a:r>
              <a:rPr lang="ru-RU" sz="2000" dirty="0"/>
              <a:t>)</a:t>
            </a:r>
            <a:endParaRPr lang="uk-UA" sz="2000" dirty="0"/>
          </a:p>
          <a:p>
            <a:endParaRPr lang="uk-UA" sz="2000" dirty="0"/>
          </a:p>
          <a:p>
            <a:r>
              <a:rPr lang="uk-UA" sz="2000" b="1" dirty="0"/>
              <a:t>Мережа</a:t>
            </a:r>
            <a:r>
              <a:rPr lang="uk-UA" sz="2000" dirty="0"/>
              <a:t> - Канал зв’язку (</a:t>
            </a:r>
            <a:r>
              <a:rPr lang="en-GB" sz="2000" dirty="0"/>
              <a:t>TCP/IP, HTTP/2, WebSocket </a:t>
            </a:r>
            <a:r>
              <a:rPr lang="uk-UA" sz="2000" dirty="0"/>
              <a:t>тощо), яким клієнт і сервер обмінюються повідомленнями.</a:t>
            </a:r>
            <a:endParaRPr lang="en-GB" sz="2000" dirty="0"/>
          </a:p>
          <a:p>
            <a:pPr marL="0" indent="0">
              <a:buNone/>
            </a:pPr>
            <a:r>
              <a:rPr lang="en-GB" sz="2000" dirty="0"/>
              <a:t>   </a:t>
            </a:r>
            <a:r>
              <a:rPr lang="ru-RU" sz="2000" dirty="0"/>
              <a:t>(</a:t>
            </a:r>
            <a:r>
              <a:rPr lang="uk-UA" sz="2000" dirty="0"/>
              <a:t>У нашому проєкті взаємодія організована через </a:t>
            </a:r>
            <a:r>
              <a:rPr lang="en-GB" sz="2000" b="1" dirty="0"/>
              <a:t>RESTful HTTP API</a:t>
            </a:r>
            <a:r>
              <a:rPr lang="ru-RU" sz="2000" dirty="0"/>
              <a:t>)</a:t>
            </a:r>
          </a:p>
          <a:p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D223A-FAB6-5B8E-871A-EA9EC548D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366" y="2490389"/>
            <a:ext cx="2377642" cy="3435282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2409C6D9-C592-C007-42DE-6E0C9A47B392}"/>
              </a:ext>
            </a:extLst>
          </p:cNvPr>
          <p:cNvSpPr/>
          <p:nvPr/>
        </p:nvSpPr>
        <p:spPr>
          <a:xfrm>
            <a:off x="9877361" y="4208030"/>
            <a:ext cx="851647" cy="300998"/>
          </a:xfrm>
          <a:prstGeom prst="frame">
            <a:avLst/>
          </a:prstGeom>
          <a:solidFill>
            <a:srgbClr val="0070C0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A4CCDF6-F4AC-3AF2-92E7-B708F5E4CD5A}"/>
              </a:ext>
            </a:extLst>
          </p:cNvPr>
          <p:cNvSpPr/>
          <p:nvPr/>
        </p:nvSpPr>
        <p:spPr>
          <a:xfrm>
            <a:off x="9877362" y="3713289"/>
            <a:ext cx="851647" cy="300998"/>
          </a:xfrm>
          <a:prstGeom prst="frame">
            <a:avLst/>
          </a:prstGeom>
          <a:solidFill>
            <a:srgbClr val="00B05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E4293C-8AAF-0EEE-2024-E6D16CC8C4EC}"/>
              </a:ext>
            </a:extLst>
          </p:cNvPr>
          <p:cNvCxnSpPr>
            <a:cxnSpLocks/>
          </p:cNvCxnSpPr>
          <p:nvPr/>
        </p:nvCxnSpPr>
        <p:spPr>
          <a:xfrm>
            <a:off x="7835153" y="2572870"/>
            <a:ext cx="1939859" cy="1837765"/>
          </a:xfrm>
          <a:prstGeom prst="straightConnector1">
            <a:avLst/>
          </a:prstGeom>
          <a:ln w="38100">
            <a:solidFill>
              <a:srgbClr val="0066FF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EC187E-CBFE-9026-B3BD-65DB37DF51C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9135035" y="3863788"/>
            <a:ext cx="742327" cy="15049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34424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1C03A-0906-D5FF-B4A4-A8325BF9C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HTTP: </a:t>
            </a:r>
            <a:r>
              <a:rPr lang="uk-UA" b="1" dirty="0"/>
              <a:t>як працює запит і відповідь 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843BA-4289-6072-323B-DD5FF95A4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51" y="2457971"/>
            <a:ext cx="5071281" cy="413389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2000" b="1" dirty="0"/>
              <a:t>Клієнт (фронтенд)</a:t>
            </a:r>
            <a:r>
              <a:rPr lang="ru-RU" sz="2000" dirty="0"/>
              <a:t> надсилає </a:t>
            </a:r>
            <a:r>
              <a:rPr lang="ru-RU" sz="2000" b="1" dirty="0"/>
              <a:t>HTTP-запит</a:t>
            </a:r>
            <a:r>
              <a:rPr lang="ru-RU" sz="2000" dirty="0"/>
              <a:t> до сервера</a:t>
            </a:r>
            <a:r>
              <a:rPr lang="pl-PL" sz="2000" dirty="0"/>
              <a:t> </a:t>
            </a:r>
            <a:r>
              <a:rPr lang="uk-UA" sz="2000" dirty="0"/>
              <a:t>(опціонально – у формі </a:t>
            </a:r>
            <a:r>
              <a:rPr lang="en-US" sz="2000" dirty="0"/>
              <a:t>JSON </a:t>
            </a:r>
            <a:r>
              <a:rPr lang="uk-UA" sz="2000" dirty="0"/>
              <a:t>або </a:t>
            </a:r>
            <a:r>
              <a:rPr lang="en-GB" sz="2000" dirty="0"/>
              <a:t>XML</a:t>
            </a:r>
            <a:r>
              <a:rPr lang="uk-UA" sz="2000" dirty="0"/>
              <a:t>)</a:t>
            </a:r>
          </a:p>
          <a:p>
            <a:endParaRPr lang="uk-UA" sz="2000" dirty="0"/>
          </a:p>
          <a:p>
            <a:pPr>
              <a:lnSpc>
                <a:spcPct val="100000"/>
              </a:lnSpc>
            </a:pPr>
            <a:r>
              <a:rPr lang="ru-RU" sz="2000" b="1" dirty="0"/>
              <a:t>Сервер (бекенд)</a:t>
            </a:r>
            <a:r>
              <a:rPr lang="ru-RU" sz="2000" dirty="0"/>
              <a:t> обробляє запит та формує</a:t>
            </a:r>
            <a:r>
              <a:rPr lang="en-US" sz="2000" dirty="0"/>
              <a:t> </a:t>
            </a:r>
            <a:r>
              <a:rPr lang="en-US" sz="2000" b="1" dirty="0"/>
              <a:t>HTTP</a:t>
            </a:r>
            <a:r>
              <a:rPr lang="ru-RU" sz="2000" b="1" dirty="0"/>
              <a:t>-відповідь </a:t>
            </a:r>
            <a:r>
              <a:rPr lang="ru-RU" sz="2000" dirty="0"/>
              <a:t>також</a:t>
            </a:r>
            <a:r>
              <a:rPr lang="ru-RU" sz="2000" b="1" dirty="0"/>
              <a:t> </a:t>
            </a:r>
            <a:r>
              <a:rPr lang="uk-UA" sz="2000" dirty="0"/>
              <a:t>(опціонально – у формі </a:t>
            </a:r>
            <a:r>
              <a:rPr lang="en-US" sz="2000" dirty="0"/>
              <a:t>JSON </a:t>
            </a:r>
            <a:r>
              <a:rPr lang="uk-UA" sz="2000" dirty="0"/>
              <a:t>або </a:t>
            </a:r>
            <a:r>
              <a:rPr lang="en-GB" sz="2000" dirty="0"/>
              <a:t>XML</a:t>
            </a:r>
            <a:r>
              <a:rPr lang="uk-UA" sz="2000" dirty="0"/>
              <a:t>)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01DCA-2E17-A631-6254-A95FF13A2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985" y="-744278"/>
            <a:ext cx="9053622" cy="905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394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2C2E-5139-66CB-E012-D64E0062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Найчастіші операції </a:t>
            </a:r>
            <a:r>
              <a:rPr lang="en-GB" b="1" dirty="0"/>
              <a:t>HTTP</a:t>
            </a:r>
            <a:r>
              <a:rPr lang="uk-UA" b="1" dirty="0"/>
              <a:t>-методів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ED729-547D-7945-C36B-3FC64F265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243" y="2157279"/>
            <a:ext cx="4678017" cy="1792218"/>
          </a:xfrm>
        </p:spPr>
        <p:txBody>
          <a:bodyPr/>
          <a:lstStyle/>
          <a:p>
            <a:r>
              <a:rPr lang="en-US" b="1" dirty="0"/>
              <a:t>Get</a:t>
            </a:r>
            <a:r>
              <a:rPr lang="en-US" dirty="0"/>
              <a:t> – </a:t>
            </a:r>
            <a:r>
              <a:rPr lang="uk-UA" dirty="0"/>
              <a:t>отримує дані</a:t>
            </a:r>
          </a:p>
          <a:p>
            <a:pPr lvl="1"/>
            <a:r>
              <a:rPr lang="en-GB" dirty="0"/>
              <a:t>/users</a:t>
            </a:r>
          </a:p>
          <a:p>
            <a:pPr lvl="1"/>
            <a:r>
              <a:rPr lang="en-GB" dirty="0"/>
              <a:t>/user</a:t>
            </a:r>
            <a:r>
              <a:rPr lang="pl-PL" dirty="0"/>
              <a:t>/3</a:t>
            </a:r>
          </a:p>
          <a:p>
            <a:pPr lvl="1"/>
            <a:r>
              <a:rPr lang="uk-UA" dirty="0"/>
              <a:t>Повертає статус: 200 або 404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ADBCD1-2853-5BA7-AB91-D5B13E50EA01}"/>
              </a:ext>
            </a:extLst>
          </p:cNvPr>
          <p:cNvSpPr txBox="1">
            <a:spLocks/>
          </p:cNvSpPr>
          <p:nvPr/>
        </p:nvSpPr>
        <p:spPr>
          <a:xfrm>
            <a:off x="680321" y="3968199"/>
            <a:ext cx="4913243" cy="1792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Post</a:t>
            </a:r>
            <a:r>
              <a:rPr lang="en-US" sz="2400" dirty="0"/>
              <a:t> – </a:t>
            </a:r>
            <a:r>
              <a:rPr lang="uk-UA" sz="2400" dirty="0"/>
              <a:t>створює новий ресурс</a:t>
            </a:r>
          </a:p>
          <a:p>
            <a:pPr lvl="1"/>
            <a:r>
              <a:rPr lang="en-GB" sz="2000" dirty="0"/>
              <a:t>/users</a:t>
            </a:r>
          </a:p>
          <a:p>
            <a:pPr lvl="1"/>
            <a:r>
              <a:rPr lang="en-GB" sz="2000" dirty="0"/>
              <a:t>/user</a:t>
            </a:r>
            <a:endParaRPr lang="pl-PL" sz="2000" dirty="0"/>
          </a:p>
          <a:p>
            <a:pPr lvl="1"/>
            <a:r>
              <a:rPr lang="uk-UA" sz="2000" dirty="0"/>
              <a:t>Повертає статус: 201, 204 або 400</a:t>
            </a:r>
          </a:p>
          <a:p>
            <a:endParaRPr lang="uk-UA" dirty="0"/>
          </a:p>
          <a:p>
            <a:endParaRPr lang="pl-P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37C608D-7B50-E7EF-724D-04A26CAFD861}"/>
              </a:ext>
            </a:extLst>
          </p:cNvPr>
          <p:cNvSpPr txBox="1">
            <a:spLocks/>
          </p:cNvSpPr>
          <p:nvPr/>
        </p:nvSpPr>
        <p:spPr>
          <a:xfrm>
            <a:off x="6165351" y="2110349"/>
            <a:ext cx="5271052" cy="1464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Put</a:t>
            </a:r>
            <a:r>
              <a:rPr lang="en-US" sz="2400" dirty="0"/>
              <a:t> – </a:t>
            </a:r>
            <a:r>
              <a:rPr lang="uk-UA" sz="2400" dirty="0"/>
              <a:t>актуалізує ресурс </a:t>
            </a:r>
            <a:r>
              <a:rPr lang="uk-UA" sz="2400" b="1" dirty="0"/>
              <a:t>по </a:t>
            </a:r>
            <a:r>
              <a:rPr lang="en-US" sz="2400" b="1" dirty="0"/>
              <a:t>Id</a:t>
            </a:r>
            <a:endParaRPr lang="uk-UA" sz="2400" b="1" dirty="0"/>
          </a:p>
          <a:p>
            <a:pPr lvl="1"/>
            <a:r>
              <a:rPr lang="en-GB" sz="2000" dirty="0"/>
              <a:t>/user</a:t>
            </a:r>
            <a:r>
              <a:rPr lang="pl-PL" sz="2000" dirty="0"/>
              <a:t>/3</a:t>
            </a:r>
          </a:p>
          <a:p>
            <a:pPr lvl="1"/>
            <a:r>
              <a:rPr lang="uk-UA" sz="2000" dirty="0"/>
              <a:t>Повертає статус: 200 або 404</a:t>
            </a:r>
          </a:p>
          <a:p>
            <a:endParaRPr lang="uk-UA" dirty="0"/>
          </a:p>
          <a:p>
            <a:endParaRPr lang="pl-PL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2368CE-2C2C-8464-04A5-DFB57B9EA43D}"/>
              </a:ext>
            </a:extLst>
          </p:cNvPr>
          <p:cNvSpPr txBox="1">
            <a:spLocks/>
          </p:cNvSpPr>
          <p:nvPr/>
        </p:nvSpPr>
        <p:spPr>
          <a:xfrm>
            <a:off x="6165351" y="3968199"/>
            <a:ext cx="5002695" cy="1792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Delete</a:t>
            </a:r>
            <a:r>
              <a:rPr lang="en-US" sz="2400" dirty="0"/>
              <a:t> – </a:t>
            </a:r>
            <a:r>
              <a:rPr lang="uk-UA" sz="2400" dirty="0"/>
              <a:t>видаляє ресурс </a:t>
            </a:r>
            <a:r>
              <a:rPr lang="uk-UA" sz="2400" b="1" dirty="0"/>
              <a:t>по </a:t>
            </a:r>
            <a:r>
              <a:rPr lang="en-US" sz="2400" b="1" dirty="0"/>
              <a:t>Id</a:t>
            </a:r>
            <a:endParaRPr lang="en-GB" sz="2400" dirty="0"/>
          </a:p>
          <a:p>
            <a:pPr lvl="1"/>
            <a:r>
              <a:rPr lang="en-GB" sz="2000" dirty="0"/>
              <a:t>/user</a:t>
            </a:r>
            <a:r>
              <a:rPr lang="pl-PL" sz="2000" dirty="0"/>
              <a:t>/3</a:t>
            </a:r>
          </a:p>
          <a:p>
            <a:pPr lvl="1"/>
            <a:r>
              <a:rPr lang="uk-UA" sz="2000" dirty="0"/>
              <a:t>Повертає статус: 20</a:t>
            </a:r>
            <a:r>
              <a:rPr lang="en-US" sz="2000" dirty="0"/>
              <a:t>4</a:t>
            </a:r>
            <a:r>
              <a:rPr lang="uk-UA" sz="2000" dirty="0"/>
              <a:t> або 404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B6A964D-DFCD-E81B-0B8E-0D2FFF8FFB3F}"/>
              </a:ext>
            </a:extLst>
          </p:cNvPr>
          <p:cNvSpPr txBox="1">
            <a:spLocks/>
          </p:cNvSpPr>
          <p:nvPr/>
        </p:nvSpPr>
        <p:spPr>
          <a:xfrm>
            <a:off x="1143000" y="5910606"/>
            <a:ext cx="10058400" cy="3299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uk-UA" sz="2000" dirty="0"/>
              <a:t>Список </a:t>
            </a:r>
            <a:r>
              <a:rPr lang="en-GB" sz="2000" dirty="0"/>
              <a:t>HTTP</a:t>
            </a:r>
            <a:r>
              <a:rPr lang="uk-UA" sz="2000" dirty="0"/>
              <a:t>-методів </a:t>
            </a:r>
            <a:r>
              <a:rPr lang="en-GB" sz="2000" dirty="0">
                <a:hlinkClick r:id="rId2"/>
              </a:rPr>
              <a:t>https://en.wikipedia.org/wiki/HTTP#Request_methods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212062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64970-004C-2AD6-1BDD-EDBAFEBB6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HTTP status codes</a:t>
            </a:r>
            <a:r>
              <a:rPr lang="uk-UA" b="1" dirty="0"/>
              <a:t>:</a:t>
            </a:r>
            <a:endParaRPr lang="en-GB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7165D7-23AC-907E-1C1D-EE49AA741515}"/>
              </a:ext>
            </a:extLst>
          </p:cNvPr>
          <p:cNvSpPr txBox="1">
            <a:spLocks/>
          </p:cNvSpPr>
          <p:nvPr/>
        </p:nvSpPr>
        <p:spPr>
          <a:xfrm>
            <a:off x="838200" y="6189985"/>
            <a:ext cx="10515600" cy="473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uk-UA" sz="2000" dirty="0"/>
              <a:t>Список </a:t>
            </a:r>
            <a:r>
              <a:rPr lang="en-GB" sz="2000" dirty="0"/>
              <a:t>HTTP</a:t>
            </a:r>
            <a:r>
              <a:rPr lang="uk-UA" sz="2000" dirty="0"/>
              <a:t>-статусів </a:t>
            </a:r>
            <a:r>
              <a:rPr lang="en-GB" sz="2000" dirty="0">
                <a:hlinkClick r:id="rId2"/>
              </a:rPr>
              <a:t>https://en.wikipedia.org/wiki/List_of_HTTP_status_codes</a:t>
            </a:r>
            <a:r>
              <a:rPr lang="uk-UA" sz="2000" dirty="0">
                <a:hlinkClick r:id="rId2"/>
              </a:rPr>
              <a:t> 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2E7A3-5921-C47F-648D-9050B2CD93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443" b="25086"/>
          <a:stretch>
            <a:fillRect/>
          </a:stretch>
        </p:blipFill>
        <p:spPr>
          <a:xfrm>
            <a:off x="3542445" y="2233153"/>
            <a:ext cx="4572000" cy="366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884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7E527-8855-F37C-BF3B-9DAEA69D4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Swagger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BDD3A-58CF-0B8A-72BB-4E6DB4E2C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981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b="1" dirty="0"/>
              <a:t>Swagger</a:t>
            </a:r>
            <a:r>
              <a:rPr lang="en-GB" sz="2000" dirty="0"/>
              <a:t> — </a:t>
            </a:r>
            <a:r>
              <a:rPr lang="uk-UA" sz="2000" dirty="0"/>
              <a:t>це </a:t>
            </a:r>
            <a:r>
              <a:rPr lang="uk-UA" sz="2000" b="1" dirty="0"/>
              <a:t>інтсрумент</a:t>
            </a:r>
            <a:r>
              <a:rPr lang="uk-UA" sz="2000" dirty="0"/>
              <a:t> для опису, документування та візуалізації </a:t>
            </a:r>
            <a:r>
              <a:rPr lang="en-GB" sz="2000" dirty="0"/>
              <a:t>REST API.</a:t>
            </a:r>
          </a:p>
          <a:p>
            <a:pPr>
              <a:lnSpc>
                <a:spcPct val="100000"/>
              </a:lnSpc>
            </a:pPr>
            <a:endParaRPr lang="en-GB" sz="2000" dirty="0"/>
          </a:p>
          <a:p>
            <a:pPr>
              <a:lnSpc>
                <a:spcPct val="100000"/>
              </a:lnSpc>
            </a:pPr>
            <a:r>
              <a:rPr lang="uk-UA" sz="2000" dirty="0"/>
              <a:t>Виходячи зі специфікації </a:t>
            </a:r>
            <a:r>
              <a:rPr lang="en-GB" sz="2000" b="1" dirty="0"/>
              <a:t>Swagger</a:t>
            </a:r>
            <a:r>
              <a:rPr lang="en-GB" sz="2000" dirty="0"/>
              <a:t> </a:t>
            </a:r>
            <a:r>
              <a:rPr lang="uk-UA" sz="2000" dirty="0"/>
              <a:t>можна автоматично згенерувати вихідний код клієнтських бібліотек та зрозумілу текстову документацію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uk-UA" sz="2000" dirty="0"/>
          </a:p>
          <a:p>
            <a:pPr>
              <a:lnSpc>
                <a:spcPct val="100000"/>
              </a:lnSpc>
            </a:pPr>
            <a:r>
              <a:rPr lang="en-GB" sz="2000" dirty="0"/>
              <a:t>Swagger </a:t>
            </a:r>
            <a:r>
              <a:rPr lang="uk-UA" sz="2000" dirty="0"/>
              <a:t>створює документацію, яка зрозуміла як людині, так і машині.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GB" sz="2000" dirty="0"/>
          </a:p>
          <a:p>
            <a:pPr>
              <a:lnSpc>
                <a:spcPct val="100000"/>
              </a:lnSpc>
            </a:pPr>
            <a:r>
              <a:rPr lang="ru-RU" sz="2000" dirty="0"/>
              <a:t>Інструмент також дає змогу тригерити ендпоінти, щоб перевірити працездатність нашого сервера.</a:t>
            </a:r>
            <a:endParaRPr lang="en-GB" sz="2000" dirty="0"/>
          </a:p>
          <a:p>
            <a:pPr>
              <a:lnSpc>
                <a:spcPct val="100000"/>
              </a:lnSpc>
            </a:pPr>
            <a:endParaRPr lang="en-GB" sz="2000" dirty="0"/>
          </a:p>
        </p:txBody>
      </p:sp>
      <p:pic>
        <p:nvPicPr>
          <p:cNvPr id="6" name="Picture 5" descr="A green background with white text&#10;&#10;AI-generated content may be incorrect.">
            <a:extLst>
              <a:ext uri="{FF2B5EF4-FFF2-40B4-BE49-F238E27FC236}">
                <a16:creationId xmlns:a16="http://schemas.microsoft.com/office/drawing/2014/main" id="{704273F0-D0C8-5573-66EC-631B03E850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26" t="39184" r="14398" b="40915"/>
          <a:stretch>
            <a:fillRect/>
          </a:stretch>
        </p:blipFill>
        <p:spPr>
          <a:xfrm>
            <a:off x="8889242" y="587983"/>
            <a:ext cx="2963470" cy="14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426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38097-6F4B-0C9B-0F22-8F30863EB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Swagger</a:t>
            </a:r>
            <a:r>
              <a:rPr lang="uk-UA" b="1" dirty="0"/>
              <a:t> – список ендпоінтів</a:t>
            </a:r>
            <a:endParaRPr lang="en-GB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EBB8AC-15E2-1FF8-D926-985CAC6364A9}"/>
              </a:ext>
            </a:extLst>
          </p:cNvPr>
          <p:cNvSpPr txBox="1"/>
          <p:nvPr/>
        </p:nvSpPr>
        <p:spPr>
          <a:xfrm>
            <a:off x="627951" y="3496712"/>
            <a:ext cx="12144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Localhost </a:t>
            </a:r>
            <a:r>
              <a:rPr lang="uk-UA" b="1" dirty="0"/>
              <a:t>сервера</a:t>
            </a:r>
            <a:endParaRPr lang="en-GB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8435AF-6E9F-5849-3A6E-C06A71E2DD0E}"/>
              </a:ext>
            </a:extLst>
          </p:cNvPr>
          <p:cNvSpPr txBox="1"/>
          <p:nvPr/>
        </p:nvSpPr>
        <p:spPr>
          <a:xfrm>
            <a:off x="680321" y="4428598"/>
            <a:ext cx="13964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/>
              <a:t>Список ендпоінтів</a:t>
            </a:r>
            <a:endParaRPr lang="en-GB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C7FD1E-1314-8A1C-055B-8B459596B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510" y="2385521"/>
            <a:ext cx="7761028" cy="3719251"/>
          </a:xfrm>
          <a:prstGeom prst="rect">
            <a:avLst/>
          </a:prstGeom>
        </p:spPr>
      </p:pic>
      <p:sp>
        <p:nvSpPr>
          <p:cNvPr id="9" name="Frame 8">
            <a:extLst>
              <a:ext uri="{FF2B5EF4-FFF2-40B4-BE49-F238E27FC236}">
                <a16:creationId xmlns:a16="http://schemas.microsoft.com/office/drawing/2014/main" id="{50451E2A-B4D5-F3CD-3D7D-24BA6868813D}"/>
              </a:ext>
            </a:extLst>
          </p:cNvPr>
          <p:cNvSpPr/>
          <p:nvPr/>
        </p:nvSpPr>
        <p:spPr>
          <a:xfrm>
            <a:off x="2889896" y="3613666"/>
            <a:ext cx="1208982" cy="412424"/>
          </a:xfrm>
          <a:prstGeom prst="frame">
            <a:avLst>
              <a:gd name="adj1" fmla="val 4779"/>
            </a:avLst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17356877-108D-0E0C-8AE9-636792561518}"/>
              </a:ext>
            </a:extLst>
          </p:cNvPr>
          <p:cNvSpPr/>
          <p:nvPr/>
        </p:nvSpPr>
        <p:spPr>
          <a:xfrm>
            <a:off x="2871700" y="4428598"/>
            <a:ext cx="7386089" cy="1657977"/>
          </a:xfrm>
          <a:prstGeom prst="frame">
            <a:avLst>
              <a:gd name="adj1" fmla="val 2584"/>
            </a:avLst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BFDB00-55B4-418C-C0C5-59FB398C0BB3}"/>
              </a:ext>
            </a:extLst>
          </p:cNvPr>
          <p:cNvCxnSpPr>
            <a:cxnSpLocks/>
          </p:cNvCxnSpPr>
          <p:nvPr/>
        </p:nvCxnSpPr>
        <p:spPr>
          <a:xfrm flipH="1">
            <a:off x="1978025" y="3756717"/>
            <a:ext cx="911871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CDCD6E-9BC6-3FCA-F0DD-E234AFDA3914}"/>
              </a:ext>
            </a:extLst>
          </p:cNvPr>
          <p:cNvCxnSpPr>
            <a:cxnSpLocks/>
          </p:cNvCxnSpPr>
          <p:nvPr/>
        </p:nvCxnSpPr>
        <p:spPr>
          <a:xfrm flipH="1">
            <a:off x="1998606" y="4751763"/>
            <a:ext cx="911871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790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A7F52-BB23-FAE0-B4D0-E7A8361D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Swagger</a:t>
            </a:r>
            <a:r>
              <a:rPr lang="uk-UA" b="1" dirty="0"/>
              <a:t> - </a:t>
            </a:r>
            <a:r>
              <a:rPr lang="en-GB" b="1" dirty="0"/>
              <a:t>Get All</a:t>
            </a:r>
            <a:r>
              <a:rPr lang="uk-UA" b="1" dirty="0"/>
              <a:t> </a:t>
            </a:r>
            <a:r>
              <a:rPr lang="en-GB" b="1" dirty="0"/>
              <a:t>Projects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FF3FB3-F6EF-25CB-8EE8-C7276C1822A6}"/>
              </a:ext>
            </a:extLst>
          </p:cNvPr>
          <p:cNvSpPr txBox="1"/>
          <p:nvPr/>
        </p:nvSpPr>
        <p:spPr>
          <a:xfrm>
            <a:off x="332065" y="2630498"/>
            <a:ext cx="14331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Ендпоінт</a:t>
            </a:r>
            <a:endParaRPr lang="en-GB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6E7642-C252-3BFE-DB39-51ED9FB7C891}"/>
              </a:ext>
            </a:extLst>
          </p:cNvPr>
          <p:cNvSpPr txBox="1"/>
          <p:nvPr/>
        </p:nvSpPr>
        <p:spPr>
          <a:xfrm>
            <a:off x="263993" y="3225721"/>
            <a:ext cx="30025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Параметри </a:t>
            </a:r>
            <a:r>
              <a:rPr lang="uk-UA" sz="2000" dirty="0"/>
              <a:t>– які ми можем передавати в запиті, а саме в частині </a:t>
            </a:r>
            <a:r>
              <a:rPr lang="en-GB" sz="2000" dirty="0"/>
              <a:t>header</a:t>
            </a:r>
            <a:r>
              <a:rPr lang="uk-UA" sz="2000" dirty="0"/>
              <a:t>, </a:t>
            </a:r>
            <a:r>
              <a:rPr lang="en-GB" sz="2000" dirty="0"/>
              <a:t>path, query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938171-5FDA-D5F3-2E35-BC5FE9160F15}"/>
              </a:ext>
            </a:extLst>
          </p:cNvPr>
          <p:cNvSpPr txBox="1"/>
          <p:nvPr/>
        </p:nvSpPr>
        <p:spPr>
          <a:xfrm>
            <a:off x="332065" y="4704537"/>
            <a:ext cx="296614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Відповідь </a:t>
            </a:r>
            <a:r>
              <a:rPr lang="uk-UA" sz="2000" dirty="0"/>
              <a:t>– документація </a:t>
            </a:r>
            <a:r>
              <a:rPr lang="en-GB" sz="2000" dirty="0"/>
              <a:t>body </a:t>
            </a:r>
            <a:r>
              <a:rPr lang="uk-UA" sz="2000" dirty="0"/>
              <a:t>про те що ми очікуємов в відповіді в форматі </a:t>
            </a:r>
            <a:r>
              <a:rPr lang="en-GB" sz="2000" dirty="0"/>
              <a:t>JSON </a:t>
            </a:r>
            <a:r>
              <a:rPr lang="uk-UA" sz="2000" dirty="0"/>
              <a:t>з</a:t>
            </a:r>
            <a:r>
              <a:rPr lang="en-GB" sz="2000" dirty="0"/>
              <a:t> </a:t>
            </a:r>
            <a:r>
              <a:rPr lang="uk-UA" sz="2000" dirty="0"/>
              <a:t>статусом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248B3E-5EBE-B042-F596-5F1DCADB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809" y="2408072"/>
            <a:ext cx="8227114" cy="3499286"/>
          </a:xfrm>
          <a:prstGeom prst="rect">
            <a:avLst/>
          </a:prstGeom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20E40F73-351B-041E-8FBF-92AC188605E9}"/>
              </a:ext>
            </a:extLst>
          </p:cNvPr>
          <p:cNvSpPr/>
          <p:nvPr/>
        </p:nvSpPr>
        <p:spPr>
          <a:xfrm>
            <a:off x="3690620" y="2738120"/>
            <a:ext cx="1231672" cy="228600"/>
          </a:xfrm>
          <a:prstGeom prst="frame">
            <a:avLst>
              <a:gd name="adj1" fmla="val 4779"/>
            </a:avLst>
          </a:prstGeom>
          <a:solidFill>
            <a:srgbClr val="309070"/>
          </a:solidFill>
          <a:ln w="25400"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9BDACA7E-0B38-666E-C4CC-27937C291819}"/>
              </a:ext>
            </a:extLst>
          </p:cNvPr>
          <p:cNvSpPr/>
          <p:nvPr/>
        </p:nvSpPr>
        <p:spPr>
          <a:xfrm>
            <a:off x="3690620" y="2996184"/>
            <a:ext cx="7732556" cy="756950"/>
          </a:xfrm>
          <a:prstGeom prst="frame">
            <a:avLst>
              <a:gd name="adj1" fmla="val 4779"/>
            </a:avLst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0E92839D-2162-A5CF-0B50-BCBE2C275F7D}"/>
              </a:ext>
            </a:extLst>
          </p:cNvPr>
          <p:cNvSpPr/>
          <p:nvPr/>
        </p:nvSpPr>
        <p:spPr>
          <a:xfrm>
            <a:off x="3690620" y="3782598"/>
            <a:ext cx="7732556" cy="2058130"/>
          </a:xfrm>
          <a:prstGeom prst="frame">
            <a:avLst>
              <a:gd name="adj1" fmla="val 1571"/>
            </a:avLst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0D769A-45EB-E783-9741-00908500F86A}"/>
              </a:ext>
            </a:extLst>
          </p:cNvPr>
          <p:cNvCxnSpPr>
            <a:cxnSpLocks/>
          </p:cNvCxnSpPr>
          <p:nvPr/>
        </p:nvCxnSpPr>
        <p:spPr>
          <a:xfrm flipH="1">
            <a:off x="1697190" y="2835493"/>
            <a:ext cx="1993430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629CA2-FCEB-ED7C-AFD0-681290BBD01A}"/>
              </a:ext>
            </a:extLst>
          </p:cNvPr>
          <p:cNvCxnSpPr>
            <a:cxnSpLocks/>
          </p:cNvCxnSpPr>
          <p:nvPr/>
        </p:nvCxnSpPr>
        <p:spPr>
          <a:xfrm flipH="1">
            <a:off x="2856931" y="3457434"/>
            <a:ext cx="850713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31741F-6C34-AEDD-A560-EE1F4F2432A3}"/>
              </a:ext>
            </a:extLst>
          </p:cNvPr>
          <p:cNvCxnSpPr>
            <a:cxnSpLocks/>
          </p:cNvCxnSpPr>
          <p:nvPr/>
        </p:nvCxnSpPr>
        <p:spPr>
          <a:xfrm flipH="1">
            <a:off x="2229134" y="4906371"/>
            <a:ext cx="1478510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186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0D3BB-5A45-AEF2-CB16-DFB0B64DC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Swagger</a:t>
            </a:r>
            <a:r>
              <a:rPr lang="uk-UA" b="1" dirty="0"/>
              <a:t> - </a:t>
            </a:r>
            <a:r>
              <a:rPr lang="en-GB" b="1" dirty="0"/>
              <a:t>Get All</a:t>
            </a:r>
            <a:r>
              <a:rPr lang="uk-UA" b="1" dirty="0"/>
              <a:t> </a:t>
            </a:r>
            <a:r>
              <a:rPr lang="en-GB" b="1" dirty="0"/>
              <a:t>Projects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A012DB-D49D-AE57-EE9B-A521EF25B272}"/>
              </a:ext>
            </a:extLst>
          </p:cNvPr>
          <p:cNvSpPr txBox="1"/>
          <p:nvPr/>
        </p:nvSpPr>
        <p:spPr>
          <a:xfrm>
            <a:off x="260754" y="3251065"/>
            <a:ext cx="23550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Відповідь </a:t>
            </a:r>
            <a:r>
              <a:rPr lang="uk-UA" sz="2000" dirty="0"/>
              <a:t>– документація</a:t>
            </a:r>
            <a:r>
              <a:rPr lang="en-GB" sz="2000" dirty="0"/>
              <a:t> </a:t>
            </a:r>
            <a:r>
              <a:rPr lang="uk-UA" sz="2000" dirty="0"/>
              <a:t>в частині </a:t>
            </a:r>
            <a:r>
              <a:rPr lang="en-GB" sz="2000" dirty="0"/>
              <a:t>body</a:t>
            </a:r>
            <a:r>
              <a:rPr lang="uk-UA" sz="2000" dirty="0"/>
              <a:t> про те що ми очікуємов в відповіді в формі об’єктів з статусом</a:t>
            </a:r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170CF1-A8D5-9BA5-72B1-A6F3BACB2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29" y="2276310"/>
            <a:ext cx="8862071" cy="3884743"/>
          </a:xfrm>
          <a:prstGeom prst="rect">
            <a:avLst/>
          </a:prstGeom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F273DADF-4FAD-4F7F-A2DF-C1FBD327396A}"/>
              </a:ext>
            </a:extLst>
          </p:cNvPr>
          <p:cNvSpPr/>
          <p:nvPr/>
        </p:nvSpPr>
        <p:spPr>
          <a:xfrm>
            <a:off x="2994584" y="3655218"/>
            <a:ext cx="8310312" cy="2449553"/>
          </a:xfrm>
          <a:prstGeom prst="frame">
            <a:avLst>
              <a:gd name="adj1" fmla="val 1571"/>
            </a:avLst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DE1783-270A-A839-7C34-56D5CD407B83}"/>
              </a:ext>
            </a:extLst>
          </p:cNvPr>
          <p:cNvCxnSpPr>
            <a:cxnSpLocks/>
          </p:cNvCxnSpPr>
          <p:nvPr/>
        </p:nvCxnSpPr>
        <p:spPr>
          <a:xfrm flipH="1">
            <a:off x="2383809" y="3782705"/>
            <a:ext cx="610775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993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2EA0C-0667-BCAD-1F24-74CFD4E85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Swagger</a:t>
            </a:r>
            <a:r>
              <a:rPr lang="uk-UA" b="1" dirty="0"/>
              <a:t> - </a:t>
            </a:r>
            <a:r>
              <a:rPr lang="en-GB" b="1" dirty="0"/>
              <a:t>Get All</a:t>
            </a:r>
            <a:r>
              <a:rPr lang="uk-UA" b="1" dirty="0"/>
              <a:t> </a:t>
            </a:r>
            <a:r>
              <a:rPr lang="en-GB" b="1" dirty="0"/>
              <a:t>Projects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315AAB-3338-2565-67E5-0B1B949BB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258" y="2311923"/>
            <a:ext cx="7278806" cy="41462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E90D1F-E69A-C296-A3F0-9E94969D91E4}"/>
              </a:ext>
            </a:extLst>
          </p:cNvPr>
          <p:cNvSpPr txBox="1"/>
          <p:nvPr/>
        </p:nvSpPr>
        <p:spPr>
          <a:xfrm>
            <a:off x="406967" y="3913950"/>
            <a:ext cx="2823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Відповідь </a:t>
            </a:r>
            <a:r>
              <a:rPr lang="pl-PL" sz="2000" b="1" dirty="0"/>
              <a:t>body</a:t>
            </a:r>
            <a:r>
              <a:rPr lang="uk-UA" sz="2000" b="1" dirty="0"/>
              <a:t> з сервера</a:t>
            </a:r>
            <a:r>
              <a:rPr lang="uk-UA" sz="2000" dirty="0"/>
              <a:t> – список проєктів в форматі </a:t>
            </a:r>
            <a:r>
              <a:rPr lang="en-GB" sz="2000" dirty="0"/>
              <a:t>JSON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4CE0E-FA8D-552F-2A4E-A466DEBC3683}"/>
              </a:ext>
            </a:extLst>
          </p:cNvPr>
          <p:cNvSpPr txBox="1"/>
          <p:nvPr/>
        </p:nvSpPr>
        <p:spPr>
          <a:xfrm>
            <a:off x="406967" y="3188358"/>
            <a:ext cx="25091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Запит на ендпоінт</a:t>
            </a:r>
            <a:endParaRPr lang="en-GB" sz="20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AE3BF8-DD51-CCE0-1304-88ADC018E729}"/>
              </a:ext>
            </a:extLst>
          </p:cNvPr>
          <p:cNvCxnSpPr>
            <a:cxnSpLocks/>
          </p:cNvCxnSpPr>
          <p:nvPr/>
        </p:nvCxnSpPr>
        <p:spPr>
          <a:xfrm flipH="1">
            <a:off x="2916072" y="3388413"/>
            <a:ext cx="1038404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B040AE-9BCA-080B-6536-F4095FA660BC}"/>
              </a:ext>
            </a:extLst>
          </p:cNvPr>
          <p:cNvCxnSpPr>
            <a:cxnSpLocks/>
          </p:cNvCxnSpPr>
          <p:nvPr/>
        </p:nvCxnSpPr>
        <p:spPr>
          <a:xfrm flipH="1">
            <a:off x="2916072" y="4142907"/>
            <a:ext cx="1136213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1193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F8D1-9753-9A00-12C6-5CB127D1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Swagger</a:t>
            </a:r>
            <a:r>
              <a:rPr lang="uk-UA" b="1" dirty="0"/>
              <a:t> - </a:t>
            </a:r>
            <a:r>
              <a:rPr lang="en-GB" b="1" dirty="0"/>
              <a:t>Update</a:t>
            </a:r>
            <a:r>
              <a:rPr lang="uk-UA" b="1" dirty="0"/>
              <a:t> </a:t>
            </a:r>
            <a:r>
              <a:rPr lang="en-GB" b="1" dirty="0"/>
              <a:t>Project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55ECB5-4D0B-5CC5-3DCD-20660FF29757}"/>
              </a:ext>
            </a:extLst>
          </p:cNvPr>
          <p:cNvSpPr txBox="1"/>
          <p:nvPr/>
        </p:nvSpPr>
        <p:spPr>
          <a:xfrm>
            <a:off x="459475" y="2361080"/>
            <a:ext cx="26809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Параметри </a:t>
            </a:r>
            <a:r>
              <a:rPr lang="uk-UA" sz="2000" dirty="0"/>
              <a:t>– які ми можем передавати в запиті, а саме в частині </a:t>
            </a:r>
            <a:r>
              <a:rPr lang="en-GB" sz="2000" dirty="0"/>
              <a:t>header</a:t>
            </a:r>
            <a:r>
              <a:rPr lang="uk-UA" sz="2000" dirty="0"/>
              <a:t>, </a:t>
            </a:r>
            <a:r>
              <a:rPr lang="en-GB" sz="2000" dirty="0"/>
              <a:t>path, query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B5F081-50BD-18AB-AFE0-74BC8338BFE2}"/>
              </a:ext>
            </a:extLst>
          </p:cNvPr>
          <p:cNvSpPr txBox="1"/>
          <p:nvPr/>
        </p:nvSpPr>
        <p:spPr>
          <a:xfrm>
            <a:off x="505354" y="4496920"/>
            <a:ext cx="287474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Запит </a:t>
            </a:r>
            <a:r>
              <a:rPr lang="en-GB" sz="2000" b="1" dirty="0"/>
              <a:t>body</a:t>
            </a:r>
            <a:r>
              <a:rPr lang="uk-UA" sz="2000" b="1" dirty="0"/>
              <a:t> </a:t>
            </a:r>
            <a:r>
              <a:rPr lang="uk-UA" sz="2000" dirty="0"/>
              <a:t>– тут ми можемо вказати що саме ми паредаємо в наш запит в частині </a:t>
            </a:r>
            <a:r>
              <a:rPr lang="en-GB" sz="2000" dirty="0"/>
              <a:t>body </a:t>
            </a:r>
            <a:r>
              <a:rPr lang="uk-UA" sz="2000" dirty="0"/>
              <a:t>у форматі </a:t>
            </a:r>
            <a:r>
              <a:rPr lang="en-GB" sz="2000" dirty="0"/>
              <a:t>JSON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299B2A-E8A9-C935-73AB-9D56E2FBC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23" y="2361080"/>
            <a:ext cx="6720576" cy="3743692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90EAAA27-4B59-062B-5C36-73F45CA77767}"/>
              </a:ext>
            </a:extLst>
          </p:cNvPr>
          <p:cNvSpPr/>
          <p:nvPr/>
        </p:nvSpPr>
        <p:spPr>
          <a:xfrm>
            <a:off x="4423050" y="2563398"/>
            <a:ext cx="6176711" cy="865602"/>
          </a:xfrm>
          <a:prstGeom prst="frame">
            <a:avLst>
              <a:gd name="adj1" fmla="val 1571"/>
            </a:avLst>
          </a:prstGeom>
          <a:solidFill>
            <a:srgbClr val="309070"/>
          </a:solidFill>
          <a:ln w="28575"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74B81434-90CA-CC7E-AAF9-26D5C22D38CB}"/>
              </a:ext>
            </a:extLst>
          </p:cNvPr>
          <p:cNvSpPr/>
          <p:nvPr/>
        </p:nvSpPr>
        <p:spPr>
          <a:xfrm>
            <a:off x="4423049" y="3468482"/>
            <a:ext cx="6176711" cy="921547"/>
          </a:xfrm>
          <a:prstGeom prst="frame">
            <a:avLst>
              <a:gd name="adj1" fmla="val 1571"/>
            </a:avLst>
          </a:prstGeom>
          <a:solidFill>
            <a:srgbClr val="309070"/>
          </a:solidFill>
          <a:ln w="28575"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C43A08-A387-F7F9-9454-E2F25ECC0CA0}"/>
              </a:ext>
            </a:extLst>
          </p:cNvPr>
          <p:cNvCxnSpPr>
            <a:cxnSpLocks/>
          </p:cNvCxnSpPr>
          <p:nvPr/>
        </p:nvCxnSpPr>
        <p:spPr>
          <a:xfrm flipH="1">
            <a:off x="3380096" y="2610490"/>
            <a:ext cx="1038404" cy="0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F0FAA6-52FF-B189-B063-13E2F31546AE}"/>
              </a:ext>
            </a:extLst>
          </p:cNvPr>
          <p:cNvCxnSpPr>
            <a:cxnSpLocks/>
          </p:cNvCxnSpPr>
          <p:nvPr/>
        </p:nvCxnSpPr>
        <p:spPr>
          <a:xfrm flipH="1">
            <a:off x="3135360" y="3677920"/>
            <a:ext cx="1307100" cy="903179"/>
          </a:xfrm>
          <a:prstGeom prst="line">
            <a:avLst/>
          </a:prstGeom>
          <a:ln w="38100">
            <a:solidFill>
              <a:srgbClr val="30907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033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6199E-96AE-467D-0114-0B35D67E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.NET — </a:t>
            </a:r>
            <a:r>
              <a:rPr lang="uk-UA" b="1" dirty="0"/>
              <a:t>це…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AB817-95CD-F3E0-C2C3-692AD051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1099303" cy="359931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a) </a:t>
            </a:r>
            <a:r>
              <a:rPr lang="uk-UA" dirty="0"/>
              <a:t>мова програмування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ru-RU" dirty="0"/>
              <a:t>b) платформа для створення та запуску програм різними мовами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СУБД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браузерний рушій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3568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E63FA-DB93-F73E-8986-EC7C2D81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Синтаксис — це…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4E17E-0252-B159-69EB-A70315D0A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ru-RU" dirty="0"/>
              <a:t>набір правил і структура мови</a:t>
            </a:r>
          </a:p>
          <a:p>
            <a:pPr marL="457200" indent="-457200">
              <a:buAutoNum type="alphaL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b) список бібліотек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c) менеджер пакетів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d) тип даних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07931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1BCD0-224D-A066-1971-369BB32E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Основні компоненти клієнт-серверної архітектури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F5F5A-E27B-C5BF-7EAB-2B25FCBE7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a) Клієнт, Сервер, Мережа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b) Модель, Вид, Контролер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c) Продюсер, Консьюмер, Брокер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d) CPU, RAM, SSD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59643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91F06-54B3-CAE9-91B4-ADE0DB16E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«Not Found» — </a:t>
            </a:r>
            <a:r>
              <a:rPr lang="uk-UA" b="1" dirty="0"/>
              <a:t>це: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38CE5-9876-2BFE-FC5F-510B0C6AE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a) 201</a:t>
            </a:r>
            <a:endParaRPr lang="uk-UA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b) 204</a:t>
            </a:r>
            <a:endParaRPr lang="uk-UA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c) 404</a:t>
            </a:r>
            <a:endParaRPr lang="uk-UA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d) 500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7838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9888-16EF-EBEB-0AE0-2FF321D6A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Swagger — </a:t>
            </a:r>
            <a:r>
              <a:rPr lang="uk-UA" dirty="0"/>
              <a:t>це інструмент для: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A2204-D7FC-FF06-3AAA-D8487E9F6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a) </a:t>
            </a:r>
            <a:r>
              <a:rPr lang="uk-UA" dirty="0"/>
              <a:t>опису, документування та візуалізації </a:t>
            </a:r>
            <a:r>
              <a:rPr lang="en-GB" dirty="0"/>
              <a:t>REST API</a:t>
            </a:r>
            <a:endParaRPr lang="uk-UA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uk-UA" dirty="0"/>
              <a:t>розгортання серверів у хмарі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налаштування мережевого обладнання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написання </a:t>
            </a:r>
            <a:r>
              <a:rPr lang="en-GB" dirty="0"/>
              <a:t>SQL-</a:t>
            </a:r>
            <a:r>
              <a:rPr lang="uk-UA" dirty="0"/>
              <a:t>запитів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04366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A92B0-D90B-A795-B95A-830F7ED77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Відповіді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7062-4193-0D73-E311-819A168BC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1 — </a:t>
            </a:r>
            <a:r>
              <a:rPr lang="pt-BR" b="1" dirty="0"/>
              <a:t>b</a:t>
            </a:r>
            <a:endParaRPr lang="uk-UA" b="1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2 — </a:t>
            </a:r>
            <a:r>
              <a:rPr lang="pt-BR" b="1" dirty="0"/>
              <a:t>a</a:t>
            </a:r>
            <a:endParaRPr lang="uk-UA" b="1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3 — </a:t>
            </a:r>
            <a:r>
              <a:rPr lang="pt-BR" b="1" dirty="0"/>
              <a:t>a</a:t>
            </a:r>
            <a:endParaRPr lang="uk-UA" b="1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4 — </a:t>
            </a:r>
            <a:r>
              <a:rPr lang="pt-BR" b="1" dirty="0"/>
              <a:t>c</a:t>
            </a:r>
            <a:r>
              <a:rPr lang="pt-BR" dirty="0"/>
              <a:t> </a:t>
            </a:r>
            <a:endParaRPr lang="uk-UA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5 — </a:t>
            </a:r>
            <a:r>
              <a:rPr lang="pt-BR" b="1" dirty="0"/>
              <a:t>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2434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F5E58-7568-F6B5-2536-C4DC4A62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1CFC-343A-E4B2-D8AA-B20824E5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Зміст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87EDB-658E-C5AA-2F2C-E151FCAC7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Backend</a:t>
            </a:r>
            <a:endParaRPr lang="pl-PL" dirty="0"/>
          </a:p>
          <a:p>
            <a:pPr lvl="1">
              <a:lnSpc>
                <a:spcPct val="110000"/>
              </a:lnSpc>
            </a:pPr>
            <a:r>
              <a:rPr lang="uk-UA" dirty="0"/>
              <a:t>Проєктування</a:t>
            </a:r>
            <a:r>
              <a:rPr lang="en-US" dirty="0"/>
              <a:t>: Class Diagram UML / ERD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Endpoint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Pattern DTO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ORM (EF) / Procedure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Middleware</a:t>
            </a:r>
            <a:endParaRPr lang="en-US" b="1" dirty="0"/>
          </a:p>
          <a:p>
            <a:pPr lvl="1">
              <a:lnSpc>
                <a:spcPct val="100000"/>
              </a:lnSpc>
            </a:pPr>
            <a:r>
              <a:rPr lang="uk-UA" dirty="0"/>
              <a:t>Цикл життя </a:t>
            </a:r>
            <a:r>
              <a:rPr lang="en-US" dirty="0"/>
              <a:t>req/resp HTTP (Get, Post, Put, Delete)</a:t>
            </a:r>
          </a:p>
          <a:p>
            <a:pPr marL="457200" lvl="1" indent="0">
              <a:buNone/>
            </a:pPr>
            <a:endParaRPr lang="uk-UA" dirty="0"/>
          </a:p>
          <a:p>
            <a:pPr lvl="1"/>
            <a:endParaRPr lang="uk-UA" dirty="0"/>
          </a:p>
          <a:p>
            <a:pPr lvl="1"/>
            <a:endParaRPr lang="uk-UA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247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C06E-6389-CCF4-A06B-244716AC8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Проєктування: </a:t>
            </a:r>
            <a:r>
              <a:rPr lang="en-GB" b="1" dirty="0"/>
              <a:t>Class Diagram</a:t>
            </a:r>
            <a:r>
              <a:rPr lang="uk-UA" b="1" dirty="0"/>
              <a:t> в </a:t>
            </a:r>
            <a:r>
              <a:rPr lang="en-GB" b="1" dirty="0"/>
              <a:t>UML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BFF5A1-DB3F-90AD-BA08-F07AD1E6AB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24" y="2882099"/>
            <a:ext cx="6870320" cy="305456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3CB3AA-7DEA-F313-4358-8904763B2928}"/>
              </a:ext>
            </a:extLst>
          </p:cNvPr>
          <p:cNvSpPr txBox="1"/>
          <p:nvPr/>
        </p:nvSpPr>
        <p:spPr>
          <a:xfrm>
            <a:off x="365741" y="2824332"/>
            <a:ext cx="387780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Діаграма класів (</a:t>
            </a:r>
            <a:r>
              <a:rPr lang="en-GB" sz="2000" b="1" dirty="0"/>
              <a:t>UML)</a:t>
            </a:r>
            <a:r>
              <a:rPr lang="en-GB" sz="2000" dirty="0"/>
              <a:t> — </a:t>
            </a:r>
            <a:r>
              <a:rPr lang="uk-UA" sz="2000" dirty="0"/>
              <a:t>це статичне відображення структури системи: показує класи з їхніми атрибутами й методами та зв’язки між ними (асоціації, композиції, наслідування). Допомагає швидко зрозуміти, які сутності існують у домені й як вони взаємодіють між собою.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387380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31C7-FA91-AD69-838E-E77CDCBF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Проєктування: </a:t>
            </a:r>
            <a:r>
              <a:rPr lang="en-GB" b="1" dirty="0"/>
              <a:t>Entity–Relationship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374A00-7F15-DA05-72A9-D6BDE9C05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3927" y="2154712"/>
            <a:ext cx="4631594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8C77CD-87B9-F174-0321-8B3074DEBB52}"/>
              </a:ext>
            </a:extLst>
          </p:cNvPr>
          <p:cNvSpPr txBox="1"/>
          <p:nvPr/>
        </p:nvSpPr>
        <p:spPr>
          <a:xfrm>
            <a:off x="244940" y="2824946"/>
            <a:ext cx="54751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Entity–Relationship Diagram (ERD) </a:t>
            </a:r>
            <a:r>
              <a:rPr lang="en-GB" sz="2000" dirty="0"/>
              <a:t>— </a:t>
            </a:r>
            <a:r>
              <a:rPr lang="uk-UA" sz="2000" dirty="0"/>
              <a:t>це графічне подання логічної моделі даних: показує таблиці-сутності, їхні атрибути та зв’язки (1 : 1, 1 : </a:t>
            </a:r>
            <a:r>
              <a:rPr lang="en-GB" sz="2000" dirty="0"/>
              <a:t>N, M : N). </a:t>
            </a:r>
            <a:endParaRPr lang="uk-UA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uk-UA" sz="2400" dirty="0"/>
          </a:p>
          <a:p>
            <a:r>
              <a:rPr lang="uk-UA" sz="2000" dirty="0"/>
              <a:t>Дозволяє швидко оцінити структуру бази та перевірити цілісність даних.</a:t>
            </a:r>
          </a:p>
        </p:txBody>
      </p:sp>
    </p:spTree>
    <p:extLst>
      <p:ext uri="{BB962C8B-B14F-4D97-AF65-F5344CB8AC3E}">
        <p14:creationId xmlns:p14="http://schemas.microsoft.com/office/powerpoint/2010/main" val="28105468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7BCA3-F563-6856-B439-2D9B9D97F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02331-5F60-BB59-480D-75E898B2B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553" y="3163106"/>
            <a:ext cx="4425287" cy="224885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uk-UA" sz="2000" b="1" dirty="0"/>
              <a:t>Ендпоінт (</a:t>
            </a:r>
            <a:r>
              <a:rPr lang="en-GB" sz="2000" b="1" dirty="0"/>
              <a:t>endpoint)</a:t>
            </a:r>
            <a:r>
              <a:rPr lang="en-GB" sz="2000" dirty="0"/>
              <a:t> —</a:t>
            </a:r>
            <a:r>
              <a:rPr lang="uk-UA" sz="2000" dirty="0"/>
              <a:t>взаємодія між двома сторонами: клієнтом і сервером. Іншими словами, це конкретне місце </a:t>
            </a:r>
            <a:r>
              <a:rPr lang="en-GB" sz="2000" dirty="0"/>
              <a:t>URL-</a:t>
            </a:r>
            <a:r>
              <a:rPr lang="uk-UA" sz="2000" dirty="0"/>
              <a:t>шлях, куди можна надсилати запити й отримувати відповіді</a:t>
            </a:r>
            <a:endParaRPr lang="en-GB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F17868-D815-9F15-75E3-DD985841AEEE}"/>
              </a:ext>
            </a:extLst>
          </p:cNvPr>
          <p:cNvSpPr txBox="1"/>
          <p:nvPr/>
        </p:nvSpPr>
        <p:spPr>
          <a:xfrm>
            <a:off x="5487251" y="2303297"/>
            <a:ext cx="55783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dirty="0"/>
              <a:t>Приклад</a:t>
            </a:r>
            <a:r>
              <a:rPr lang="uk-UA" sz="2800" b="1" dirty="0"/>
              <a:t>:</a:t>
            </a:r>
            <a:endParaRPr lang="en-GB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389C9F-738F-FA63-BB6A-40225E29C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668" y="2958791"/>
            <a:ext cx="4039164" cy="752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788FD6-2DF4-945F-BAAB-1D7EE63C1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" t="5644" r="8067"/>
          <a:stretch>
            <a:fillRect/>
          </a:stretch>
        </p:blipFill>
        <p:spPr>
          <a:xfrm>
            <a:off x="5548823" y="4552151"/>
            <a:ext cx="6353326" cy="1422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266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D2B23-8C54-4FE9-45F3-165B046F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Project pattern DTO (Data Transfer Object)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A0784-3BE8-4BA3-CBCA-9D671487C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413" y="2221410"/>
            <a:ext cx="11077280" cy="4351338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000" b="1" dirty="0"/>
              <a:t>DTO </a:t>
            </a:r>
            <a:r>
              <a:rPr lang="uk-UA" sz="2000" b="1" dirty="0"/>
              <a:t>або </a:t>
            </a:r>
            <a:r>
              <a:rPr lang="en-GB" sz="2000" b="1" dirty="0"/>
              <a:t>(Data Transfer Object)</a:t>
            </a:r>
            <a:r>
              <a:rPr lang="uk-UA" sz="2000" b="1" dirty="0"/>
              <a:t> </a:t>
            </a:r>
            <a:r>
              <a:rPr lang="en-GB" sz="2000" dirty="0"/>
              <a:t>— </a:t>
            </a:r>
            <a:r>
              <a:rPr lang="uk-UA" sz="2000" dirty="0"/>
              <a:t>це </a:t>
            </a:r>
            <a:r>
              <a:rPr lang="uk-UA" sz="2000" b="1" dirty="0"/>
              <a:t>об'єкт</a:t>
            </a:r>
            <a:r>
              <a:rPr lang="uk-UA" sz="2000" dirty="0"/>
              <a:t>, який використовується для </a:t>
            </a:r>
            <a:r>
              <a:rPr lang="uk-UA" sz="2000" b="1" dirty="0"/>
              <a:t>передачі даних між доменами</a:t>
            </a:r>
            <a:r>
              <a:rPr lang="uk-UA" sz="2000" dirty="0"/>
              <a:t> (наприклад, в </a:t>
            </a:r>
            <a:r>
              <a:rPr lang="en-GB" sz="2000" dirty="0"/>
              <a:t>client-server </a:t>
            </a:r>
            <a:r>
              <a:rPr lang="uk-UA" sz="2000" dirty="0"/>
              <a:t>архітектурі</a:t>
            </a:r>
            <a:r>
              <a:rPr lang="en-GB" sz="2000" dirty="0"/>
              <a:t>).</a:t>
            </a:r>
            <a:endParaRPr lang="uk-UA" sz="2000" dirty="0"/>
          </a:p>
          <a:p>
            <a:endParaRPr lang="uk-UA" dirty="0"/>
          </a:p>
          <a:p>
            <a:endParaRPr lang="uk-UA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4702E-7C17-C134-EB7D-F0B495DF0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019" y="3229483"/>
            <a:ext cx="6742857" cy="328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6270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A549-660C-55CC-5EB7-A0D592E8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Навіщо потрібен </a:t>
            </a:r>
            <a:r>
              <a:rPr lang="en-GB" b="1" dirty="0"/>
              <a:t>DTO?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C6AE0-81CC-C51D-5F81-54D97FDE2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uk-UA" sz="2000" dirty="0"/>
              <a:t>Відокремлює </a:t>
            </a:r>
            <a:r>
              <a:rPr lang="uk-UA" sz="2000" b="1" dirty="0"/>
              <a:t>внутрішню модель (</a:t>
            </a:r>
            <a:r>
              <a:rPr lang="en-GB" sz="2000" b="1" dirty="0"/>
              <a:t>Entity)</a:t>
            </a:r>
            <a:r>
              <a:rPr lang="en-GB" sz="2000" dirty="0"/>
              <a:t> </a:t>
            </a:r>
            <a:r>
              <a:rPr lang="uk-UA" sz="2000" dirty="0"/>
              <a:t>від того, що ми віддаємо зовні.</a:t>
            </a:r>
          </a:p>
          <a:p>
            <a:pPr>
              <a:lnSpc>
                <a:spcPct val="250000"/>
              </a:lnSpc>
            </a:pPr>
            <a:r>
              <a:rPr lang="uk-UA" sz="2000" dirty="0"/>
              <a:t>Забезпечує </a:t>
            </a:r>
            <a:r>
              <a:rPr lang="uk-UA" sz="2000" b="1" dirty="0"/>
              <a:t>безпеку</a:t>
            </a:r>
            <a:r>
              <a:rPr lang="uk-UA" sz="2000" dirty="0"/>
              <a:t> (не всі поля </a:t>
            </a:r>
            <a:r>
              <a:rPr lang="en-GB" sz="2000" dirty="0"/>
              <a:t>Entity </a:t>
            </a:r>
            <a:r>
              <a:rPr lang="uk-UA" sz="2000" dirty="0"/>
              <a:t>передаються клієнту).</a:t>
            </a:r>
          </a:p>
          <a:p>
            <a:pPr>
              <a:lnSpc>
                <a:spcPct val="250000"/>
              </a:lnSpc>
            </a:pPr>
            <a:r>
              <a:rPr lang="uk-UA" sz="2000" dirty="0"/>
              <a:t>Полегшує </a:t>
            </a:r>
            <a:r>
              <a:rPr lang="uk-UA" sz="2000" b="1" dirty="0"/>
              <a:t>серіалізацію/десеріалізацію</a:t>
            </a:r>
            <a:r>
              <a:rPr lang="uk-UA" sz="2000" dirty="0"/>
              <a:t> у </a:t>
            </a:r>
            <a:r>
              <a:rPr lang="en-GB" sz="2000" dirty="0"/>
              <a:t>JSON.</a:t>
            </a:r>
          </a:p>
          <a:p>
            <a:pPr>
              <a:lnSpc>
                <a:spcPct val="250000"/>
              </a:lnSpc>
            </a:pPr>
            <a:r>
              <a:rPr lang="uk-UA" sz="2000" dirty="0"/>
              <a:t>Зменшує </a:t>
            </a:r>
            <a:r>
              <a:rPr lang="uk-UA" sz="2000" b="1" dirty="0"/>
              <a:t>обсяг переданих даних</a:t>
            </a:r>
            <a:r>
              <a:rPr lang="uk-UA" sz="2000" dirty="0"/>
              <a:t> (лише необхідні поля).</a:t>
            </a:r>
          </a:p>
          <a:p>
            <a:pPr>
              <a:lnSpc>
                <a:spcPct val="25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1027117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150A-A7E7-BF3F-7153-AB5A71C4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Приклад використання </a:t>
            </a:r>
            <a:r>
              <a:rPr lang="en-GB" b="1" dirty="0"/>
              <a:t>DTO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B4CFB2-762E-8070-73A5-A666EC60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47" t="2535" r="3100" b="13230"/>
          <a:stretch>
            <a:fillRect/>
          </a:stretch>
        </p:blipFill>
        <p:spPr>
          <a:xfrm>
            <a:off x="9039540" y="2890692"/>
            <a:ext cx="2897915" cy="16757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50CBE2-C2F4-A5FE-2804-E2ECC4339C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23"/>
          <a:stretch>
            <a:fillRect/>
          </a:stretch>
        </p:blipFill>
        <p:spPr>
          <a:xfrm>
            <a:off x="9039540" y="4814905"/>
            <a:ext cx="2994930" cy="16486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885AD5-5845-7E28-3A1A-2D35530FF2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962" t="-321" r="-15962" b="321"/>
          <a:stretch>
            <a:fillRect/>
          </a:stretch>
        </p:blipFill>
        <p:spPr>
          <a:xfrm>
            <a:off x="5826642" y="3569241"/>
            <a:ext cx="3563773" cy="1396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7725BA-EDBD-30CF-B2F7-CDBA8D4A7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298" y="3341509"/>
            <a:ext cx="5445762" cy="17621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33D638-85AC-A471-96D9-861A42A7D4F9}"/>
              </a:ext>
            </a:extLst>
          </p:cNvPr>
          <p:cNvSpPr txBox="1"/>
          <p:nvPr/>
        </p:nvSpPr>
        <p:spPr>
          <a:xfrm>
            <a:off x="2506466" y="2890692"/>
            <a:ext cx="1173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Frontend</a:t>
            </a:r>
            <a:endParaRPr lang="en-US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734BE-4A55-E67C-D177-D3DD968E76C8}"/>
              </a:ext>
            </a:extLst>
          </p:cNvPr>
          <p:cNvSpPr txBox="1"/>
          <p:nvPr/>
        </p:nvSpPr>
        <p:spPr>
          <a:xfrm>
            <a:off x="7048897" y="3013035"/>
            <a:ext cx="682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DTO</a:t>
            </a:r>
            <a:endParaRPr 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9E7ADD-AA7B-D23C-FF73-1B5763F1A769}"/>
              </a:ext>
            </a:extLst>
          </p:cNvPr>
          <p:cNvSpPr txBox="1"/>
          <p:nvPr/>
        </p:nvSpPr>
        <p:spPr>
          <a:xfrm>
            <a:off x="9805744" y="2397134"/>
            <a:ext cx="11738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Backend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045924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F85F-DD1D-EC29-66BE-37152547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ORM (EF) </a:t>
            </a:r>
            <a:r>
              <a:rPr lang="en-GB" b="1" dirty="0"/>
              <a:t>/ </a:t>
            </a:r>
            <a:r>
              <a:rPr lang="en-US" b="1" dirty="0"/>
              <a:t>Procedure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7A654-C2A0-1B68-ADDB-5CF65194A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b="1" dirty="0"/>
              <a:t>ASP.NET Core </a:t>
            </a:r>
            <a:r>
              <a:rPr lang="uk-UA" sz="2000" b="1" dirty="0"/>
              <a:t>також комунікує з базою даних</a:t>
            </a:r>
            <a:r>
              <a:rPr lang="uk-UA" sz="2000" dirty="0"/>
              <a:t> за допомогою технології </a:t>
            </a:r>
            <a:r>
              <a:rPr lang="en-GB" sz="2000" b="1" dirty="0"/>
              <a:t>Entity Framework</a:t>
            </a:r>
            <a:r>
              <a:rPr lang="en-GB" sz="2000" dirty="0"/>
              <a:t>, </a:t>
            </a:r>
            <a:r>
              <a:rPr lang="uk-UA" sz="2000" dirty="0"/>
              <a:t>яка є прикладом програмування типу </a:t>
            </a:r>
            <a:r>
              <a:rPr lang="en-GB" sz="2000" b="1" dirty="0"/>
              <a:t>Object-Relational Mapper (ORM)</a:t>
            </a:r>
            <a:r>
              <a:rPr lang="en-GB" sz="2000" dirty="0"/>
              <a:t>.</a:t>
            </a:r>
            <a:endParaRPr lang="uk-UA" sz="2000" dirty="0"/>
          </a:p>
          <a:p>
            <a:pPr>
              <a:lnSpc>
                <a:spcPct val="100000"/>
              </a:lnSpc>
            </a:pPr>
            <a:endParaRPr lang="en-US" sz="2000" dirty="0"/>
          </a:p>
          <a:p>
            <a:pPr>
              <a:lnSpc>
                <a:spcPct val="100000"/>
              </a:lnSpc>
            </a:pPr>
            <a:r>
              <a:rPr lang="uk-UA" sz="2000" dirty="0"/>
              <a:t>Комунікація з бд за допомогою: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Entity Framework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Procedure</a:t>
            </a:r>
            <a:endParaRPr lang="en-US" dirty="0"/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2285E4AF-87DD-1D4A-530A-4A313EF49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0" t="14128" r="12787" b="17217"/>
          <a:stretch>
            <a:fillRect/>
          </a:stretch>
        </p:blipFill>
        <p:spPr>
          <a:xfrm>
            <a:off x="6245715" y="3429000"/>
            <a:ext cx="5265964" cy="250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019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F1B8E-442E-872F-AC37-C94DA066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Entity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339A2-D0FC-11CF-F769-02088AEC6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1161159" cy="3599316"/>
          </a:xfrm>
        </p:spPr>
        <p:txBody>
          <a:bodyPr>
            <a:noAutofit/>
          </a:bodyPr>
          <a:lstStyle/>
          <a:p>
            <a:r>
              <a:rPr lang="en-GB" sz="2000" b="1" dirty="0"/>
              <a:t>Entity Framework (EF) </a:t>
            </a:r>
            <a:r>
              <a:rPr lang="en-GB" sz="2000" dirty="0"/>
              <a:t>— </a:t>
            </a:r>
            <a:r>
              <a:rPr lang="uk-UA" sz="2000" dirty="0"/>
              <a:t>це </a:t>
            </a:r>
            <a:r>
              <a:rPr lang="uk-UA" sz="2000" b="1" dirty="0"/>
              <a:t>інструмент</a:t>
            </a:r>
            <a:r>
              <a:rPr lang="uk-UA" sz="2000" dirty="0"/>
              <a:t>, що спрощує роботу .</a:t>
            </a:r>
            <a:r>
              <a:rPr lang="en-GB" sz="2000" dirty="0"/>
              <a:t>NET-</a:t>
            </a:r>
            <a:r>
              <a:rPr lang="uk-UA" sz="2000" dirty="0"/>
              <a:t>програм із базами даних.</a:t>
            </a:r>
            <a:endParaRPr lang="en-GB" sz="2000" dirty="0"/>
          </a:p>
          <a:p>
            <a:endParaRPr lang="uk-UA" sz="2000" dirty="0"/>
          </a:p>
          <a:p>
            <a:r>
              <a:rPr lang="en-GB" sz="2000" dirty="0"/>
              <a:t>EF:</a:t>
            </a:r>
            <a:endParaRPr lang="uk-UA" sz="2000" dirty="0"/>
          </a:p>
          <a:p>
            <a:pPr lvl="1"/>
            <a:r>
              <a:rPr lang="uk-UA" dirty="0"/>
              <a:t>перетворює таблиці на об’єкти, щоб з ними було зручніше працювати в </a:t>
            </a:r>
            <a:r>
              <a:rPr lang="en-GB" dirty="0"/>
              <a:t>C#</a:t>
            </a:r>
          </a:p>
          <a:p>
            <a:pPr lvl="1"/>
            <a:r>
              <a:rPr lang="uk-UA" dirty="0"/>
              <a:t>дає змогу писати запити </a:t>
            </a:r>
            <a:r>
              <a:rPr lang="en-GB" dirty="0"/>
              <a:t>LINQ </a:t>
            </a:r>
            <a:r>
              <a:rPr lang="uk-UA" dirty="0"/>
              <a:t>замість </a:t>
            </a:r>
            <a:r>
              <a:rPr lang="en-GB" dirty="0"/>
              <a:t>SQL</a:t>
            </a:r>
          </a:p>
          <a:p>
            <a:pPr lvl="1"/>
            <a:r>
              <a:rPr lang="uk-UA" dirty="0"/>
              <a:t>автоматично відстежує зміни й оновлює записані дані</a:t>
            </a:r>
          </a:p>
          <a:p>
            <a:pPr lvl="1"/>
            <a:r>
              <a:rPr lang="uk-UA" dirty="0"/>
              <a:t>допомагає безпечно змінювати структуру бази (міграції).</a:t>
            </a:r>
          </a:p>
          <a:p>
            <a:pPr lvl="1"/>
            <a:endParaRPr lang="uk-UA" dirty="0"/>
          </a:p>
          <a:p>
            <a:pPr marL="0" indent="0">
              <a:buNone/>
            </a:pPr>
            <a:r>
              <a:rPr lang="uk-UA" sz="2000" dirty="0"/>
              <a:t>Отже, </a:t>
            </a:r>
            <a:r>
              <a:rPr lang="en-GB" sz="2000" dirty="0"/>
              <a:t>EF </a:t>
            </a:r>
            <a:r>
              <a:rPr lang="uk-UA" sz="2000" dirty="0"/>
              <a:t>робить доступ до будь-якої підтримуваної бази даних зрозумілим і простим</a:t>
            </a:r>
          </a:p>
          <a:p>
            <a:endParaRPr lang="en-GB" sz="2000" dirty="0"/>
          </a:p>
        </p:txBody>
      </p:sp>
      <p:pic>
        <p:nvPicPr>
          <p:cNvPr id="5" name="Picture 4" descr="A blue logo with white text&#10;&#10;AI-generated content may be incorrect.">
            <a:extLst>
              <a:ext uri="{FF2B5EF4-FFF2-40B4-BE49-F238E27FC236}">
                <a16:creationId xmlns:a16="http://schemas.microsoft.com/office/drawing/2014/main" id="{EB7EBAB1-4024-D1CD-E91D-842E9E2C7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678" y="471457"/>
            <a:ext cx="2471237" cy="164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640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19CCC-8E4F-CC7D-2AF1-CDFF3CD4B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D983F-C2B2-5CF6-8B91-AAE145693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97" y="2185017"/>
            <a:ext cx="417686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b="1" dirty="0"/>
              <a:t>Object-Relational Mapper (ORM) </a:t>
            </a:r>
            <a:r>
              <a:rPr lang="en-GB" sz="2000" dirty="0"/>
              <a:t>– </a:t>
            </a:r>
            <a:r>
              <a:rPr lang="uk-UA" sz="2000" dirty="0"/>
              <a:t>звільнює програміста від</a:t>
            </a:r>
            <a:r>
              <a:rPr lang="en-GB" sz="2000" dirty="0"/>
              <a:t> </a:t>
            </a:r>
            <a:r>
              <a:rPr lang="uk-UA" sz="2000" dirty="0"/>
              <a:t>написання </a:t>
            </a:r>
            <a:r>
              <a:rPr lang="en-GB" sz="2000" dirty="0"/>
              <a:t>SQL </a:t>
            </a:r>
            <a:r>
              <a:rPr lang="uk-UA" sz="2000" dirty="0"/>
              <a:t>запитів, та допомагає мапити наші класи в таблці в бд.</a:t>
            </a:r>
          </a:p>
          <a:p>
            <a:endParaRPr lang="en-GB" sz="1800" dirty="0"/>
          </a:p>
          <a:p>
            <a:endParaRPr lang="en-GB" sz="1800" dirty="0"/>
          </a:p>
          <a:p>
            <a:r>
              <a:rPr lang="uk-UA" sz="2000" dirty="0"/>
              <a:t>Маповання:</a:t>
            </a:r>
          </a:p>
          <a:p>
            <a:pPr lvl="1"/>
            <a:r>
              <a:rPr lang="en-GB" dirty="0"/>
              <a:t>Class -&gt; Table</a:t>
            </a:r>
          </a:p>
          <a:p>
            <a:pPr lvl="1"/>
            <a:r>
              <a:rPr lang="pl-PL" dirty="0" err="1"/>
              <a:t>Propert</a:t>
            </a:r>
            <a:r>
              <a:rPr lang="en-GB" dirty="0"/>
              <a:t>y -&gt; Record</a:t>
            </a:r>
            <a:endParaRPr lang="uk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FF87F5-EB3E-AB22-640F-60EAD2D5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244" y="2387964"/>
            <a:ext cx="4073941" cy="1693066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0C10328F-D066-E539-EBD5-BAD89434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910" y="4547206"/>
            <a:ext cx="2071608" cy="21034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E4CCEC-8638-5BDF-6155-4B8A4DA78EF2}"/>
              </a:ext>
            </a:extLst>
          </p:cNvPr>
          <p:cNvSpPr txBox="1"/>
          <p:nvPr/>
        </p:nvSpPr>
        <p:spPr>
          <a:xfrm>
            <a:off x="5812019" y="2206087"/>
            <a:ext cx="1148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Class</a:t>
            </a:r>
            <a:endParaRPr lang="en-GB" sz="32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24455F-0F58-45D1-3BBE-72FEFE89BFD0}"/>
              </a:ext>
            </a:extLst>
          </p:cNvPr>
          <p:cNvCxnSpPr>
            <a:cxnSpLocks/>
          </p:cNvCxnSpPr>
          <p:nvPr/>
        </p:nvCxnSpPr>
        <p:spPr>
          <a:xfrm>
            <a:off x="6681187" y="2503835"/>
            <a:ext cx="731057" cy="134490"/>
          </a:xfrm>
          <a:prstGeom prst="straightConnector1">
            <a:avLst/>
          </a:prstGeom>
          <a:ln w="38100">
            <a:solidFill>
              <a:schemeClr val="tx1">
                <a:alpha val="99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3A6A95-F432-1A14-F427-D620717497A6}"/>
              </a:ext>
            </a:extLst>
          </p:cNvPr>
          <p:cNvSpPr txBox="1"/>
          <p:nvPr/>
        </p:nvSpPr>
        <p:spPr>
          <a:xfrm>
            <a:off x="5487251" y="3158843"/>
            <a:ext cx="1991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 err="1"/>
              <a:t>Propert</a:t>
            </a:r>
            <a:r>
              <a:rPr lang="en-GB" sz="2400" b="1" dirty="0"/>
              <a:t>y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483AEA-7CA4-C4A1-A1E9-9ED9FBDFE389}"/>
              </a:ext>
            </a:extLst>
          </p:cNvPr>
          <p:cNvCxnSpPr/>
          <p:nvPr/>
        </p:nvCxnSpPr>
        <p:spPr>
          <a:xfrm>
            <a:off x="6875816" y="3429000"/>
            <a:ext cx="79030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7500B06-1E33-EBDA-8605-E74707359C6A}"/>
              </a:ext>
            </a:extLst>
          </p:cNvPr>
          <p:cNvSpPr txBox="1"/>
          <p:nvPr/>
        </p:nvSpPr>
        <p:spPr>
          <a:xfrm>
            <a:off x="6108573" y="5590993"/>
            <a:ext cx="13889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Record</a:t>
            </a:r>
            <a:endParaRPr lang="en-GB" sz="3200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473435-BEA7-5FEA-75AF-27DD4E4D2DE0}"/>
              </a:ext>
            </a:extLst>
          </p:cNvPr>
          <p:cNvCxnSpPr>
            <a:cxnSpLocks/>
          </p:cNvCxnSpPr>
          <p:nvPr/>
        </p:nvCxnSpPr>
        <p:spPr>
          <a:xfrm>
            <a:off x="7147626" y="4655701"/>
            <a:ext cx="1036995" cy="21287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7EED7F6-840C-0351-EAA0-FBBE5917F64A}"/>
              </a:ext>
            </a:extLst>
          </p:cNvPr>
          <p:cNvSpPr txBox="1"/>
          <p:nvPr/>
        </p:nvSpPr>
        <p:spPr>
          <a:xfrm>
            <a:off x="6122969" y="4382256"/>
            <a:ext cx="12184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Table</a:t>
            </a:r>
            <a:endParaRPr lang="en-GB" sz="32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8ECB34-4BEE-80FE-0C4E-03853F337774}"/>
              </a:ext>
            </a:extLst>
          </p:cNvPr>
          <p:cNvCxnSpPr>
            <a:cxnSpLocks/>
          </p:cNvCxnSpPr>
          <p:nvPr/>
        </p:nvCxnSpPr>
        <p:spPr>
          <a:xfrm>
            <a:off x="7313792" y="5821826"/>
            <a:ext cx="85783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7201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AE765-9B08-E93E-B27A-DE6E7AA5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Procedure</a:t>
            </a:r>
            <a:r>
              <a:rPr lang="uk-UA" b="1" dirty="0"/>
              <a:t> 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2F33A-AAFA-9CF3-0676-4A8B2AAC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344240"/>
            <a:ext cx="4049159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uk-UA" sz="2000" b="1" dirty="0"/>
              <a:t>Збережена процедура (</a:t>
            </a:r>
            <a:r>
              <a:rPr lang="en-GB" sz="2000" b="1" dirty="0"/>
              <a:t>stored procedure) </a:t>
            </a:r>
            <a:r>
              <a:rPr lang="en-GB" sz="2000" dirty="0"/>
              <a:t>— </a:t>
            </a:r>
            <a:r>
              <a:rPr lang="uk-UA" sz="2000" dirty="0"/>
              <a:t>це наперед створений </a:t>
            </a:r>
            <a:r>
              <a:rPr lang="en-GB" sz="2000" b="1" dirty="0"/>
              <a:t>SQL-</a:t>
            </a:r>
            <a:r>
              <a:rPr lang="uk-UA" sz="2000" b="1" dirty="0"/>
              <a:t>скрипт</a:t>
            </a:r>
            <a:r>
              <a:rPr lang="uk-UA" sz="2000" dirty="0"/>
              <a:t>, який зберігається всередині самої бази даних. Програма просто «викликає» цю процедуру по імені й передає потрібні параметри.</a:t>
            </a:r>
            <a:endParaRPr lang="en-GB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E5F67-6BD6-72AC-1200-730C2BFD2B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75"/>
          <a:stretch>
            <a:fillRect/>
          </a:stretch>
        </p:blipFill>
        <p:spPr>
          <a:xfrm>
            <a:off x="6075612" y="1033257"/>
            <a:ext cx="4218570" cy="3000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E8116E-82B0-5A20-6CD5-3B0F1F21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61282"/>
            <a:ext cx="4369400" cy="236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3706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BC8EE-4661-FA96-9E89-EF40CD05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B58CF-0AB3-C3C8-A658-7F0F82D53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96" y="2362437"/>
            <a:ext cx="4307944" cy="4351338"/>
          </a:xfrm>
        </p:spPr>
        <p:txBody>
          <a:bodyPr>
            <a:normAutofit/>
          </a:bodyPr>
          <a:lstStyle/>
          <a:p>
            <a:r>
              <a:rPr lang="en-GB" sz="2000" b="1" dirty="0"/>
              <a:t>Middleware</a:t>
            </a:r>
            <a:r>
              <a:rPr lang="en-GB" sz="2000" dirty="0"/>
              <a:t> – </a:t>
            </a:r>
            <a:r>
              <a:rPr lang="ru-RU" sz="2000" dirty="0"/>
              <a:t>є центральним елементом обробки запитів і відповідей у веб-застосунку</a:t>
            </a:r>
            <a:r>
              <a:rPr lang="uk-UA" sz="2000" dirty="0"/>
              <a:t>.</a:t>
            </a:r>
            <a:endParaRPr lang="en-GB" sz="2000" dirty="0"/>
          </a:p>
          <a:p>
            <a:endParaRPr lang="uk-UA" sz="1800" dirty="0"/>
          </a:p>
          <a:p>
            <a:r>
              <a:rPr lang="uk-UA" sz="2000" dirty="0"/>
              <a:t>В </a:t>
            </a:r>
            <a:r>
              <a:rPr lang="en-GB" sz="2000" dirty="0"/>
              <a:t>ASP.NET middleware </a:t>
            </a:r>
            <a:r>
              <a:rPr lang="uk-UA" sz="2000" dirty="0"/>
              <a:t>конфігурується у файлі </a:t>
            </a:r>
            <a:r>
              <a:rPr lang="en-GB" sz="2000" i="1" dirty="0" err="1"/>
              <a:t>Program.cs</a:t>
            </a:r>
            <a:r>
              <a:rPr lang="en-GB" sz="2000" dirty="0"/>
              <a:t> (</a:t>
            </a:r>
            <a:r>
              <a:rPr lang="uk-UA" sz="2000" dirty="0"/>
              <a:t>починаючи з .</a:t>
            </a:r>
            <a:r>
              <a:rPr lang="en-GB" sz="2000" dirty="0"/>
              <a:t>NET 6)</a:t>
            </a:r>
            <a:endParaRPr lang="uk-UA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96C371-7A0C-BF05-5A4D-068556BD1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040" y="-56194"/>
            <a:ext cx="8059251" cy="80592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5DF551-4DB8-6513-9181-D0256A8D1B8E}"/>
              </a:ext>
            </a:extLst>
          </p:cNvPr>
          <p:cNvSpPr txBox="1"/>
          <p:nvPr/>
        </p:nvSpPr>
        <p:spPr>
          <a:xfrm>
            <a:off x="6058408" y="2690815"/>
            <a:ext cx="1363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Request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B08431-2038-F7B6-29EE-7B443619E66E}"/>
              </a:ext>
            </a:extLst>
          </p:cNvPr>
          <p:cNvSpPr txBox="1"/>
          <p:nvPr/>
        </p:nvSpPr>
        <p:spPr>
          <a:xfrm>
            <a:off x="5886704" y="4843802"/>
            <a:ext cx="1560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Response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1792513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DA2-D3B6-A94D-47A5-44149814C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Middleware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7D181-B170-9E61-60E2-DE114E544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801" y="2551176"/>
            <a:ext cx="10079119" cy="359931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uk-UA" sz="2000" dirty="0"/>
              <a:t>Формування </a:t>
            </a:r>
            <a:r>
              <a:rPr lang="en-GB" sz="2000" dirty="0"/>
              <a:t>middleware </a:t>
            </a:r>
            <a:r>
              <a:rPr lang="uk-UA" sz="2000" dirty="0"/>
              <a:t>відбувається лише один раз — під час запуску сервера. (Це робить метод </a:t>
            </a:r>
            <a:r>
              <a:rPr lang="uk-UA" sz="2000" b="1" i="1" dirty="0"/>
              <a:t>.</a:t>
            </a:r>
            <a:r>
              <a:rPr lang="en-GB" sz="2000" b="1" i="1" dirty="0"/>
              <a:t>Build()</a:t>
            </a:r>
            <a:r>
              <a:rPr lang="en-GB" sz="2000" dirty="0"/>
              <a:t> </a:t>
            </a:r>
            <a:r>
              <a:rPr lang="uk-UA" sz="2000" dirty="0"/>
              <a:t>у </a:t>
            </a:r>
            <a:r>
              <a:rPr lang="en-GB" sz="2000" i="1" dirty="0" err="1"/>
              <a:t>Program.cs</a:t>
            </a:r>
            <a:r>
              <a:rPr lang="en-GB" sz="2000" dirty="0"/>
              <a:t>)</a:t>
            </a:r>
            <a:endParaRPr lang="uk-UA" sz="2000" dirty="0"/>
          </a:p>
          <a:p>
            <a:pPr>
              <a:lnSpc>
                <a:spcPct val="100000"/>
              </a:lnSpc>
            </a:pPr>
            <a:endParaRPr lang="en-GB" dirty="0"/>
          </a:p>
          <a:p>
            <a:pPr>
              <a:lnSpc>
                <a:spcPct val="100000"/>
              </a:lnSpc>
            </a:pPr>
            <a:r>
              <a:rPr lang="uk-UA" sz="2000" dirty="0"/>
              <a:t>Виконання конвеєра </a:t>
            </a:r>
            <a:r>
              <a:rPr lang="en-GB" sz="2000" dirty="0"/>
              <a:t>middleware </a:t>
            </a:r>
            <a:r>
              <a:rPr lang="uk-UA" sz="2000" dirty="0"/>
              <a:t>відбувається щоразу, коли надходить </a:t>
            </a:r>
            <a:r>
              <a:rPr lang="en-GB" sz="2000" dirty="0"/>
              <a:t>HTTP-</a:t>
            </a:r>
            <a:r>
              <a:rPr lang="uk-UA" sz="2000" dirty="0"/>
              <a:t>запит від клієнта. (Це виконує метод </a:t>
            </a:r>
            <a:r>
              <a:rPr lang="uk-UA" sz="2000" b="1" i="1" dirty="0"/>
              <a:t>.</a:t>
            </a:r>
            <a:r>
              <a:rPr lang="en-GB" sz="2000" b="1" i="1" dirty="0"/>
              <a:t>InvokeAsync()</a:t>
            </a:r>
            <a:r>
              <a:rPr lang="en-GB" sz="2000" dirty="0"/>
              <a:t>)</a:t>
            </a:r>
          </a:p>
          <a:p>
            <a:pPr>
              <a:lnSpc>
                <a:spcPct val="100000"/>
              </a:lnSpc>
            </a:pPr>
            <a:endParaRPr lang="en-GB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Тож конвеєр </a:t>
            </a:r>
            <a:r>
              <a:rPr lang="ru-RU" sz="2000" b="1" dirty="0"/>
              <a:t>будується один раз</a:t>
            </a:r>
            <a:r>
              <a:rPr lang="ru-RU" sz="2000" dirty="0"/>
              <a:t>, але </a:t>
            </a:r>
            <a:r>
              <a:rPr lang="ru-RU" sz="2000" b="1" dirty="0"/>
              <a:t>проходиться (виконується) на кожен запит</a:t>
            </a:r>
            <a:r>
              <a:rPr lang="ru-RU" sz="2000" dirty="0"/>
              <a:t>.</a:t>
            </a:r>
            <a:endParaRPr lang="en-GB" sz="2000" dirty="0"/>
          </a:p>
          <a:p>
            <a:pPr>
              <a:lnSpc>
                <a:spcPct val="100000"/>
              </a:lnSpc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127975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313B-A84C-B29D-07B4-4B0E2E452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Конвеєр </a:t>
            </a:r>
            <a:r>
              <a:rPr lang="en-GB" b="1" dirty="0"/>
              <a:t>middleware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1C8AF-5356-E0F7-B1F1-EB803B8F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333" y="5267759"/>
            <a:ext cx="7897327" cy="1438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3BDB0-3559-B151-2C02-8FCCD0A72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173" y="2202987"/>
            <a:ext cx="7335274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41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F4347-2447-97F5-DCD1-E98888638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Цикл життя </a:t>
            </a:r>
            <a:r>
              <a:rPr lang="en-US" b="1" dirty="0"/>
              <a:t>req/resp HTTP</a:t>
            </a:r>
            <a:r>
              <a:rPr lang="en-GB" b="1" dirty="0"/>
              <a:t> </a:t>
            </a:r>
            <a:r>
              <a:rPr lang="uk-UA" b="1" dirty="0"/>
              <a:t>–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G</a:t>
            </a:r>
            <a:r>
              <a:rPr lang="en-US" b="1">
                <a:solidFill>
                  <a:srgbClr val="00B050"/>
                </a:solidFill>
              </a:rPr>
              <a:t>ET</a:t>
            </a:r>
            <a:r>
              <a:rPr lang="en-GB" b="1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All</a:t>
            </a:r>
            <a:endParaRPr lang="en-GB" dirty="0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694B0-C3AC-9FE0-080C-7C14F2555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97" y="2082799"/>
            <a:ext cx="5596483" cy="44100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Запит-</a:t>
            </a:r>
            <a:r>
              <a:rPr lang="en-GB" sz="2000" b="1" dirty="0"/>
              <a:t>HTTP</a:t>
            </a:r>
            <a:r>
              <a:rPr lang="uk-UA" sz="2000" b="1" dirty="0"/>
              <a:t>, типу</a:t>
            </a:r>
            <a:r>
              <a:rPr lang="en-GB" sz="2000" b="1" dirty="0"/>
              <a:t> GET </a:t>
            </a:r>
            <a:endParaRPr lang="uk-UA" sz="2000" b="1" dirty="0"/>
          </a:p>
          <a:p>
            <a:pPr marL="457200" lvl="1" indent="0">
              <a:buNone/>
            </a:pPr>
            <a:r>
              <a:rPr lang="en-GB" dirty="0">
                <a:solidFill>
                  <a:srgbClr val="66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https://localhost:7067/api/projects</a:t>
            </a:r>
            <a:endParaRPr lang="uk-UA" dirty="0">
              <a:solidFill>
                <a:srgbClr val="6699FF"/>
              </a:solidFill>
            </a:endParaRPr>
          </a:p>
          <a:p>
            <a:pPr marL="457200" lvl="1" indent="0">
              <a:buNone/>
            </a:pP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Middleware( Routing )</a:t>
            </a:r>
            <a:endParaRPr lang="uk-UA" sz="2000" b="1" dirty="0"/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endParaRPr lang="uk-UA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 err="1"/>
              <a:t>ProjectsController</a:t>
            </a:r>
            <a:r>
              <a:rPr lang="en-GB" sz="2000" b="1" dirty="0"/>
              <a:t>( </a:t>
            </a:r>
            <a:r>
              <a:rPr lang="en-GB" sz="2000" b="1" dirty="0" err="1"/>
              <a:t>GetAll</a:t>
            </a:r>
            <a:r>
              <a:rPr lang="en-GB" sz="2000" dirty="0"/>
              <a:t> </a:t>
            </a:r>
            <a:r>
              <a:rPr lang="en-GB" sz="2000" b="1" dirty="0"/>
              <a:t>)</a:t>
            </a:r>
            <a:endParaRPr lang="uk-UA" sz="2000" b="1" dirty="0"/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Repository( </a:t>
            </a:r>
            <a:r>
              <a:rPr lang="en-GB" sz="2000" b="1" dirty="0" err="1"/>
              <a:t>GetAllAsync</a:t>
            </a:r>
            <a:r>
              <a:rPr lang="en-GB" sz="2000" b="1" dirty="0"/>
              <a:t> )</a:t>
            </a:r>
            <a:endParaRPr lang="en-GB" sz="2000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235059C-9AA0-294F-6A89-5E193E7B193D}"/>
              </a:ext>
            </a:extLst>
          </p:cNvPr>
          <p:cNvSpPr txBox="1">
            <a:spLocks/>
          </p:cNvSpPr>
          <p:nvPr/>
        </p:nvSpPr>
        <p:spPr>
          <a:xfrm>
            <a:off x="6554941" y="2082799"/>
            <a:ext cx="5637059" cy="466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9.  </a:t>
            </a:r>
            <a:r>
              <a:rPr lang="uk-UA" sz="2000" b="1" dirty="0"/>
              <a:t>Відповідь-</a:t>
            </a:r>
            <a:r>
              <a:rPr lang="en-GB" sz="2000" b="1" dirty="0"/>
              <a:t>HTTP </a:t>
            </a:r>
            <a:r>
              <a:rPr lang="en-GB" sz="2000" dirty="0"/>
              <a:t>(Ok + JSON)</a:t>
            </a:r>
            <a:r>
              <a:rPr lang="en-GB" sz="2000" b="1" dirty="0"/>
              <a:t> 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8.   </a:t>
            </a:r>
            <a:r>
              <a:rPr lang="uk-UA" sz="2000" b="1" dirty="0"/>
              <a:t>Серіалізація</a:t>
            </a:r>
            <a:r>
              <a:rPr lang="uk-UA" sz="2000" dirty="0"/>
              <a:t> </a:t>
            </a:r>
            <a:r>
              <a:rPr lang="en-GB" sz="2000" dirty="0"/>
              <a:t>DTO -&gt; JSON</a:t>
            </a:r>
            <a:endParaRPr lang="en-GB" sz="2000" b="1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7. </a:t>
            </a:r>
            <a:r>
              <a:rPr lang="pl-PL" sz="2000" b="1" dirty="0"/>
              <a:t>  </a:t>
            </a:r>
            <a:r>
              <a:rPr lang="en-GB" sz="2000" b="1" dirty="0" err="1"/>
              <a:t>ProjectsController</a:t>
            </a:r>
            <a:r>
              <a:rPr lang="en-GB" sz="2000" b="1" dirty="0"/>
              <a:t>( </a:t>
            </a:r>
            <a:r>
              <a:rPr lang="en-GB" sz="2000" b="1" dirty="0" err="1"/>
              <a:t>GetAll</a:t>
            </a:r>
            <a:r>
              <a:rPr lang="en-GB" sz="2000" b="1" dirty="0"/>
              <a:t> )	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6.   Repository( </a:t>
            </a:r>
            <a:r>
              <a:rPr lang="en-GB" sz="2000" b="1" dirty="0" err="1"/>
              <a:t>GetAllAsync</a:t>
            </a:r>
            <a:r>
              <a:rPr lang="en-GB" sz="2000" b="1" dirty="0"/>
              <a:t> )</a:t>
            </a:r>
          </a:p>
          <a:p>
            <a:pPr marL="457200" lvl="1" indent="0">
              <a:buNone/>
            </a:pPr>
            <a:r>
              <a:rPr lang="en-GB" sz="2000" dirty="0"/>
              <a:t>	</a:t>
            </a:r>
            <a:r>
              <a:rPr lang="uk-UA" sz="2000" dirty="0"/>
              <a:t>Мапить</a:t>
            </a:r>
            <a:r>
              <a:rPr lang="en-GB" sz="2000" dirty="0"/>
              <a:t> Entity -&gt; DTO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uk-UA" sz="2000" b="1" dirty="0"/>
              <a:t>5.</a:t>
            </a:r>
            <a:r>
              <a:rPr lang="en-GB" sz="2000" b="1" dirty="0"/>
              <a:t>   </a:t>
            </a:r>
            <a:r>
              <a:rPr lang="en-GB" sz="2000" b="1" dirty="0" err="1"/>
              <a:t>AppDbContext</a:t>
            </a:r>
            <a:endParaRPr lang="en-GB" sz="20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8F8FA3-C153-8DE8-6C14-F7DE31D804B4}"/>
              </a:ext>
            </a:extLst>
          </p:cNvPr>
          <p:cNvCxnSpPr/>
          <p:nvPr/>
        </p:nvCxnSpPr>
        <p:spPr>
          <a:xfrm>
            <a:off x="2409978" y="2843064"/>
            <a:ext cx="0" cy="65975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3D38AA8-47DB-F4FC-4B08-672A3E7E6549}"/>
              </a:ext>
            </a:extLst>
          </p:cNvPr>
          <p:cNvCxnSpPr/>
          <p:nvPr/>
        </p:nvCxnSpPr>
        <p:spPr>
          <a:xfrm>
            <a:off x="2419109" y="3950504"/>
            <a:ext cx="0" cy="65975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FACEF1-0051-BAD3-36E3-13B945C01028}"/>
              </a:ext>
            </a:extLst>
          </p:cNvPr>
          <p:cNvCxnSpPr/>
          <p:nvPr/>
        </p:nvCxnSpPr>
        <p:spPr>
          <a:xfrm>
            <a:off x="2419109" y="5266224"/>
            <a:ext cx="0" cy="65975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45CD63-257C-310E-15AF-40BC90CD9CFC}"/>
              </a:ext>
            </a:extLst>
          </p:cNvPr>
          <p:cNvCxnSpPr>
            <a:cxnSpLocks/>
          </p:cNvCxnSpPr>
          <p:nvPr/>
        </p:nvCxnSpPr>
        <p:spPr>
          <a:xfrm flipV="1">
            <a:off x="4494663" y="6104772"/>
            <a:ext cx="1865497" cy="20504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8D6553-8C17-623A-A30D-C5D88550FDE4}"/>
              </a:ext>
            </a:extLst>
          </p:cNvPr>
          <p:cNvCxnSpPr>
            <a:cxnSpLocks/>
          </p:cNvCxnSpPr>
          <p:nvPr/>
        </p:nvCxnSpPr>
        <p:spPr>
          <a:xfrm flipV="1">
            <a:off x="8253007" y="5384800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3D6A433-2534-194E-45C3-FE87E7C0BBC0}"/>
              </a:ext>
            </a:extLst>
          </p:cNvPr>
          <p:cNvCxnSpPr>
            <a:cxnSpLocks/>
          </p:cNvCxnSpPr>
          <p:nvPr/>
        </p:nvCxnSpPr>
        <p:spPr>
          <a:xfrm flipV="1">
            <a:off x="8265225" y="4145833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A625A7-FC3D-BBAD-F1B5-F1A6749FCCB6}"/>
              </a:ext>
            </a:extLst>
          </p:cNvPr>
          <p:cNvCxnSpPr>
            <a:cxnSpLocks/>
          </p:cNvCxnSpPr>
          <p:nvPr/>
        </p:nvCxnSpPr>
        <p:spPr>
          <a:xfrm flipV="1">
            <a:off x="8240789" y="3291840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FF03A51-FCEB-A667-63D8-ED2FF927D1FB}"/>
              </a:ext>
            </a:extLst>
          </p:cNvPr>
          <p:cNvCxnSpPr>
            <a:cxnSpLocks/>
          </p:cNvCxnSpPr>
          <p:nvPr/>
        </p:nvCxnSpPr>
        <p:spPr>
          <a:xfrm flipV="1">
            <a:off x="8240789" y="2438400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8" name="Picture 7" descr="A blue arrow pointing to a cloud&#10;&#10;AI-generated content may be incorrect.">
            <a:extLst>
              <a:ext uri="{FF2B5EF4-FFF2-40B4-BE49-F238E27FC236}">
                <a16:creationId xmlns:a16="http://schemas.microsoft.com/office/drawing/2014/main" id="{C18BD892-E7F3-535C-02EF-EA5591B00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451" y="107951"/>
            <a:ext cx="2370161" cy="237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9293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8CF6-6DF3-31B1-B5BC-859C8E24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 </a:t>
            </a:r>
            <a:r>
              <a:rPr lang="uk-UA" b="1" dirty="0"/>
              <a:t>Ендпоінту </a:t>
            </a:r>
            <a:r>
              <a:rPr lang="en-GB" b="1" dirty="0">
                <a:solidFill>
                  <a:srgbClr val="00B050"/>
                </a:solidFill>
              </a:rPr>
              <a:t>Get 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7CDA6B-0465-4ACC-FB5E-EE2A8D016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71" y="2932576"/>
            <a:ext cx="10209229" cy="2574761"/>
          </a:xfrm>
          <a:prstGeom prst="rect">
            <a:avLst/>
          </a:prstGeom>
        </p:spPr>
      </p:pic>
      <p:pic>
        <p:nvPicPr>
          <p:cNvPr id="4" name="Picture 3" descr="A blue arrow pointing to a cloud&#10;&#10;AI-generated content may be incorrect.">
            <a:extLst>
              <a:ext uri="{FF2B5EF4-FFF2-40B4-BE49-F238E27FC236}">
                <a16:creationId xmlns:a16="http://schemas.microsoft.com/office/drawing/2014/main" id="{3C723D56-42A8-BC85-849E-FDF6CEF7D5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451" y="107951"/>
            <a:ext cx="2370161" cy="237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153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0B89-CA81-919C-ECE6-5C7216E8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39" y="615115"/>
            <a:ext cx="8098411" cy="1325563"/>
          </a:xfrm>
        </p:spPr>
        <p:txBody>
          <a:bodyPr>
            <a:normAutofit/>
          </a:bodyPr>
          <a:lstStyle/>
          <a:p>
            <a:r>
              <a:rPr lang="uk-UA" b="1" dirty="0"/>
              <a:t>Цикл життя </a:t>
            </a:r>
            <a:r>
              <a:rPr lang="en-US" b="1" dirty="0"/>
              <a:t>req/resp HTTP</a:t>
            </a:r>
            <a:r>
              <a:rPr lang="en-GB" b="1" dirty="0"/>
              <a:t> </a:t>
            </a:r>
            <a:r>
              <a:rPr lang="uk-UA" b="1" dirty="0"/>
              <a:t>-</a:t>
            </a:r>
            <a:r>
              <a:rPr lang="en-GB" b="1" dirty="0"/>
              <a:t> </a:t>
            </a:r>
            <a:r>
              <a:rPr lang="en-GB" b="1" dirty="0">
                <a:solidFill>
                  <a:srgbClr val="00B050"/>
                </a:solidFill>
              </a:rPr>
              <a:t>Get</a:t>
            </a:r>
            <a:r>
              <a:rPr lang="uk-UA" b="1" dirty="0">
                <a:solidFill>
                  <a:srgbClr val="00B050"/>
                </a:solidFill>
              </a:rPr>
              <a:t> </a:t>
            </a:r>
            <a:r>
              <a:rPr lang="en-GB" b="1" dirty="0">
                <a:solidFill>
                  <a:srgbClr val="00B050"/>
                </a:solidFill>
              </a:rPr>
              <a:t>by ID </a:t>
            </a:r>
            <a:r>
              <a:rPr lang="en-GB" b="1" dirty="0"/>
              <a:t>with employees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DACF43-9364-1D39-08F2-CF86E2A9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74" y="2069465"/>
            <a:ext cx="5637059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Запит-</a:t>
            </a:r>
            <a:r>
              <a:rPr lang="en-GB" sz="2000" b="1" dirty="0"/>
              <a:t>HTTP</a:t>
            </a:r>
            <a:r>
              <a:rPr lang="uk-UA" sz="2000" b="1" dirty="0"/>
              <a:t>, типу</a:t>
            </a:r>
            <a:r>
              <a:rPr lang="en-GB" sz="2000" b="1" dirty="0"/>
              <a:t> GET (by Id) </a:t>
            </a:r>
            <a:endParaRPr lang="uk-UA" sz="2000" b="1" dirty="0"/>
          </a:p>
          <a:p>
            <a:pPr marL="457200" lvl="1" indent="0">
              <a:buNone/>
            </a:pPr>
            <a:r>
              <a:rPr lang="en-GB" dirty="0">
                <a:solidFill>
                  <a:srgbClr val="66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https://localhost:7067/api/projects/1/with-employees</a:t>
            </a:r>
            <a:endParaRPr lang="en-GB" dirty="0">
              <a:solidFill>
                <a:srgbClr val="6699FF"/>
              </a:solidFill>
            </a:endParaRP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Middleware( Routing )</a:t>
            </a:r>
            <a:endParaRPr lang="uk-UA" sz="2000" b="1" dirty="0"/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endParaRPr lang="uk-UA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 err="1"/>
              <a:t>ProjectsController</a:t>
            </a:r>
            <a:r>
              <a:rPr lang="en-GB" sz="2000" b="1" dirty="0"/>
              <a:t>( </a:t>
            </a:r>
            <a:r>
              <a:rPr lang="en-GB" sz="2000" b="1" dirty="0" err="1"/>
              <a:t>GetWithEmployees</a:t>
            </a:r>
            <a:r>
              <a:rPr lang="en-GB" sz="2000" dirty="0"/>
              <a:t> </a:t>
            </a:r>
            <a:r>
              <a:rPr lang="en-GB" sz="2000" b="1" dirty="0"/>
              <a:t>)</a:t>
            </a:r>
            <a:endParaRPr lang="uk-UA" sz="2000" b="1" dirty="0"/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Repository( </a:t>
            </a:r>
            <a:r>
              <a:rPr lang="en-GB" sz="2000" b="1" dirty="0" err="1"/>
              <a:t>GetWithEmployeesAsync</a:t>
            </a:r>
            <a:r>
              <a:rPr lang="en-GB" sz="2000" b="1" dirty="0"/>
              <a:t> )</a:t>
            </a:r>
            <a:endParaRPr lang="en-GB" sz="2000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F23EE2-F42D-79E0-B9AA-733AA2D4A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540" y="432075"/>
            <a:ext cx="1691641" cy="169164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3C0356-E978-9B94-21B5-C05604992EB8}"/>
              </a:ext>
            </a:extLst>
          </p:cNvPr>
          <p:cNvSpPr txBox="1">
            <a:spLocks/>
          </p:cNvSpPr>
          <p:nvPr/>
        </p:nvSpPr>
        <p:spPr>
          <a:xfrm>
            <a:off x="6554941" y="2069465"/>
            <a:ext cx="5637059" cy="466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9.  </a:t>
            </a:r>
            <a:r>
              <a:rPr lang="uk-UA" sz="2000" b="1" dirty="0"/>
              <a:t>Відповідь-</a:t>
            </a:r>
            <a:r>
              <a:rPr lang="en-GB" sz="2000" b="1" dirty="0"/>
              <a:t>HTTP </a:t>
            </a:r>
            <a:r>
              <a:rPr lang="en-GB" sz="2000" dirty="0"/>
              <a:t>(Ok + JSON)</a:t>
            </a:r>
            <a:r>
              <a:rPr lang="en-GB" sz="2000" b="1" dirty="0"/>
              <a:t> 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8.   </a:t>
            </a:r>
            <a:r>
              <a:rPr lang="uk-UA" sz="2000" b="1" dirty="0"/>
              <a:t>Серіалізація</a:t>
            </a:r>
            <a:r>
              <a:rPr lang="uk-UA" sz="2000" dirty="0"/>
              <a:t> </a:t>
            </a:r>
            <a:r>
              <a:rPr lang="en-GB" sz="2000" dirty="0"/>
              <a:t>DTO -&gt; JSON</a:t>
            </a:r>
            <a:endParaRPr lang="en-GB" sz="2000" b="1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7. </a:t>
            </a:r>
            <a:r>
              <a:rPr lang="pl-PL" sz="2000" b="1" dirty="0"/>
              <a:t>  </a:t>
            </a:r>
            <a:r>
              <a:rPr lang="en-GB" sz="2000" b="1" dirty="0" err="1"/>
              <a:t>ProjectsController</a:t>
            </a:r>
            <a:r>
              <a:rPr lang="en-GB" sz="2000" b="1" dirty="0"/>
              <a:t>( </a:t>
            </a:r>
            <a:r>
              <a:rPr lang="en-GB" sz="2000" b="1" dirty="0" err="1"/>
              <a:t>GetWithEmployees</a:t>
            </a:r>
            <a:r>
              <a:rPr lang="en-GB" sz="2000" b="1" dirty="0"/>
              <a:t> )	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6.   Repository( </a:t>
            </a:r>
            <a:r>
              <a:rPr lang="en-GB" sz="2000" b="1" dirty="0" err="1"/>
              <a:t>GetWithEmployeesAsync</a:t>
            </a:r>
            <a:r>
              <a:rPr lang="en-GB" sz="2000" b="1" dirty="0"/>
              <a:t> )</a:t>
            </a:r>
          </a:p>
          <a:p>
            <a:pPr marL="457200" lvl="1" indent="0">
              <a:buNone/>
            </a:pPr>
            <a:r>
              <a:rPr lang="en-GB" sz="2000" dirty="0"/>
              <a:t>	</a:t>
            </a:r>
            <a:r>
              <a:rPr lang="uk-UA" sz="2000" dirty="0"/>
              <a:t>Мапить</a:t>
            </a:r>
            <a:r>
              <a:rPr lang="en-GB" sz="2000" dirty="0"/>
              <a:t> Entity -&gt; DTO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uk-UA" sz="2000" b="1" dirty="0"/>
              <a:t>5.</a:t>
            </a:r>
            <a:r>
              <a:rPr lang="en-GB" sz="2000" b="1" dirty="0"/>
              <a:t>   </a:t>
            </a:r>
            <a:r>
              <a:rPr lang="en-GB" sz="2000" b="1" dirty="0" err="1"/>
              <a:t>AppDbContext</a:t>
            </a:r>
            <a:endParaRPr lang="en-GB" sz="20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78F77A-065A-F82E-A525-6C9274A7434D}"/>
              </a:ext>
            </a:extLst>
          </p:cNvPr>
          <p:cNvCxnSpPr>
            <a:cxnSpLocks/>
          </p:cNvCxnSpPr>
          <p:nvPr/>
        </p:nvCxnSpPr>
        <p:spPr>
          <a:xfrm>
            <a:off x="2419109" y="3022599"/>
            <a:ext cx="0" cy="4064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A670D9-89EE-3E58-46BC-9793C0913957}"/>
              </a:ext>
            </a:extLst>
          </p:cNvPr>
          <p:cNvCxnSpPr>
            <a:cxnSpLocks/>
          </p:cNvCxnSpPr>
          <p:nvPr/>
        </p:nvCxnSpPr>
        <p:spPr>
          <a:xfrm>
            <a:off x="2419109" y="3911600"/>
            <a:ext cx="0" cy="70104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AD2C496-65A4-BBAA-A2A6-1A2E263CC8B3}"/>
              </a:ext>
            </a:extLst>
          </p:cNvPr>
          <p:cNvCxnSpPr>
            <a:cxnSpLocks/>
          </p:cNvCxnSpPr>
          <p:nvPr/>
        </p:nvCxnSpPr>
        <p:spPr>
          <a:xfrm>
            <a:off x="2419109" y="5275741"/>
            <a:ext cx="0" cy="70104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68F6F4-4ACB-DA24-4D70-96660098DDCC}"/>
              </a:ext>
            </a:extLst>
          </p:cNvPr>
          <p:cNvCxnSpPr>
            <a:cxnSpLocks/>
          </p:cNvCxnSpPr>
          <p:nvPr/>
        </p:nvCxnSpPr>
        <p:spPr>
          <a:xfrm>
            <a:off x="5791200" y="6299200"/>
            <a:ext cx="72644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9CAEBE-C0DE-6100-8B37-FA84D15F6141}"/>
              </a:ext>
            </a:extLst>
          </p:cNvPr>
          <p:cNvCxnSpPr>
            <a:cxnSpLocks/>
          </p:cNvCxnSpPr>
          <p:nvPr/>
        </p:nvCxnSpPr>
        <p:spPr>
          <a:xfrm flipV="1">
            <a:off x="8282588" y="5558870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82C917-B526-6C2D-3B90-5A93AFE6B775}"/>
              </a:ext>
            </a:extLst>
          </p:cNvPr>
          <p:cNvCxnSpPr>
            <a:cxnSpLocks/>
          </p:cNvCxnSpPr>
          <p:nvPr/>
        </p:nvCxnSpPr>
        <p:spPr>
          <a:xfrm flipV="1">
            <a:off x="8241818" y="4241800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B7FDF1-FDD6-8C0C-59A8-B8E2F5C108AD}"/>
              </a:ext>
            </a:extLst>
          </p:cNvPr>
          <p:cNvCxnSpPr>
            <a:cxnSpLocks/>
          </p:cNvCxnSpPr>
          <p:nvPr/>
        </p:nvCxnSpPr>
        <p:spPr>
          <a:xfrm flipV="1">
            <a:off x="8235774" y="3280329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FFE5D4-C51B-6419-0F9E-EF83CC9E1E4D}"/>
              </a:ext>
            </a:extLst>
          </p:cNvPr>
          <p:cNvCxnSpPr>
            <a:cxnSpLocks/>
          </p:cNvCxnSpPr>
          <p:nvPr/>
        </p:nvCxnSpPr>
        <p:spPr>
          <a:xfrm flipV="1">
            <a:off x="8237832" y="2387600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6473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4104-ECEE-D506-0844-C9669DC6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 E</a:t>
            </a:r>
            <a:r>
              <a:rPr lang="uk-UA" b="1" dirty="0"/>
              <a:t>ндпоінту </a:t>
            </a:r>
            <a:r>
              <a:rPr lang="en-GB" b="1" dirty="0">
                <a:solidFill>
                  <a:srgbClr val="00B050"/>
                </a:solidFill>
              </a:rPr>
              <a:t>Get by Id</a:t>
            </a:r>
            <a:endParaRPr lang="en-GB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7D4E2-805B-08BB-1187-BD22C64EA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96" y="3162716"/>
            <a:ext cx="9648807" cy="1868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B6C363-87E2-73E0-B844-A3727672C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4694" y="424667"/>
            <a:ext cx="1667989" cy="166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1881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ABC29-6908-C30C-A0A7-8F71B135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B957-94AC-7BF1-B355-B6CF6917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14" y="655558"/>
            <a:ext cx="8098411" cy="1325563"/>
          </a:xfrm>
        </p:spPr>
        <p:txBody>
          <a:bodyPr>
            <a:normAutofit/>
          </a:bodyPr>
          <a:lstStyle/>
          <a:p>
            <a:r>
              <a:rPr lang="uk-UA" b="1" dirty="0"/>
              <a:t>Цикл життя </a:t>
            </a:r>
            <a:r>
              <a:rPr lang="en-US" b="1" dirty="0"/>
              <a:t>req/resp HTTP</a:t>
            </a:r>
            <a:r>
              <a:rPr lang="en-GB" b="1" dirty="0"/>
              <a:t> </a:t>
            </a:r>
            <a:r>
              <a:rPr lang="uk-UA" b="1" dirty="0"/>
              <a:t>- </a:t>
            </a:r>
            <a:r>
              <a:rPr lang="en-GB" b="1" dirty="0">
                <a:solidFill>
                  <a:schemeClr val="accent4"/>
                </a:solidFill>
              </a:rPr>
              <a:t>POST</a:t>
            </a:r>
            <a:endParaRPr lang="en-GB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0537A8A-93C3-1C5A-97CA-EDE7203F9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17" y="2077165"/>
            <a:ext cx="5637059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Запит-</a:t>
            </a:r>
            <a:r>
              <a:rPr lang="en-GB" sz="2000" b="1" dirty="0"/>
              <a:t>HTTP</a:t>
            </a:r>
            <a:r>
              <a:rPr lang="uk-UA" sz="2000" b="1" dirty="0"/>
              <a:t>, типу</a:t>
            </a:r>
            <a:r>
              <a:rPr lang="en-GB" sz="2000" b="1" dirty="0"/>
              <a:t> POST </a:t>
            </a:r>
            <a:endParaRPr lang="uk-UA" sz="2000" b="1" dirty="0"/>
          </a:p>
          <a:p>
            <a:pPr marL="457200" lvl="1" indent="0">
              <a:buNone/>
            </a:pPr>
            <a:r>
              <a:rPr lang="en-GB" dirty="0">
                <a:solidFill>
                  <a:srgbClr val="66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https://localhost:7067/api/projects</a:t>
            </a:r>
            <a:endParaRPr lang="en-GB" dirty="0">
              <a:solidFill>
                <a:srgbClr val="6699FF"/>
              </a:solidFill>
            </a:endParaRP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Middleware( Routing )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Десеріалізація </a:t>
            </a:r>
            <a:r>
              <a:rPr lang="en-GB" sz="2000" dirty="0"/>
              <a:t>JSON -&gt; DTO</a:t>
            </a:r>
            <a:endParaRPr lang="en-GB" sz="2000" b="1" dirty="0"/>
          </a:p>
          <a:p>
            <a:pPr marL="514350" indent="-514350">
              <a:buFont typeface="+mj-lt"/>
              <a:buAutoNum type="arabicPeriod"/>
            </a:pPr>
            <a:endParaRPr lang="uk-UA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 err="1"/>
              <a:t>ProjectsController</a:t>
            </a:r>
            <a:r>
              <a:rPr lang="en-GB" sz="2000" b="1" dirty="0"/>
              <a:t>( Create</a:t>
            </a:r>
            <a:r>
              <a:rPr lang="en-GB" sz="2000" dirty="0"/>
              <a:t> </a:t>
            </a:r>
            <a:r>
              <a:rPr lang="en-GB" sz="2000" b="1" dirty="0"/>
              <a:t>)</a:t>
            </a:r>
          </a:p>
          <a:p>
            <a:pPr marL="457200" lvl="1" indent="0">
              <a:buNone/>
            </a:pPr>
            <a:r>
              <a:rPr lang="pl-PL" sz="2000" b="1" dirty="0"/>
              <a:t>	</a:t>
            </a:r>
            <a:r>
              <a:rPr lang="uk-UA" sz="2000" dirty="0"/>
              <a:t>Мапить</a:t>
            </a:r>
            <a:r>
              <a:rPr lang="uk-UA" sz="2000" b="1" dirty="0"/>
              <a:t> </a:t>
            </a:r>
            <a:r>
              <a:rPr lang="en-GB" sz="2000" dirty="0"/>
              <a:t>DTO -&gt; Entity</a:t>
            </a:r>
            <a:r>
              <a:rPr lang="en-GB" sz="2000" b="1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Repository(</a:t>
            </a:r>
            <a:r>
              <a:rPr lang="en-GB" sz="2000" b="1" dirty="0" err="1"/>
              <a:t>AddAsync</a:t>
            </a:r>
            <a:r>
              <a:rPr lang="en-GB" sz="2000" b="1" dirty="0"/>
              <a:t>)</a:t>
            </a:r>
            <a:endParaRPr lang="en-GB" sz="2000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BA505E-23EC-4116-65C7-1220A4E51675}"/>
              </a:ext>
            </a:extLst>
          </p:cNvPr>
          <p:cNvSpPr txBox="1">
            <a:spLocks/>
          </p:cNvSpPr>
          <p:nvPr/>
        </p:nvSpPr>
        <p:spPr>
          <a:xfrm>
            <a:off x="6636221" y="2077165"/>
            <a:ext cx="5637059" cy="466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10. </a:t>
            </a:r>
            <a:r>
              <a:rPr lang="uk-UA" sz="2000" b="1" dirty="0"/>
              <a:t>Відповідь-</a:t>
            </a:r>
            <a:r>
              <a:rPr lang="en-GB" sz="2000" b="1" dirty="0"/>
              <a:t>HTTP </a:t>
            </a:r>
            <a:r>
              <a:rPr lang="en-GB" sz="2000" dirty="0"/>
              <a:t>(Created + JSON)</a:t>
            </a:r>
            <a:r>
              <a:rPr lang="en-GB" sz="2000" b="1" dirty="0"/>
              <a:t> 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9.  </a:t>
            </a:r>
            <a:r>
              <a:rPr lang="uk-UA" sz="2000" b="1" dirty="0"/>
              <a:t>Серіалізація</a:t>
            </a:r>
            <a:r>
              <a:rPr lang="uk-UA" sz="2000" dirty="0"/>
              <a:t> </a:t>
            </a:r>
            <a:r>
              <a:rPr lang="en-GB" sz="2000" dirty="0"/>
              <a:t>DTO -&gt; JSON</a:t>
            </a:r>
            <a:endParaRPr lang="en-GB" sz="2000" b="1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8.   </a:t>
            </a:r>
            <a:r>
              <a:rPr lang="en-GB" sz="2000" b="1" dirty="0" err="1"/>
              <a:t>ProjectsController</a:t>
            </a:r>
            <a:r>
              <a:rPr lang="en-GB" sz="2000" b="1" dirty="0"/>
              <a:t>( Create )</a:t>
            </a:r>
          </a:p>
          <a:p>
            <a:pPr marL="457200" lvl="1" indent="0">
              <a:buNone/>
            </a:pPr>
            <a:r>
              <a:rPr lang="en-GB" sz="2000" dirty="0"/>
              <a:t>	</a:t>
            </a:r>
            <a:r>
              <a:rPr lang="uk-UA" sz="2000" dirty="0"/>
              <a:t>Мапить</a:t>
            </a:r>
            <a:r>
              <a:rPr lang="en-GB" sz="2000" dirty="0"/>
              <a:t> Entity -&gt; DTO</a:t>
            </a:r>
          </a:p>
          <a:p>
            <a:pPr marL="457200" lvl="1" indent="0">
              <a:buNone/>
            </a:pPr>
            <a:r>
              <a:rPr lang="en-GB" sz="2000" b="1" dirty="0"/>
              <a:t>	</a:t>
            </a: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7.   Repository( </a:t>
            </a:r>
            <a:r>
              <a:rPr lang="en-GB" sz="2000" b="1" dirty="0" err="1"/>
              <a:t>SaveChangesAsync</a:t>
            </a:r>
            <a:r>
              <a:rPr lang="en-GB" sz="2000" b="1" dirty="0"/>
              <a:t> )</a:t>
            </a:r>
          </a:p>
          <a:p>
            <a:pPr marL="457200" lvl="1" indent="0">
              <a:buNone/>
            </a:pPr>
            <a:r>
              <a:rPr lang="en-GB" dirty="0"/>
              <a:t>	</a:t>
            </a: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6</a:t>
            </a:r>
            <a:r>
              <a:rPr lang="uk-UA" sz="2000" b="1" dirty="0"/>
              <a:t>.</a:t>
            </a:r>
            <a:r>
              <a:rPr lang="en-GB" sz="2000" b="1" dirty="0"/>
              <a:t>   </a:t>
            </a:r>
            <a:r>
              <a:rPr lang="en-GB" sz="2000" b="1" dirty="0" err="1"/>
              <a:t>AppDbContext</a:t>
            </a:r>
            <a:endParaRPr lang="en-GB" sz="20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7E2737-ADFB-D866-77C4-14B719691A53}"/>
              </a:ext>
            </a:extLst>
          </p:cNvPr>
          <p:cNvCxnSpPr>
            <a:cxnSpLocks/>
          </p:cNvCxnSpPr>
          <p:nvPr/>
        </p:nvCxnSpPr>
        <p:spPr>
          <a:xfrm>
            <a:off x="2592858" y="2748601"/>
            <a:ext cx="0" cy="4240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B60AD06-1B3B-0639-A073-4FCA59ED831D}"/>
              </a:ext>
            </a:extLst>
          </p:cNvPr>
          <p:cNvCxnSpPr>
            <a:cxnSpLocks/>
          </p:cNvCxnSpPr>
          <p:nvPr/>
        </p:nvCxnSpPr>
        <p:spPr>
          <a:xfrm>
            <a:off x="2605076" y="4394126"/>
            <a:ext cx="0" cy="51070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091AFB0-D7E9-FE22-2115-7D9A9367EA4A}"/>
              </a:ext>
            </a:extLst>
          </p:cNvPr>
          <p:cNvCxnSpPr>
            <a:cxnSpLocks/>
          </p:cNvCxnSpPr>
          <p:nvPr/>
        </p:nvCxnSpPr>
        <p:spPr>
          <a:xfrm flipV="1">
            <a:off x="4094328" y="5900382"/>
            <a:ext cx="2579427" cy="350293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DAEFD6-B599-F69B-95B9-9033A3B09962}"/>
              </a:ext>
            </a:extLst>
          </p:cNvPr>
          <p:cNvCxnSpPr>
            <a:cxnSpLocks/>
          </p:cNvCxnSpPr>
          <p:nvPr/>
        </p:nvCxnSpPr>
        <p:spPr>
          <a:xfrm flipV="1">
            <a:off x="8309082" y="5240908"/>
            <a:ext cx="0" cy="5005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092CD4B-26AC-3DBD-849E-67B849CDBDE0}"/>
              </a:ext>
            </a:extLst>
          </p:cNvPr>
          <p:cNvCxnSpPr>
            <a:cxnSpLocks/>
          </p:cNvCxnSpPr>
          <p:nvPr/>
        </p:nvCxnSpPr>
        <p:spPr>
          <a:xfrm flipV="1">
            <a:off x="8309082" y="4508265"/>
            <a:ext cx="0" cy="39656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9B6FD7-300F-5191-9CBE-9C1932D9A60D}"/>
              </a:ext>
            </a:extLst>
          </p:cNvPr>
          <p:cNvCxnSpPr>
            <a:cxnSpLocks/>
          </p:cNvCxnSpPr>
          <p:nvPr/>
        </p:nvCxnSpPr>
        <p:spPr>
          <a:xfrm flipV="1">
            <a:off x="8309082" y="3271518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FB1A09B-42EE-1A77-C91D-DF5A868FBD2F}"/>
              </a:ext>
            </a:extLst>
          </p:cNvPr>
          <p:cNvCxnSpPr>
            <a:cxnSpLocks/>
          </p:cNvCxnSpPr>
          <p:nvPr/>
        </p:nvCxnSpPr>
        <p:spPr>
          <a:xfrm flipV="1">
            <a:off x="8309082" y="2419429"/>
            <a:ext cx="0" cy="54118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2B0090-3AEC-C33B-DD07-1206DE3F5E22}"/>
              </a:ext>
            </a:extLst>
          </p:cNvPr>
          <p:cNvCxnSpPr>
            <a:cxnSpLocks/>
          </p:cNvCxnSpPr>
          <p:nvPr/>
        </p:nvCxnSpPr>
        <p:spPr>
          <a:xfrm>
            <a:off x="2605076" y="5579190"/>
            <a:ext cx="0" cy="4064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B497571-8F9E-F80B-3B86-DFB61A9ACC13}"/>
              </a:ext>
            </a:extLst>
          </p:cNvPr>
          <p:cNvCxnSpPr>
            <a:cxnSpLocks/>
          </p:cNvCxnSpPr>
          <p:nvPr/>
        </p:nvCxnSpPr>
        <p:spPr>
          <a:xfrm>
            <a:off x="2594916" y="3557349"/>
            <a:ext cx="0" cy="51070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4" name="Picture 3" descr="A blue arrow pointing up&#10;&#10;AI-generated content may be incorrect.">
            <a:extLst>
              <a:ext uri="{FF2B5EF4-FFF2-40B4-BE49-F238E27FC236}">
                <a16:creationId xmlns:a16="http://schemas.microsoft.com/office/drawing/2014/main" id="{51A3F1C0-D6C1-3F21-4C65-BBE0D228C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122" y="0"/>
            <a:ext cx="2541327" cy="254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7675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8A63-9AB9-9FCB-26EE-494719C1A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 E</a:t>
            </a:r>
            <a:r>
              <a:rPr lang="uk-UA" b="1" dirty="0"/>
              <a:t>ндпоінту </a:t>
            </a:r>
            <a:r>
              <a:rPr lang="pl-PL" b="1" dirty="0">
                <a:solidFill>
                  <a:schemeClr val="accent4"/>
                </a:solidFill>
              </a:rPr>
              <a:t>Post</a:t>
            </a:r>
            <a:endParaRPr lang="en-GB" dirty="0">
              <a:solidFill>
                <a:schemeClr val="accent4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3BF77-7094-FDE1-FF9A-CBDABD5B5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40" y="2938521"/>
            <a:ext cx="9450119" cy="2514951"/>
          </a:xfrm>
          <a:prstGeom prst="rect">
            <a:avLst/>
          </a:prstGeom>
        </p:spPr>
      </p:pic>
      <p:pic>
        <p:nvPicPr>
          <p:cNvPr id="3" name="Picture 2" descr="A blue arrow pointing up&#10;&#10;AI-generated content may be incorrect.">
            <a:extLst>
              <a:ext uri="{FF2B5EF4-FFF2-40B4-BE49-F238E27FC236}">
                <a16:creationId xmlns:a16="http://schemas.microsoft.com/office/drawing/2014/main" id="{4DB10EB8-8D4A-E7DE-4B8E-E231B1702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4122" y="0"/>
            <a:ext cx="2541327" cy="254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667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BC15-266F-A47F-5CE7-5C36FBAD6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Цикл життя </a:t>
            </a:r>
            <a:r>
              <a:rPr lang="en-US" b="1" dirty="0"/>
              <a:t>req/resp HTTP</a:t>
            </a:r>
            <a:r>
              <a:rPr lang="en-GB" b="1" dirty="0"/>
              <a:t> </a:t>
            </a:r>
            <a:r>
              <a:rPr lang="uk-UA" b="1" dirty="0"/>
              <a:t>–</a:t>
            </a:r>
            <a:r>
              <a:rPr lang="en-GB" b="1" dirty="0"/>
              <a:t> </a:t>
            </a:r>
            <a:r>
              <a:rPr lang="en-GB" b="1" dirty="0">
                <a:solidFill>
                  <a:schemeClr val="accent1"/>
                </a:solidFill>
              </a:rPr>
              <a:t>PUT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C36805-2D11-CCC2-5BBD-31AE46D14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51" y="2099864"/>
            <a:ext cx="5637059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Запит-</a:t>
            </a:r>
            <a:r>
              <a:rPr lang="en-GB" sz="2000" b="1" dirty="0"/>
              <a:t>HTTP</a:t>
            </a:r>
            <a:r>
              <a:rPr lang="uk-UA" sz="2000" b="1" dirty="0"/>
              <a:t>, типу</a:t>
            </a:r>
            <a:r>
              <a:rPr lang="en-GB" sz="2000" b="1" dirty="0"/>
              <a:t> PUT </a:t>
            </a:r>
            <a:endParaRPr lang="uk-UA" sz="2000" b="1" dirty="0"/>
          </a:p>
          <a:p>
            <a:pPr marL="457200" lvl="1" indent="0">
              <a:buNone/>
            </a:pPr>
            <a:r>
              <a:rPr lang="en-GB" dirty="0">
                <a:solidFill>
                  <a:srgbClr val="33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https://localhost:7067/api/projects/6</a:t>
            </a:r>
            <a:endParaRPr lang="en-GB" dirty="0">
              <a:solidFill>
                <a:srgbClr val="3399FF"/>
              </a:solidFill>
            </a:endParaRP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Middleware( Routing )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Десеріалізація </a:t>
            </a:r>
            <a:r>
              <a:rPr lang="en-GB" sz="2000" dirty="0"/>
              <a:t>JSON -&gt; DTO</a:t>
            </a:r>
            <a:endParaRPr lang="en-GB" sz="2000" b="1" dirty="0"/>
          </a:p>
          <a:p>
            <a:pPr marL="514350" indent="-514350">
              <a:buFont typeface="+mj-lt"/>
              <a:buAutoNum type="arabicPeriod"/>
            </a:pPr>
            <a:endParaRPr lang="uk-UA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 err="1"/>
              <a:t>ProjectsController</a:t>
            </a:r>
            <a:r>
              <a:rPr lang="en-GB" sz="2000" b="1" dirty="0"/>
              <a:t>( Update</a:t>
            </a:r>
            <a:r>
              <a:rPr lang="en-GB" sz="2000" dirty="0"/>
              <a:t> </a:t>
            </a:r>
            <a:r>
              <a:rPr lang="en-GB" sz="2000" b="1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Repository( </a:t>
            </a:r>
            <a:r>
              <a:rPr lang="en-GB" sz="2000" b="1" dirty="0" err="1"/>
              <a:t>GetEntityByIdAsync</a:t>
            </a:r>
            <a:r>
              <a:rPr lang="en-GB" sz="2000" b="1" dirty="0"/>
              <a:t>, </a:t>
            </a:r>
            <a:r>
              <a:rPr lang="en-GB" sz="2000" b="1" dirty="0" err="1"/>
              <a:t>EditUsingProcedureAsync</a:t>
            </a:r>
            <a:r>
              <a:rPr lang="en-GB" sz="2000" b="1" dirty="0"/>
              <a:t>, </a:t>
            </a:r>
            <a:r>
              <a:rPr lang="en-GB" sz="2000" b="1" dirty="0" err="1"/>
              <a:t>GetByIdAsync</a:t>
            </a:r>
            <a:r>
              <a:rPr lang="en-GB" sz="2000" b="1" dirty="0"/>
              <a:t>)</a:t>
            </a:r>
          </a:p>
          <a:p>
            <a:pPr marL="457200" lvl="1" indent="0">
              <a:buNone/>
            </a:pPr>
            <a:r>
              <a:rPr lang="en-GB" sz="2000" dirty="0"/>
              <a:t>	</a:t>
            </a:r>
            <a:r>
              <a:rPr lang="uk-UA" sz="2000" dirty="0"/>
              <a:t>Мапить</a:t>
            </a:r>
            <a:r>
              <a:rPr lang="en-GB" sz="2000" dirty="0"/>
              <a:t> Entity -&gt; DTO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A51EFA-1597-9D78-9A8C-94DA4298853E}"/>
              </a:ext>
            </a:extLst>
          </p:cNvPr>
          <p:cNvSpPr txBox="1">
            <a:spLocks/>
          </p:cNvSpPr>
          <p:nvPr/>
        </p:nvSpPr>
        <p:spPr>
          <a:xfrm>
            <a:off x="6739972" y="2521503"/>
            <a:ext cx="5637059" cy="466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9. </a:t>
            </a:r>
            <a:r>
              <a:rPr lang="uk-UA" sz="2000" b="1" dirty="0"/>
              <a:t>Відповідь-</a:t>
            </a:r>
            <a:r>
              <a:rPr lang="en-GB" sz="2000" b="1" dirty="0"/>
              <a:t>HTTP </a:t>
            </a:r>
            <a:r>
              <a:rPr lang="en-GB" sz="2000" dirty="0"/>
              <a:t>(Ok + JSON)</a:t>
            </a:r>
            <a:r>
              <a:rPr lang="en-GB" sz="2000" b="1" dirty="0"/>
              <a:t> 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8.  </a:t>
            </a:r>
            <a:r>
              <a:rPr lang="uk-UA" sz="2000" b="1" dirty="0"/>
              <a:t>Серіалізація</a:t>
            </a:r>
            <a:r>
              <a:rPr lang="uk-UA" sz="2000" dirty="0"/>
              <a:t> </a:t>
            </a:r>
            <a:r>
              <a:rPr lang="en-GB" sz="2000" dirty="0"/>
              <a:t>DTO -&gt; JSON</a:t>
            </a:r>
            <a:endParaRPr lang="en-GB" sz="2000" b="1" dirty="0"/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7.   </a:t>
            </a:r>
            <a:r>
              <a:rPr lang="en-GB" sz="2000" b="1" dirty="0" err="1"/>
              <a:t>ProjectsController</a:t>
            </a:r>
            <a:r>
              <a:rPr lang="en-GB" sz="2000" b="1" dirty="0"/>
              <a:t>( Update )</a:t>
            </a:r>
          </a:p>
          <a:p>
            <a:pPr marL="457200" lvl="1" indent="0">
              <a:buNone/>
            </a:pPr>
            <a:r>
              <a:rPr lang="en-GB" dirty="0"/>
              <a:t>	</a:t>
            </a: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6</a:t>
            </a:r>
            <a:r>
              <a:rPr lang="uk-UA" sz="2000" b="1" dirty="0"/>
              <a:t>.</a:t>
            </a:r>
            <a:r>
              <a:rPr lang="en-GB" sz="2000" b="1" dirty="0"/>
              <a:t>   </a:t>
            </a:r>
            <a:r>
              <a:rPr lang="en-GB" sz="2000" b="1" dirty="0" err="1"/>
              <a:t>AppDbContext</a:t>
            </a:r>
            <a:endParaRPr lang="en-GB" sz="20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7FFB1E3-707D-B203-8191-92CFD655E3A9}"/>
              </a:ext>
            </a:extLst>
          </p:cNvPr>
          <p:cNvCxnSpPr>
            <a:cxnSpLocks/>
          </p:cNvCxnSpPr>
          <p:nvPr/>
        </p:nvCxnSpPr>
        <p:spPr>
          <a:xfrm>
            <a:off x="2650796" y="2797791"/>
            <a:ext cx="0" cy="37669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E6CB6B2-3AD6-979D-478C-EF5B18EA1A0A}"/>
              </a:ext>
            </a:extLst>
          </p:cNvPr>
          <p:cNvCxnSpPr>
            <a:cxnSpLocks/>
          </p:cNvCxnSpPr>
          <p:nvPr/>
        </p:nvCxnSpPr>
        <p:spPr>
          <a:xfrm>
            <a:off x="2633498" y="3577669"/>
            <a:ext cx="0" cy="4240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79A5FC1-4FCB-D73E-313B-030A9619A3BC}"/>
              </a:ext>
            </a:extLst>
          </p:cNvPr>
          <p:cNvCxnSpPr>
            <a:cxnSpLocks/>
          </p:cNvCxnSpPr>
          <p:nvPr/>
        </p:nvCxnSpPr>
        <p:spPr>
          <a:xfrm>
            <a:off x="2633498" y="4431109"/>
            <a:ext cx="0" cy="4240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97255C-FC36-455A-397C-AD51F3BCC4C5}"/>
              </a:ext>
            </a:extLst>
          </p:cNvPr>
          <p:cNvCxnSpPr>
            <a:cxnSpLocks/>
          </p:cNvCxnSpPr>
          <p:nvPr/>
        </p:nvCxnSpPr>
        <p:spPr>
          <a:xfrm>
            <a:off x="2654912" y="5267445"/>
            <a:ext cx="0" cy="4240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5C1A35-A031-14E3-348A-D20623314F47}"/>
              </a:ext>
            </a:extLst>
          </p:cNvPr>
          <p:cNvCxnSpPr>
            <a:cxnSpLocks/>
          </p:cNvCxnSpPr>
          <p:nvPr/>
        </p:nvCxnSpPr>
        <p:spPr>
          <a:xfrm flipV="1">
            <a:off x="6232478" y="5919792"/>
            <a:ext cx="1254153" cy="36272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C2A761-1A7F-A82F-D57D-50DA4BD2C4DF}"/>
              </a:ext>
            </a:extLst>
          </p:cNvPr>
          <p:cNvCxnSpPr>
            <a:cxnSpLocks/>
          </p:cNvCxnSpPr>
          <p:nvPr/>
        </p:nvCxnSpPr>
        <p:spPr>
          <a:xfrm flipV="1">
            <a:off x="8266254" y="5042574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EF4DA2-90F5-4869-3698-E49DE0012090}"/>
              </a:ext>
            </a:extLst>
          </p:cNvPr>
          <p:cNvCxnSpPr>
            <a:cxnSpLocks/>
          </p:cNvCxnSpPr>
          <p:nvPr/>
        </p:nvCxnSpPr>
        <p:spPr>
          <a:xfrm flipV="1">
            <a:off x="8262268" y="4206238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521030-7074-F84E-69FF-CA2FFF47841F}"/>
              </a:ext>
            </a:extLst>
          </p:cNvPr>
          <p:cNvCxnSpPr>
            <a:cxnSpLocks/>
          </p:cNvCxnSpPr>
          <p:nvPr/>
        </p:nvCxnSpPr>
        <p:spPr>
          <a:xfrm flipV="1">
            <a:off x="8262268" y="3352798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4" name="Picture 13" descr="A blue circle with arrows and a black background&#10;&#10;AI-generated content may be incorrect.">
            <a:extLst>
              <a:ext uri="{FF2B5EF4-FFF2-40B4-BE49-F238E27FC236}">
                <a16:creationId xmlns:a16="http://schemas.microsoft.com/office/drawing/2014/main" id="{B950DC70-D3BC-50C8-7B1E-F713D9DA5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176" y="-280917"/>
            <a:ext cx="3078708" cy="307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5958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73C12-1A6F-C762-2753-CA9B9BEB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</a:t>
            </a:r>
            <a:r>
              <a:rPr lang="uk-UA" b="1" dirty="0"/>
              <a:t> </a:t>
            </a:r>
            <a:r>
              <a:rPr lang="en-US" b="1" dirty="0"/>
              <a:t>E</a:t>
            </a:r>
            <a:r>
              <a:rPr lang="uk-UA" b="1" dirty="0"/>
              <a:t>ндпоінту </a:t>
            </a:r>
            <a:r>
              <a:rPr lang="pl-PL" b="1" dirty="0" err="1">
                <a:solidFill>
                  <a:schemeClr val="accent1"/>
                </a:solidFill>
              </a:rPr>
              <a:t>Put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4012E7-4BFA-5E4D-C08C-877DDC7B9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473" y="3088577"/>
            <a:ext cx="9459645" cy="2448267"/>
          </a:xfrm>
          <a:prstGeom prst="rect">
            <a:avLst/>
          </a:prstGeom>
        </p:spPr>
      </p:pic>
      <p:pic>
        <p:nvPicPr>
          <p:cNvPr id="3" name="Picture 2" descr="A blue circle with arrows and a black background&#10;&#10;AI-generated content may be incorrect.">
            <a:extLst>
              <a:ext uri="{FF2B5EF4-FFF2-40B4-BE49-F238E27FC236}">
                <a16:creationId xmlns:a16="http://schemas.microsoft.com/office/drawing/2014/main" id="{FA23DACD-2C83-63BE-B887-FE1A1CB69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9176" y="-280917"/>
            <a:ext cx="3078708" cy="307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406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09A5-5284-357F-CE64-3AD84040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Цикл життя </a:t>
            </a:r>
            <a:r>
              <a:rPr lang="en-US" b="1" dirty="0"/>
              <a:t>req/resp HTTP</a:t>
            </a:r>
            <a:r>
              <a:rPr lang="en-GB" b="1" dirty="0"/>
              <a:t> </a:t>
            </a:r>
            <a:r>
              <a:rPr lang="uk-UA" b="1" dirty="0"/>
              <a:t>- </a:t>
            </a:r>
            <a:r>
              <a:rPr lang="en-GB" b="1" dirty="0">
                <a:solidFill>
                  <a:srgbClr val="C00000"/>
                </a:solidFill>
              </a:rPr>
              <a:t>DELETE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D4B0B2-6C75-8DBA-B356-004A96B56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532" y="2502232"/>
            <a:ext cx="5637059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Запит-</a:t>
            </a:r>
            <a:r>
              <a:rPr lang="en-GB" sz="2000" b="1" dirty="0"/>
              <a:t>HTTP</a:t>
            </a:r>
            <a:r>
              <a:rPr lang="uk-UA" sz="2000" b="1" dirty="0"/>
              <a:t>, типу</a:t>
            </a:r>
            <a:r>
              <a:rPr lang="en-GB" sz="2000" b="1" dirty="0"/>
              <a:t> DELETE </a:t>
            </a:r>
            <a:endParaRPr lang="uk-UA" sz="2000" b="1" dirty="0"/>
          </a:p>
          <a:p>
            <a:pPr marL="457200" lvl="1" indent="0">
              <a:buNone/>
            </a:pPr>
            <a:r>
              <a:rPr lang="en-GB" dirty="0">
                <a:solidFill>
                  <a:srgbClr val="66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https://localhost:7067/api/projects/6</a:t>
            </a:r>
            <a:endParaRPr lang="en-GB" dirty="0">
              <a:solidFill>
                <a:srgbClr val="6699FF"/>
              </a:solidFill>
            </a:endParaRP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Middleware( Routing )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 err="1"/>
              <a:t>ProjectsController</a:t>
            </a:r>
            <a:r>
              <a:rPr lang="en-GB" sz="2000" b="1" dirty="0"/>
              <a:t>( Delete</a:t>
            </a:r>
            <a:r>
              <a:rPr lang="en-GB" sz="2000" dirty="0"/>
              <a:t> </a:t>
            </a:r>
            <a:r>
              <a:rPr lang="en-GB" sz="2000" b="1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Repository( </a:t>
            </a:r>
            <a:r>
              <a:rPr lang="en-GB" sz="2000" b="1" dirty="0" err="1"/>
              <a:t>GetEntityByIdAsync</a:t>
            </a:r>
            <a:r>
              <a:rPr lang="en-GB" sz="2000" b="1" dirty="0"/>
              <a:t>, Delete, </a:t>
            </a:r>
            <a:r>
              <a:rPr lang="en-GB" sz="2000" b="1" dirty="0" err="1"/>
              <a:t>SaveChangesAsync</a:t>
            </a:r>
            <a:r>
              <a:rPr lang="en-GB" sz="2000" b="1" dirty="0"/>
              <a:t> )</a:t>
            </a:r>
            <a:endParaRPr lang="uk-UA" sz="2000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7541269-666F-1D0E-ECBC-6D3B21C54789}"/>
              </a:ext>
            </a:extLst>
          </p:cNvPr>
          <p:cNvSpPr txBox="1">
            <a:spLocks/>
          </p:cNvSpPr>
          <p:nvPr/>
        </p:nvSpPr>
        <p:spPr>
          <a:xfrm>
            <a:off x="7233644" y="2645768"/>
            <a:ext cx="5118899" cy="45237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7. </a:t>
            </a:r>
            <a:r>
              <a:rPr lang="uk-UA" sz="2000" b="1" dirty="0"/>
              <a:t>Відповідь-</a:t>
            </a:r>
            <a:r>
              <a:rPr lang="en-GB" sz="2000" b="1" dirty="0"/>
              <a:t>HTTP ( </a:t>
            </a:r>
            <a:r>
              <a:rPr lang="en-GB" sz="2000" b="1" dirty="0" err="1"/>
              <a:t>NoContent</a:t>
            </a:r>
            <a:r>
              <a:rPr lang="en-GB" sz="2000" b="1" dirty="0"/>
              <a:t> ) 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6.   </a:t>
            </a:r>
            <a:r>
              <a:rPr lang="en-GB" sz="2000" b="1" dirty="0" err="1"/>
              <a:t>ProjectsController</a:t>
            </a:r>
            <a:r>
              <a:rPr lang="en-GB" sz="2000" b="1" dirty="0"/>
              <a:t>( Delete )</a:t>
            </a:r>
          </a:p>
          <a:p>
            <a:pPr marL="457200" lvl="1" indent="0">
              <a:buNone/>
            </a:pPr>
            <a:r>
              <a:rPr lang="en-GB" dirty="0"/>
              <a:t>	</a:t>
            </a: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5</a:t>
            </a:r>
            <a:r>
              <a:rPr lang="uk-UA" sz="2000" b="1" dirty="0"/>
              <a:t>.</a:t>
            </a:r>
            <a:r>
              <a:rPr lang="en-GB" sz="2000" b="1" dirty="0"/>
              <a:t>   </a:t>
            </a:r>
            <a:r>
              <a:rPr lang="en-GB" sz="2000" b="1" dirty="0" err="1"/>
              <a:t>AppDbContext</a:t>
            </a:r>
            <a:endParaRPr lang="en-GB" sz="2000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9C07D0-C97C-3EEF-565A-65B473C26E14}"/>
              </a:ext>
            </a:extLst>
          </p:cNvPr>
          <p:cNvCxnSpPr>
            <a:cxnSpLocks/>
          </p:cNvCxnSpPr>
          <p:nvPr/>
        </p:nvCxnSpPr>
        <p:spPr>
          <a:xfrm>
            <a:off x="2653320" y="3222952"/>
            <a:ext cx="0" cy="35076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467769-B4FC-E780-0E3C-FA115B3F9DB7}"/>
              </a:ext>
            </a:extLst>
          </p:cNvPr>
          <p:cNvCxnSpPr>
            <a:cxnSpLocks/>
          </p:cNvCxnSpPr>
          <p:nvPr/>
        </p:nvCxnSpPr>
        <p:spPr>
          <a:xfrm>
            <a:off x="2630942" y="3956064"/>
            <a:ext cx="0" cy="511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11D5E3-267F-1E04-91DA-4F2F81B4B731}"/>
              </a:ext>
            </a:extLst>
          </p:cNvPr>
          <p:cNvCxnSpPr>
            <a:cxnSpLocks/>
          </p:cNvCxnSpPr>
          <p:nvPr/>
        </p:nvCxnSpPr>
        <p:spPr>
          <a:xfrm>
            <a:off x="2606636" y="4835857"/>
            <a:ext cx="0" cy="511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79E72E-C6F5-BD15-2E1F-2A8C9494D5C2}"/>
              </a:ext>
            </a:extLst>
          </p:cNvPr>
          <p:cNvCxnSpPr>
            <a:cxnSpLocks/>
          </p:cNvCxnSpPr>
          <p:nvPr/>
        </p:nvCxnSpPr>
        <p:spPr>
          <a:xfrm flipV="1">
            <a:off x="8660477" y="4321360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587F85E-ECB1-5F2D-7859-682217133E6F}"/>
              </a:ext>
            </a:extLst>
          </p:cNvPr>
          <p:cNvCxnSpPr>
            <a:cxnSpLocks/>
          </p:cNvCxnSpPr>
          <p:nvPr/>
        </p:nvCxnSpPr>
        <p:spPr>
          <a:xfrm flipV="1">
            <a:off x="8660477" y="3500371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C71BC5-697D-963A-9F06-A964FB166759}"/>
              </a:ext>
            </a:extLst>
          </p:cNvPr>
          <p:cNvCxnSpPr>
            <a:cxnSpLocks/>
          </p:cNvCxnSpPr>
          <p:nvPr/>
        </p:nvCxnSpPr>
        <p:spPr>
          <a:xfrm flipV="1">
            <a:off x="6155140" y="5245290"/>
            <a:ext cx="1155510" cy="30025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 descr="A red and blue recycle bin with a x mark&#10;&#10;AI-generated content may be incorrect.">
            <a:extLst>
              <a:ext uri="{FF2B5EF4-FFF2-40B4-BE49-F238E27FC236}">
                <a16:creationId xmlns:a16="http://schemas.microsoft.com/office/drawing/2014/main" id="{A7B15876-D9FB-4EF5-019D-BBB9335A5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252" y="-93714"/>
            <a:ext cx="2595946" cy="259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9912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D15C-A6BA-A23C-A9A2-698CED55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 E</a:t>
            </a:r>
            <a:r>
              <a:rPr lang="uk-UA" b="1" dirty="0"/>
              <a:t>ндпоінту </a:t>
            </a:r>
            <a:r>
              <a:rPr lang="pl-PL" b="1" dirty="0" err="1">
                <a:solidFill>
                  <a:srgbClr val="C00000"/>
                </a:solidFill>
              </a:rPr>
              <a:t>Delete</a:t>
            </a:r>
            <a:endParaRPr lang="en-GB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D80EAF-C9CB-60B2-9AD7-91A10BCD2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924" y="2661652"/>
            <a:ext cx="7093831" cy="2839568"/>
          </a:xfrm>
          <a:prstGeom prst="rect">
            <a:avLst/>
          </a:prstGeom>
        </p:spPr>
      </p:pic>
      <p:pic>
        <p:nvPicPr>
          <p:cNvPr id="3" name="Picture 2" descr="A red and blue recycle bin with a x mark&#10;&#10;AI-generated content may be incorrect.">
            <a:extLst>
              <a:ext uri="{FF2B5EF4-FFF2-40B4-BE49-F238E27FC236}">
                <a16:creationId xmlns:a16="http://schemas.microsoft.com/office/drawing/2014/main" id="{8B795247-2108-D39B-8420-4DC25E345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252" y="-93714"/>
            <a:ext cx="2595946" cy="259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097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724CB-818C-BFBF-A39D-30296FB1E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Діаграма класів показує насамперед: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F79E1-F1BF-28B8-D98E-DBCB81848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uk-UA" dirty="0"/>
              <a:t>поведінку об’єктів у часі</a:t>
            </a:r>
          </a:p>
          <a:p>
            <a:pPr marL="457200" indent="-457200">
              <a:buAutoNum type="alphaLcParenR"/>
            </a:pPr>
            <a:endParaRPr lang="uk-UA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uk-UA" dirty="0"/>
              <a:t>статичну структуру класів і зв’язків між ними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розміщення серверів у мережі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послідовність викликів методів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62980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CFF82-6005-257E-4C34-045D375C0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Endpoint — </a:t>
            </a:r>
            <a:r>
              <a:rPr lang="uk-UA" b="1" dirty="0"/>
              <a:t>це: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4D05B-E623-6B63-CA13-6C7A1C4A5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a) IP-</a:t>
            </a:r>
            <a:r>
              <a:rPr lang="uk-UA" dirty="0"/>
              <a:t>адреса провайдера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uk-UA" dirty="0"/>
              <a:t>конкретний </a:t>
            </a:r>
            <a:r>
              <a:rPr lang="en-GB" dirty="0"/>
              <a:t>URL-</a:t>
            </a:r>
            <a:r>
              <a:rPr lang="uk-UA" dirty="0"/>
              <a:t>шлях, куди надсилають запити й отримують відповіді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драйвер мережевої карти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файл конфігурації сервера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67538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C5985-EC1A-46F8-76BA-CFE480CAB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/>
              <a:t>Навіщо застосовують </a:t>
            </a:r>
            <a:r>
              <a:rPr lang="en-GB" b="1" dirty="0"/>
              <a:t>DTO?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BF04D-DD74-ADA5-51FF-5134B77AD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a) </a:t>
            </a:r>
            <a:r>
              <a:rPr lang="uk-UA" dirty="0"/>
              <a:t>щоб напряму підключатися до БД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uk-UA" dirty="0"/>
              <a:t>для передачі тільки потрібних даних і розв’язування шарів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для керування потоками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для кешування </a:t>
            </a:r>
            <a:r>
              <a:rPr lang="en-GB" dirty="0"/>
              <a:t>DNS</a:t>
            </a:r>
          </a:p>
        </p:txBody>
      </p:sp>
    </p:spTree>
    <p:extLst>
      <p:ext uri="{BB962C8B-B14F-4D97-AF65-F5344CB8AC3E}">
        <p14:creationId xmlns:p14="http://schemas.microsoft.com/office/powerpoint/2010/main" val="14253481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9D009-3E1A-814D-D2A8-B2CAE320D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Основна роль </a:t>
            </a:r>
            <a:r>
              <a:rPr lang="en-GB" b="1" dirty="0"/>
              <a:t>ORM: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8A050-35C0-721D-FFE3-87807CC23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a) </a:t>
            </a:r>
            <a:r>
              <a:rPr lang="uk-UA" dirty="0"/>
              <a:t>перетворює </a:t>
            </a:r>
            <a:r>
              <a:rPr lang="en-GB" dirty="0"/>
              <a:t>HTTP </a:t>
            </a:r>
            <a:r>
              <a:rPr lang="uk-UA" dirty="0"/>
              <a:t>у </a:t>
            </a:r>
            <a:r>
              <a:rPr lang="en-GB" dirty="0"/>
              <a:t>WebSocket</a:t>
            </a:r>
            <a:endParaRPr lang="uk-UA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uk-UA" dirty="0"/>
              <a:t>мапить об’єкти на таблиці БД і генерує </a:t>
            </a:r>
            <a:r>
              <a:rPr lang="en-GB" dirty="0"/>
              <a:t>SQL</a:t>
            </a:r>
            <a:endParaRPr lang="uk-UA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замінює сервер додатків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керує </a:t>
            </a:r>
            <a:r>
              <a:rPr lang="en-GB" dirty="0"/>
              <a:t>CI/CD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99176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9E984-E7D1-5F2D-B486-2851D58A9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b="1" dirty="0"/>
              <a:t>Де з .</a:t>
            </a:r>
            <a:r>
              <a:rPr lang="en-GB" b="1" dirty="0"/>
              <a:t>NET 6+ </a:t>
            </a:r>
            <a:r>
              <a:rPr lang="uk-UA" b="1" dirty="0"/>
              <a:t>зазвичай налаштовують </a:t>
            </a:r>
            <a:r>
              <a:rPr lang="en-GB" b="1" dirty="0"/>
              <a:t>middleware?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B0D15-7E47-BB19-C5FB-D8B69E60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a) </a:t>
            </a:r>
            <a:r>
              <a:rPr lang="en-GB" dirty="0" err="1"/>
              <a:t>Startup.cs</a:t>
            </a: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en-GB" dirty="0" err="1"/>
              <a:t>Program.cs</a:t>
            </a:r>
            <a:endParaRPr lang="uk-UA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en-GB" dirty="0" err="1"/>
              <a:t>appsettings.json</a:t>
            </a:r>
            <a:endParaRPr lang="uk-UA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у класі контролера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6522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B0C87-341E-7AA2-5F3B-A20034EEE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1E4B9-7DE0-86DC-27C9-E703C41F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Відповіді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0D1B0-931C-39D9-F93D-238CE6449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1 — </a:t>
            </a:r>
            <a:r>
              <a:rPr lang="pt-BR" b="1" dirty="0"/>
              <a:t>b</a:t>
            </a:r>
            <a:endParaRPr lang="uk-UA" b="1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2 — </a:t>
            </a:r>
            <a:r>
              <a:rPr lang="en-GB" b="1" dirty="0"/>
              <a:t>b</a:t>
            </a:r>
            <a:endParaRPr lang="uk-UA" b="1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3 — </a:t>
            </a:r>
            <a:r>
              <a:rPr lang="pt-BR" b="1" dirty="0"/>
              <a:t>b</a:t>
            </a:r>
            <a:endParaRPr lang="uk-UA" b="1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4 — </a:t>
            </a:r>
            <a:r>
              <a:rPr lang="pt-BR" b="1" dirty="0"/>
              <a:t>b</a:t>
            </a:r>
            <a:r>
              <a:rPr lang="pt-BR" dirty="0"/>
              <a:t> </a:t>
            </a:r>
            <a:endParaRPr lang="uk-UA" dirty="0"/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5 — </a:t>
            </a:r>
            <a:r>
              <a:rPr lang="pt-BR" b="1" dirty="0"/>
              <a:t>b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41267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A7B6-40AE-D890-4F31-962BD5EF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622F2-920C-AFF5-166B-59F4A7EE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Зміст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419C-D718-AEDB-DED8-9CF527519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542688" cy="42186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Backend</a:t>
            </a:r>
          </a:p>
          <a:p>
            <a:pPr lvl="1">
              <a:lnSpc>
                <a:spcPct val="100000"/>
              </a:lnSpc>
            </a:pPr>
            <a:r>
              <a:rPr lang="uk-UA" dirty="0"/>
              <a:t>Цикл життя </a:t>
            </a:r>
            <a:r>
              <a:rPr lang="en-US" dirty="0"/>
              <a:t>req/resp HTTP </a:t>
            </a:r>
            <a:r>
              <a:rPr lang="uk-UA" dirty="0"/>
              <a:t>з статусом 400 та 404</a:t>
            </a:r>
            <a:endParaRPr lang="pl-PL" b="1" dirty="0"/>
          </a:p>
          <a:p>
            <a:pPr lvl="1">
              <a:lnSpc>
                <a:spcPct val="100000"/>
              </a:lnSpc>
            </a:pPr>
            <a:r>
              <a:rPr lang="en-GB" dirty="0"/>
              <a:t>Unit Tests vs Integration Tests</a:t>
            </a:r>
            <a:endParaRPr lang="uk-UA" dirty="0"/>
          </a:p>
          <a:p>
            <a:pPr lvl="1">
              <a:lnSpc>
                <a:spcPct val="100000"/>
              </a:lnSpc>
            </a:pPr>
            <a:r>
              <a:rPr lang="en-US" dirty="0"/>
              <a:t>Pattern: AAA</a:t>
            </a:r>
            <a:endParaRPr lang="en-GB" dirty="0"/>
          </a:p>
          <a:p>
            <a:pPr lvl="1">
              <a:lnSpc>
                <a:spcPct val="100000"/>
              </a:lnSpc>
            </a:pPr>
            <a:r>
              <a:rPr lang="en-GB" dirty="0"/>
              <a:t>Unit Tests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Integration Tests</a:t>
            </a:r>
            <a:endParaRPr lang="en-US" b="1" dirty="0"/>
          </a:p>
          <a:p>
            <a:r>
              <a:rPr lang="en-US" b="1" dirty="0"/>
              <a:t>Database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SQL &amp; NoSQL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INSERT INTO</a:t>
            </a:r>
          </a:p>
        </p:txBody>
      </p:sp>
    </p:spTree>
    <p:extLst>
      <p:ext uri="{BB962C8B-B14F-4D97-AF65-F5344CB8AC3E}">
        <p14:creationId xmlns:p14="http://schemas.microsoft.com/office/powerpoint/2010/main" val="3853449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7815D-C173-7590-B15B-12C033542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Помилка</a:t>
            </a:r>
            <a:r>
              <a:rPr lang="en-GB" b="1" dirty="0"/>
              <a:t> -</a:t>
            </a:r>
            <a:r>
              <a:rPr lang="uk-UA" b="1" dirty="0"/>
              <a:t> </a:t>
            </a:r>
            <a:r>
              <a:rPr lang="uk-UA" b="1" dirty="0">
                <a:solidFill>
                  <a:srgbClr val="C00000"/>
                </a:solidFill>
              </a:rPr>
              <a:t>404 </a:t>
            </a:r>
            <a:r>
              <a:rPr lang="en-GB" b="1" dirty="0">
                <a:solidFill>
                  <a:srgbClr val="C00000"/>
                </a:solidFill>
              </a:rPr>
              <a:t>Not found</a:t>
            </a:r>
            <a:r>
              <a:rPr lang="uk-UA" b="1" dirty="0">
                <a:solidFill>
                  <a:srgbClr val="C00000"/>
                </a:solidFill>
              </a:rPr>
              <a:t> 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19DA44-90A6-F1F0-1E4B-E044B77F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941" y="2115104"/>
            <a:ext cx="5637059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Запит-</a:t>
            </a:r>
            <a:r>
              <a:rPr lang="en-GB" sz="2000" b="1" dirty="0"/>
              <a:t>HTTP</a:t>
            </a:r>
            <a:r>
              <a:rPr lang="uk-UA" sz="2000" b="1" dirty="0"/>
              <a:t>, типу</a:t>
            </a:r>
            <a:r>
              <a:rPr lang="en-GB" sz="2000" b="1" dirty="0"/>
              <a:t> PUT </a:t>
            </a:r>
            <a:endParaRPr lang="uk-UA" sz="2000" b="1" dirty="0"/>
          </a:p>
          <a:p>
            <a:pPr marL="457200" lvl="1" indent="0">
              <a:buNone/>
            </a:pPr>
            <a:r>
              <a:rPr lang="en-GB" u="sng" dirty="0">
                <a:solidFill>
                  <a:srgbClr val="66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https://localhost:7067/api/projects</a:t>
            </a:r>
            <a:r>
              <a:rPr lang="en-US" u="sng" dirty="0">
                <a:solidFill>
                  <a:srgbClr val="66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u="sng" dirty="0">
                <a:solidFill>
                  <a:srgbClr val="6699FF"/>
                </a:solidFill>
              </a:rPr>
              <a:t>simulate-not-found-project</a:t>
            </a:r>
            <a:r>
              <a:rPr lang="en-GB" u="sng" dirty="0">
                <a:solidFill>
                  <a:srgbClr val="6699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/6</a:t>
            </a:r>
            <a:endParaRPr lang="en-GB" u="sng" dirty="0">
              <a:solidFill>
                <a:srgbClr val="6699FF"/>
              </a:solidFill>
            </a:endParaRP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Middleware( Routing )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Десеріалізація </a:t>
            </a:r>
            <a:r>
              <a:rPr lang="en-GB" sz="2000" dirty="0"/>
              <a:t>JSON -&gt; DTO</a:t>
            </a:r>
            <a:endParaRPr lang="en-GB" sz="2000" b="1" dirty="0"/>
          </a:p>
          <a:p>
            <a:pPr marL="514350" indent="-514350">
              <a:buFont typeface="+mj-lt"/>
              <a:buAutoNum type="arabicPeriod"/>
            </a:pPr>
            <a:endParaRPr lang="uk-UA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 err="1"/>
              <a:t>ProjectsController</a:t>
            </a:r>
            <a:r>
              <a:rPr lang="en-GB" sz="2000" b="1" dirty="0"/>
              <a:t>( Update</a:t>
            </a:r>
            <a:r>
              <a:rPr lang="en-GB" sz="2000" dirty="0"/>
              <a:t> </a:t>
            </a:r>
            <a:r>
              <a:rPr lang="en-GB" sz="2000" b="1" dirty="0"/>
              <a:t>)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Repository( </a:t>
            </a:r>
            <a:r>
              <a:rPr lang="en-GB" sz="2000" b="1" dirty="0" err="1"/>
              <a:t>GetEntityByIdAsync</a:t>
            </a:r>
            <a:r>
              <a:rPr lang="en-GB" sz="2000" b="1" dirty="0"/>
              <a:t> )</a:t>
            </a: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494443-3BEC-61D2-6841-6FDB6A517B9F}"/>
              </a:ext>
            </a:extLst>
          </p:cNvPr>
          <p:cNvSpPr txBox="1">
            <a:spLocks/>
          </p:cNvSpPr>
          <p:nvPr/>
        </p:nvSpPr>
        <p:spPr>
          <a:xfrm>
            <a:off x="6776720" y="2928443"/>
            <a:ext cx="5504979" cy="4554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8. </a:t>
            </a:r>
            <a:r>
              <a:rPr lang="uk-UA" sz="2000" b="1" dirty="0"/>
              <a:t>Відповідь-</a:t>
            </a:r>
            <a:r>
              <a:rPr lang="en-GB" sz="2000" b="1" dirty="0"/>
              <a:t>HTTP </a:t>
            </a:r>
            <a:r>
              <a:rPr lang="en-GB" sz="2000" dirty="0"/>
              <a:t>( </a:t>
            </a:r>
            <a:r>
              <a:rPr lang="en-GB" sz="2000" dirty="0" err="1"/>
              <a:t>NotFound</a:t>
            </a:r>
            <a:r>
              <a:rPr lang="en-GB" sz="2000" dirty="0"/>
              <a:t> )</a:t>
            </a:r>
            <a:r>
              <a:rPr lang="en-GB" sz="2000" b="1" dirty="0"/>
              <a:t> </a:t>
            </a:r>
          </a:p>
          <a:p>
            <a:pPr marL="0" indent="0">
              <a:buNone/>
            </a:pPr>
            <a:endParaRPr lang="en-GB" sz="2400" b="1" dirty="0"/>
          </a:p>
          <a:p>
            <a:pPr marL="457200" indent="-457200">
              <a:buAutoNum type="arabicPeriod" startAt="7"/>
            </a:pPr>
            <a:r>
              <a:rPr lang="en-GB" sz="2000" b="1" dirty="0" err="1"/>
              <a:t>ProjectsController</a:t>
            </a:r>
            <a:r>
              <a:rPr lang="en-GB" sz="2000" b="1" dirty="0"/>
              <a:t>( Update )</a:t>
            </a:r>
          </a:p>
          <a:p>
            <a:pPr marL="457200" lvl="1" indent="0">
              <a:buNone/>
            </a:pPr>
            <a:r>
              <a:rPr lang="en-GB" sz="2000" b="1" dirty="0"/>
              <a:t>	</a:t>
            </a:r>
            <a:r>
              <a:rPr lang="en-GB" sz="2000" b="1" dirty="0" err="1"/>
              <a:t>NotFound</a:t>
            </a:r>
            <a:r>
              <a:rPr lang="en-GB" sz="2000" b="1" dirty="0"/>
              <a:t>()</a:t>
            </a:r>
          </a:p>
          <a:p>
            <a:pPr marL="457200" lvl="1" indent="0">
              <a:buNone/>
            </a:pPr>
            <a:r>
              <a:rPr lang="en-GB" dirty="0"/>
              <a:t>	</a:t>
            </a: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6</a:t>
            </a:r>
            <a:r>
              <a:rPr lang="uk-UA" sz="2000" b="1" dirty="0"/>
              <a:t>.</a:t>
            </a:r>
            <a:r>
              <a:rPr lang="en-GB" sz="2000" b="1" dirty="0"/>
              <a:t>   </a:t>
            </a:r>
            <a:r>
              <a:rPr lang="en-GB" sz="2000" b="1" dirty="0" err="1"/>
              <a:t>AppDbContext</a:t>
            </a:r>
            <a:endParaRPr lang="en-GB" sz="20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D250F34-DA75-CED5-7FD5-24FDA1654A97}"/>
              </a:ext>
            </a:extLst>
          </p:cNvPr>
          <p:cNvCxnSpPr>
            <a:cxnSpLocks/>
          </p:cNvCxnSpPr>
          <p:nvPr/>
        </p:nvCxnSpPr>
        <p:spPr>
          <a:xfrm>
            <a:off x="2647774" y="3089623"/>
            <a:ext cx="8102" cy="32376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D78A46-7994-14CE-917F-DDD832099D98}"/>
              </a:ext>
            </a:extLst>
          </p:cNvPr>
          <p:cNvCxnSpPr>
            <a:cxnSpLocks/>
          </p:cNvCxnSpPr>
          <p:nvPr/>
        </p:nvCxnSpPr>
        <p:spPr>
          <a:xfrm>
            <a:off x="2652854" y="3817433"/>
            <a:ext cx="0" cy="511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F6E12F-FF2C-939B-2C7D-ED6D4DE9A294}"/>
              </a:ext>
            </a:extLst>
          </p:cNvPr>
          <p:cNvCxnSpPr>
            <a:cxnSpLocks/>
          </p:cNvCxnSpPr>
          <p:nvPr/>
        </p:nvCxnSpPr>
        <p:spPr>
          <a:xfrm>
            <a:off x="2647774" y="4653441"/>
            <a:ext cx="0" cy="511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011101-7661-9734-3D2B-31280BA82C80}"/>
              </a:ext>
            </a:extLst>
          </p:cNvPr>
          <p:cNvCxnSpPr>
            <a:cxnSpLocks/>
          </p:cNvCxnSpPr>
          <p:nvPr/>
        </p:nvCxnSpPr>
        <p:spPr>
          <a:xfrm>
            <a:off x="2634592" y="5528282"/>
            <a:ext cx="0" cy="51172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747AD8-3562-58D2-E2E8-DAF4FBC73452}"/>
              </a:ext>
            </a:extLst>
          </p:cNvPr>
          <p:cNvCxnSpPr>
            <a:cxnSpLocks/>
          </p:cNvCxnSpPr>
          <p:nvPr/>
        </p:nvCxnSpPr>
        <p:spPr>
          <a:xfrm flipV="1">
            <a:off x="5142701" y="5754806"/>
            <a:ext cx="1794911" cy="48537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6164D8-2453-0A94-7F6D-DFCE54E48495}"/>
              </a:ext>
            </a:extLst>
          </p:cNvPr>
          <p:cNvCxnSpPr>
            <a:cxnSpLocks/>
          </p:cNvCxnSpPr>
          <p:nvPr/>
        </p:nvCxnSpPr>
        <p:spPr>
          <a:xfrm flipV="1">
            <a:off x="8216548" y="4960458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69D811-95DD-B586-E649-5BB6A4EA0F0F}"/>
              </a:ext>
            </a:extLst>
          </p:cNvPr>
          <p:cNvCxnSpPr>
            <a:cxnSpLocks/>
          </p:cNvCxnSpPr>
          <p:nvPr/>
        </p:nvCxnSpPr>
        <p:spPr>
          <a:xfrm flipV="1">
            <a:off x="8195134" y="3832184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6751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511AE-346F-06B9-67A3-4BC811D0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 </a:t>
            </a:r>
            <a:r>
              <a:rPr lang="uk-UA" b="1" dirty="0"/>
              <a:t>Помилка</a:t>
            </a:r>
            <a:r>
              <a:rPr lang="en-GB" b="1" dirty="0"/>
              <a:t> -</a:t>
            </a:r>
            <a:r>
              <a:rPr lang="uk-UA" b="1" dirty="0"/>
              <a:t> </a:t>
            </a:r>
            <a:r>
              <a:rPr lang="uk-UA" b="1" dirty="0">
                <a:solidFill>
                  <a:srgbClr val="C00000"/>
                </a:solidFill>
              </a:rPr>
              <a:t>404 </a:t>
            </a:r>
            <a:r>
              <a:rPr lang="en-GB" b="1" dirty="0">
                <a:solidFill>
                  <a:srgbClr val="C00000"/>
                </a:solidFill>
              </a:rPr>
              <a:t>Not found</a:t>
            </a:r>
            <a:r>
              <a:rPr lang="uk-UA" b="1" dirty="0">
                <a:solidFill>
                  <a:srgbClr val="C00000"/>
                </a:solidFill>
              </a:rPr>
              <a:t> </a:t>
            </a:r>
            <a:endParaRPr lang="en-GB" b="1" dirty="0">
              <a:solidFill>
                <a:srgbClr val="C00000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6DD0720-09D4-FE37-4134-D036017C9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038" y="3104732"/>
            <a:ext cx="9613900" cy="2062999"/>
          </a:xfrm>
        </p:spPr>
      </p:pic>
    </p:spTree>
    <p:extLst>
      <p:ext uri="{BB962C8B-B14F-4D97-AF65-F5344CB8AC3E}">
        <p14:creationId xmlns:p14="http://schemas.microsoft.com/office/powerpoint/2010/main" val="40722567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EAB4-C417-BEDA-C025-1D2F602C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Помилка</a:t>
            </a:r>
            <a:r>
              <a:rPr lang="en-GB" b="1" dirty="0"/>
              <a:t> – </a:t>
            </a:r>
            <a:r>
              <a:rPr lang="en-GB" b="1" dirty="0">
                <a:solidFill>
                  <a:srgbClr val="C00000"/>
                </a:solidFill>
              </a:rPr>
              <a:t>400 Bad request</a:t>
            </a:r>
            <a:endParaRPr lang="en-GB" dirty="0">
              <a:solidFill>
                <a:srgbClr val="C0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0D41AC-745C-FCC7-33BE-275107FAF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17" y="2080895"/>
            <a:ext cx="5637059" cy="466725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Запит-</a:t>
            </a:r>
            <a:r>
              <a:rPr lang="en-GB" sz="2000" b="1" dirty="0"/>
              <a:t>HTTP</a:t>
            </a:r>
            <a:r>
              <a:rPr lang="uk-UA" sz="2000" b="1" dirty="0"/>
              <a:t>, типу</a:t>
            </a:r>
            <a:r>
              <a:rPr lang="en-GB" sz="2000" b="1" dirty="0"/>
              <a:t> POST </a:t>
            </a:r>
            <a:endParaRPr lang="uk-UA" sz="2000" b="1" dirty="0"/>
          </a:p>
          <a:p>
            <a:pPr marL="457200" lvl="1" indent="0">
              <a:buNone/>
            </a:pPr>
            <a:r>
              <a:rPr lang="en-GB" u="sng" dirty="0">
                <a:solidFill>
                  <a:srgbClr val="6699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https://localhost:7067/api/projects</a:t>
            </a:r>
            <a:r>
              <a:rPr lang="en-GB" u="sng" dirty="0">
                <a:solidFill>
                  <a:srgbClr val="6699FF"/>
                </a:solidFill>
              </a:rPr>
              <a:t>/</a:t>
            </a:r>
            <a:r>
              <a:rPr lang="en-US" u="sng" dirty="0">
                <a:solidFill>
                  <a:srgbClr val="6699FF"/>
                </a:solidFill>
              </a:rPr>
              <a:t>simulate-bad-request-create-project</a:t>
            </a:r>
            <a:endParaRPr lang="en-GB" u="sng" dirty="0">
              <a:solidFill>
                <a:srgbClr val="6699FF"/>
              </a:solidFill>
            </a:endParaRPr>
          </a:p>
          <a:p>
            <a:pPr marL="457200" lvl="1" indent="0">
              <a:buNone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Middleware( Routing )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uk-UA" sz="2000" b="1" dirty="0"/>
              <a:t>Десеріалізація </a:t>
            </a:r>
            <a:r>
              <a:rPr lang="en-GB" sz="2000" dirty="0"/>
              <a:t>JSON -&gt; DTO</a:t>
            </a:r>
            <a:endParaRPr lang="en-GB" sz="2000" b="1" dirty="0"/>
          </a:p>
          <a:p>
            <a:pPr marL="514350" indent="-514350">
              <a:buFont typeface="+mj-lt"/>
              <a:buAutoNum type="arabicPeriod"/>
            </a:pPr>
            <a:endParaRPr lang="uk-UA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 err="1"/>
              <a:t>ProjectsController</a:t>
            </a:r>
            <a:r>
              <a:rPr lang="en-GB" sz="2000" b="1" dirty="0"/>
              <a:t>( Create</a:t>
            </a:r>
            <a:r>
              <a:rPr lang="en-GB" sz="2000" dirty="0"/>
              <a:t> </a:t>
            </a:r>
            <a:r>
              <a:rPr lang="en-GB" sz="2000" b="1" dirty="0"/>
              <a:t>)</a:t>
            </a:r>
          </a:p>
          <a:p>
            <a:pPr marL="457200" lvl="1" indent="0">
              <a:buNone/>
            </a:pPr>
            <a:r>
              <a:rPr lang="pl-PL" sz="2000" b="1" dirty="0"/>
              <a:t>	</a:t>
            </a:r>
            <a:r>
              <a:rPr lang="uk-UA" sz="2000" dirty="0"/>
              <a:t>Мапить</a:t>
            </a:r>
            <a:r>
              <a:rPr lang="uk-UA" sz="2000" b="1" dirty="0"/>
              <a:t> </a:t>
            </a:r>
            <a:r>
              <a:rPr lang="en-GB" sz="2000" dirty="0"/>
              <a:t>DTO -&gt; Entity</a:t>
            </a:r>
            <a:r>
              <a:rPr lang="en-GB" sz="2000" b="1" dirty="0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GB" sz="2400" b="1" dirty="0"/>
          </a:p>
          <a:p>
            <a:pPr marL="514350" indent="-514350">
              <a:buFont typeface="+mj-lt"/>
              <a:buAutoNum type="arabicPeriod"/>
            </a:pPr>
            <a:r>
              <a:rPr lang="en-GB" sz="2000" b="1" dirty="0"/>
              <a:t>Repository(</a:t>
            </a:r>
            <a:r>
              <a:rPr lang="en-GB" sz="2000" b="1" dirty="0" err="1"/>
              <a:t>AddAsync</a:t>
            </a:r>
            <a:r>
              <a:rPr lang="en-GB" sz="2000" b="1" dirty="0"/>
              <a:t>)</a:t>
            </a:r>
            <a:endParaRPr lang="en-GB" sz="2000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uk-UA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8C3CB40-86FF-68EE-7872-BF3B5005D227}"/>
              </a:ext>
            </a:extLst>
          </p:cNvPr>
          <p:cNvSpPr txBox="1">
            <a:spLocks/>
          </p:cNvSpPr>
          <p:nvPr/>
        </p:nvSpPr>
        <p:spPr>
          <a:xfrm>
            <a:off x="6605741" y="2752083"/>
            <a:ext cx="5637059" cy="4667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/>
              <a:t>9. </a:t>
            </a:r>
            <a:r>
              <a:rPr lang="uk-UA" sz="2000" b="1" dirty="0"/>
              <a:t>Відповідь-</a:t>
            </a:r>
            <a:r>
              <a:rPr lang="en-GB" sz="2000" b="1" dirty="0"/>
              <a:t>HTTP </a:t>
            </a:r>
            <a:r>
              <a:rPr lang="en-GB" sz="2000" dirty="0"/>
              <a:t>( </a:t>
            </a:r>
            <a:r>
              <a:rPr lang="en-GB" sz="2000" b="1" dirty="0" err="1"/>
              <a:t>BadRequest</a:t>
            </a:r>
            <a:r>
              <a:rPr lang="en-GB" sz="2000" dirty="0"/>
              <a:t> )</a:t>
            </a:r>
            <a:r>
              <a:rPr lang="en-GB" sz="2000" b="1" dirty="0"/>
              <a:t> 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8.   </a:t>
            </a:r>
            <a:r>
              <a:rPr lang="en-GB" sz="2000" b="1" dirty="0" err="1"/>
              <a:t>ProjectsController</a:t>
            </a:r>
            <a:r>
              <a:rPr lang="en-GB" sz="2000" b="1" dirty="0"/>
              <a:t>( Create )</a:t>
            </a:r>
          </a:p>
          <a:p>
            <a:pPr marL="457200" lvl="1" indent="0">
              <a:buNone/>
            </a:pPr>
            <a:r>
              <a:rPr lang="en-GB" sz="2000" dirty="0"/>
              <a:t>	</a:t>
            </a:r>
            <a:r>
              <a:rPr lang="en-GB" sz="2000" dirty="0" err="1"/>
              <a:t>BadRequest</a:t>
            </a:r>
            <a:r>
              <a:rPr lang="en-GB" sz="2000" dirty="0"/>
              <a:t>()</a:t>
            </a:r>
          </a:p>
          <a:p>
            <a:pPr marL="457200" lvl="1" indent="0">
              <a:buNone/>
            </a:pPr>
            <a:r>
              <a:rPr lang="en-GB" sz="2000" b="1" dirty="0"/>
              <a:t>	</a:t>
            </a: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7.   Repository( </a:t>
            </a:r>
            <a:r>
              <a:rPr lang="en-GB" sz="2000" b="1" dirty="0" err="1"/>
              <a:t>SaveChangesAsync</a:t>
            </a:r>
            <a:r>
              <a:rPr lang="en-GB" sz="2000" b="1" dirty="0"/>
              <a:t> )</a:t>
            </a:r>
          </a:p>
          <a:p>
            <a:pPr marL="457200" lvl="1" indent="0">
              <a:buNone/>
            </a:pPr>
            <a:r>
              <a:rPr lang="en-GB" dirty="0"/>
              <a:t>	</a:t>
            </a:r>
            <a:endParaRPr lang="en-GB" sz="2400" b="1" dirty="0"/>
          </a:p>
          <a:p>
            <a:pPr marL="0" indent="0">
              <a:buNone/>
            </a:pPr>
            <a:r>
              <a:rPr lang="en-GB" sz="2000" b="1" dirty="0"/>
              <a:t>6</a:t>
            </a:r>
            <a:r>
              <a:rPr lang="uk-UA" sz="2000" b="1" dirty="0"/>
              <a:t>.</a:t>
            </a:r>
            <a:r>
              <a:rPr lang="en-GB" sz="2000" b="1" dirty="0"/>
              <a:t>   </a:t>
            </a:r>
            <a:r>
              <a:rPr lang="en-GB" sz="2000" b="1" dirty="0" err="1"/>
              <a:t>AppDbContext</a:t>
            </a:r>
            <a:endParaRPr lang="en-GB" sz="2000" b="1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B8A1A70-2FE5-77DC-C00F-28FF5C692E54}"/>
              </a:ext>
            </a:extLst>
          </p:cNvPr>
          <p:cNvCxnSpPr>
            <a:cxnSpLocks/>
          </p:cNvCxnSpPr>
          <p:nvPr/>
        </p:nvCxnSpPr>
        <p:spPr>
          <a:xfrm>
            <a:off x="2635556" y="3062510"/>
            <a:ext cx="0" cy="42028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76CFA4-E6AE-4088-02A5-4E4D8DA8637B}"/>
              </a:ext>
            </a:extLst>
          </p:cNvPr>
          <p:cNvCxnSpPr>
            <a:cxnSpLocks/>
          </p:cNvCxnSpPr>
          <p:nvPr/>
        </p:nvCxnSpPr>
        <p:spPr>
          <a:xfrm>
            <a:off x="2614814" y="3861405"/>
            <a:ext cx="0" cy="4572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2367204-7B38-D70C-E3AC-0B5BB0551567}"/>
              </a:ext>
            </a:extLst>
          </p:cNvPr>
          <p:cNvCxnSpPr>
            <a:cxnSpLocks/>
          </p:cNvCxnSpPr>
          <p:nvPr/>
        </p:nvCxnSpPr>
        <p:spPr>
          <a:xfrm>
            <a:off x="2607719" y="4655659"/>
            <a:ext cx="0" cy="4572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EACD8C-063A-A798-0C23-39C4D4684CD4}"/>
              </a:ext>
            </a:extLst>
          </p:cNvPr>
          <p:cNvCxnSpPr>
            <a:cxnSpLocks/>
          </p:cNvCxnSpPr>
          <p:nvPr/>
        </p:nvCxnSpPr>
        <p:spPr>
          <a:xfrm>
            <a:off x="2607719" y="5842000"/>
            <a:ext cx="0" cy="45720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ABA6EE-FA3D-8F95-86CB-FBEA745980E2}"/>
              </a:ext>
            </a:extLst>
          </p:cNvPr>
          <p:cNvCxnSpPr>
            <a:cxnSpLocks/>
          </p:cNvCxnSpPr>
          <p:nvPr/>
        </p:nvCxnSpPr>
        <p:spPr>
          <a:xfrm flipV="1">
            <a:off x="3973167" y="5914030"/>
            <a:ext cx="2564111" cy="66457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5092B9-471E-FEB4-5F21-CD2DE092DB68}"/>
              </a:ext>
            </a:extLst>
          </p:cNvPr>
          <p:cNvCxnSpPr>
            <a:cxnSpLocks/>
          </p:cNvCxnSpPr>
          <p:nvPr/>
        </p:nvCxnSpPr>
        <p:spPr>
          <a:xfrm flipV="1">
            <a:off x="8261954" y="5053718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3FF26F-78E6-194B-524F-982C091E9422}"/>
              </a:ext>
            </a:extLst>
          </p:cNvPr>
          <p:cNvCxnSpPr>
            <a:cxnSpLocks/>
          </p:cNvCxnSpPr>
          <p:nvPr/>
        </p:nvCxnSpPr>
        <p:spPr>
          <a:xfrm flipV="1">
            <a:off x="8249216" y="4314783"/>
            <a:ext cx="7268" cy="37549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0C28CF-B34F-FF91-92CC-DDEB71F4D3FD}"/>
              </a:ext>
            </a:extLst>
          </p:cNvPr>
          <p:cNvCxnSpPr>
            <a:cxnSpLocks/>
          </p:cNvCxnSpPr>
          <p:nvPr/>
        </p:nvCxnSpPr>
        <p:spPr>
          <a:xfrm flipV="1">
            <a:off x="8249216" y="3140439"/>
            <a:ext cx="0" cy="44974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1975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9F843-CAA0-1F5A-ACAB-4E500858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 </a:t>
            </a:r>
            <a:r>
              <a:rPr lang="uk-UA" b="1" dirty="0"/>
              <a:t>Помилка</a:t>
            </a:r>
            <a:r>
              <a:rPr lang="en-GB" b="1" dirty="0"/>
              <a:t> – </a:t>
            </a:r>
            <a:r>
              <a:rPr lang="en-GB" b="1" dirty="0">
                <a:solidFill>
                  <a:srgbClr val="C00000"/>
                </a:solidFill>
              </a:rPr>
              <a:t>400 Bad request</a:t>
            </a:r>
            <a:endParaRPr lang="en-GB" dirty="0">
              <a:solidFill>
                <a:srgbClr val="C00000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5FC3B5-CF4D-6749-CFA6-0368E7D3A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9050" y="3251384"/>
            <a:ext cx="9613900" cy="2135454"/>
          </a:xfrm>
        </p:spPr>
      </p:pic>
    </p:spTree>
    <p:extLst>
      <p:ext uri="{BB962C8B-B14F-4D97-AF65-F5344CB8AC3E}">
        <p14:creationId xmlns:p14="http://schemas.microsoft.com/office/powerpoint/2010/main" val="15240967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BC15-830A-050E-7860-ACD3E79B0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Unit Tests vs Integration Tests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13CC29B-F066-ADC2-5908-27BDE44ECE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6998468"/>
              </p:ext>
            </p:extLst>
          </p:nvPr>
        </p:nvGraphicFramePr>
        <p:xfrm>
          <a:off x="1025801" y="2273705"/>
          <a:ext cx="10333686" cy="4376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562">
                  <a:extLst>
                    <a:ext uri="{9D8B030D-6E8A-4147-A177-3AD203B41FA5}">
                      <a16:colId xmlns:a16="http://schemas.microsoft.com/office/drawing/2014/main" val="1928214409"/>
                    </a:ext>
                  </a:extLst>
                </a:gridCol>
                <a:gridCol w="3444562">
                  <a:extLst>
                    <a:ext uri="{9D8B030D-6E8A-4147-A177-3AD203B41FA5}">
                      <a16:colId xmlns:a16="http://schemas.microsoft.com/office/drawing/2014/main" val="102563888"/>
                    </a:ext>
                  </a:extLst>
                </a:gridCol>
                <a:gridCol w="3444562">
                  <a:extLst>
                    <a:ext uri="{9D8B030D-6E8A-4147-A177-3AD203B41FA5}">
                      <a16:colId xmlns:a16="http://schemas.microsoft.com/office/drawing/2014/main" val="1171852089"/>
                    </a:ext>
                  </a:extLst>
                </a:gridCol>
              </a:tblGrid>
              <a:tr h="1380514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GB" sz="2800" dirty="0"/>
                        <a:t>Unit test</a:t>
                      </a:r>
                    </a:p>
                  </a:txBody>
                  <a:tcPr>
                    <a:solidFill>
                      <a:srgbClr val="9966FF"/>
                    </a:solidFill>
                  </a:tcPr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200000"/>
                        </a:lnSpc>
                      </a:pPr>
                      <a:r>
                        <a:rPr lang="en-GB" sz="2800" dirty="0"/>
                        <a:t>Integration test</a:t>
                      </a:r>
                    </a:p>
                  </a:txBody>
                  <a:tcPr>
                    <a:solidFill>
                      <a:srgbClr val="99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682624"/>
                  </a:ext>
                </a:extLst>
              </a:tr>
              <a:tr h="151991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uk-UA" sz="2400" b="1" dirty="0"/>
                        <a:t>Визначення</a:t>
                      </a:r>
                      <a:endParaRPr lang="en-GB" sz="2400" b="1" dirty="0"/>
                    </a:p>
                  </a:txBody>
                  <a:tcP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П</a:t>
                      </a:r>
                      <a:r>
                        <a:rPr lang="ru-RU" sz="2000" dirty="0"/>
                        <a:t>еревіряють окремі функції, методи або класи в ізоляції, без залежностей від інших частин системи.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/>
                        <a:t>Перевіряють взаємодію між різними компонентами системи, щоб упевнитися, що вони коректно працюють разом.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799501"/>
                  </a:ext>
                </a:extLst>
              </a:tr>
              <a:tr h="138051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uk-UA" sz="2400" b="1" dirty="0"/>
                        <a:t>Бібліотеки</a:t>
                      </a:r>
                      <a:endParaRPr lang="en-GB" sz="2400" b="1" dirty="0"/>
                    </a:p>
                  </a:txBody>
                  <a:tcPr>
                    <a:solidFill>
                      <a:srgbClr val="FF7C80"/>
                    </a:solidFill>
                  </a:tcPr>
                </a:tc>
                <a:tc>
                  <a:txBody>
                    <a:bodyPr/>
                    <a:lstStyle/>
                    <a:p>
                      <a:pPr marL="914400" lvl="2" indent="0" algn="l">
                        <a:lnSpc>
                          <a:spcPct val="2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GB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xUnit</a:t>
                      </a:r>
                      <a:endParaRPr lang="uk-UA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0" lvl="2" indent="0" algn="l">
                        <a:lnSpc>
                          <a:spcPct val="2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GB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MSTest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14400" lvl="2" indent="0" algn="l">
                        <a:lnSpc>
                          <a:spcPct val="2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GB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xUnit</a:t>
                      </a:r>
                      <a:endParaRPr lang="uk-UA" sz="2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0" lvl="2" indent="0" algn="l">
                        <a:lnSpc>
                          <a:spcPct val="2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GB" sz="2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MSTest</a:t>
                      </a:r>
                      <a:endParaRPr lang="en-GB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386641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F4D794D-2999-DBFF-255A-B6B1D2563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82" t="9803" r="19238"/>
          <a:stretch>
            <a:fillRect/>
          </a:stretch>
        </p:blipFill>
        <p:spPr>
          <a:xfrm>
            <a:off x="10578425" y="1156498"/>
            <a:ext cx="933254" cy="9527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01D775-4996-3A90-F810-D838B15448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8515" r="7242" b="14973"/>
          <a:stretch>
            <a:fillRect/>
          </a:stretch>
        </p:blipFill>
        <p:spPr>
          <a:xfrm>
            <a:off x="9173531" y="434155"/>
            <a:ext cx="2338148" cy="5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4121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5F54-5024-C0EB-2798-676ACEF9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uk-UA" b="1" dirty="0"/>
            </a:br>
            <a:r>
              <a:rPr lang="en-GB" b="1" dirty="0"/>
              <a:t>Testing and the Arrange, Act and Assert (AAA) Pattern</a:t>
            </a:r>
            <a:br>
              <a:rPr lang="en-GB" b="1" dirty="0"/>
            </a:br>
            <a:r>
              <a:rPr lang="uk-UA" b="1" dirty="0"/>
              <a:t> 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70EDD-CAF3-B586-BEA2-9936052CA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0" y="2518850"/>
            <a:ext cx="4233421" cy="36120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uk-UA" sz="2000" b="1" dirty="0"/>
              <a:t>Патерн тестування </a:t>
            </a:r>
            <a:r>
              <a:rPr lang="en-GB" sz="2000" b="1" dirty="0"/>
              <a:t>AAA</a:t>
            </a:r>
            <a:r>
              <a:rPr lang="en-GB" sz="2000" dirty="0"/>
              <a:t> — </a:t>
            </a:r>
            <a:r>
              <a:rPr lang="uk-UA" sz="2000" dirty="0"/>
              <a:t>це підхід, що передбачає поділ тестового методу на три частини: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uk-UA" sz="2000" dirty="0"/>
          </a:p>
          <a:p>
            <a:pPr>
              <a:lnSpc>
                <a:spcPct val="100000"/>
              </a:lnSpc>
            </a:pPr>
            <a:r>
              <a:rPr lang="en-GB" sz="2000" b="1" dirty="0"/>
              <a:t>Arrange</a:t>
            </a:r>
            <a:r>
              <a:rPr lang="en-GB" sz="2000" dirty="0"/>
              <a:t> (</a:t>
            </a:r>
            <a:r>
              <a:rPr lang="uk-UA" sz="2000" dirty="0"/>
              <a:t>підготовка), </a:t>
            </a:r>
          </a:p>
          <a:p>
            <a:pPr>
              <a:lnSpc>
                <a:spcPct val="100000"/>
              </a:lnSpc>
            </a:pPr>
            <a:r>
              <a:rPr lang="en-GB" sz="2000" b="1" dirty="0"/>
              <a:t>Act</a:t>
            </a:r>
            <a:r>
              <a:rPr lang="en-GB" sz="2000" dirty="0"/>
              <a:t> (</a:t>
            </a:r>
            <a:r>
              <a:rPr lang="uk-UA" sz="2000" dirty="0"/>
              <a:t>виконання дії)</a:t>
            </a:r>
            <a:r>
              <a:rPr lang="en-GB" sz="2000" dirty="0"/>
              <a:t>,</a:t>
            </a:r>
          </a:p>
          <a:p>
            <a:pPr>
              <a:lnSpc>
                <a:spcPct val="100000"/>
              </a:lnSpc>
            </a:pPr>
            <a:r>
              <a:rPr lang="en-GB" sz="2000" b="1" dirty="0"/>
              <a:t>Assert</a:t>
            </a:r>
            <a:r>
              <a:rPr lang="en-GB" sz="2000" dirty="0"/>
              <a:t> (</a:t>
            </a:r>
            <a:r>
              <a:rPr lang="uk-UA" sz="2000" dirty="0"/>
              <a:t>перевірка результату)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BBC24-BE58-5FB3-8799-125C9DD6F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94" y="2518850"/>
            <a:ext cx="5780506" cy="3473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372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B7CB6-5ADF-11EE-48AD-FEAF83842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Arrange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5D3F3-2F24-88F0-3BEF-0763F3F5177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8117" y="2571703"/>
            <a:ext cx="358822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dirty="0"/>
              <a:t>Arrange</a:t>
            </a:r>
            <a:r>
              <a:rPr lang="en-GB" sz="2000" dirty="0"/>
              <a:t> – </a:t>
            </a:r>
            <a:r>
              <a:rPr lang="uk-UA" sz="2000" dirty="0"/>
              <a:t>цей етап готує все необхідне для виконання тесту, щоб переконатися, що він дає точні результати. Це включає ініціалізацію об’єктів, налаштування залежностей і середовища, необхідного для тестового сценарію.</a:t>
            </a:r>
            <a:endParaRPr lang="ru-RU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FE21EA-A6A1-3C55-4605-2B52A737A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364" y="2909708"/>
            <a:ext cx="6212180" cy="144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654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24E85-4527-5108-23DD-F8FA91AA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CD9D9-43C0-6083-9025-223C8F17A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354" y="2162270"/>
            <a:ext cx="11086708" cy="4351338"/>
          </a:xfrm>
        </p:spPr>
        <p:txBody>
          <a:bodyPr>
            <a:normAutofit/>
          </a:bodyPr>
          <a:lstStyle/>
          <a:p>
            <a:r>
              <a:rPr lang="en-GB" sz="2000" b="1" dirty="0"/>
              <a:t>Act</a:t>
            </a:r>
            <a:r>
              <a:rPr lang="en-GB" sz="2000" dirty="0"/>
              <a:t> – </a:t>
            </a:r>
            <a:r>
              <a:rPr lang="uk-UA" sz="2000" dirty="0"/>
              <a:t>це етап, на якому ви виконуєте конкретну функціональність, яку хочете протестувати. Він передбачає взаємодію з </a:t>
            </a:r>
            <a:r>
              <a:rPr lang="en-GB" sz="2000" dirty="0"/>
              <a:t>SUT (</a:t>
            </a:r>
            <a:r>
              <a:rPr lang="en-GB" sz="2000" b="1" dirty="0"/>
              <a:t>System Under Test</a:t>
            </a:r>
            <a:r>
              <a:rPr lang="en-GB" sz="2000" dirty="0"/>
              <a:t> — </a:t>
            </a:r>
            <a:r>
              <a:rPr lang="uk-UA" sz="2000" dirty="0"/>
              <a:t>система, що тестується) шляхом виклику методу або виконання функції, яку ви підготували на попередньому етапі.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385B1-3BAA-14C2-42AA-93C383DB77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22" b="-7787"/>
          <a:stretch>
            <a:fillRect/>
          </a:stretch>
        </p:blipFill>
        <p:spPr>
          <a:xfrm>
            <a:off x="1334909" y="4097668"/>
            <a:ext cx="9522182" cy="56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057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37F94-EFC7-03F8-B286-CF7EF165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Assert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E155A-2247-1CD4-0DC4-506AD0059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572" y="2291381"/>
            <a:ext cx="9613861" cy="35993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000" b="1" dirty="0"/>
              <a:t>Assert</a:t>
            </a:r>
            <a:r>
              <a:rPr lang="en-GB" sz="2000" dirty="0"/>
              <a:t> – </a:t>
            </a:r>
            <a:r>
              <a:rPr lang="uk-UA" sz="2000" dirty="0"/>
              <a:t>на цьому етапі виконується перевірка того, чи відповідає результат модульного тестування вашим очікуванням. Він передбачає перевірку результатів, отриманих на етапі </a:t>
            </a:r>
            <a:r>
              <a:rPr lang="en-GB" sz="2000" i="1" dirty="0"/>
              <a:t>Act</a:t>
            </a:r>
            <a:r>
              <a:rPr lang="en-GB" sz="2000" dirty="0"/>
              <a:t>, </a:t>
            </a:r>
            <a:r>
              <a:rPr lang="uk-UA" sz="2000" dirty="0"/>
              <a:t>на відповідність очікуваним значенням, щоб підтвердити, що </a:t>
            </a:r>
            <a:r>
              <a:rPr lang="en-GB" sz="2000" dirty="0"/>
              <a:t>SUT (System Under Test) </a:t>
            </a:r>
            <a:r>
              <a:rPr lang="uk-UA" sz="2000" dirty="0"/>
              <a:t>працює належним чином.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D3F662-79E7-06F8-D71B-F7EA1AAED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292" y="3824950"/>
            <a:ext cx="6855416" cy="18275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95B22A-FFE9-7ABD-0599-1120A3DE25D2}"/>
              </a:ext>
            </a:extLst>
          </p:cNvPr>
          <p:cNvSpPr txBox="1"/>
          <p:nvPr/>
        </p:nvSpPr>
        <p:spPr>
          <a:xfrm>
            <a:off x="741179" y="5846544"/>
            <a:ext cx="1106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1800" dirty="0"/>
              <a:t>Список методів </a:t>
            </a:r>
            <a:r>
              <a:rPr lang="en-GB" dirty="0"/>
              <a:t>Assert - </a:t>
            </a:r>
            <a:r>
              <a:rPr lang="en-GB" dirty="0">
                <a:hlinkClick r:id="rId3"/>
              </a:rPr>
              <a:t>https://learn.microsoft.com/en-us/dotnet/api/microsoft.visualstudio.testtools.unittesting.assert?view=mstest-net-3.9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20252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D553-8585-7C24-BEA6-9336CD7B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</a:t>
            </a:r>
            <a:r>
              <a:rPr lang="uk-UA" b="1" dirty="0"/>
              <a:t> </a:t>
            </a:r>
            <a:r>
              <a:rPr lang="en-GB" b="1" dirty="0"/>
              <a:t>Unit test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E60D5E-715E-297A-383C-69DA88B93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816" y="2189008"/>
            <a:ext cx="9656929" cy="444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6462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B127-F13F-BA45-4F85-B928A493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 I</a:t>
            </a:r>
            <a:r>
              <a:rPr lang="en-GB" b="1" dirty="0" err="1"/>
              <a:t>ntegration</a:t>
            </a:r>
            <a:r>
              <a:rPr lang="en-GB" b="1" dirty="0"/>
              <a:t> test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40D28A-FD17-1F16-5F97-C6DD19132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72" y="2259033"/>
            <a:ext cx="10179319" cy="4134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37718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B47C9-DF72-1081-306C-31D0B85A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24663-B656-5704-6BD3-341F31596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Code: I</a:t>
            </a:r>
            <a:r>
              <a:rPr lang="en-GB" b="1" dirty="0" err="1"/>
              <a:t>ntegration</a:t>
            </a:r>
            <a:r>
              <a:rPr lang="en-GB" b="1" dirty="0"/>
              <a:t> test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6B499-0D34-460D-2057-229895BF9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582" y="2231144"/>
            <a:ext cx="8737600" cy="4323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07667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AB43F-B17D-F511-010E-E4EE9E70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31ED269-6744-5F65-6D92-8A4B1FF5DF7A}"/>
              </a:ext>
            </a:extLst>
          </p:cNvPr>
          <p:cNvSpPr txBox="1">
            <a:spLocks/>
          </p:cNvSpPr>
          <p:nvPr/>
        </p:nvSpPr>
        <p:spPr>
          <a:xfrm>
            <a:off x="1524000" y="160313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5400" b="1" dirty="0"/>
              <a:t>Database</a:t>
            </a:r>
          </a:p>
        </p:txBody>
      </p:sp>
    </p:spTree>
    <p:extLst>
      <p:ext uri="{BB962C8B-B14F-4D97-AF65-F5344CB8AC3E}">
        <p14:creationId xmlns:p14="http://schemas.microsoft.com/office/powerpoint/2010/main" val="155243828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DABA6-D4A9-828F-26C3-3756E3236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SQL &amp; NoSQL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41150-50A5-6948-F935-F8EBD6ED1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183655"/>
            <a:ext cx="462306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/>
              <a:t>SQL </a:t>
            </a:r>
            <a:r>
              <a:rPr lang="uk-UA" sz="2000" dirty="0"/>
              <a:t>та</a:t>
            </a:r>
            <a:r>
              <a:rPr lang="uk-UA" sz="2000" b="1" dirty="0"/>
              <a:t> </a:t>
            </a:r>
            <a:r>
              <a:rPr lang="en-GB" sz="2000" b="1" dirty="0"/>
              <a:t>NoSQL </a:t>
            </a:r>
            <a:r>
              <a:rPr lang="en-GB" sz="2000" dirty="0"/>
              <a:t>– </a:t>
            </a:r>
            <a:r>
              <a:rPr lang="uk-UA" sz="2000" dirty="0"/>
              <a:t>це дві різні технології баз даних</a:t>
            </a:r>
            <a:r>
              <a:rPr lang="en-GB" sz="2000" dirty="0"/>
              <a:t>.</a:t>
            </a:r>
          </a:p>
          <a:p>
            <a:pPr marL="0" indent="0">
              <a:buNone/>
            </a:pPr>
            <a:endParaRPr lang="en-GB" sz="2000" dirty="0"/>
          </a:p>
          <a:p>
            <a:r>
              <a:rPr lang="uk-UA" sz="2000" b="1" dirty="0"/>
              <a:t>Бази даних </a:t>
            </a:r>
            <a:r>
              <a:rPr lang="en-GB" sz="2000" b="1" dirty="0"/>
              <a:t>SQL </a:t>
            </a:r>
            <a:r>
              <a:rPr lang="uk-UA" sz="2000" dirty="0"/>
              <a:t>наголошують на </a:t>
            </a:r>
            <a:r>
              <a:rPr lang="uk-UA" sz="2000" b="1" dirty="0"/>
              <a:t>структурованих реляційних моделях</a:t>
            </a:r>
            <a:r>
              <a:rPr lang="uk-UA" sz="2000" dirty="0"/>
              <a:t>.</a:t>
            </a:r>
            <a:endParaRPr lang="en-US" sz="2000" dirty="0"/>
          </a:p>
          <a:p>
            <a:endParaRPr lang="uk-UA" sz="2000" dirty="0"/>
          </a:p>
          <a:p>
            <a:r>
              <a:rPr lang="uk-UA" sz="2000" b="1" dirty="0"/>
              <a:t>Бази даних </a:t>
            </a:r>
            <a:r>
              <a:rPr lang="en-GB" sz="2000" b="1" dirty="0"/>
              <a:t>NoSQL</a:t>
            </a:r>
            <a:r>
              <a:rPr lang="en-GB" sz="2000" dirty="0"/>
              <a:t> </a:t>
            </a:r>
            <a:r>
              <a:rPr lang="uk-UA" sz="2000" dirty="0"/>
              <a:t>використовують </a:t>
            </a:r>
            <a:r>
              <a:rPr lang="uk-UA" sz="2000" b="1" dirty="0"/>
              <a:t>гнучкий</a:t>
            </a:r>
            <a:r>
              <a:rPr lang="uk-UA" sz="2000" dirty="0"/>
              <a:t>, </a:t>
            </a:r>
            <a:r>
              <a:rPr lang="uk-UA" sz="2000" b="1" dirty="0"/>
              <a:t>безсхемний</a:t>
            </a:r>
            <a:r>
              <a:rPr lang="uk-UA" sz="2000" dirty="0"/>
              <a:t> </a:t>
            </a:r>
            <a:r>
              <a:rPr lang="uk-UA" sz="2000" b="1" dirty="0"/>
              <a:t>підхід</a:t>
            </a:r>
            <a:r>
              <a:rPr lang="uk-UA" sz="2000" dirty="0"/>
              <a:t> для обробки різноманітних та динамічних даних, </a:t>
            </a:r>
            <a:r>
              <a:rPr lang="ru-RU" sz="2000" dirty="0"/>
              <a:t>роблячи акцент на </a:t>
            </a:r>
            <a:r>
              <a:rPr lang="ru-RU" sz="2000" b="1" dirty="0"/>
              <a:t>масштабованості та швидкості</a:t>
            </a:r>
            <a:r>
              <a:rPr lang="ru-RU" sz="2000" dirty="0"/>
              <a:t>.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A9E0C-0BF1-1D70-5CC0-07AF785FB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6854" y="2615834"/>
            <a:ext cx="6055183" cy="33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96195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64C6-A584-E485-F28F-27200C0B3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Характеристики баз даних </a:t>
            </a:r>
            <a:r>
              <a:rPr lang="en-GB" b="1" dirty="0"/>
              <a:t>SQL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E20EE-B08C-FFDC-65E4-33ABC6466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30" y="2335141"/>
            <a:ext cx="6448720" cy="4351338"/>
          </a:xfrm>
        </p:spPr>
        <p:txBody>
          <a:bodyPr>
            <a:normAutofit/>
          </a:bodyPr>
          <a:lstStyle/>
          <a:p>
            <a:r>
              <a:rPr lang="ru-RU" sz="2000" b="1" dirty="0"/>
              <a:t>Схема:</a:t>
            </a:r>
            <a:r>
              <a:rPr lang="ru-RU" sz="2000" dirty="0"/>
              <a:t> описує структуру бази даних — таблиці, поля, типи даних, допустимі значення та зв’язки між таблицями</a:t>
            </a:r>
          </a:p>
          <a:p>
            <a:endParaRPr lang="uk-UA" dirty="0"/>
          </a:p>
          <a:p>
            <a:r>
              <a:rPr lang="uk-UA" sz="2000" b="1" dirty="0"/>
              <a:t>Таблиці:</a:t>
            </a:r>
            <a:r>
              <a:rPr lang="uk-UA" sz="2000" dirty="0"/>
              <a:t> основні елементи бази, які представляють сутності (наприклад, клієнтів або транзакції). Рядки містять окремі записи, а стовпці — атрибути (наприклад, ім’я, </a:t>
            </a:r>
            <a:r>
              <a:rPr lang="en-GB" sz="2000" dirty="0"/>
              <a:t>email).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7F311-40AD-F4C4-3145-EC0389664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495" y="4738273"/>
            <a:ext cx="4185159" cy="15032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621FEA-DA54-BEE2-E318-8EB1E80CD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329" y="2119727"/>
            <a:ext cx="2519489" cy="232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6888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071C9-FC38-7353-FA32-816CB8351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Розбір вигляду таблиці в </a:t>
            </a:r>
            <a:r>
              <a:rPr lang="en-GB" b="1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D2D9F-29B8-7903-5C1D-B5A75D91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11" y="2226636"/>
            <a:ext cx="5068501" cy="4351338"/>
          </a:xfrm>
        </p:spPr>
        <p:txBody>
          <a:bodyPr>
            <a:normAutofit/>
          </a:bodyPr>
          <a:lstStyle/>
          <a:p>
            <a:pPr marL="342900" indent="-342900"/>
            <a:r>
              <a:rPr lang="ru-RU" sz="2000" b="1" dirty="0"/>
              <a:t>Традиційна база даних</a:t>
            </a:r>
            <a:r>
              <a:rPr lang="en-GB" sz="2000" b="1" dirty="0"/>
              <a:t> - </a:t>
            </a:r>
            <a:r>
              <a:rPr lang="uk-UA" sz="2000" dirty="0"/>
              <a:t>організована у вигляді </a:t>
            </a:r>
            <a:r>
              <a:rPr lang="uk-UA" sz="2000" b="1" dirty="0"/>
              <a:t>таблиць</a:t>
            </a:r>
            <a:r>
              <a:rPr lang="en-GB" sz="2000" b="1" dirty="0"/>
              <a:t>, </a:t>
            </a:r>
            <a:r>
              <a:rPr lang="uk-UA" sz="2000" dirty="0"/>
              <a:t>де:</a:t>
            </a:r>
            <a:endParaRPr lang="en-US" sz="2000" dirty="0"/>
          </a:p>
          <a:p>
            <a:pPr marL="342900" indent="-342900"/>
            <a:endParaRPr lang="uk-UA" sz="2000" dirty="0"/>
          </a:p>
          <a:p>
            <a:pPr marL="800100" lvl="1" indent="-342900"/>
            <a:r>
              <a:rPr lang="uk-UA" sz="2000" dirty="0"/>
              <a:t>В середині </a:t>
            </a:r>
            <a:r>
              <a:rPr lang="uk-UA" sz="2000" b="1" dirty="0"/>
              <a:t>таблиці</a:t>
            </a:r>
            <a:r>
              <a:rPr lang="uk-UA" sz="2000" dirty="0"/>
              <a:t> знаходяться </a:t>
            </a:r>
            <a:r>
              <a:rPr lang="uk-UA" sz="2000" b="1" dirty="0"/>
              <a:t>рядки</a:t>
            </a:r>
            <a:r>
              <a:rPr lang="uk-UA" sz="2000" dirty="0"/>
              <a:t> та </a:t>
            </a:r>
            <a:r>
              <a:rPr lang="uk-UA" sz="2000" b="1" dirty="0"/>
              <a:t>стовпці</a:t>
            </a:r>
            <a:r>
              <a:rPr lang="uk-UA" sz="2000" dirty="0"/>
              <a:t> </a:t>
            </a:r>
            <a:endParaRPr lang="en-US" sz="2000" dirty="0"/>
          </a:p>
          <a:p>
            <a:pPr marL="800100" lvl="1" indent="-342900"/>
            <a:endParaRPr lang="uk-UA" sz="2000" dirty="0"/>
          </a:p>
          <a:p>
            <a:pPr marL="800100" lvl="1" indent="-342900"/>
            <a:r>
              <a:rPr lang="ru-RU" sz="2000" b="1" dirty="0"/>
              <a:t>Рядки</a:t>
            </a:r>
            <a:r>
              <a:rPr lang="ru-RU" sz="2000" dirty="0"/>
              <a:t> — це </a:t>
            </a:r>
            <a:r>
              <a:rPr lang="ru-RU" sz="2000" b="1" dirty="0"/>
              <a:t>записи </a:t>
            </a:r>
            <a:r>
              <a:rPr lang="uk-UA" sz="2000" dirty="0"/>
              <a:t>або</a:t>
            </a:r>
            <a:r>
              <a:rPr lang="uk-UA" sz="2000" b="1" dirty="0"/>
              <a:t> кортеж</a:t>
            </a:r>
            <a:r>
              <a:rPr lang="ru-RU" sz="2000" dirty="0"/>
              <a:t> (наприклад, один проєкт),</a:t>
            </a:r>
            <a:endParaRPr lang="en-US" sz="2000" dirty="0"/>
          </a:p>
          <a:p>
            <a:pPr marL="800100" lvl="1" indent="-342900"/>
            <a:endParaRPr lang="ru-RU" sz="2000" dirty="0"/>
          </a:p>
          <a:p>
            <a:pPr marL="800100" lvl="1" indent="-342900"/>
            <a:r>
              <a:rPr lang="ru-RU" sz="2000" b="1" dirty="0"/>
              <a:t>Стовпці</a:t>
            </a:r>
            <a:r>
              <a:rPr lang="ru-RU" sz="2000" dirty="0"/>
              <a:t> — це </a:t>
            </a:r>
            <a:r>
              <a:rPr lang="ru-RU" sz="2000" b="1" dirty="0"/>
              <a:t>поля </a:t>
            </a:r>
            <a:r>
              <a:rPr lang="ru-RU" sz="2000" dirty="0"/>
              <a:t>або</a:t>
            </a:r>
            <a:r>
              <a:rPr lang="ru-RU" sz="2000" b="1" dirty="0"/>
              <a:t> атрибут</a:t>
            </a:r>
            <a:r>
              <a:rPr lang="uk-UA" sz="2000" b="1" dirty="0"/>
              <a:t> </a:t>
            </a:r>
            <a:r>
              <a:rPr lang="ru-RU" sz="2000" dirty="0"/>
              <a:t>(наприклад, назва або статус проєкту).</a:t>
            </a:r>
          </a:p>
          <a:p>
            <a:pPr marL="0" indent="0">
              <a:buNone/>
            </a:pPr>
            <a:endParaRPr lang="en-GB" sz="24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1FD172-87A4-927E-CB70-1873916C4D4F}"/>
              </a:ext>
            </a:extLst>
          </p:cNvPr>
          <p:cNvCxnSpPr>
            <a:cxnSpLocks/>
          </p:cNvCxnSpPr>
          <p:nvPr/>
        </p:nvCxnSpPr>
        <p:spPr>
          <a:xfrm>
            <a:off x="6846627" y="3061648"/>
            <a:ext cx="403167" cy="519535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385A567-5EF8-538B-5F3F-EB49FCA49258}"/>
              </a:ext>
            </a:extLst>
          </p:cNvPr>
          <p:cNvSpPr txBox="1"/>
          <p:nvPr/>
        </p:nvSpPr>
        <p:spPr>
          <a:xfrm>
            <a:off x="5705570" y="2661538"/>
            <a:ext cx="134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309070"/>
                </a:solidFill>
              </a:rPr>
              <a:t>Таблиц</a:t>
            </a:r>
            <a:r>
              <a:rPr lang="uk-UA" b="1" dirty="0">
                <a:solidFill>
                  <a:srgbClr val="309070"/>
                </a:solidFill>
              </a:rPr>
              <a:t>я</a:t>
            </a:r>
            <a:endParaRPr lang="en-GB" sz="2000" b="1" dirty="0">
              <a:solidFill>
                <a:srgbClr val="30907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C91FEE-8C4B-EBBF-9B63-E0A33F148918}"/>
              </a:ext>
            </a:extLst>
          </p:cNvPr>
          <p:cNvSpPr txBox="1"/>
          <p:nvPr/>
        </p:nvSpPr>
        <p:spPr>
          <a:xfrm>
            <a:off x="5541913" y="4735992"/>
            <a:ext cx="11875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FCC66"/>
                </a:solidFill>
              </a:rPr>
              <a:t>Запис, Рядок, Кортеж</a:t>
            </a:r>
            <a:endParaRPr lang="en-GB" dirty="0">
              <a:solidFill>
                <a:srgbClr val="FFCC6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608283-684D-D467-7785-14F1AB7A43D2}"/>
              </a:ext>
            </a:extLst>
          </p:cNvPr>
          <p:cNvSpPr txBox="1"/>
          <p:nvPr/>
        </p:nvSpPr>
        <p:spPr>
          <a:xfrm>
            <a:off x="5590871" y="3738298"/>
            <a:ext cx="13187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6699FF"/>
                </a:solidFill>
              </a:rPr>
              <a:t>Поле</a:t>
            </a:r>
            <a:r>
              <a:rPr lang="en-GB" b="1" dirty="0">
                <a:solidFill>
                  <a:srgbClr val="6699FF"/>
                </a:solidFill>
              </a:rPr>
              <a:t>, </a:t>
            </a:r>
            <a:r>
              <a:rPr lang="ru-RU" b="1" dirty="0">
                <a:solidFill>
                  <a:srgbClr val="6699FF"/>
                </a:solidFill>
              </a:rPr>
              <a:t>Стовпець</a:t>
            </a:r>
            <a:r>
              <a:rPr lang="uk-UA" b="1" dirty="0">
                <a:solidFill>
                  <a:srgbClr val="6699FF"/>
                </a:solidFill>
              </a:rPr>
              <a:t>, Атрибут</a:t>
            </a:r>
            <a:endParaRPr lang="en-GB" b="1" dirty="0">
              <a:solidFill>
                <a:srgbClr val="6699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32E0C-90BC-17C8-D761-AA6B8AF34D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071"/>
          <a:stretch>
            <a:fillRect/>
          </a:stretch>
        </p:blipFill>
        <p:spPr>
          <a:xfrm>
            <a:off x="7333810" y="3650669"/>
            <a:ext cx="4622753" cy="2408937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E9D17091-8134-92BF-3078-E78F0D374B13}"/>
              </a:ext>
            </a:extLst>
          </p:cNvPr>
          <p:cNvSpPr/>
          <p:nvPr/>
        </p:nvSpPr>
        <p:spPr>
          <a:xfrm>
            <a:off x="7333811" y="3650669"/>
            <a:ext cx="4622754" cy="2408937"/>
          </a:xfrm>
          <a:prstGeom prst="frame">
            <a:avLst>
              <a:gd name="adj1" fmla="val 1435"/>
            </a:avLst>
          </a:prstGeom>
          <a:solidFill>
            <a:srgbClr val="309070"/>
          </a:solidFill>
          <a:ln>
            <a:solidFill>
              <a:srgbClr val="3090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EBBE620D-9B82-2925-3F5C-B66D43AFD2BD}"/>
              </a:ext>
            </a:extLst>
          </p:cNvPr>
          <p:cNvSpPr/>
          <p:nvPr/>
        </p:nvSpPr>
        <p:spPr>
          <a:xfrm>
            <a:off x="8108909" y="4276299"/>
            <a:ext cx="903163" cy="1745447"/>
          </a:xfrm>
          <a:prstGeom prst="frame">
            <a:avLst>
              <a:gd name="adj1" fmla="val 4863"/>
            </a:avLst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89B24D45-4D5F-0C7E-BEC4-2F9ED71C9334}"/>
              </a:ext>
            </a:extLst>
          </p:cNvPr>
          <p:cNvSpPr/>
          <p:nvPr/>
        </p:nvSpPr>
        <p:spPr>
          <a:xfrm>
            <a:off x="7651576" y="4699380"/>
            <a:ext cx="4304987" cy="292590"/>
          </a:xfrm>
          <a:prstGeom prst="frame">
            <a:avLst>
              <a:gd name="adj1" fmla="val 4863"/>
            </a:avLst>
          </a:prstGeom>
          <a:solidFill>
            <a:srgbClr val="FFCC66"/>
          </a:solidFill>
          <a:ln>
            <a:solidFill>
              <a:srgbClr val="FFCC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11AF99-D57D-B392-931A-30CD5AE700FA}"/>
              </a:ext>
            </a:extLst>
          </p:cNvPr>
          <p:cNvCxnSpPr>
            <a:cxnSpLocks/>
          </p:cNvCxnSpPr>
          <p:nvPr/>
        </p:nvCxnSpPr>
        <p:spPr>
          <a:xfrm>
            <a:off x="6450842" y="4900327"/>
            <a:ext cx="1053688" cy="0"/>
          </a:xfrm>
          <a:prstGeom prst="straightConnector1">
            <a:avLst/>
          </a:prstGeom>
          <a:ln w="38100">
            <a:solidFill>
              <a:srgbClr val="FFCC66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8EF4B7-4E84-3615-2612-E823689A7F7F}"/>
              </a:ext>
            </a:extLst>
          </p:cNvPr>
          <p:cNvCxnSpPr>
            <a:cxnSpLocks/>
          </p:cNvCxnSpPr>
          <p:nvPr/>
        </p:nvCxnSpPr>
        <p:spPr>
          <a:xfrm>
            <a:off x="6782469" y="4380495"/>
            <a:ext cx="1216389" cy="0"/>
          </a:xfrm>
          <a:prstGeom prst="straightConnector1">
            <a:avLst/>
          </a:prstGeom>
          <a:ln w="38100">
            <a:solidFill>
              <a:srgbClr val="6699FF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4178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3C834-EE49-2C49-1170-E3AA5F75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Поширені системи баз даних SQL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8645B-7A12-A44B-3C3C-7F81794B8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PostgreSQL</a:t>
            </a:r>
          </a:p>
          <a:p>
            <a:r>
              <a:rPr lang="en-GB" b="1" dirty="0"/>
              <a:t>Microsoft SQL Server  (MSSQL)</a:t>
            </a:r>
          </a:p>
          <a:p>
            <a:r>
              <a:rPr lang="en-GB" b="1" dirty="0"/>
              <a:t>MySQL</a:t>
            </a:r>
          </a:p>
          <a:p>
            <a:r>
              <a:rPr lang="en-GB" b="1" dirty="0"/>
              <a:t>Oracle</a:t>
            </a:r>
          </a:p>
          <a:p>
            <a:r>
              <a:rPr lang="en-GB" b="1" dirty="0"/>
              <a:t>SQLite</a:t>
            </a:r>
          </a:p>
        </p:txBody>
      </p:sp>
      <p:pic>
        <p:nvPicPr>
          <p:cNvPr id="12" name="Picture 11" descr="A blue elephant head on a black background&#10;&#10;AI-generated content may be incorrect.">
            <a:extLst>
              <a:ext uri="{FF2B5EF4-FFF2-40B4-BE49-F238E27FC236}">
                <a16:creationId xmlns:a16="http://schemas.microsoft.com/office/drawing/2014/main" id="{673EBAE6-93D0-8D10-DFBA-102BF8F0A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2" t="37479" r="24858" b="39482"/>
          <a:stretch>
            <a:fillRect/>
          </a:stretch>
        </p:blipFill>
        <p:spPr>
          <a:xfrm>
            <a:off x="8409388" y="2779997"/>
            <a:ext cx="3425589" cy="1580059"/>
          </a:xfrm>
          <a:prstGeom prst="rect">
            <a:avLst/>
          </a:prstGeom>
        </p:spPr>
      </p:pic>
      <p:pic>
        <p:nvPicPr>
          <p:cNvPr id="14" name="Picture 13" descr="A logo of a dolphin&#10;&#10;AI-generated content may be incorrect.">
            <a:extLst>
              <a:ext uri="{FF2B5EF4-FFF2-40B4-BE49-F238E27FC236}">
                <a16:creationId xmlns:a16="http://schemas.microsoft.com/office/drawing/2014/main" id="{49BCEF1D-505D-D7FC-9A6C-A2F51671E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77" t="31912" r="22759" b="31756"/>
          <a:stretch>
            <a:fillRect/>
          </a:stretch>
        </p:blipFill>
        <p:spPr>
          <a:xfrm>
            <a:off x="5487251" y="2808055"/>
            <a:ext cx="2339050" cy="1523944"/>
          </a:xfrm>
          <a:prstGeom prst="rect">
            <a:avLst/>
          </a:prstGeom>
        </p:spPr>
      </p:pic>
      <p:pic>
        <p:nvPicPr>
          <p:cNvPr id="16" name="Picture 15" descr="A blue square with a feather in it&#10;&#10;AI-generated content may be incorrect.">
            <a:extLst>
              <a:ext uri="{FF2B5EF4-FFF2-40B4-BE49-F238E27FC236}">
                <a16:creationId xmlns:a16="http://schemas.microsoft.com/office/drawing/2014/main" id="{A04DFDD5-B300-313A-C803-1A2CE9726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5" t="36591" r="23131" b="36940"/>
          <a:stretch>
            <a:fillRect/>
          </a:stretch>
        </p:blipFill>
        <p:spPr>
          <a:xfrm>
            <a:off x="7265525" y="4694447"/>
            <a:ext cx="3830471" cy="18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3563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93E36-1648-E5CB-F908-2D4FF7AE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Характеристики баз даних </a:t>
            </a:r>
            <a:r>
              <a:rPr lang="en-GB" b="1" dirty="0"/>
              <a:t>NoSQL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BDBFA9-0509-795F-256D-10A758F52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761" t="7649" r="19455" b="6679"/>
          <a:stretch>
            <a:fillRect/>
          </a:stretch>
        </p:blipFill>
        <p:spPr>
          <a:xfrm>
            <a:off x="7394215" y="2302496"/>
            <a:ext cx="3157979" cy="225300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B07A16-F1BD-8A0F-8F1C-ECF34E57F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656" y="4839780"/>
            <a:ext cx="4077211" cy="1816028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4541E86-A5CA-B9E3-D879-91A68AECE858}"/>
              </a:ext>
            </a:extLst>
          </p:cNvPr>
          <p:cNvSpPr txBox="1">
            <a:spLocks/>
          </p:cNvSpPr>
          <p:nvPr/>
        </p:nvSpPr>
        <p:spPr>
          <a:xfrm>
            <a:off x="463407" y="2304470"/>
            <a:ext cx="53687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uk-UA" sz="2000" b="1" dirty="0">
                <a:latin typeface="Trebuchet MS (Body)"/>
              </a:rPr>
              <a:t>Динамічна схема:</a:t>
            </a:r>
            <a:r>
              <a:rPr lang="uk-UA" sz="2000" b="1" dirty="0">
                <a:solidFill>
                  <a:srgbClr val="05192D"/>
                </a:solidFill>
                <a:latin typeface="Trebuchet MS (Body)"/>
              </a:rPr>
              <a:t> </a:t>
            </a:r>
            <a:r>
              <a:rPr lang="uk-UA" sz="2000" dirty="0">
                <a:latin typeface="Trebuchet MS (Body)"/>
              </a:rPr>
              <a:t>На відміну від попередньо визначених, фіксованих схем реляційних баз даних, нереляційні бази даних забезпечують гнучкість. Різні записи в одній базі даних можуть мати різні поля. Наприклад, у базі даних клієнтів один клієнт може мати поле імені та віку, а інший – поле імені та електронної пошти.</a:t>
            </a:r>
            <a:endParaRPr lang="en-GB" sz="2000" b="1" dirty="0">
              <a:latin typeface="Trebuchet MS (Body)"/>
            </a:endParaRPr>
          </a:p>
        </p:txBody>
      </p:sp>
    </p:spTree>
    <p:extLst>
      <p:ext uri="{BB962C8B-B14F-4D97-AF65-F5344CB8AC3E}">
        <p14:creationId xmlns:p14="http://schemas.microsoft.com/office/powerpoint/2010/main" val="23030559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C75C-C35C-DF20-7546-FA57E19F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Поширені системи баз даних </a:t>
            </a:r>
            <a:r>
              <a:rPr lang="en-GB" b="1" dirty="0"/>
              <a:t>No</a:t>
            </a:r>
            <a:r>
              <a:rPr lang="ru-RU" b="1" dirty="0"/>
              <a:t>SQL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86E18-3AA8-5CBC-C1EB-4B88A037B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 err="1"/>
              <a:t>MongoDb</a:t>
            </a:r>
            <a:endParaRPr lang="en-GB" b="1" dirty="0"/>
          </a:p>
          <a:p>
            <a:r>
              <a:rPr lang="en-GB" b="1" dirty="0"/>
              <a:t>Neo4J</a:t>
            </a:r>
          </a:p>
          <a:p>
            <a:r>
              <a:rPr lang="en-GB" b="1" dirty="0"/>
              <a:t>Cassandra</a:t>
            </a:r>
            <a:r>
              <a:rPr lang="en-GB" dirty="0"/>
              <a:t> </a:t>
            </a:r>
          </a:p>
          <a:p>
            <a:r>
              <a:rPr lang="en-GB" b="1" dirty="0"/>
              <a:t>Redis</a:t>
            </a:r>
            <a:r>
              <a:rPr lang="en-GB" dirty="0"/>
              <a:t> </a:t>
            </a:r>
            <a:endParaRPr lang="en-GB" b="1" dirty="0"/>
          </a:p>
        </p:txBody>
      </p:sp>
      <p:pic>
        <p:nvPicPr>
          <p:cNvPr id="6" name="Picture 5" descr="A black background with green text&#10;&#10;AI-generated content may be incorrect.">
            <a:extLst>
              <a:ext uri="{FF2B5EF4-FFF2-40B4-BE49-F238E27FC236}">
                <a16:creationId xmlns:a16="http://schemas.microsoft.com/office/drawing/2014/main" id="{5EF0F545-BAD7-66C0-38E1-3C0ADD417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5" t="40531" r="21277" b="41559"/>
          <a:stretch>
            <a:fillRect/>
          </a:stretch>
        </p:blipFill>
        <p:spPr>
          <a:xfrm>
            <a:off x="6714698" y="2151796"/>
            <a:ext cx="3862317" cy="1228300"/>
          </a:xfrm>
          <a:prstGeom prst="rect">
            <a:avLst/>
          </a:prstGeom>
        </p:spPr>
      </p:pic>
      <p:pic>
        <p:nvPicPr>
          <p:cNvPr id="10" name="Picture 9" descr="A black background with blue dots and a black text&#10;&#10;AI-generated content may be incorrect.">
            <a:extLst>
              <a:ext uri="{FF2B5EF4-FFF2-40B4-BE49-F238E27FC236}">
                <a16:creationId xmlns:a16="http://schemas.microsoft.com/office/drawing/2014/main" id="{B141B340-1F37-20A9-1597-6CA195441D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1" t="42123" r="27181" b="39304"/>
          <a:stretch>
            <a:fillRect/>
          </a:stretch>
        </p:blipFill>
        <p:spPr>
          <a:xfrm>
            <a:off x="4995081" y="3499635"/>
            <a:ext cx="3366447" cy="1273791"/>
          </a:xfrm>
          <a:prstGeom prst="rect">
            <a:avLst/>
          </a:prstGeom>
        </p:spPr>
      </p:pic>
      <p:pic>
        <p:nvPicPr>
          <p:cNvPr id="13" name="Picture 12" descr="A blue eye with a white and black logo&#10;&#10;AI-generated content may be incorrect.">
            <a:extLst>
              <a:ext uri="{FF2B5EF4-FFF2-40B4-BE49-F238E27FC236}">
                <a16:creationId xmlns:a16="http://schemas.microsoft.com/office/drawing/2014/main" id="{27FD792B-F178-15FA-F3D8-16ABE6BF20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33" t="36750" r="26982" b="34527"/>
          <a:stretch>
            <a:fillRect/>
          </a:stretch>
        </p:blipFill>
        <p:spPr>
          <a:xfrm>
            <a:off x="8411570" y="4289945"/>
            <a:ext cx="2947917" cy="196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29971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7EB6-F037-46EC-E91D-3275FC8F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Релаційний систем керування базами даних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9EF0B-77DB-B569-C2F2-FE8F3E429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642" y="2412479"/>
            <a:ext cx="7259426" cy="4351338"/>
          </a:xfrm>
        </p:spPr>
        <p:txBody>
          <a:bodyPr>
            <a:normAutofit/>
          </a:bodyPr>
          <a:lstStyle/>
          <a:p>
            <a:r>
              <a:rPr lang="uk-UA" sz="2000" b="1" dirty="0"/>
              <a:t>Релаційний систем керування базами даних </a:t>
            </a:r>
            <a:r>
              <a:rPr lang="uk-UA" sz="2000" dirty="0"/>
              <a:t>– </a:t>
            </a:r>
            <a:r>
              <a:rPr lang="en-GB" sz="2000" dirty="0"/>
              <a:t>relational database management system (RDBMS)</a:t>
            </a:r>
            <a:r>
              <a:rPr lang="uk-UA" sz="2000" dirty="0"/>
              <a:t> </a:t>
            </a:r>
            <a:r>
              <a:rPr lang="ru-RU" sz="2000" dirty="0"/>
              <a:t>це набір програм, які дозволяють зберігати, редагувати, впорядковувати та шукати дані у реляційних базах.</a:t>
            </a:r>
            <a:r>
              <a:rPr lang="en-GB" sz="2000" dirty="0"/>
              <a:t> </a:t>
            </a:r>
            <a:endParaRPr lang="uk-UA" sz="2000" dirty="0"/>
          </a:p>
          <a:p>
            <a:pPr marL="0" indent="0">
              <a:buNone/>
            </a:pPr>
            <a:endParaRPr lang="en-GB" sz="2000" dirty="0"/>
          </a:p>
          <a:p>
            <a:r>
              <a:rPr lang="uk-UA" sz="2000" dirty="0"/>
              <a:t>Наприклад: </a:t>
            </a:r>
            <a:endParaRPr lang="en-GB" sz="2000" dirty="0"/>
          </a:p>
          <a:p>
            <a:pPr lvl="1"/>
            <a:r>
              <a:rPr lang="en-GB" dirty="0"/>
              <a:t>PostgreSQL, </a:t>
            </a:r>
          </a:p>
          <a:p>
            <a:pPr lvl="1"/>
            <a:r>
              <a:rPr lang="en-GB" dirty="0"/>
              <a:t>Microsoft SQL Server</a:t>
            </a:r>
            <a:endParaRPr lang="uk-UA" dirty="0"/>
          </a:p>
          <a:p>
            <a:endParaRPr lang="en-GB" sz="2000" dirty="0"/>
          </a:p>
        </p:txBody>
      </p:sp>
      <p:pic>
        <p:nvPicPr>
          <p:cNvPr id="4" name="Picture 3" descr="A blue elephant head on a black background&#10;&#10;AI-generated content may be incorrect.">
            <a:extLst>
              <a:ext uri="{FF2B5EF4-FFF2-40B4-BE49-F238E27FC236}">
                <a16:creationId xmlns:a16="http://schemas.microsoft.com/office/drawing/2014/main" id="{9DFF5645-8971-DA4E-E2F6-C69319045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92" t="37479" r="24858" b="39482"/>
          <a:stretch>
            <a:fillRect/>
          </a:stretch>
        </p:blipFill>
        <p:spPr>
          <a:xfrm>
            <a:off x="5738975" y="3921604"/>
            <a:ext cx="3425589" cy="1580059"/>
          </a:xfrm>
          <a:prstGeom prst="rect">
            <a:avLst/>
          </a:prstGeom>
        </p:spPr>
      </p:pic>
      <p:pic>
        <p:nvPicPr>
          <p:cNvPr id="6" name="Picture 5" descr="A logo of a dolphin&#10;&#10;AI-generated content may be incorrect.">
            <a:extLst>
              <a:ext uri="{FF2B5EF4-FFF2-40B4-BE49-F238E27FC236}">
                <a16:creationId xmlns:a16="http://schemas.microsoft.com/office/drawing/2014/main" id="{C0498A51-A51A-EFF5-BDE2-2584C9E4BE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77" t="31912" r="22759" b="31756"/>
          <a:stretch>
            <a:fillRect/>
          </a:stretch>
        </p:blipFill>
        <p:spPr>
          <a:xfrm>
            <a:off x="8753615" y="4655052"/>
            <a:ext cx="2339050" cy="1523944"/>
          </a:xfrm>
          <a:prstGeom prst="rect">
            <a:avLst/>
          </a:prstGeom>
        </p:spPr>
      </p:pic>
      <p:pic>
        <p:nvPicPr>
          <p:cNvPr id="8" name="Picture 7" descr="A blue square with a feather in it&#10;&#10;AI-generated content may be incorrect.">
            <a:extLst>
              <a:ext uri="{FF2B5EF4-FFF2-40B4-BE49-F238E27FC236}">
                <a16:creationId xmlns:a16="http://schemas.microsoft.com/office/drawing/2014/main" id="{38A7FE12-C9D3-5E18-C4BD-E2C063DFB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15" t="36591" r="23131" b="36940"/>
          <a:stretch>
            <a:fillRect/>
          </a:stretch>
        </p:blipFill>
        <p:spPr>
          <a:xfrm>
            <a:off x="7794090" y="2318112"/>
            <a:ext cx="3830471" cy="181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3666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0F37-80C5-AC12-FA43-B339EF34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Сервер бази даних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5325D-D3AD-8398-E391-9C174DC16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597" y="2506662"/>
            <a:ext cx="5883111" cy="4351338"/>
          </a:xfrm>
        </p:spPr>
        <p:txBody>
          <a:bodyPr>
            <a:normAutofit/>
          </a:bodyPr>
          <a:lstStyle/>
          <a:p>
            <a:r>
              <a:rPr lang="uk-UA" sz="2000" b="1" dirty="0"/>
              <a:t>Сервер бази даних</a:t>
            </a:r>
            <a:r>
              <a:rPr lang="uk-UA" sz="2000" dirty="0"/>
              <a:t> (</a:t>
            </a:r>
            <a:r>
              <a:rPr lang="en-GB" sz="2000" i="1" dirty="0"/>
              <a:t>Database Server</a:t>
            </a:r>
            <a:r>
              <a:rPr lang="en-GB" sz="2000" dirty="0"/>
              <a:t>) — </a:t>
            </a:r>
            <a:r>
              <a:rPr lang="uk-UA" sz="2000" dirty="0"/>
              <a:t>це сервер (фізичний або віртуальний), що зберігає бази даних і надає до них доступ.</a:t>
            </a:r>
            <a:endParaRPr lang="en-GB" sz="2000" dirty="0"/>
          </a:p>
          <a:p>
            <a:endParaRPr lang="en-GB" dirty="0"/>
          </a:p>
          <a:p>
            <a:r>
              <a:rPr lang="ru-RU" sz="2000" dirty="0"/>
              <a:t>Кожен сервер бази даних містить </a:t>
            </a:r>
            <a:r>
              <a:rPr lang="ru-RU" sz="2000" b="1" dirty="0"/>
              <a:t>систему керування базами даних</a:t>
            </a:r>
            <a:r>
              <a:rPr lang="en-GB" sz="2000" b="1" dirty="0"/>
              <a:t> </a:t>
            </a:r>
            <a:r>
              <a:rPr lang="ru-RU" sz="2000" dirty="0"/>
              <a:t>— програмне забезпечення для збереження, пошуку, оновлення та видалення даних</a:t>
            </a:r>
            <a:endParaRPr lang="uk-UA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E1EAB5-99C7-82AB-CF3A-A206F5E771C0}"/>
              </a:ext>
            </a:extLst>
          </p:cNvPr>
          <p:cNvSpPr txBox="1"/>
          <p:nvPr/>
        </p:nvSpPr>
        <p:spPr>
          <a:xfrm>
            <a:off x="6606295" y="2109219"/>
            <a:ext cx="157553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6699FF"/>
                </a:solidFill>
              </a:rPr>
              <a:t>Virtual Database Server</a:t>
            </a:r>
            <a:endParaRPr lang="en-GB" sz="2800" b="1" dirty="0">
              <a:solidFill>
                <a:srgbClr val="6699FF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A1D59E-C457-1E2E-8793-B9A3359E2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68" y="3207572"/>
            <a:ext cx="3672341" cy="223333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271B30-E145-C4F9-50FF-A80D743A2D72}"/>
              </a:ext>
            </a:extLst>
          </p:cNvPr>
          <p:cNvCxnSpPr>
            <a:cxnSpLocks/>
          </p:cNvCxnSpPr>
          <p:nvPr/>
        </p:nvCxnSpPr>
        <p:spPr>
          <a:xfrm flipV="1">
            <a:off x="7679139" y="4640239"/>
            <a:ext cx="1005385" cy="727880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17FA152-9C9F-EB99-92D0-3312A440DBB3}"/>
              </a:ext>
            </a:extLst>
          </p:cNvPr>
          <p:cNvSpPr txBox="1"/>
          <p:nvPr/>
        </p:nvSpPr>
        <p:spPr>
          <a:xfrm>
            <a:off x="6528830" y="5240853"/>
            <a:ext cx="14637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309070"/>
                </a:solidFill>
              </a:rPr>
              <a:t>Database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A2D8CE-C85A-D3EC-9FC3-33F17F3EC3DB}"/>
              </a:ext>
            </a:extLst>
          </p:cNvPr>
          <p:cNvCxnSpPr>
            <a:cxnSpLocks/>
          </p:cNvCxnSpPr>
          <p:nvPr/>
        </p:nvCxnSpPr>
        <p:spPr>
          <a:xfrm>
            <a:off x="7550182" y="2850541"/>
            <a:ext cx="631649" cy="310735"/>
          </a:xfrm>
          <a:prstGeom prst="straightConnector1">
            <a:avLst/>
          </a:prstGeom>
          <a:ln w="38100">
            <a:solidFill>
              <a:srgbClr val="6699FF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3665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D001-AF8B-1CBD-9729-C72C186B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SQL </a:t>
            </a:r>
            <a:r>
              <a:rPr lang="uk-UA" b="1" dirty="0"/>
              <a:t>та його синтаксис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C1A0-8A54-EBB3-22CA-AF4DB0AAD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85" y="2225960"/>
            <a:ext cx="10417404" cy="4351338"/>
          </a:xfrm>
        </p:spPr>
        <p:txBody>
          <a:bodyPr>
            <a:normAutofit/>
          </a:bodyPr>
          <a:lstStyle/>
          <a:p>
            <a:r>
              <a:rPr lang="pl-PL" sz="2000" b="1" dirty="0"/>
              <a:t>SQL</a:t>
            </a:r>
            <a:r>
              <a:rPr lang="pl-PL" sz="2000" dirty="0"/>
              <a:t> – </a:t>
            </a:r>
            <a:r>
              <a:rPr lang="en-GB" sz="2000" dirty="0"/>
              <a:t>(</a:t>
            </a:r>
            <a:r>
              <a:rPr lang="en-GB" sz="2000" b="1" dirty="0"/>
              <a:t>Structured Query Language - </a:t>
            </a:r>
            <a:r>
              <a:rPr lang="uk-UA" sz="2000" b="1" dirty="0"/>
              <a:t>Структурована мова запитів</a:t>
            </a:r>
            <a:r>
              <a:rPr lang="en-GB" sz="2000" dirty="0"/>
              <a:t>) </a:t>
            </a:r>
            <a:r>
              <a:rPr lang="ru-RU" sz="2000" dirty="0"/>
              <a:t>це спеціальна мова, яка використовується для </a:t>
            </a:r>
            <a:r>
              <a:rPr lang="ru-RU" sz="2000" b="1" dirty="0"/>
              <a:t>створення</a:t>
            </a:r>
            <a:r>
              <a:rPr lang="ru-RU" sz="2000" dirty="0"/>
              <a:t>, </a:t>
            </a:r>
            <a:r>
              <a:rPr lang="ru-RU" sz="2000" b="1" dirty="0"/>
              <a:t>редагування</a:t>
            </a:r>
            <a:r>
              <a:rPr lang="ru-RU" sz="2000" dirty="0"/>
              <a:t> та </a:t>
            </a:r>
            <a:r>
              <a:rPr lang="ru-RU" sz="2000" b="1" dirty="0"/>
              <a:t>отримання даних</a:t>
            </a:r>
            <a:r>
              <a:rPr lang="ru-RU" sz="2000" dirty="0"/>
              <a:t> з бази даних.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2E4D30-AA34-A0A7-5324-FE605BEE18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5263"/>
          <a:stretch>
            <a:fillRect/>
          </a:stretch>
        </p:blipFill>
        <p:spPr>
          <a:xfrm>
            <a:off x="1175182" y="3502812"/>
            <a:ext cx="9743440" cy="248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2534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823F-B9D3-58B0-3092-23D1E80AA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 INTO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859CA-5741-E4F7-E341-13BDC6BEE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dirty="0"/>
              <a:t>Заповнює існуючу таблицю даними (</a:t>
            </a:r>
            <a:r>
              <a:rPr lang="en-US" sz="2000" dirty="0"/>
              <a:t>seed table</a:t>
            </a:r>
            <a:r>
              <a:rPr lang="uk-UA" sz="2000" dirty="0"/>
              <a:t>)  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FFDDCA-A209-4358-F202-E0C38F321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10" y="2536314"/>
            <a:ext cx="5292618" cy="171567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EF0BD7-D564-362F-432B-4EA9B51471FB}"/>
              </a:ext>
            </a:extLst>
          </p:cNvPr>
          <p:cNvSpPr txBox="1">
            <a:spLocks/>
          </p:cNvSpPr>
          <p:nvPr/>
        </p:nvSpPr>
        <p:spPr>
          <a:xfrm>
            <a:off x="779059" y="3898307"/>
            <a:ext cx="8833513" cy="2540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uk-UA" sz="2000" b="1" dirty="0"/>
              <a:t>Шаблон </a:t>
            </a:r>
            <a:r>
              <a:rPr lang="en-GB" sz="2000" b="1" dirty="0"/>
              <a:t>SQL-</a:t>
            </a:r>
            <a:r>
              <a:rPr lang="uk-UA" sz="2000" b="1" dirty="0"/>
              <a:t>запиту:</a:t>
            </a:r>
            <a:endParaRPr lang="en-US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uk-UA" b="1" dirty="0"/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INSERT INTO “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”(“Field_1”, “Field_2”) VALUES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(“ABC”, 123),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(“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xyz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”, 098);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D564BB9-32C3-E4B1-A442-F93A984D421C}"/>
              </a:ext>
            </a:extLst>
          </p:cNvPr>
          <p:cNvCxnSpPr>
            <a:cxnSpLocks/>
          </p:cNvCxnSpPr>
          <p:nvPr/>
        </p:nvCxnSpPr>
        <p:spPr>
          <a:xfrm flipV="1">
            <a:off x="3703093" y="2961140"/>
            <a:ext cx="2920620" cy="1665451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0569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EDDC-6EC3-2E46-5362-CB743C49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Для чого потрібний патерн AAA у тестуванні?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80CC8-FEA9-CCA3-C786-CE50C51D1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uk-UA" dirty="0"/>
              <a:t>Щоб чітко структурувати тест на три етапи (</a:t>
            </a:r>
            <a:r>
              <a:rPr lang="en-GB" dirty="0"/>
              <a:t>Arrange, Act, Assert) </a:t>
            </a:r>
            <a:r>
              <a:rPr lang="uk-UA" dirty="0"/>
              <a:t>для читабельності й підтримуваності</a:t>
            </a:r>
          </a:p>
          <a:p>
            <a:pPr marL="457200" indent="-457200">
              <a:buAutoNum type="alphaLcParenR"/>
            </a:pPr>
            <a:endParaRPr lang="uk-UA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uk-UA" dirty="0"/>
              <a:t>Щоб прискорити виконання тестів у 10 разів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Щоб автоматично мокати всі залежності без налаштування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Щоб гарантувати 100% покриття коду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49244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70F14-79D6-A0EE-E88B-61526B516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Unit-</a:t>
            </a:r>
            <a:r>
              <a:rPr lang="uk-UA" b="1" dirty="0"/>
              <a:t>тест зазвичай перевіряє: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6639C-AC65-26D4-A0C7-02AEA0CD9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uk-UA" dirty="0"/>
              <a:t>взаємодію кількох сервісів з реальною БД</a:t>
            </a:r>
          </a:p>
          <a:p>
            <a:pPr marL="457200" indent="-457200">
              <a:buAutoNum type="alphaLcParenR"/>
            </a:pPr>
            <a:endParaRPr lang="uk-UA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uk-UA" dirty="0"/>
              <a:t>одну функцію/клас в ізоляції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мережеву інфраструктуру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інтерфейс користувача вручну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1807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3707-AA30-B5B9-3990-9D22C213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Для чого характерні SQL БД?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07191-4BD0-3905-1491-5FEE748B7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uk-UA" dirty="0"/>
              <a:t>безсхемний підхід і гнучкість</a:t>
            </a:r>
          </a:p>
          <a:p>
            <a:pPr marL="457200" indent="-457200">
              <a:buAutoNum type="alphaLcParenR"/>
            </a:pPr>
            <a:endParaRPr lang="uk-UA" dirty="0"/>
          </a:p>
          <a:p>
            <a:pPr marL="0" indent="0">
              <a:buNone/>
            </a:pPr>
            <a:r>
              <a:rPr lang="en-GB" dirty="0"/>
              <a:t>b) </a:t>
            </a:r>
            <a:r>
              <a:rPr lang="uk-UA" dirty="0"/>
              <a:t>реляційні таблиці та структуровані моделі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c) </a:t>
            </a:r>
            <a:r>
              <a:rPr lang="uk-UA" dirty="0"/>
              <a:t>виключно графові структури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en-GB" dirty="0"/>
              <a:t>d) </a:t>
            </a:r>
            <a:r>
              <a:rPr lang="uk-UA" dirty="0"/>
              <a:t>зберігання файлів без метаданих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30465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EA6A-0503-A860-261F-29521613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Сервер бази даних — це…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C8329-A9CB-1258-493F-D0B6DB95A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a) редактор коду</a:t>
            </a:r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b) вебсервер для HTML</a:t>
            </a:r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c) сервер, що зберігає БД і надає до них доступ</a:t>
            </a:r>
          </a:p>
          <a:p>
            <a:pPr marL="0" indent="0">
              <a:buNone/>
            </a:pPr>
            <a:br>
              <a:rPr lang="ru-RU" dirty="0"/>
            </a:br>
            <a:r>
              <a:rPr lang="ru-RU" dirty="0"/>
              <a:t>d) файловий менеджер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487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A3A8A-3FBC-49B9-1BE5-25961E3A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Команда INSERT INTO призначена для: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6274-0E9D-6E7B-8AB4-845ABECE0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arenR"/>
            </a:pPr>
            <a:r>
              <a:rPr lang="ru-RU" dirty="0"/>
              <a:t>створення таблиці</a:t>
            </a:r>
          </a:p>
          <a:p>
            <a:pPr marL="457200" indent="-457200">
              <a:buAutoNum type="alphaL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b) додавання рядків у таблицю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c) зміни структури таблиці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d) видалення таблиці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29692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194F6-8285-A1D8-EBD7-8F42151A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D5E9-9EA8-6D2F-570A-6D454A421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Відповіді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18494-5C96-4F39-86CF-E79C63276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1 — a</a:t>
            </a:r>
            <a:endParaRPr lang="uk-UA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2 — b</a:t>
            </a:r>
            <a:endParaRPr lang="uk-UA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3 — b</a:t>
            </a:r>
            <a:endParaRPr lang="uk-UA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4 — c</a:t>
            </a:r>
            <a:endParaRPr lang="uk-UA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5 — b</a:t>
            </a:r>
          </a:p>
        </p:txBody>
      </p:sp>
    </p:spTree>
    <p:extLst>
      <p:ext uri="{BB962C8B-B14F-4D97-AF65-F5344CB8AC3E}">
        <p14:creationId xmlns:p14="http://schemas.microsoft.com/office/powerpoint/2010/main" val="27054664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6A7B4-8FE5-8683-51A9-DDC9AC030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BEF6-57CB-402D-B514-EE3A96EA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Зміст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FBB09-C258-AADE-CC6E-4173AA649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10542688" cy="4218602"/>
          </a:xfrm>
        </p:spPr>
        <p:txBody>
          <a:bodyPr>
            <a:normAutofit/>
          </a:bodyPr>
          <a:lstStyle/>
          <a:p>
            <a:r>
              <a:rPr lang="en-US" b="1" dirty="0"/>
              <a:t>Database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SELECT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WHERE</a:t>
            </a:r>
            <a:endParaRPr lang="en-US" b="1" dirty="0"/>
          </a:p>
          <a:p>
            <a:pPr lvl="1">
              <a:lnSpc>
                <a:spcPct val="110000"/>
              </a:lnSpc>
            </a:pPr>
            <a:r>
              <a:rPr lang="en-GB" dirty="0"/>
              <a:t>ORDER BY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GROUP BY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JOINs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PROCEURE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CTE</a:t>
            </a:r>
          </a:p>
          <a:p>
            <a:pPr lvl="1">
              <a:lnSpc>
                <a:spcPct val="110000"/>
              </a:lnSpc>
            </a:pPr>
            <a:r>
              <a:rPr lang="uk-UA" dirty="0"/>
              <a:t>Нормалізація</a:t>
            </a:r>
            <a:r>
              <a:rPr lang="en-US" dirty="0"/>
              <a:t>(NF1-3)/</a:t>
            </a:r>
            <a:r>
              <a:rPr lang="uk-UA" dirty="0"/>
              <a:t>Денормалізація</a:t>
            </a:r>
            <a:endParaRPr lang="en-GB" dirty="0"/>
          </a:p>
          <a:p>
            <a:pPr lvl="1">
              <a:lnSpc>
                <a:spcPct val="110000"/>
              </a:lnSpc>
            </a:pPr>
            <a:endParaRPr lang="en-GB" b="1" dirty="0"/>
          </a:p>
          <a:p>
            <a:pPr lvl="1"/>
            <a:endParaRPr lang="en-GB" b="1" dirty="0"/>
          </a:p>
          <a:p>
            <a:pPr lvl="1"/>
            <a:endParaRPr lang="en-GB" b="1" dirty="0"/>
          </a:p>
          <a:p>
            <a:pPr lvl="1"/>
            <a:endParaRPr lang="uk-UA" dirty="0"/>
          </a:p>
          <a:p>
            <a:pPr lvl="1"/>
            <a:endParaRPr lang="uk-UA" dirty="0"/>
          </a:p>
          <a:p>
            <a:pPr lvl="1"/>
            <a:endParaRPr lang="uk-UA" dirty="0"/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22231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257A-E694-FC61-86DD-67345FDF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39" y="726334"/>
            <a:ext cx="10462808" cy="1080938"/>
          </a:xfrm>
        </p:spPr>
        <p:txBody>
          <a:bodyPr/>
          <a:lstStyle/>
          <a:p>
            <a:r>
              <a:rPr lang="uk-UA" dirty="0"/>
              <a:t>Логічне та фізичне виконання інструкцій</a:t>
            </a:r>
            <a:r>
              <a:rPr lang="en-GB" dirty="0"/>
              <a:t> </a:t>
            </a:r>
            <a:r>
              <a:rPr lang="uk-UA" dirty="0"/>
              <a:t>в </a:t>
            </a:r>
            <a:r>
              <a:rPr lang="en-GB" dirty="0"/>
              <a:t>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FE9FB-829B-B83F-B027-BCD7ED571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992" y="3429000"/>
            <a:ext cx="2170455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</a:rPr>
              <a:t>SELECT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FROM / JOIN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WHERE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GROUP BY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HAVING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ORDER BY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LIMIT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829849-B129-9340-9A53-C5C13BFA7FD8}"/>
              </a:ext>
            </a:extLst>
          </p:cNvPr>
          <p:cNvSpPr txBox="1">
            <a:spLocks/>
          </p:cNvSpPr>
          <p:nvPr/>
        </p:nvSpPr>
        <p:spPr>
          <a:xfrm>
            <a:off x="411381" y="2181556"/>
            <a:ext cx="5415679" cy="12474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uk-UA" dirty="0"/>
              <a:t>Користувач вводить запит згідно зі синтаксисом у такій послідовності</a:t>
            </a:r>
            <a:r>
              <a:rPr lang="en-GB" dirty="0"/>
              <a:t> </a:t>
            </a:r>
            <a:r>
              <a:rPr lang="uk-UA" dirty="0"/>
              <a:t>(</a:t>
            </a:r>
            <a:r>
              <a:rPr lang="uk-UA" b="1" dirty="0"/>
              <a:t>логічне</a:t>
            </a:r>
            <a:r>
              <a:rPr lang="uk-UA" dirty="0"/>
              <a:t>)</a:t>
            </a:r>
            <a:r>
              <a:rPr lang="en-GB" dirty="0"/>
              <a:t>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AAD2A68-8B4E-114A-FA63-0201FF460D9A}"/>
              </a:ext>
            </a:extLst>
          </p:cNvPr>
          <p:cNvSpPr txBox="1">
            <a:spLocks/>
          </p:cNvSpPr>
          <p:nvPr/>
        </p:nvSpPr>
        <p:spPr>
          <a:xfrm>
            <a:off x="6096000" y="2181555"/>
            <a:ext cx="5415679" cy="926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uk-UA" dirty="0"/>
              <a:t>Однак </a:t>
            </a:r>
            <a:r>
              <a:rPr lang="en-GB" dirty="0"/>
              <a:t>SQL </a:t>
            </a:r>
            <a:r>
              <a:rPr lang="uk-UA" dirty="0"/>
              <a:t>інтерпретує це в іншій послідовності (</a:t>
            </a:r>
            <a:r>
              <a:rPr lang="uk-UA" b="1" dirty="0"/>
              <a:t>фізичне</a:t>
            </a:r>
            <a:r>
              <a:rPr lang="uk-UA" dirty="0"/>
              <a:t>)</a:t>
            </a:r>
            <a:r>
              <a:rPr lang="en-GB" dirty="0"/>
              <a:t>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5C2D37-78E8-DF10-6170-C6FDB279079C}"/>
              </a:ext>
            </a:extLst>
          </p:cNvPr>
          <p:cNvSpPr txBox="1">
            <a:spLocks/>
          </p:cNvSpPr>
          <p:nvPr/>
        </p:nvSpPr>
        <p:spPr>
          <a:xfrm>
            <a:off x="7449671" y="3348318"/>
            <a:ext cx="2170455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FROM / JOIN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solidFill>
                  <a:schemeClr val="bg1"/>
                </a:solidFill>
              </a:rPr>
              <a:t>WHERE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solidFill>
                  <a:schemeClr val="bg1"/>
                </a:solidFill>
              </a:rPr>
              <a:t>GROUP BY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solidFill>
                  <a:schemeClr val="bg1"/>
                </a:solidFill>
              </a:rPr>
              <a:t>HAVING</a:t>
            </a:r>
          </a:p>
          <a:p>
            <a:pPr marL="0" indent="0">
              <a:buNone/>
            </a:pPr>
            <a:r>
              <a:rPr lang="en-GB" b="1" u="sng" dirty="0">
                <a:solidFill>
                  <a:schemeClr val="bg1"/>
                </a:solidFill>
              </a:rPr>
              <a:t>SELECT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solidFill>
                  <a:schemeClr val="bg1"/>
                </a:solidFill>
              </a:rPr>
              <a:t>ORDER BY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b="1" dirty="0">
                <a:solidFill>
                  <a:schemeClr val="bg1"/>
                </a:solidFill>
              </a:rPr>
              <a:t>LIMIT</a:t>
            </a:r>
          </a:p>
        </p:txBody>
      </p:sp>
    </p:spTree>
    <p:extLst>
      <p:ext uri="{BB962C8B-B14F-4D97-AF65-F5344CB8AC3E}">
        <p14:creationId xmlns:p14="http://schemas.microsoft.com/office/powerpoint/2010/main" val="3289175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6DE72-41F3-85D5-CD22-01BEFBC67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1. </a:t>
            </a:r>
            <a:r>
              <a:rPr lang="en-GB" b="1" dirty="0"/>
              <a:t>SELECT </a:t>
            </a:r>
            <a:r>
              <a:rPr lang="uk-UA" b="1" dirty="0"/>
              <a:t> 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1C96B-66ED-657D-70DC-2F565B45E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06" y="3896860"/>
            <a:ext cx="4308835" cy="2540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b="1" dirty="0"/>
              <a:t>Шаблон </a:t>
            </a:r>
            <a:r>
              <a:rPr lang="en-GB" sz="2000" b="1" dirty="0"/>
              <a:t>SQL-</a:t>
            </a:r>
            <a:r>
              <a:rPr lang="uk-UA" sz="2000" b="1" dirty="0"/>
              <a:t>запиту:</a:t>
            </a:r>
            <a:endParaRPr lang="en-US" sz="2000" b="1" dirty="0"/>
          </a:p>
          <a:p>
            <a:pPr marL="0" indent="0">
              <a:buNone/>
            </a:pPr>
            <a:endParaRPr lang="uk-UA" sz="2400" b="1" dirty="0"/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SELECT * </a:t>
            </a: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FROM “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AF962-E5B7-CA04-5154-870160A2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089" y="2437351"/>
            <a:ext cx="3658111" cy="281979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FC692F-85DE-6201-5602-0C8A76831646}"/>
              </a:ext>
            </a:extLst>
          </p:cNvPr>
          <p:cNvCxnSpPr>
            <a:cxnSpLocks/>
          </p:cNvCxnSpPr>
          <p:nvPr/>
        </p:nvCxnSpPr>
        <p:spPr>
          <a:xfrm flipV="1">
            <a:off x="3280012" y="2714920"/>
            <a:ext cx="4855320" cy="2161880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D6CD0B5-EB8A-3A06-11A5-316C806D3658}"/>
              </a:ext>
            </a:extLst>
          </p:cNvPr>
          <p:cNvSpPr txBox="1"/>
          <p:nvPr/>
        </p:nvSpPr>
        <p:spPr>
          <a:xfrm>
            <a:off x="497005" y="2253255"/>
            <a:ext cx="70547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000" b="1" dirty="0"/>
              <a:t>Виводить</a:t>
            </a:r>
            <a:r>
              <a:rPr lang="ru-RU" sz="2000" dirty="0"/>
              <a:t> повну таблицю з усіма полями та записами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49991884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9B2A-DC4E-99F8-2B3E-D966F446A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1.1</a:t>
            </a:r>
            <a:r>
              <a:rPr lang="uk-UA" b="1" dirty="0"/>
              <a:t>.</a:t>
            </a:r>
            <a:r>
              <a:rPr lang="en-GB" b="1" dirty="0"/>
              <a:t> SELECT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FE8D6B-044E-F29A-170C-03C52EDE5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116" y="1949609"/>
            <a:ext cx="6134807" cy="4741791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600" b="1" dirty="0"/>
              <a:t>Виводить</a:t>
            </a:r>
            <a:r>
              <a:rPr lang="ru-RU" sz="2600" dirty="0"/>
              <a:t> лише певні стовпці таблиці, а не всю таблицю повністю</a:t>
            </a:r>
          </a:p>
          <a:p>
            <a:endParaRPr lang="uk-UA" sz="3100" dirty="0"/>
          </a:p>
          <a:p>
            <a:pPr marL="0" indent="0">
              <a:buNone/>
            </a:pPr>
            <a:r>
              <a:rPr lang="uk-UA" sz="2600" b="1" dirty="0"/>
              <a:t>Шаблон </a:t>
            </a:r>
            <a:r>
              <a:rPr lang="en-GB" sz="2600" b="1" dirty="0"/>
              <a:t>SQL-</a:t>
            </a:r>
            <a:r>
              <a:rPr lang="uk-UA" sz="2600" b="1" dirty="0"/>
              <a:t>запиту:</a:t>
            </a:r>
            <a:endParaRPr lang="en-US" sz="2600" b="1" dirty="0"/>
          </a:p>
          <a:p>
            <a:pPr marL="0" indent="0">
              <a:buNone/>
            </a:pPr>
            <a:endParaRPr lang="uk-UA" sz="2400" b="1" dirty="0"/>
          </a:p>
          <a:p>
            <a:pPr marL="0" indent="0">
              <a:buNone/>
            </a:pPr>
            <a:r>
              <a:rPr lang="en-GB" sz="3100" b="1" dirty="0">
                <a:solidFill>
                  <a:srgbClr val="FFCC66"/>
                </a:solidFill>
                <a:highlight>
                  <a:srgbClr val="6699FF"/>
                </a:highlight>
              </a:rPr>
              <a:t>SELECT  “</a:t>
            </a:r>
            <a:r>
              <a:rPr lang="en-GB" sz="3100" b="1" dirty="0" err="1">
                <a:solidFill>
                  <a:srgbClr val="FFCC66"/>
                </a:solidFill>
                <a:highlight>
                  <a:srgbClr val="6699FF"/>
                </a:highlight>
              </a:rPr>
              <a:t>Column_name</a:t>
            </a:r>
            <a:r>
              <a:rPr lang="en-GB" sz="3100" b="1" dirty="0">
                <a:solidFill>
                  <a:srgbClr val="FFCC66"/>
                </a:solidFill>
                <a:highlight>
                  <a:srgbClr val="6699FF"/>
                </a:highlight>
              </a:rPr>
              <a:t>”</a:t>
            </a:r>
          </a:p>
          <a:p>
            <a:pPr marL="0" indent="0">
              <a:buNone/>
            </a:pPr>
            <a:r>
              <a:rPr lang="en-GB" sz="3100" b="1" dirty="0">
                <a:solidFill>
                  <a:srgbClr val="FFCC66"/>
                </a:solidFill>
                <a:highlight>
                  <a:srgbClr val="6699FF"/>
                </a:highlight>
              </a:rPr>
              <a:t>FROM   “</a:t>
            </a:r>
            <a:r>
              <a:rPr lang="en-GB" sz="3100" b="1" dirty="0" err="1">
                <a:solidFill>
                  <a:srgbClr val="FFCC66"/>
                </a:solidFill>
                <a:highlight>
                  <a:srgbClr val="6699FF"/>
                </a:highlight>
              </a:rPr>
              <a:t>Table_name</a:t>
            </a:r>
            <a:r>
              <a:rPr lang="en-GB" sz="3100" b="1" dirty="0">
                <a:solidFill>
                  <a:srgbClr val="FFCC66"/>
                </a:solidFill>
                <a:highlight>
                  <a:srgbClr val="6699FF"/>
                </a:highlight>
              </a:rPr>
              <a:t>”</a:t>
            </a:r>
          </a:p>
          <a:p>
            <a:pPr marL="0" indent="0">
              <a:buNone/>
            </a:pPr>
            <a:endParaRPr lang="en-GB" sz="38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3100" b="1" dirty="0">
                <a:solidFill>
                  <a:srgbClr val="309070"/>
                </a:solidFill>
                <a:highlight>
                  <a:srgbClr val="FFCC66"/>
                </a:highlight>
              </a:rPr>
              <a:t>SELECT  </a:t>
            </a:r>
          </a:p>
          <a:p>
            <a:pPr marL="0" indent="0">
              <a:buNone/>
            </a:pPr>
            <a:r>
              <a:rPr lang="en-GB" sz="3100" b="1" dirty="0">
                <a:solidFill>
                  <a:srgbClr val="309070"/>
                </a:solidFill>
                <a:highlight>
                  <a:srgbClr val="FFCC66"/>
                </a:highlight>
              </a:rPr>
              <a:t>“</a:t>
            </a:r>
            <a:r>
              <a:rPr lang="en-GB" sz="31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Column_name_A</a:t>
            </a:r>
            <a:r>
              <a:rPr lang="en-GB" sz="3100" b="1" dirty="0">
                <a:solidFill>
                  <a:srgbClr val="309070"/>
                </a:solidFill>
                <a:highlight>
                  <a:srgbClr val="FFCC66"/>
                </a:highlight>
              </a:rPr>
              <a:t>”, </a:t>
            </a:r>
          </a:p>
          <a:p>
            <a:pPr marL="0" indent="0">
              <a:buNone/>
            </a:pPr>
            <a:r>
              <a:rPr lang="en-GB" sz="3100" b="1" dirty="0">
                <a:solidFill>
                  <a:srgbClr val="309070"/>
                </a:solidFill>
                <a:highlight>
                  <a:srgbClr val="FFCC66"/>
                </a:highlight>
              </a:rPr>
              <a:t>“</a:t>
            </a:r>
            <a:r>
              <a:rPr lang="en-GB" sz="31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Column_name_B</a:t>
            </a:r>
            <a:r>
              <a:rPr lang="en-GB" sz="3100" b="1" dirty="0">
                <a:solidFill>
                  <a:srgbClr val="309070"/>
                </a:solidFill>
                <a:highlight>
                  <a:srgbClr val="FFCC66"/>
                </a:highlight>
              </a:rPr>
              <a:t>” </a:t>
            </a:r>
          </a:p>
          <a:p>
            <a:pPr marL="0" indent="0">
              <a:buNone/>
            </a:pPr>
            <a:r>
              <a:rPr lang="en-GB" sz="3100" b="1" dirty="0">
                <a:solidFill>
                  <a:srgbClr val="309070"/>
                </a:solidFill>
                <a:highlight>
                  <a:srgbClr val="FFCC66"/>
                </a:highlight>
              </a:rPr>
              <a:t>FROM  “</a:t>
            </a:r>
            <a:r>
              <a:rPr lang="en-GB" sz="31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en-GB" sz="3100" b="1" dirty="0">
                <a:solidFill>
                  <a:srgbClr val="309070"/>
                </a:solidFill>
                <a:highlight>
                  <a:srgbClr val="FFCC66"/>
                </a:highlight>
              </a:rPr>
              <a:t>”</a:t>
            </a:r>
          </a:p>
          <a:p>
            <a:pPr marL="0" indent="0">
              <a:buNone/>
            </a:pPr>
            <a:endParaRPr lang="en-GB" b="1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0FAD4E-B5D6-A897-B084-94E31CE6B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884" y="637785"/>
            <a:ext cx="1933845" cy="2791215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C5FE13-7AC2-9C4F-9843-D0742A2D521D}"/>
              </a:ext>
            </a:extLst>
          </p:cNvPr>
          <p:cNvCxnSpPr>
            <a:cxnSpLocks/>
          </p:cNvCxnSpPr>
          <p:nvPr/>
        </p:nvCxnSpPr>
        <p:spPr>
          <a:xfrm flipV="1">
            <a:off x="4508310" y="857839"/>
            <a:ext cx="4220911" cy="2868000"/>
          </a:xfrm>
          <a:prstGeom prst="straightConnector1">
            <a:avLst/>
          </a:prstGeom>
          <a:ln w="38100">
            <a:solidFill>
              <a:srgbClr val="FFCC6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DC2147F-5FB5-9B2D-D56E-A771AF900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884" y="3649054"/>
            <a:ext cx="2628492" cy="3018783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CAB327-5F98-BD57-96A4-5D433F60CA1E}"/>
              </a:ext>
            </a:extLst>
          </p:cNvPr>
          <p:cNvCxnSpPr>
            <a:cxnSpLocks/>
          </p:cNvCxnSpPr>
          <p:nvPr/>
        </p:nvCxnSpPr>
        <p:spPr>
          <a:xfrm flipV="1">
            <a:off x="4003343" y="3725839"/>
            <a:ext cx="4662985" cy="1869743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560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81E62-4C83-E332-2873-25F19CAA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2E074-7E9E-F473-1614-F4850D554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296" y="2132700"/>
            <a:ext cx="7905672" cy="455925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200" b="1" dirty="0"/>
              <a:t>Фільтрує</a:t>
            </a:r>
            <a:r>
              <a:rPr lang="ru-RU" sz="2200" dirty="0"/>
              <a:t> дані таблиці за заданою умовою. Також ми можемо використовувати умовні оператори (</a:t>
            </a:r>
            <a:r>
              <a:rPr lang="ru-RU" sz="2200" b="1" dirty="0"/>
              <a:t>BETWEEN, AND, OR</a:t>
            </a:r>
            <a:r>
              <a:rPr lang="ru-RU" sz="2200" dirty="0"/>
              <a:t>)</a:t>
            </a:r>
            <a:endParaRPr lang="uk-UA" sz="2200" dirty="0"/>
          </a:p>
          <a:p>
            <a:endParaRPr lang="uk-UA" dirty="0"/>
          </a:p>
          <a:p>
            <a:pPr marL="0" indent="0">
              <a:buNone/>
            </a:pPr>
            <a:r>
              <a:rPr lang="uk-UA" sz="2200" b="1" dirty="0"/>
              <a:t>Шаблон </a:t>
            </a:r>
            <a:r>
              <a:rPr lang="en-GB" sz="2200" b="1" dirty="0"/>
              <a:t>SQL-</a:t>
            </a:r>
            <a:r>
              <a:rPr lang="uk-UA" sz="2200" b="1" dirty="0"/>
              <a:t>запиту:</a:t>
            </a:r>
          </a:p>
          <a:p>
            <a:pPr marL="0" indent="0">
              <a:buNone/>
            </a:pPr>
            <a:r>
              <a:rPr lang="en-GB" sz="2600" b="1" dirty="0">
                <a:solidFill>
                  <a:srgbClr val="FFCC66"/>
                </a:solidFill>
                <a:highlight>
                  <a:srgbClr val="6699FF"/>
                </a:highlight>
              </a:rPr>
              <a:t>SELECT * FROM "</a:t>
            </a:r>
            <a:r>
              <a:rPr lang="en-GB" sz="2600" b="1" dirty="0" err="1">
                <a:solidFill>
                  <a:srgbClr val="FFCC66"/>
                </a:solidFill>
                <a:highlight>
                  <a:srgbClr val="6699FF"/>
                </a:highlight>
              </a:rPr>
              <a:t>Table_name</a:t>
            </a:r>
            <a:r>
              <a:rPr lang="en-GB" sz="2600" b="1" dirty="0">
                <a:solidFill>
                  <a:srgbClr val="FFCC66"/>
                </a:solidFill>
                <a:highlight>
                  <a:srgbClr val="6699FF"/>
                </a:highlight>
              </a:rPr>
              <a:t>"</a:t>
            </a:r>
            <a:endParaRPr lang="uk-UA" sz="2600" b="1" dirty="0">
              <a:solidFill>
                <a:srgbClr val="FFCC66"/>
              </a:solidFill>
              <a:highlight>
                <a:srgbClr val="6699FF"/>
              </a:highlight>
            </a:endParaRPr>
          </a:p>
          <a:p>
            <a:pPr marL="0" indent="0">
              <a:buNone/>
            </a:pPr>
            <a:r>
              <a:rPr lang="en-GB" sz="2600" b="1" dirty="0">
                <a:solidFill>
                  <a:srgbClr val="FFCC66"/>
                </a:solidFill>
                <a:highlight>
                  <a:srgbClr val="6699FF"/>
                </a:highlight>
              </a:rPr>
              <a:t>WHERE "Table_name"."</a:t>
            </a:r>
            <a:r>
              <a:rPr lang="en-GB" sz="2600" b="1" dirty="0" err="1">
                <a:solidFill>
                  <a:srgbClr val="FFCC66"/>
                </a:solidFill>
                <a:highlight>
                  <a:srgbClr val="6699FF"/>
                </a:highlight>
              </a:rPr>
              <a:t>Column_name</a:t>
            </a:r>
            <a:r>
              <a:rPr lang="en-GB" sz="2600" b="1" dirty="0">
                <a:solidFill>
                  <a:srgbClr val="FFCC66"/>
                </a:solidFill>
                <a:highlight>
                  <a:srgbClr val="6699FF"/>
                </a:highlight>
              </a:rPr>
              <a:t>" = 'value’</a:t>
            </a:r>
          </a:p>
          <a:p>
            <a:pPr marL="0" indent="0">
              <a:buNone/>
            </a:pPr>
            <a:endParaRPr lang="en-GB" sz="26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SELECT  </a:t>
            </a:r>
          </a:p>
          <a:p>
            <a:pPr marL="0" indent="0">
              <a:buNone/>
            </a:pP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t.“</a:t>
            </a:r>
            <a:r>
              <a:rPr lang="en-GB" sz="26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Column_name_A</a:t>
            </a: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”, </a:t>
            </a:r>
          </a:p>
          <a:p>
            <a:pPr marL="0" indent="0">
              <a:buNone/>
            </a:pP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t.“</a:t>
            </a:r>
            <a:r>
              <a:rPr lang="en-GB" sz="26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Column_name_B</a:t>
            </a: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” </a:t>
            </a:r>
          </a:p>
          <a:p>
            <a:pPr marL="0" indent="0">
              <a:buNone/>
            </a:pP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FROM   “</a:t>
            </a:r>
            <a:r>
              <a:rPr lang="en-GB" sz="26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” AS t</a:t>
            </a:r>
          </a:p>
          <a:p>
            <a:pPr marL="0" indent="0">
              <a:buNone/>
            </a:pP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WHERE  t."</a:t>
            </a:r>
            <a:r>
              <a:rPr lang="en-GB" sz="26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Column_name</a:t>
            </a:r>
            <a:r>
              <a:rPr lang="en-GB" sz="2600" b="1" dirty="0">
                <a:solidFill>
                  <a:srgbClr val="309070"/>
                </a:solidFill>
                <a:highlight>
                  <a:srgbClr val="FFCC66"/>
                </a:highlight>
              </a:rPr>
              <a:t>" = ‘value’</a:t>
            </a:r>
          </a:p>
          <a:p>
            <a:pPr marL="0" indent="0">
              <a:buNone/>
            </a:pPr>
            <a:endParaRPr lang="en-GB" sz="2600" b="1" dirty="0">
              <a:solidFill>
                <a:srgbClr val="309070"/>
              </a:solidFill>
            </a:endParaRPr>
          </a:p>
          <a:p>
            <a:pPr marL="0" indent="0">
              <a:buNone/>
            </a:pPr>
            <a:endParaRPr lang="uk-UA" b="1" dirty="0">
              <a:solidFill>
                <a:srgbClr val="00B050"/>
              </a:solidFill>
            </a:endParaRP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7A4F67-6537-9691-CBA5-F5CAA605D8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7"/>
          <a:stretch>
            <a:fillRect/>
          </a:stretch>
        </p:blipFill>
        <p:spPr>
          <a:xfrm>
            <a:off x="8517371" y="1572771"/>
            <a:ext cx="3296110" cy="197273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5B70F4-0000-95D8-5D74-BD4F019E30A2}"/>
              </a:ext>
            </a:extLst>
          </p:cNvPr>
          <p:cNvCxnSpPr>
            <a:cxnSpLocks/>
          </p:cNvCxnSpPr>
          <p:nvPr/>
        </p:nvCxnSpPr>
        <p:spPr>
          <a:xfrm flipV="1">
            <a:off x="5659354" y="1916991"/>
            <a:ext cx="2858017" cy="1667819"/>
          </a:xfrm>
          <a:prstGeom prst="straightConnector1">
            <a:avLst/>
          </a:prstGeom>
          <a:ln w="38100">
            <a:solidFill>
              <a:srgbClr val="FFCC66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7C3801D-D543-BAE1-2C94-E3D3A3A79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470" y="3968398"/>
            <a:ext cx="3143689" cy="2524477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22B762-0F5C-FFF0-CDFE-718D840FBFD4}"/>
              </a:ext>
            </a:extLst>
          </p:cNvPr>
          <p:cNvCxnSpPr>
            <a:cxnSpLocks/>
          </p:cNvCxnSpPr>
          <p:nvPr/>
        </p:nvCxnSpPr>
        <p:spPr>
          <a:xfrm flipV="1">
            <a:off x="4485564" y="4430598"/>
            <a:ext cx="4319071" cy="1356053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57689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6945A-C88F-D8FD-007C-3102C5DC9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3. ORDER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DA053-6328-AC53-B5A1-12DF67B11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307" y="2038066"/>
            <a:ext cx="10034875" cy="4526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/>
              <a:t>Сортує</a:t>
            </a:r>
            <a:r>
              <a:rPr lang="ru-RU" sz="2000" dirty="0"/>
              <a:t> записи в таблиці за вказаним стовпцем у порядку</a:t>
            </a:r>
            <a:r>
              <a:rPr lang="uk-UA" sz="2000" dirty="0"/>
              <a:t>:</a:t>
            </a:r>
          </a:p>
          <a:p>
            <a:pPr lvl="1"/>
            <a:r>
              <a:rPr lang="en-GB" b="1" dirty="0"/>
              <a:t>ASC</a:t>
            </a:r>
            <a:r>
              <a:rPr lang="en-GB" dirty="0"/>
              <a:t> – </a:t>
            </a:r>
            <a:r>
              <a:rPr lang="ru-RU" dirty="0"/>
              <a:t>за зростанням (від A до Z або від 0 до 9)</a:t>
            </a:r>
            <a:endParaRPr lang="uk-UA" dirty="0"/>
          </a:p>
          <a:p>
            <a:pPr lvl="1"/>
            <a:r>
              <a:rPr lang="en-GB" b="1" dirty="0"/>
              <a:t>DESC</a:t>
            </a:r>
            <a:r>
              <a:rPr lang="en-GB" dirty="0"/>
              <a:t> - </a:t>
            </a:r>
            <a:r>
              <a:rPr lang="ru-RU" dirty="0"/>
              <a:t>за спаданням (від Z до A або від 9 до 0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uk-UA" sz="2000" b="1" dirty="0"/>
              <a:t>Шаблон </a:t>
            </a:r>
            <a:r>
              <a:rPr lang="en-GB" sz="2000" b="1" dirty="0"/>
              <a:t>SQL-</a:t>
            </a:r>
            <a:r>
              <a:rPr lang="uk-UA" sz="2000" b="1" dirty="0"/>
              <a:t>запиту: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CC66"/>
                </a:solidFill>
                <a:highlight>
                  <a:srgbClr val="6699FF"/>
                </a:highlight>
              </a:rPr>
              <a:t>SELECT * FROM "</a:t>
            </a:r>
            <a:r>
              <a:rPr lang="en-GB" b="1" dirty="0" err="1">
                <a:solidFill>
                  <a:srgbClr val="FFCC66"/>
                </a:solidFill>
                <a:highlight>
                  <a:srgbClr val="6699FF"/>
                </a:highlight>
              </a:rPr>
              <a:t>Table_name</a:t>
            </a:r>
            <a:r>
              <a:rPr lang="en-GB" b="1" dirty="0">
                <a:solidFill>
                  <a:srgbClr val="FFCC66"/>
                </a:solidFill>
                <a:highlight>
                  <a:srgbClr val="6699FF"/>
                </a:highlight>
              </a:rPr>
              <a:t>"</a:t>
            </a:r>
            <a:endParaRPr lang="uk-UA" b="1" dirty="0">
              <a:solidFill>
                <a:srgbClr val="FFCC66"/>
              </a:solidFill>
              <a:highlight>
                <a:srgbClr val="6699FF"/>
              </a:highlight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CC66"/>
                </a:solidFill>
                <a:highlight>
                  <a:srgbClr val="6699FF"/>
                </a:highlight>
              </a:rPr>
              <a:t>ORDER BY "Table_name"."</a:t>
            </a:r>
            <a:r>
              <a:rPr lang="en-GB" b="1" dirty="0" err="1">
                <a:solidFill>
                  <a:srgbClr val="FFCC66"/>
                </a:solidFill>
                <a:highlight>
                  <a:srgbClr val="6699FF"/>
                </a:highlight>
              </a:rPr>
              <a:t>Column_name</a:t>
            </a:r>
            <a:r>
              <a:rPr lang="en-GB" b="1" dirty="0">
                <a:solidFill>
                  <a:srgbClr val="FFCC66"/>
                </a:solidFill>
                <a:highlight>
                  <a:srgbClr val="6699FF"/>
                </a:highlight>
              </a:rPr>
              <a:t>" ASC</a:t>
            </a:r>
          </a:p>
          <a:p>
            <a:pPr marL="0" indent="0">
              <a:buNone/>
            </a:pPr>
            <a:endParaRPr lang="en-GB" sz="2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SELECT * FROM "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"</a:t>
            </a:r>
            <a:endParaRPr lang="uk-UA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ORDER BY "Table_name"."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Column_name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" DESC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7BC7F0-9F95-14BB-0B11-B434C988F1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8" r="1308"/>
          <a:stretch>
            <a:fillRect/>
          </a:stretch>
        </p:blipFill>
        <p:spPr>
          <a:xfrm>
            <a:off x="9254739" y="609116"/>
            <a:ext cx="2056263" cy="285789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4E75C2-DF8E-AFB9-83F2-00787DDC5D76}"/>
              </a:ext>
            </a:extLst>
          </p:cNvPr>
          <p:cNvCxnSpPr>
            <a:cxnSpLocks/>
          </p:cNvCxnSpPr>
          <p:nvPr/>
        </p:nvCxnSpPr>
        <p:spPr>
          <a:xfrm flipV="1">
            <a:off x="6202837" y="1110018"/>
            <a:ext cx="3209569" cy="3179178"/>
          </a:xfrm>
          <a:prstGeom prst="straightConnector1">
            <a:avLst/>
          </a:prstGeom>
          <a:ln w="38100">
            <a:solidFill>
              <a:srgbClr val="FFCC66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F67B72F9-A25A-1A17-DA2C-76784E316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2"/>
          <a:stretch>
            <a:fillRect/>
          </a:stretch>
        </p:blipFill>
        <p:spPr>
          <a:xfrm>
            <a:off x="8703882" y="3818343"/>
            <a:ext cx="3157979" cy="274623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1A0069-4A70-11B3-F59B-726001D45E98}"/>
              </a:ext>
            </a:extLst>
          </p:cNvPr>
          <p:cNvCxnSpPr>
            <a:cxnSpLocks/>
          </p:cNvCxnSpPr>
          <p:nvPr/>
        </p:nvCxnSpPr>
        <p:spPr>
          <a:xfrm flipV="1">
            <a:off x="6096000" y="4393865"/>
            <a:ext cx="2675485" cy="998267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5178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04A-2E4C-8E02-BA73-AE7289C8C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4. </a:t>
            </a:r>
            <a:r>
              <a:rPr lang="en-GB" b="1" dirty="0"/>
              <a:t>GROUP 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0D893-A56E-E2D4-7538-CF27E14B6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7490139" cy="4309587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ru-RU" sz="2000" b="1" dirty="0"/>
              <a:t>Групує</a:t>
            </a:r>
            <a:r>
              <a:rPr lang="ru-RU" sz="2000" dirty="0"/>
              <a:t> записи за вказаним стовпцем і дозволяє застосовувати агрегатні функції</a:t>
            </a:r>
            <a:r>
              <a:rPr lang="pl-PL" sz="2000" dirty="0"/>
              <a:t> </a:t>
            </a:r>
            <a:r>
              <a:rPr lang="en-GB" sz="2000" b="1" dirty="0"/>
              <a:t>(COUNT, SUM, AVG, MAX, MIN </a:t>
            </a:r>
            <a:r>
              <a:rPr lang="uk-UA" sz="2000" b="1" dirty="0"/>
              <a:t>тощо).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uk-UA" sz="2000" b="1" dirty="0"/>
              <a:t>Шаблон </a:t>
            </a:r>
            <a:r>
              <a:rPr lang="en-GB" sz="2000" b="1" dirty="0"/>
              <a:t>SQL-</a:t>
            </a:r>
            <a:r>
              <a:rPr lang="uk-UA" sz="2000" b="1" dirty="0"/>
              <a:t>запиту: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SELECT </a:t>
            </a:r>
            <a:endParaRPr lang="uk-UA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"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Column_name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"</a:t>
            </a:r>
            <a:r>
              <a:rPr lang="pl-PL" b="1" dirty="0">
                <a:solidFill>
                  <a:srgbClr val="309070"/>
                </a:solidFill>
                <a:highlight>
                  <a:srgbClr val="FFCC66"/>
                </a:highlight>
              </a:rPr>
              <a:t>,</a:t>
            </a:r>
          </a:p>
          <a:p>
            <a:pPr marL="0" indent="0">
              <a:buNone/>
            </a:pPr>
            <a:r>
              <a:rPr lang="pl-PL" b="1" dirty="0">
                <a:solidFill>
                  <a:srgbClr val="309070"/>
                </a:solidFill>
                <a:highlight>
                  <a:srgbClr val="FFCC66"/>
                </a:highlight>
              </a:rPr>
              <a:t>COUNT(*) AS "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Num_order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 </a:t>
            </a:r>
            <a:r>
              <a:rPr lang="pl-PL" b="1" dirty="0">
                <a:solidFill>
                  <a:srgbClr val="309070"/>
                </a:solidFill>
                <a:highlight>
                  <a:srgbClr val="FFCC66"/>
                </a:highlight>
              </a:rPr>
              <a:t>"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 </a:t>
            </a:r>
            <a:endParaRPr lang="uk-UA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FROM "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"</a:t>
            </a:r>
            <a:endParaRPr lang="uk-UA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r>
              <a:rPr lang="pl-PL" b="1" dirty="0">
                <a:solidFill>
                  <a:srgbClr val="309070"/>
                </a:solidFill>
                <a:highlight>
                  <a:srgbClr val="FFCC66"/>
                </a:highlight>
              </a:rPr>
              <a:t>GROUP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 BY "Table_name"."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Column_name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"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D45A3E-125A-37E4-0E79-0DACA55C7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315" y="2916708"/>
            <a:ext cx="2734057" cy="287695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023793-345F-1AD4-98AF-0FC939A2FB1E}"/>
              </a:ext>
            </a:extLst>
          </p:cNvPr>
          <p:cNvCxnSpPr>
            <a:cxnSpLocks/>
          </p:cNvCxnSpPr>
          <p:nvPr/>
        </p:nvCxnSpPr>
        <p:spPr>
          <a:xfrm flipV="1">
            <a:off x="4415742" y="3308808"/>
            <a:ext cx="4162650" cy="1338427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74425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191A-FA29-638F-7E26-42632934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Joining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1A64E-1A34-8AFD-8B3E-B1F29F01E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/>
              <a:t>JOIN – </a:t>
            </a:r>
            <a:r>
              <a:rPr lang="uk-UA" sz="2000" dirty="0"/>
              <a:t>об’єднує дані з двох таблиць.</a:t>
            </a:r>
          </a:p>
          <a:p>
            <a:r>
              <a:rPr lang="en-GB" sz="2000" dirty="0"/>
              <a:t>JOIN </a:t>
            </a:r>
            <a:r>
              <a:rPr lang="uk-UA" sz="2000" dirty="0"/>
              <a:t>зазвичай об’єднує рядки з однаковими значеннями для зазначених стовпців. Зазвичай одна таблиця містить </a:t>
            </a:r>
            <a:r>
              <a:rPr lang="en-GB" sz="2000" b="1" dirty="0">
                <a:solidFill>
                  <a:srgbClr val="FFC000"/>
                </a:solidFill>
              </a:rPr>
              <a:t>primary key</a:t>
            </a:r>
            <a:r>
              <a:rPr lang="uk-UA" sz="2000" b="1" dirty="0"/>
              <a:t>, </a:t>
            </a:r>
            <a:r>
              <a:rPr lang="uk-UA" sz="2000" dirty="0"/>
              <a:t>який є стовпцями що однозначно ідентифікують рядки в таблиці.</a:t>
            </a:r>
            <a:r>
              <a:rPr lang="uk-UA" sz="2000" b="1" dirty="0"/>
              <a:t> </a:t>
            </a:r>
            <a:r>
              <a:rPr lang="uk-UA" sz="2000" dirty="0"/>
              <a:t>Інша таблиця</a:t>
            </a:r>
            <a:r>
              <a:rPr lang="uk-UA" sz="2000" b="1" dirty="0"/>
              <a:t> </a:t>
            </a:r>
            <a:r>
              <a:rPr lang="uk-UA" sz="2000" dirty="0"/>
              <a:t>має</a:t>
            </a:r>
            <a:r>
              <a:rPr lang="uk-UA" sz="2000" b="1" dirty="0"/>
              <a:t> </a:t>
            </a:r>
            <a:r>
              <a:rPr lang="uk-UA" sz="2000" dirty="0"/>
              <a:t>стовпець або стовпці, що посилаються на стовпці </a:t>
            </a:r>
            <a:r>
              <a:rPr lang="en-GB" sz="2000" b="1" dirty="0">
                <a:solidFill>
                  <a:srgbClr val="FFC000"/>
                </a:solidFill>
              </a:rPr>
              <a:t>primary key</a:t>
            </a:r>
            <a:r>
              <a:rPr lang="uk-UA" sz="2000" b="1" dirty="0">
                <a:solidFill>
                  <a:srgbClr val="FFC000"/>
                </a:solidFill>
              </a:rPr>
              <a:t> </a:t>
            </a:r>
            <a:r>
              <a:rPr lang="uk-UA" sz="2000" dirty="0"/>
              <a:t>в першій таблиці. Такі стовпці є </a:t>
            </a:r>
            <a:r>
              <a:rPr lang="en-GB" sz="2000" b="1" dirty="0">
                <a:solidFill>
                  <a:srgbClr val="002060"/>
                </a:solidFill>
              </a:rPr>
              <a:t>foreign keys</a:t>
            </a:r>
            <a:r>
              <a:rPr lang="en-GB" sz="2000" dirty="0"/>
              <a:t>. </a:t>
            </a:r>
            <a:r>
              <a:rPr lang="uk-UA" sz="2000" dirty="0"/>
              <a:t>Умова </a:t>
            </a:r>
            <a:r>
              <a:rPr lang="en-GB" sz="2000" dirty="0"/>
              <a:t>JOIN – </a:t>
            </a:r>
            <a:r>
              <a:rPr lang="uk-UA" sz="2000" dirty="0"/>
              <a:t>це рівність між стовпцями </a:t>
            </a:r>
            <a:r>
              <a:rPr lang="en-GB" sz="2000" b="1" dirty="0">
                <a:solidFill>
                  <a:srgbClr val="FFC000"/>
                </a:solidFill>
              </a:rPr>
              <a:t>primary key </a:t>
            </a:r>
            <a:r>
              <a:rPr lang="uk-UA" sz="2000" dirty="0"/>
              <a:t>в одній</a:t>
            </a:r>
            <a:r>
              <a:rPr lang="en-GB" sz="2000" dirty="0"/>
              <a:t> </a:t>
            </a:r>
            <a:r>
              <a:rPr lang="uk-UA" sz="2000" dirty="0"/>
              <a:t>таблиці та стовпцями, що посилаються на них в іншій таблиці </a:t>
            </a:r>
            <a:endParaRPr lang="uk-UA" sz="2000" dirty="0">
              <a:solidFill>
                <a:srgbClr val="002060"/>
              </a:solidFill>
            </a:endParaRP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423AFE-0F64-A277-48F7-64AF7C70E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27" t="45320" r="58368"/>
          <a:stretch>
            <a:fillRect/>
          </a:stretch>
        </p:blipFill>
        <p:spPr>
          <a:xfrm>
            <a:off x="1543453" y="5160552"/>
            <a:ext cx="2842983" cy="1551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DEC3A9-5CD3-EBBD-3D2D-A36324E7A8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51" t="45320"/>
          <a:stretch>
            <a:fillRect/>
          </a:stretch>
        </p:blipFill>
        <p:spPr>
          <a:xfrm>
            <a:off x="5775416" y="5150856"/>
            <a:ext cx="4220460" cy="1473465"/>
          </a:xfrm>
          <a:prstGeom prst="rect">
            <a:avLst/>
          </a:prstGeom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F63EC9D0-0297-1BBE-7BEE-BC933716EC41}"/>
              </a:ext>
            </a:extLst>
          </p:cNvPr>
          <p:cNvSpPr/>
          <p:nvPr/>
        </p:nvSpPr>
        <p:spPr>
          <a:xfrm>
            <a:off x="1553613" y="5160552"/>
            <a:ext cx="659315" cy="1551274"/>
          </a:xfrm>
          <a:prstGeom prst="frame">
            <a:avLst>
              <a:gd name="adj1" fmla="val 7163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CAA0B94C-3B51-C761-B060-CE9DF4957C48}"/>
              </a:ext>
            </a:extLst>
          </p:cNvPr>
          <p:cNvSpPr/>
          <p:nvPr/>
        </p:nvSpPr>
        <p:spPr>
          <a:xfrm>
            <a:off x="8825373" y="5150856"/>
            <a:ext cx="1189259" cy="1551274"/>
          </a:xfrm>
          <a:prstGeom prst="frame">
            <a:avLst>
              <a:gd name="adj1" fmla="val 7163"/>
            </a:avLst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F538A6-EB63-89E8-174B-89DE74D051C8}"/>
              </a:ext>
            </a:extLst>
          </p:cNvPr>
          <p:cNvSpPr txBox="1"/>
          <p:nvPr/>
        </p:nvSpPr>
        <p:spPr>
          <a:xfrm>
            <a:off x="869298" y="4760442"/>
            <a:ext cx="2199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Табл. </a:t>
            </a:r>
            <a:r>
              <a:rPr lang="en-GB" sz="2000" b="1" dirty="0"/>
              <a:t>Employee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BB689A-0348-8D8F-C74A-475AF4A23714}"/>
              </a:ext>
            </a:extLst>
          </p:cNvPr>
          <p:cNvSpPr txBox="1"/>
          <p:nvPr/>
        </p:nvSpPr>
        <p:spPr>
          <a:xfrm>
            <a:off x="5090160" y="476044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Табл. </a:t>
            </a:r>
            <a:r>
              <a:rPr lang="en-GB" sz="2000" b="1" dirty="0" err="1"/>
              <a:t>EmployeeDetails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87883089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75EC-571B-A000-7A1F-1710A446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5. LEFT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F8930-90A6-E5FB-71DA-8D3ABBAED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70" y="4107976"/>
            <a:ext cx="4513848" cy="2684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b="1" dirty="0"/>
              <a:t>Шаблон </a:t>
            </a:r>
            <a:r>
              <a:rPr lang="en-GB" sz="2000" b="1" dirty="0"/>
              <a:t>SQL-</a:t>
            </a:r>
            <a:r>
              <a:rPr lang="uk-UA" sz="2000" b="1" dirty="0"/>
              <a:t>запиту:</a:t>
            </a:r>
            <a:endParaRPr lang="uk-UA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SELECT 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 *  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FROM "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_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A" 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  </a:t>
            </a: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LEFT JOIN “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Table_name_B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tBON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.”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Id_tA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 =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.”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Id_tB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</a:t>
            </a:r>
            <a:endParaRPr lang="uk-UA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C85FDF-4EFA-0C81-627F-2A2173707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282" y="2837640"/>
            <a:ext cx="6745050" cy="250424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F40A67F-ED03-D51E-6F76-74FE53A5FA1D}"/>
              </a:ext>
            </a:extLst>
          </p:cNvPr>
          <p:cNvCxnSpPr>
            <a:cxnSpLocks/>
          </p:cNvCxnSpPr>
          <p:nvPr/>
        </p:nvCxnSpPr>
        <p:spPr>
          <a:xfrm flipV="1">
            <a:off x="3487271" y="3225421"/>
            <a:ext cx="1949087" cy="1274861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Frame 6">
            <a:extLst>
              <a:ext uri="{FF2B5EF4-FFF2-40B4-BE49-F238E27FC236}">
                <a16:creationId xmlns:a16="http://schemas.microsoft.com/office/drawing/2014/main" id="{59BAA01C-F07E-FB64-0E8C-5986031384DB}"/>
              </a:ext>
            </a:extLst>
          </p:cNvPr>
          <p:cNvSpPr/>
          <p:nvPr/>
        </p:nvSpPr>
        <p:spPr>
          <a:xfrm>
            <a:off x="5275170" y="3993843"/>
            <a:ext cx="2846896" cy="1334513"/>
          </a:xfrm>
          <a:prstGeom prst="frame">
            <a:avLst>
              <a:gd name="adj1" fmla="val 351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6416A0D8-2978-2D75-1B6B-4472161383A7}"/>
              </a:ext>
            </a:extLst>
          </p:cNvPr>
          <p:cNvSpPr/>
          <p:nvPr/>
        </p:nvSpPr>
        <p:spPr>
          <a:xfrm>
            <a:off x="8122066" y="3984999"/>
            <a:ext cx="3902266" cy="1343357"/>
          </a:xfrm>
          <a:prstGeom prst="frame">
            <a:avLst>
              <a:gd name="adj1" fmla="val 3519"/>
            </a:avLst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23E87E-B5D4-E0B1-81F6-FBE8AF76E19B}"/>
              </a:ext>
            </a:extLst>
          </p:cNvPr>
          <p:cNvSpPr txBox="1"/>
          <p:nvPr/>
        </p:nvSpPr>
        <p:spPr>
          <a:xfrm>
            <a:off x="439270" y="2191309"/>
            <a:ext cx="451384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uk-UA" sz="2000" b="1" dirty="0"/>
              <a:t>З’єднує</a:t>
            </a:r>
            <a:r>
              <a:rPr lang="uk-UA" sz="2000" dirty="0"/>
              <a:t> дві таблиці, </a:t>
            </a:r>
            <a:r>
              <a:rPr lang="uk-UA" sz="2000" b="1" dirty="0"/>
              <a:t>повертаючи всі записи з лівої таблиці</a:t>
            </a:r>
            <a:r>
              <a:rPr lang="en-GB" sz="2000" b="1" dirty="0"/>
              <a:t> </a:t>
            </a:r>
            <a:r>
              <a:rPr lang="uk-UA" sz="2000" b="1" dirty="0"/>
              <a:t>з відповідними рядками з правої таблиці.</a:t>
            </a:r>
          </a:p>
          <a:p>
            <a:pPr marL="0" indent="0">
              <a:buNone/>
            </a:pPr>
            <a:r>
              <a:rPr lang="uk-UA" b="1" dirty="0"/>
              <a:t>Рядки без збігу заповнюються </a:t>
            </a:r>
            <a:r>
              <a:rPr lang="en-GB" b="1" dirty="0"/>
              <a:t>NULL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103988232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3B97-30A8-3079-85B5-8AF2DC7D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87BD-ED9E-3FA6-8E62-67E293942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5.1. RIGHT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C89F8-D487-1405-8472-0A83B03ED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523" y="4451322"/>
            <a:ext cx="4537675" cy="2577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000" b="1" dirty="0"/>
              <a:t>Шаблон </a:t>
            </a:r>
            <a:r>
              <a:rPr lang="en-GB" sz="2000" b="1" dirty="0"/>
              <a:t>SQL-</a:t>
            </a:r>
            <a:r>
              <a:rPr lang="uk-UA" sz="2000" b="1" dirty="0"/>
              <a:t>запиту:</a:t>
            </a:r>
            <a:endParaRPr lang="uk-UA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SELECT 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 *  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FROM "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_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A" 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  </a:t>
            </a: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RIGHT JOIN “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Table_name_B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tB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 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ON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.”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Id_tA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 =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.”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Id_tB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</a:t>
            </a:r>
            <a:endParaRPr lang="uk-UA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98C13E-AC7C-8134-FA36-8AFF442B5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596" y="2588977"/>
            <a:ext cx="6931528" cy="233862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079A3B-B547-43D7-925A-87F7CB0A3C69}"/>
              </a:ext>
            </a:extLst>
          </p:cNvPr>
          <p:cNvCxnSpPr>
            <a:cxnSpLocks/>
          </p:cNvCxnSpPr>
          <p:nvPr/>
        </p:nvCxnSpPr>
        <p:spPr>
          <a:xfrm flipV="1">
            <a:off x="3829635" y="2819923"/>
            <a:ext cx="1388359" cy="1826181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Frame 6">
            <a:extLst>
              <a:ext uri="{FF2B5EF4-FFF2-40B4-BE49-F238E27FC236}">
                <a16:creationId xmlns:a16="http://schemas.microsoft.com/office/drawing/2014/main" id="{EA5DB8C3-C9C5-15F5-6203-33C023F35FB6}"/>
              </a:ext>
            </a:extLst>
          </p:cNvPr>
          <p:cNvSpPr/>
          <p:nvPr/>
        </p:nvSpPr>
        <p:spPr>
          <a:xfrm>
            <a:off x="5029200" y="3733014"/>
            <a:ext cx="2936449" cy="1225066"/>
          </a:xfrm>
          <a:prstGeom prst="frame">
            <a:avLst>
              <a:gd name="adj1" fmla="val 303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FBDF1E74-BAD5-365F-1C36-896EBE7F5691}"/>
              </a:ext>
            </a:extLst>
          </p:cNvPr>
          <p:cNvSpPr/>
          <p:nvPr/>
        </p:nvSpPr>
        <p:spPr>
          <a:xfrm>
            <a:off x="7965649" y="3733014"/>
            <a:ext cx="4035475" cy="1225066"/>
          </a:xfrm>
          <a:prstGeom prst="frame">
            <a:avLst>
              <a:gd name="adj1" fmla="val 3030"/>
            </a:avLst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B0FC9-4415-C410-EB0E-7D0D682CF315}"/>
              </a:ext>
            </a:extLst>
          </p:cNvPr>
          <p:cNvSpPr txBox="1"/>
          <p:nvPr/>
        </p:nvSpPr>
        <p:spPr>
          <a:xfrm>
            <a:off x="471326" y="2235331"/>
            <a:ext cx="440547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000" b="1" dirty="0"/>
              <a:t>З’єднує</a:t>
            </a:r>
            <a:r>
              <a:rPr lang="uk-UA" sz="2000" dirty="0"/>
              <a:t> дві таблиці, </a:t>
            </a:r>
            <a:r>
              <a:rPr lang="uk-UA" sz="2000" b="1" dirty="0"/>
              <a:t>повертаючи всі записи з правої таблиці з відповідними рядками з лівої таблиці.</a:t>
            </a:r>
          </a:p>
          <a:p>
            <a:r>
              <a:rPr lang="uk-UA" sz="2000" b="1" dirty="0"/>
              <a:t>Рядки без збігу заповнюються </a:t>
            </a:r>
            <a:r>
              <a:rPr lang="en-GB" sz="2000" b="1" dirty="0"/>
              <a:t>NULL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uk-UA" sz="1800" b="1" dirty="0"/>
              <a:t> </a:t>
            </a: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281565948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A8364-41EC-BF7E-4DCF-E5850DD60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E4F49-14ED-890F-9FD6-BB74DC5E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5.2. FULL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9F6F-1504-826D-70A9-34252D879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4539861" cy="4341431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uk-UA" sz="2000" b="1" dirty="0"/>
              <a:t>З’єднує</a:t>
            </a:r>
            <a:r>
              <a:rPr lang="uk-UA" sz="2000" dirty="0"/>
              <a:t> дві таблиці, </a:t>
            </a:r>
            <a:r>
              <a:rPr lang="uk-UA" sz="2000" b="1" dirty="0"/>
              <a:t>повертаючи всі записи з лівої та з правої таблиці. Рядки без збігу заповнюються </a:t>
            </a:r>
            <a:r>
              <a:rPr lang="en-GB" sz="2000" b="1" dirty="0"/>
              <a:t>NULL</a:t>
            </a:r>
            <a:endParaRPr lang="uk-UA" sz="2000" b="1" dirty="0"/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uk-UA" sz="2000" b="1" dirty="0"/>
              <a:t>Шаблон </a:t>
            </a:r>
            <a:r>
              <a:rPr lang="en-GB" sz="2000" b="1" dirty="0"/>
              <a:t>SQL-</a:t>
            </a:r>
            <a:r>
              <a:rPr lang="uk-UA" sz="2000" b="1" dirty="0"/>
              <a:t>запиту:</a:t>
            </a:r>
            <a:endParaRPr lang="uk-UA" sz="20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SELECT 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 *  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FROM "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_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A" 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  </a:t>
            </a:r>
          </a:p>
          <a:p>
            <a:pPr marL="0" indent="0">
              <a:buNone/>
            </a:pP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FULL JOIN “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Table_name_B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tB</a:t>
            </a:r>
            <a:r>
              <a:rPr lang="uk-UA" b="1" dirty="0">
                <a:solidFill>
                  <a:srgbClr val="309070"/>
                </a:solidFill>
                <a:highlight>
                  <a:srgbClr val="FFCC66"/>
                </a:highlight>
              </a:rPr>
              <a:t> 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ON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tA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.”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Id_tA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 = 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tB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.”</a:t>
            </a:r>
            <a:r>
              <a:rPr lang="en-GB" b="1" dirty="0" err="1">
                <a:solidFill>
                  <a:srgbClr val="309070"/>
                </a:solidFill>
                <a:highlight>
                  <a:srgbClr val="FFCC66"/>
                </a:highlight>
              </a:rPr>
              <a:t>Id_tB</a:t>
            </a:r>
            <a:r>
              <a:rPr lang="en-GB" b="1" dirty="0">
                <a:solidFill>
                  <a:srgbClr val="309070"/>
                </a:solidFill>
                <a:highlight>
                  <a:srgbClr val="FFCC66"/>
                </a:highlight>
              </a:rPr>
              <a:t>”</a:t>
            </a:r>
            <a:endParaRPr lang="uk-UA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A287B-ADD7-60FF-4303-A55DB7F6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182" y="2590057"/>
            <a:ext cx="6813622" cy="248655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70FA6C-A5E4-CF3D-ACD6-7B9D2DFD3B00}"/>
              </a:ext>
            </a:extLst>
          </p:cNvPr>
          <p:cNvCxnSpPr>
            <a:cxnSpLocks/>
          </p:cNvCxnSpPr>
          <p:nvPr/>
        </p:nvCxnSpPr>
        <p:spPr>
          <a:xfrm flipV="1">
            <a:off x="3935392" y="2963119"/>
            <a:ext cx="1608881" cy="2113497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Frame 9">
            <a:extLst>
              <a:ext uri="{FF2B5EF4-FFF2-40B4-BE49-F238E27FC236}">
                <a16:creationId xmlns:a16="http://schemas.microsoft.com/office/drawing/2014/main" id="{5DA07584-F0EB-A8FD-945C-067E745E0A09}"/>
              </a:ext>
            </a:extLst>
          </p:cNvPr>
          <p:cNvSpPr/>
          <p:nvPr/>
        </p:nvSpPr>
        <p:spPr>
          <a:xfrm>
            <a:off x="5194168" y="3745546"/>
            <a:ext cx="2912901" cy="1334513"/>
          </a:xfrm>
          <a:prstGeom prst="frame">
            <a:avLst>
              <a:gd name="adj1" fmla="val 351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C4BF139B-F552-2835-DC2D-A2BAEE45F46D}"/>
              </a:ext>
            </a:extLst>
          </p:cNvPr>
          <p:cNvSpPr/>
          <p:nvPr/>
        </p:nvSpPr>
        <p:spPr>
          <a:xfrm>
            <a:off x="8041064" y="3736702"/>
            <a:ext cx="3992739" cy="1343357"/>
          </a:xfrm>
          <a:prstGeom prst="frame">
            <a:avLst>
              <a:gd name="adj1" fmla="val 3519"/>
            </a:avLst>
          </a:prstGeom>
          <a:solidFill>
            <a:srgbClr val="6699FF"/>
          </a:solidFill>
          <a:ln>
            <a:solidFill>
              <a:srgbClr val="66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82199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915C-4A2B-4D64-4697-AD7A2646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6. </a:t>
            </a:r>
            <a:r>
              <a:rPr lang="en-GB" b="1" dirty="0"/>
              <a:t>STORED PROCEDURE (PROCEDURE)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2777A-395F-0497-4736-AB6BD295B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961" y="2395467"/>
            <a:ext cx="10888744" cy="405992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ru-RU" sz="2000" b="1" dirty="0"/>
              <a:t>Процедура</a:t>
            </a:r>
            <a:r>
              <a:rPr lang="ru-RU" sz="2000" dirty="0"/>
              <a:t> — це збережена в базі даних SQL-інструкція.</a:t>
            </a:r>
          </a:p>
          <a:p>
            <a:pPr>
              <a:lnSpc>
                <a:spcPct val="110000"/>
              </a:lnSpc>
            </a:pPr>
            <a:r>
              <a:rPr lang="ru-RU" sz="2000" b="1" dirty="0"/>
              <a:t>Основна мета </a:t>
            </a:r>
            <a:r>
              <a:rPr lang="ru-RU" sz="2000" dirty="0"/>
              <a:t>— прийняти параметри і виконати логіку, відповідно до наміру розробника.</a:t>
            </a:r>
          </a:p>
          <a:p>
            <a:pPr>
              <a:lnSpc>
                <a:spcPct val="110000"/>
              </a:lnSpc>
            </a:pPr>
            <a:r>
              <a:rPr lang="ru-RU" sz="2000" dirty="0"/>
              <a:t>Якщо ви часто виконуєте однаковий запит — процедура допомагає економити час, уникаючи повторення коду.</a:t>
            </a:r>
          </a:p>
          <a:p>
            <a:pPr>
              <a:lnSpc>
                <a:spcPct val="110000"/>
              </a:lnSpc>
            </a:pPr>
            <a:r>
              <a:rPr lang="ru-RU" sz="2000" dirty="0"/>
              <a:t>Процедури можна багаторазово викликати, вони зберігаються на сервері та працюють швидше за звичайні запити.</a:t>
            </a:r>
          </a:p>
          <a:p>
            <a:pPr>
              <a:lnSpc>
                <a:spcPct val="110000"/>
              </a:lnSpc>
            </a:pPr>
            <a:r>
              <a:rPr lang="ru-RU" sz="2000" dirty="0"/>
              <a:t>Використовуються для: оновлення даних, перевірки умов, обробки транзакцій тощо.</a:t>
            </a:r>
          </a:p>
        </p:txBody>
      </p:sp>
    </p:spTree>
    <p:extLst>
      <p:ext uri="{BB962C8B-B14F-4D97-AF65-F5344CB8AC3E}">
        <p14:creationId xmlns:p14="http://schemas.microsoft.com/office/powerpoint/2010/main" val="85055006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1892-5D90-FC03-00D2-5A3C52DD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6.1 </a:t>
            </a:r>
            <a:r>
              <a:rPr lang="en-GB" b="1" dirty="0"/>
              <a:t>STORED PROCEDURES (PROCEDURE)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5E0BA-B2C3-CA76-AF9E-EE85F00B6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797" y="2039440"/>
            <a:ext cx="11353800" cy="47731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CREATE PROCEDURE [</a:t>
            </a:r>
            <a:r>
              <a:rPr lang="en-GB" sz="33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proc_name</a:t>
            </a: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]</a:t>
            </a:r>
          </a:p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(</a:t>
            </a:r>
          </a:p>
          <a:p>
            <a:pPr marL="457200" lvl="1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[param1] [datatype],</a:t>
            </a:r>
          </a:p>
          <a:p>
            <a:pPr marL="457200" lvl="1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[param2] [datatype]</a:t>
            </a:r>
          </a:p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)</a:t>
            </a:r>
          </a:p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LANGUAGE </a:t>
            </a:r>
            <a:r>
              <a:rPr lang="en-GB" sz="3300" b="1" dirty="0" err="1">
                <a:solidFill>
                  <a:srgbClr val="309070"/>
                </a:solidFill>
                <a:highlight>
                  <a:srgbClr val="FFCC66"/>
                </a:highlight>
              </a:rPr>
              <a:t>plpgsql</a:t>
            </a:r>
            <a:endParaRPr lang="en-GB" sz="3300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AS $$</a:t>
            </a:r>
          </a:p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BEGIN</a:t>
            </a:r>
          </a:p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	-- logic here</a:t>
            </a:r>
          </a:p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END;</a:t>
            </a:r>
          </a:p>
          <a:p>
            <a:pPr marL="0" indent="0">
              <a:buNone/>
            </a:pPr>
            <a:r>
              <a:rPr lang="en-GB" sz="3300" b="1" dirty="0">
                <a:solidFill>
                  <a:srgbClr val="309070"/>
                </a:solidFill>
                <a:highlight>
                  <a:srgbClr val="FFCC66"/>
                </a:highlight>
              </a:rPr>
              <a:t>$$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3300" b="1" dirty="0">
                <a:solidFill>
                  <a:srgbClr val="FFCC66"/>
                </a:solidFill>
                <a:highlight>
                  <a:srgbClr val="6699FF"/>
                </a:highlight>
              </a:rPr>
              <a:t>DROP PROCEDURE [</a:t>
            </a:r>
            <a:r>
              <a:rPr lang="en-GB" sz="3300" b="1" dirty="0" err="1">
                <a:solidFill>
                  <a:srgbClr val="FFCC66"/>
                </a:solidFill>
                <a:highlight>
                  <a:srgbClr val="6699FF"/>
                </a:highlight>
              </a:rPr>
              <a:t>proc_name</a:t>
            </a:r>
            <a:r>
              <a:rPr lang="en-GB" sz="3300" b="1" dirty="0">
                <a:solidFill>
                  <a:srgbClr val="FFCC66"/>
                </a:solidFill>
                <a:highlight>
                  <a:srgbClr val="6699FF"/>
                </a:highlight>
              </a:rPr>
              <a:t>]([datatype], [datatype], [datatype]);</a:t>
            </a:r>
          </a:p>
          <a:p>
            <a:pPr marL="0" indent="0">
              <a:buNone/>
            </a:pPr>
            <a:r>
              <a:rPr lang="en-GB" sz="3300" b="1" dirty="0">
                <a:solidFill>
                  <a:srgbClr val="6699FF"/>
                </a:solidFill>
                <a:highlight>
                  <a:srgbClr val="FFCC66"/>
                </a:highlight>
              </a:rPr>
              <a:t>CALL [</a:t>
            </a:r>
            <a:r>
              <a:rPr lang="en-GB" sz="3300" b="1" dirty="0" err="1">
                <a:solidFill>
                  <a:srgbClr val="6699FF"/>
                </a:solidFill>
                <a:highlight>
                  <a:srgbClr val="FFCC66"/>
                </a:highlight>
              </a:rPr>
              <a:t>proc_name</a:t>
            </a:r>
            <a:r>
              <a:rPr lang="en-GB" sz="3300" b="1" dirty="0">
                <a:solidFill>
                  <a:srgbClr val="6699FF"/>
                </a:solidFill>
                <a:highlight>
                  <a:srgbClr val="FFCC66"/>
                </a:highlight>
              </a:rPr>
              <a:t>] ( [Id], [param2], [param2]);</a:t>
            </a:r>
          </a:p>
          <a:p>
            <a:pPr marL="0" indent="0">
              <a:buNone/>
            </a:pPr>
            <a:endParaRPr lang="en-GB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4E7D6-3CE2-7B77-27AC-5F2397FD12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032"/>
          <a:stretch>
            <a:fillRect/>
          </a:stretch>
        </p:blipFill>
        <p:spPr>
          <a:xfrm>
            <a:off x="7675084" y="2332217"/>
            <a:ext cx="4084245" cy="288355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0CDA39-B78D-E461-F826-A6A24F0917F1}"/>
              </a:ext>
            </a:extLst>
          </p:cNvPr>
          <p:cNvCxnSpPr>
            <a:cxnSpLocks/>
          </p:cNvCxnSpPr>
          <p:nvPr/>
        </p:nvCxnSpPr>
        <p:spPr>
          <a:xfrm flipV="1">
            <a:off x="3553905" y="2852382"/>
            <a:ext cx="4279910" cy="333878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702C6B-D75A-EC5C-66F7-65476DF5D176}"/>
              </a:ext>
            </a:extLst>
          </p:cNvPr>
          <p:cNvCxnSpPr>
            <a:cxnSpLocks/>
          </p:cNvCxnSpPr>
          <p:nvPr/>
        </p:nvCxnSpPr>
        <p:spPr>
          <a:xfrm flipV="1">
            <a:off x="5410986" y="4858462"/>
            <a:ext cx="2385832" cy="1140914"/>
          </a:xfrm>
          <a:prstGeom prst="straightConnector1">
            <a:avLst/>
          </a:prstGeom>
          <a:ln w="38100">
            <a:solidFill>
              <a:srgbClr val="FFCC66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E34DEB-A149-2AAE-FFDB-77956769CFB4}"/>
              </a:ext>
            </a:extLst>
          </p:cNvPr>
          <p:cNvCxnSpPr>
            <a:cxnSpLocks/>
          </p:cNvCxnSpPr>
          <p:nvPr/>
        </p:nvCxnSpPr>
        <p:spPr>
          <a:xfrm flipV="1">
            <a:off x="6574420" y="5266914"/>
            <a:ext cx="3518545" cy="1307506"/>
          </a:xfrm>
          <a:prstGeom prst="straightConnector1">
            <a:avLst/>
          </a:prstGeom>
          <a:ln w="38100">
            <a:solidFill>
              <a:srgbClr val="6699FF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73050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EF74-DF17-8A3F-97C1-8E3E95ABD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7. (CTE)</a:t>
            </a:r>
            <a:r>
              <a:rPr lang="en-GB" dirty="0"/>
              <a:t> </a:t>
            </a:r>
            <a:r>
              <a:rPr lang="en-GB" b="1" dirty="0"/>
              <a:t>Common Table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89791-3234-84CD-D79E-DDF27955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CTE</a:t>
            </a:r>
            <a:r>
              <a:rPr lang="en-GB" dirty="0"/>
              <a:t> - </a:t>
            </a:r>
            <a:r>
              <a:rPr lang="ru-RU" b="1" dirty="0"/>
              <a:t>Тимчасовий результат (віртуальна таблиця)</a:t>
            </a:r>
            <a:r>
              <a:rPr lang="ru-RU" dirty="0"/>
              <a:t>, який можна використовувати в одному запиті</a:t>
            </a:r>
            <a:endParaRPr lang="en-US" dirty="0"/>
          </a:p>
          <a:p>
            <a:endParaRPr lang="en-GB" dirty="0"/>
          </a:p>
          <a:p>
            <a:r>
              <a:rPr lang="ru-RU" dirty="0"/>
              <a:t>Існує лише під час виконання одного запиту </a:t>
            </a:r>
            <a:endParaRPr lang="en-US" dirty="0"/>
          </a:p>
          <a:p>
            <a:endParaRPr lang="ru-RU" dirty="0"/>
          </a:p>
          <a:p>
            <a:r>
              <a:rPr lang="ru-RU" dirty="0"/>
              <a:t>Зручно для читабельності складних запитів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243847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262DB-83A4-B497-1F32-6854F3F14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7.1. (CTE)</a:t>
            </a:r>
            <a:r>
              <a:rPr lang="en-GB" dirty="0"/>
              <a:t> </a:t>
            </a:r>
            <a:r>
              <a:rPr lang="en-GB" b="1" dirty="0"/>
              <a:t>Common Table Expression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DA25D-C220-44B8-7BFC-8B23336FD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4578616" cy="3599316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1" dirty="0">
              <a:solidFill>
                <a:srgbClr val="309070"/>
              </a:solidFill>
              <a:highlight>
                <a:srgbClr val="FFCC66"/>
              </a:highlight>
            </a:endParaRPr>
          </a:p>
          <a:p>
            <a:pPr marL="0" indent="0">
              <a:buNone/>
            </a:pPr>
            <a:r>
              <a:rPr lang="en-GB" sz="2400" b="1" dirty="0">
                <a:solidFill>
                  <a:srgbClr val="309070"/>
                </a:solidFill>
                <a:highlight>
                  <a:srgbClr val="FFCC66"/>
                </a:highlight>
              </a:rPr>
              <a:t>WITH [CTE_NAME] AS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309070"/>
                </a:solidFill>
                <a:highlight>
                  <a:srgbClr val="FFCC66"/>
                </a:highlight>
              </a:rPr>
              <a:t>(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309070"/>
                </a:solidFill>
                <a:highlight>
                  <a:srgbClr val="FFCC66"/>
                </a:highlight>
              </a:rPr>
              <a:t>	SELECT …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309070"/>
                </a:solidFill>
                <a:highlight>
                  <a:srgbClr val="FFCC66"/>
                </a:highlight>
              </a:rPr>
              <a:t>)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309070"/>
                </a:solidFill>
                <a:highlight>
                  <a:srgbClr val="FFCC66"/>
                </a:highlight>
              </a:rPr>
              <a:t>SELECT * FROM [CTE_NAME];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836760-0D98-FA00-A677-E2DAA34B8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319" y="2191106"/>
            <a:ext cx="5363323" cy="397247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60E459-960F-2ACB-D796-FCAA41C8B2FE}"/>
              </a:ext>
            </a:extLst>
          </p:cNvPr>
          <p:cNvCxnSpPr>
            <a:cxnSpLocks/>
          </p:cNvCxnSpPr>
          <p:nvPr/>
        </p:nvCxnSpPr>
        <p:spPr>
          <a:xfrm>
            <a:off x="4217158" y="2843284"/>
            <a:ext cx="2556681" cy="0"/>
          </a:xfrm>
          <a:prstGeom prst="straightConnector1">
            <a:avLst/>
          </a:prstGeom>
          <a:ln w="38100">
            <a:solidFill>
              <a:srgbClr val="30907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07414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D9A8-0EEA-3970-F448-8EFAA139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Нормалізація</a:t>
            </a:r>
            <a:r>
              <a:rPr lang="en-GB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B0E1D-7FD4-AB88-2936-B1AF17362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000" dirty="0"/>
              <a:t>Наводить порядок у базі даних.</a:t>
            </a:r>
            <a:endParaRPr lang="en-US" sz="2000" dirty="0"/>
          </a:p>
          <a:p>
            <a:endParaRPr lang="uk-UA" sz="2000" dirty="0"/>
          </a:p>
          <a:p>
            <a:r>
              <a:rPr lang="uk-UA" sz="2000" dirty="0"/>
              <a:t>В нормалізації є декілька</a:t>
            </a:r>
            <a:r>
              <a:rPr lang="en-GB" sz="2000" dirty="0"/>
              <a:t> </a:t>
            </a:r>
            <a:r>
              <a:rPr lang="uk-UA" sz="2000" dirty="0"/>
              <a:t>основних кроків нормальних форм</a:t>
            </a:r>
            <a:r>
              <a:rPr lang="en-GB" sz="2000" dirty="0"/>
              <a:t> (Normal Form)</a:t>
            </a:r>
            <a:r>
              <a:rPr lang="uk-UA" sz="2000" dirty="0"/>
              <a:t>, які відповідають за порядок (</a:t>
            </a:r>
            <a:r>
              <a:rPr lang="en-GB" sz="2000" dirty="0"/>
              <a:t>NF1, NF2, NF3</a:t>
            </a:r>
            <a:r>
              <a:rPr lang="uk-UA" sz="2000" dirty="0"/>
              <a:t>)</a:t>
            </a:r>
            <a:endParaRPr lang="en-US" sz="2000" dirty="0"/>
          </a:p>
          <a:p>
            <a:endParaRPr lang="uk-UA" sz="2000" dirty="0"/>
          </a:p>
          <a:p>
            <a:r>
              <a:rPr lang="ru-RU" sz="2000" dirty="0"/>
              <a:t>Кожна наступна нормальна форма вимагає суворіших умов, тобто переходить від менш суворого до найбільш суворого рівня нормалізації БД.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1584739790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EA70-1352-DCC8-DF27-30F817623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b="1" dirty="0"/>
              <a:t>Навіщо потрібна нормалізація БД?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D5E5F-3259-B411-D238-35151820C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3259519"/>
            <a:ext cx="6240432" cy="2482710"/>
          </a:xfrm>
        </p:spPr>
        <p:txBody>
          <a:bodyPr>
            <a:normAutofit/>
          </a:bodyPr>
          <a:lstStyle/>
          <a:p>
            <a:r>
              <a:rPr lang="uk-UA" sz="2000" dirty="0"/>
              <a:t>Зменшує навантаження на сервер</a:t>
            </a:r>
            <a:endParaRPr lang="en-US" sz="2000" dirty="0"/>
          </a:p>
          <a:p>
            <a:endParaRPr lang="uk-UA" sz="2000" dirty="0"/>
          </a:p>
          <a:p>
            <a:r>
              <a:rPr lang="uk-UA" sz="2000" dirty="0"/>
              <a:t>Зменшує об’єм пам’яті, яку займає бд</a:t>
            </a:r>
            <a:endParaRPr lang="en-US" sz="2000" dirty="0"/>
          </a:p>
          <a:p>
            <a:endParaRPr lang="uk-UA" sz="2000" dirty="0"/>
          </a:p>
          <a:p>
            <a:r>
              <a:rPr lang="uk-UA" sz="2000" dirty="0"/>
              <a:t>Збільшує швидкість виконання </a:t>
            </a:r>
            <a:r>
              <a:rPr lang="en-GB" sz="2000" dirty="0"/>
              <a:t>SQL-</a:t>
            </a:r>
            <a:r>
              <a:rPr lang="uk-UA" sz="2000" dirty="0"/>
              <a:t>запитів</a:t>
            </a:r>
            <a:endParaRPr lang="en-GB" sz="2000" dirty="0"/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331D61AB-D370-A900-37EF-5921B2BCB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53" t="33939" r="18707" b="33192"/>
          <a:stretch>
            <a:fillRect/>
          </a:stretch>
        </p:blipFill>
        <p:spPr>
          <a:xfrm>
            <a:off x="6442171" y="2950772"/>
            <a:ext cx="5334683" cy="286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6966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21DD5-12BC-51DD-5D9F-8F200B234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NF1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66A5C-8905-64D2-8B54-60D4C03EA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412" y="2168624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uk-UA" sz="2000" dirty="0"/>
              <a:t>Всі атрибути прості</a:t>
            </a:r>
            <a:r>
              <a:rPr lang="en-GB" sz="2000" dirty="0"/>
              <a:t> (</a:t>
            </a:r>
            <a:r>
              <a:rPr lang="uk-UA" sz="2000" dirty="0"/>
              <a:t>Не має поєднання даних, конкатенації </a:t>
            </a:r>
            <a:r>
              <a:rPr lang="en-GB" sz="2000" dirty="0"/>
              <a:t>)</a:t>
            </a:r>
            <a:endParaRPr lang="uk-UA" sz="2000" dirty="0"/>
          </a:p>
          <a:p>
            <a:pPr marL="514350" indent="-514350">
              <a:buFont typeface="+mj-lt"/>
              <a:buAutoNum type="arabicPeriod"/>
            </a:pPr>
            <a:r>
              <a:rPr lang="uk-UA" sz="2000" dirty="0"/>
              <a:t>Не має атрибутів, які б повторювались (Всі атрибути є не повторювальними і не є взаємовзамінними)</a:t>
            </a:r>
          </a:p>
          <a:p>
            <a:pPr marL="514350" indent="-514350">
              <a:buFont typeface="+mj-lt"/>
              <a:buAutoNum type="arabicPeriod"/>
            </a:pPr>
            <a:r>
              <a:rPr lang="uk-UA" sz="2000" dirty="0"/>
              <a:t>В кожній комірці відношення занесено лише одне значення </a:t>
            </a:r>
            <a:endParaRPr lang="en-GB" sz="2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9704CAD-81FF-AB6C-7307-EE4EB9CF4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604338"/>
              </p:ext>
            </p:extLst>
          </p:nvPr>
        </p:nvGraphicFramePr>
        <p:xfrm>
          <a:off x="478012" y="4244210"/>
          <a:ext cx="5062979" cy="2017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785">
                  <a:extLst>
                    <a:ext uri="{9D8B030D-6E8A-4147-A177-3AD203B41FA5}">
                      <a16:colId xmlns:a16="http://schemas.microsoft.com/office/drawing/2014/main" val="3949301401"/>
                    </a:ext>
                  </a:extLst>
                </a:gridCol>
                <a:gridCol w="1630704">
                  <a:extLst>
                    <a:ext uri="{9D8B030D-6E8A-4147-A177-3AD203B41FA5}">
                      <a16:colId xmlns:a16="http://schemas.microsoft.com/office/drawing/2014/main" val="4278716902"/>
                    </a:ext>
                  </a:extLst>
                </a:gridCol>
                <a:gridCol w="1265745">
                  <a:extLst>
                    <a:ext uri="{9D8B030D-6E8A-4147-A177-3AD203B41FA5}">
                      <a16:colId xmlns:a16="http://schemas.microsoft.com/office/drawing/2014/main" val="117177447"/>
                    </a:ext>
                  </a:extLst>
                </a:gridCol>
                <a:gridCol w="1265745">
                  <a:extLst>
                    <a:ext uri="{9D8B030D-6E8A-4147-A177-3AD203B41FA5}">
                      <a16:colId xmlns:a16="http://schemas.microsoft.com/office/drawing/2014/main" val="363622459"/>
                    </a:ext>
                  </a:extLst>
                </a:gridCol>
              </a:tblGrid>
              <a:tr h="5043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Surname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PC_Id</a:t>
                      </a:r>
                      <a:endParaRPr lang="en-GB" dirty="0"/>
                    </a:p>
                  </a:txBody>
                  <a:tcPr>
                    <a:solidFill>
                      <a:srgbClr val="309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625559"/>
                  </a:ext>
                </a:extLst>
              </a:tr>
              <a:tr h="504334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Ivan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Korba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94682"/>
                  </a:ext>
                </a:extLst>
              </a:tr>
              <a:tr h="504334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Alex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Katchenko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000469"/>
                  </a:ext>
                </a:extLst>
              </a:tr>
              <a:tr h="504334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Sofi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Chirva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431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BCA2250-359F-48C1-3CE1-2C68F806BA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353842"/>
              </p:ext>
            </p:extLst>
          </p:nvPr>
        </p:nvGraphicFramePr>
        <p:xfrm>
          <a:off x="6505433" y="4176337"/>
          <a:ext cx="5062979" cy="2153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785">
                  <a:extLst>
                    <a:ext uri="{9D8B030D-6E8A-4147-A177-3AD203B41FA5}">
                      <a16:colId xmlns:a16="http://schemas.microsoft.com/office/drawing/2014/main" val="3949301401"/>
                    </a:ext>
                  </a:extLst>
                </a:gridCol>
                <a:gridCol w="1630704">
                  <a:extLst>
                    <a:ext uri="{9D8B030D-6E8A-4147-A177-3AD203B41FA5}">
                      <a16:colId xmlns:a16="http://schemas.microsoft.com/office/drawing/2014/main" val="4278716902"/>
                    </a:ext>
                  </a:extLst>
                </a:gridCol>
                <a:gridCol w="1265745">
                  <a:extLst>
                    <a:ext uri="{9D8B030D-6E8A-4147-A177-3AD203B41FA5}">
                      <a16:colId xmlns:a16="http://schemas.microsoft.com/office/drawing/2014/main" val="117177447"/>
                    </a:ext>
                  </a:extLst>
                </a:gridCol>
                <a:gridCol w="1265745">
                  <a:extLst>
                    <a:ext uri="{9D8B030D-6E8A-4147-A177-3AD203B41FA5}">
                      <a16:colId xmlns:a16="http://schemas.microsoft.com/office/drawing/2014/main" val="363622459"/>
                    </a:ext>
                  </a:extLst>
                </a:gridCol>
              </a:tblGrid>
              <a:tr h="504334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PC_Id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625559"/>
                  </a:ext>
                </a:extLst>
              </a:tr>
              <a:tr h="504334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Ivan123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Ivan123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94682"/>
                  </a:ext>
                </a:extLst>
              </a:tr>
              <a:tr h="504334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Alex, Vitaliy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Alex, Vitaliy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000469"/>
                  </a:ext>
                </a:extLst>
              </a:tr>
              <a:tr h="504334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Sofi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Sofi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4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43209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84CE-273F-A808-BEB8-11FF8F26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NF2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3C1A6-DBF4-BF16-474F-4B8993C33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000" dirty="0"/>
              <a:t>NF2</a:t>
            </a:r>
            <a:r>
              <a:rPr lang="en-GB" sz="2000" b="1" dirty="0"/>
              <a:t> </a:t>
            </a:r>
            <a:r>
              <a:rPr lang="uk-UA" sz="2000" dirty="0"/>
              <a:t>також має ті самі правела з </a:t>
            </a:r>
            <a:r>
              <a:rPr lang="en-GB" sz="2000" dirty="0"/>
              <a:t>NF1</a:t>
            </a:r>
          </a:p>
          <a:p>
            <a:pPr marL="457200" indent="-457200">
              <a:buFont typeface="+mj-lt"/>
              <a:buAutoNum type="arabicPeriod"/>
            </a:pPr>
            <a:r>
              <a:rPr lang="uk-UA" sz="2000" dirty="0"/>
              <a:t>Н</a:t>
            </a:r>
            <a:r>
              <a:rPr lang="ru-RU" sz="2000" dirty="0"/>
              <a:t>е має часткової залежності. Тобто, всі неключові атрибути повністю залежать від первинного ключа</a:t>
            </a:r>
            <a:endParaRPr lang="en-GB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57D114-C2AE-7313-714C-FA9331C44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162446"/>
              </p:ext>
            </p:extLst>
          </p:nvPr>
        </p:nvGraphicFramePr>
        <p:xfrm>
          <a:off x="680321" y="3429000"/>
          <a:ext cx="4733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084">
                  <a:extLst>
                    <a:ext uri="{9D8B030D-6E8A-4147-A177-3AD203B41FA5}">
                      <a16:colId xmlns:a16="http://schemas.microsoft.com/office/drawing/2014/main" val="3949301401"/>
                    </a:ext>
                  </a:extLst>
                </a:gridCol>
                <a:gridCol w="1524436">
                  <a:extLst>
                    <a:ext uri="{9D8B030D-6E8A-4147-A177-3AD203B41FA5}">
                      <a16:colId xmlns:a16="http://schemas.microsoft.com/office/drawing/2014/main" val="4278716902"/>
                    </a:ext>
                  </a:extLst>
                </a:gridCol>
                <a:gridCol w="1346550">
                  <a:extLst>
                    <a:ext uri="{9D8B030D-6E8A-4147-A177-3AD203B41FA5}">
                      <a16:colId xmlns:a16="http://schemas.microsoft.com/office/drawing/2014/main" val="117177447"/>
                    </a:ext>
                  </a:extLst>
                </a:gridCol>
                <a:gridCol w="1019970">
                  <a:extLst>
                    <a:ext uri="{9D8B030D-6E8A-4147-A177-3AD203B41FA5}">
                      <a16:colId xmlns:a16="http://schemas.microsoft.com/office/drawing/2014/main" val="363622459"/>
                    </a:ext>
                  </a:extLst>
                </a:gridCol>
              </a:tblGrid>
              <a:tr h="36275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Surname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PC_Id</a:t>
                      </a:r>
                      <a:endParaRPr lang="en-GB" dirty="0"/>
                    </a:p>
                  </a:txBody>
                  <a:tcPr>
                    <a:solidFill>
                      <a:srgbClr val="309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625559"/>
                  </a:ext>
                </a:extLst>
              </a:tr>
              <a:tr h="36275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Ivan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Korba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94682"/>
                  </a:ext>
                </a:extLst>
              </a:tr>
              <a:tr h="36275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Alex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Katchenko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000469"/>
                  </a:ext>
                </a:extLst>
              </a:tr>
              <a:tr h="36275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Sofi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Chirva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431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E2691B-8892-BFDC-3363-E35D41788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127671"/>
              </p:ext>
            </p:extLst>
          </p:nvPr>
        </p:nvGraphicFramePr>
        <p:xfrm>
          <a:off x="6877907" y="3833069"/>
          <a:ext cx="520123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307">
                  <a:extLst>
                    <a:ext uri="{9D8B030D-6E8A-4147-A177-3AD203B41FA5}">
                      <a16:colId xmlns:a16="http://schemas.microsoft.com/office/drawing/2014/main" val="3949301401"/>
                    </a:ext>
                  </a:extLst>
                </a:gridCol>
                <a:gridCol w="1340188">
                  <a:extLst>
                    <a:ext uri="{9D8B030D-6E8A-4147-A177-3AD203B41FA5}">
                      <a16:colId xmlns:a16="http://schemas.microsoft.com/office/drawing/2014/main" val="4278716902"/>
                    </a:ext>
                  </a:extLst>
                </a:gridCol>
                <a:gridCol w="1156042">
                  <a:extLst>
                    <a:ext uri="{9D8B030D-6E8A-4147-A177-3AD203B41FA5}">
                      <a16:colId xmlns:a16="http://schemas.microsoft.com/office/drawing/2014/main" val="117177447"/>
                    </a:ext>
                  </a:extLst>
                </a:gridCol>
                <a:gridCol w="924454">
                  <a:extLst>
                    <a:ext uri="{9D8B030D-6E8A-4147-A177-3AD203B41FA5}">
                      <a16:colId xmlns:a16="http://schemas.microsoft.com/office/drawing/2014/main" val="363622459"/>
                    </a:ext>
                  </a:extLst>
                </a:gridCol>
                <a:gridCol w="1040248">
                  <a:extLst>
                    <a:ext uri="{9D8B030D-6E8A-4147-A177-3AD203B41FA5}">
                      <a16:colId xmlns:a16="http://schemas.microsoft.com/office/drawing/2014/main" val="2970136821"/>
                    </a:ext>
                  </a:extLst>
                </a:gridCol>
              </a:tblGrid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Surname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PC_Id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625559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Ivan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Korba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Windows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94682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Alex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Katchenko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macOS</a:t>
                      </a:r>
                      <a:endParaRPr lang="en-GB" sz="16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000469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Sofi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Chirva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4310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Sofi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Chirva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macOS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09493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D348113-031D-5910-759E-0BF25E236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29659"/>
              </p:ext>
            </p:extLst>
          </p:nvPr>
        </p:nvGraphicFramePr>
        <p:xfrm>
          <a:off x="680321" y="4975378"/>
          <a:ext cx="287145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757">
                  <a:extLst>
                    <a:ext uri="{9D8B030D-6E8A-4147-A177-3AD203B41FA5}">
                      <a16:colId xmlns:a16="http://schemas.microsoft.com/office/drawing/2014/main" val="3949301401"/>
                    </a:ext>
                  </a:extLst>
                </a:gridCol>
                <a:gridCol w="1849701">
                  <a:extLst>
                    <a:ext uri="{9D8B030D-6E8A-4147-A177-3AD203B41FA5}">
                      <a16:colId xmlns:a16="http://schemas.microsoft.com/office/drawing/2014/main" val="4278716902"/>
                    </a:ext>
                  </a:extLst>
                </a:gridCol>
              </a:tblGrid>
              <a:tr h="327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PC_Id</a:t>
                      </a:r>
                      <a:endParaRPr lang="en-GB" dirty="0"/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OS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625559"/>
                  </a:ext>
                </a:extLst>
              </a:tr>
              <a:tr h="32732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Windows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94682"/>
                  </a:ext>
                </a:extLst>
              </a:tr>
              <a:tr h="32732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macOS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000469"/>
                  </a:ext>
                </a:extLst>
              </a:tr>
              <a:tr h="32732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4310"/>
                  </a:ext>
                </a:extLst>
              </a:tr>
              <a:tr h="32732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4 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macOS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323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78292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C922-70B0-F9E6-369B-710054312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NF3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01F77-F7B6-2B25-CAE6-6CFA4957D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000" dirty="0"/>
              <a:t>NF3</a:t>
            </a:r>
            <a:r>
              <a:rPr lang="en-GB" sz="2000" b="1" dirty="0"/>
              <a:t> </a:t>
            </a:r>
            <a:r>
              <a:rPr lang="uk-UA" sz="2000" dirty="0"/>
              <a:t>також має ті самі правела з </a:t>
            </a:r>
            <a:r>
              <a:rPr lang="en-GB" sz="2000" dirty="0"/>
              <a:t>NF1</a:t>
            </a:r>
            <a:r>
              <a:rPr lang="uk-UA" sz="2000" dirty="0"/>
              <a:t> та </a:t>
            </a:r>
            <a:r>
              <a:rPr lang="en-GB" sz="2000" dirty="0"/>
              <a:t>NF2</a:t>
            </a:r>
            <a:endParaRPr lang="uk-UA" sz="2000" dirty="0"/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Не мають транзитивної часткової залежності. (Жоден не ключовий атрибут не мож</a:t>
            </a:r>
            <a:r>
              <a:rPr lang="uk-UA" sz="2000"/>
              <a:t>е</a:t>
            </a:r>
            <a:r>
              <a:rPr lang="ru-RU" sz="2000"/>
              <a:t> </a:t>
            </a:r>
            <a:r>
              <a:rPr lang="ru-RU" sz="2000" dirty="0"/>
              <a:t>бути у залежності від іншого не ключового атрибуту)</a:t>
            </a:r>
            <a:endParaRPr lang="uk-UA" sz="2000" dirty="0"/>
          </a:p>
          <a:p>
            <a:endParaRPr lang="en-GB" sz="2000" dirty="0"/>
          </a:p>
          <a:p>
            <a:endParaRPr lang="en-GB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4E858D-0639-905F-2A7A-C74289128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927922"/>
              </p:ext>
            </p:extLst>
          </p:nvPr>
        </p:nvGraphicFramePr>
        <p:xfrm>
          <a:off x="6731160" y="4322210"/>
          <a:ext cx="5015013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993">
                  <a:extLst>
                    <a:ext uri="{9D8B030D-6E8A-4147-A177-3AD203B41FA5}">
                      <a16:colId xmlns:a16="http://schemas.microsoft.com/office/drawing/2014/main" val="3949301401"/>
                    </a:ext>
                  </a:extLst>
                </a:gridCol>
                <a:gridCol w="835471">
                  <a:extLst>
                    <a:ext uri="{9D8B030D-6E8A-4147-A177-3AD203B41FA5}">
                      <a16:colId xmlns:a16="http://schemas.microsoft.com/office/drawing/2014/main" val="4278716902"/>
                    </a:ext>
                  </a:extLst>
                </a:gridCol>
                <a:gridCol w="1311346">
                  <a:extLst>
                    <a:ext uri="{9D8B030D-6E8A-4147-A177-3AD203B41FA5}">
                      <a16:colId xmlns:a16="http://schemas.microsoft.com/office/drawing/2014/main" val="117177447"/>
                    </a:ext>
                  </a:extLst>
                </a:gridCol>
                <a:gridCol w="909851">
                  <a:extLst>
                    <a:ext uri="{9D8B030D-6E8A-4147-A177-3AD203B41FA5}">
                      <a16:colId xmlns:a16="http://schemas.microsoft.com/office/drawing/2014/main" val="363622459"/>
                    </a:ext>
                  </a:extLst>
                </a:gridCol>
                <a:gridCol w="1510352">
                  <a:extLst>
                    <a:ext uri="{9D8B030D-6E8A-4147-A177-3AD203B41FA5}">
                      <a16:colId xmlns:a16="http://schemas.microsoft.com/office/drawing/2014/main" val="2970136821"/>
                    </a:ext>
                  </a:extLst>
                </a:gridCol>
              </a:tblGrid>
              <a:tr h="310911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Surname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PC_Id</a:t>
                      </a:r>
                      <a:endParaRPr lang="en-GB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625559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Ivan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Korba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Windows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94682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Alex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Katchenko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macOS</a:t>
                      </a:r>
                      <a:endParaRPr lang="en-GB" sz="16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000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Sofi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Chirva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4310"/>
                  </a:ext>
                </a:extLst>
              </a:tr>
              <a:tr h="310911">
                <a:tc>
                  <a:txBody>
                    <a:bodyPr/>
                    <a:lstStyle/>
                    <a:p>
                      <a:pPr lvl="0" algn="ctr"/>
                      <a:r>
                        <a:rPr lang="uk-UA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Bob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Jonson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09493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FAFE52-EC66-4FE5-DA77-0E4982BE7E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123423"/>
              </p:ext>
            </p:extLst>
          </p:nvPr>
        </p:nvGraphicFramePr>
        <p:xfrm>
          <a:off x="797257" y="3374519"/>
          <a:ext cx="4733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084">
                  <a:extLst>
                    <a:ext uri="{9D8B030D-6E8A-4147-A177-3AD203B41FA5}">
                      <a16:colId xmlns:a16="http://schemas.microsoft.com/office/drawing/2014/main" val="3949301401"/>
                    </a:ext>
                  </a:extLst>
                </a:gridCol>
                <a:gridCol w="1524436">
                  <a:extLst>
                    <a:ext uri="{9D8B030D-6E8A-4147-A177-3AD203B41FA5}">
                      <a16:colId xmlns:a16="http://schemas.microsoft.com/office/drawing/2014/main" val="4278716902"/>
                    </a:ext>
                  </a:extLst>
                </a:gridCol>
                <a:gridCol w="1399125">
                  <a:extLst>
                    <a:ext uri="{9D8B030D-6E8A-4147-A177-3AD203B41FA5}">
                      <a16:colId xmlns:a16="http://schemas.microsoft.com/office/drawing/2014/main" val="117177447"/>
                    </a:ext>
                  </a:extLst>
                </a:gridCol>
                <a:gridCol w="967395">
                  <a:extLst>
                    <a:ext uri="{9D8B030D-6E8A-4147-A177-3AD203B41FA5}">
                      <a16:colId xmlns:a16="http://schemas.microsoft.com/office/drawing/2014/main" val="363622459"/>
                    </a:ext>
                  </a:extLst>
                </a:gridCol>
              </a:tblGrid>
              <a:tr h="36275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Id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Name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Surname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PC_Id</a:t>
                      </a:r>
                      <a:endParaRPr lang="en-GB" dirty="0"/>
                    </a:p>
                  </a:txBody>
                  <a:tcPr>
                    <a:solidFill>
                      <a:srgbClr val="309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625559"/>
                  </a:ext>
                </a:extLst>
              </a:tr>
              <a:tr h="36275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Ivan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Korba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94682"/>
                  </a:ext>
                </a:extLst>
              </a:tr>
              <a:tr h="36275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Alex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Katchenko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000469"/>
                  </a:ext>
                </a:extLst>
              </a:tr>
              <a:tr h="362758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Sofi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err="1"/>
                        <a:t>Chirva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3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4310"/>
                  </a:ext>
                </a:extLst>
              </a:tr>
              <a:tr h="362758">
                <a:tc>
                  <a:txBody>
                    <a:bodyPr/>
                    <a:lstStyle/>
                    <a:p>
                      <a:pPr lvl="0" algn="ctr"/>
                      <a:r>
                        <a:rPr lang="uk-UA" dirty="0"/>
                        <a:t>4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Bob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Jonson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1019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9A81F0-37C9-6671-5837-02D49EBDA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847929"/>
              </p:ext>
            </p:extLst>
          </p:nvPr>
        </p:nvGraphicFramePr>
        <p:xfrm>
          <a:off x="797257" y="5286196"/>
          <a:ext cx="300793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320">
                  <a:extLst>
                    <a:ext uri="{9D8B030D-6E8A-4147-A177-3AD203B41FA5}">
                      <a16:colId xmlns:a16="http://schemas.microsoft.com/office/drawing/2014/main" val="3949301401"/>
                    </a:ext>
                  </a:extLst>
                </a:gridCol>
                <a:gridCol w="1937616">
                  <a:extLst>
                    <a:ext uri="{9D8B030D-6E8A-4147-A177-3AD203B41FA5}">
                      <a16:colId xmlns:a16="http://schemas.microsoft.com/office/drawing/2014/main" val="4278716902"/>
                    </a:ext>
                  </a:extLst>
                </a:gridCol>
              </a:tblGrid>
              <a:tr h="3146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err="1"/>
                        <a:t>PC_Id</a:t>
                      </a:r>
                      <a:endParaRPr lang="en-GB" dirty="0"/>
                    </a:p>
                  </a:txBody>
                  <a:tcPr>
                    <a:solidFill>
                      <a:srgbClr val="3090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OS</a:t>
                      </a:r>
                    </a:p>
                  </a:txBody>
                  <a:tcPr>
                    <a:solidFill>
                      <a:srgbClr val="3090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625559"/>
                  </a:ext>
                </a:extLst>
              </a:tr>
              <a:tr h="322362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1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Windows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794682"/>
                  </a:ext>
                </a:extLst>
              </a:tr>
              <a:tr h="322362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macOS</a:t>
                      </a:r>
                      <a:endParaRPr lang="en-GB" dirty="0"/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000469"/>
                  </a:ext>
                </a:extLst>
              </a:tr>
              <a:tr h="322362">
                <a:tc>
                  <a:txBody>
                    <a:bodyPr/>
                    <a:lstStyle/>
                    <a:p>
                      <a:pPr lvl="0" algn="ctr"/>
                      <a:r>
                        <a:rPr lang="en-GB" dirty="0"/>
                        <a:t>3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Linux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54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93759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5E5D-66E3-B6F2-D4BF-0EC03CE88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Які існують </a:t>
            </a:r>
            <a:r>
              <a:rPr lang="en-GB" dirty="0"/>
              <a:t>SQL </a:t>
            </a:r>
            <a:r>
              <a:rPr lang="uk-UA" dirty="0"/>
              <a:t>інструкції</a:t>
            </a: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CF0681-2C7E-1A01-F593-507D33CEA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599316"/>
          </a:xfrm>
        </p:spPr>
        <p:txBody>
          <a:bodyPr/>
          <a:lstStyle/>
          <a:p>
            <a:pPr marL="457200" indent="-457200">
              <a:buAutoNum type="alphaLcParenR"/>
            </a:pPr>
            <a:r>
              <a:rPr lang="en-GB" dirty="0"/>
              <a:t>SELECT, FROM, WHERE, ORDER BY</a:t>
            </a:r>
            <a:endParaRPr lang="ru-RU" dirty="0"/>
          </a:p>
          <a:p>
            <a:pPr marL="457200" indent="-457200">
              <a:buAutoNum type="alphaL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b)  </a:t>
            </a:r>
            <a:r>
              <a:rPr lang="en-GB" dirty="0"/>
              <a:t>GET, POST, PUT, DELETE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c) </a:t>
            </a:r>
            <a:r>
              <a:rPr lang="en-GB" dirty="0"/>
              <a:t>IF, FOR, WHILE, ELSE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d) </a:t>
            </a:r>
            <a:r>
              <a:rPr lang="en-GB" dirty="0"/>
              <a:t>&lt;div&gt;, &lt;span&gt;, &lt;a&gt;, &lt;</a:t>
            </a:r>
            <a:r>
              <a:rPr lang="en-GB" dirty="0" err="1"/>
              <a:t>img</a:t>
            </a:r>
            <a:r>
              <a:rPr lang="en-GB" dirty="0"/>
              <a:t>&gt;</a:t>
            </a:r>
            <a:endParaRPr lang="ru-RU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11162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C476A-FC2F-AFE3-E859-B556C496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879B-DC70-F3FF-C0AA-7039F6950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Який запит поверне тільки стовпці Id і Name з таблиці Projects (як на слайді)?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2AB683-A787-B205-23D0-4B304CCE0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10" y="2623743"/>
            <a:ext cx="7136903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</a:t>
            </a:r>
            <a:r>
              <a:rPr lang="uk-UA" dirty="0"/>
              <a:t>)</a:t>
            </a:r>
            <a:r>
              <a:rPr lang="en-GB" dirty="0"/>
              <a:t> SELECT "Id", "Name" FROM "Projects";</a:t>
            </a:r>
          </a:p>
          <a:p>
            <a:pPr marL="457200" indent="-457200">
              <a:buAutoNum type="alphaL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b) </a:t>
            </a:r>
            <a:r>
              <a:rPr lang="en-GB" dirty="0"/>
              <a:t>SELECT * FROM "Projects" WHERE "Id", "Name";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c) </a:t>
            </a:r>
            <a:r>
              <a:rPr lang="en-GB" dirty="0"/>
              <a:t>INSERT INTO "Projects" ("</a:t>
            </a:r>
            <a:r>
              <a:rPr lang="en-GB" dirty="0" err="1"/>
              <a:t>Id","Name</a:t>
            </a:r>
            <a:r>
              <a:rPr lang="en-GB" dirty="0"/>
              <a:t>");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d) </a:t>
            </a:r>
            <a:r>
              <a:rPr lang="en-GB" dirty="0"/>
              <a:t>UPDATE "Projects" SET "</a:t>
            </a:r>
            <a:r>
              <a:rPr lang="en-GB" dirty="0" err="1"/>
              <a:t>Id","Name</a:t>
            </a:r>
            <a:r>
              <a:rPr lang="en-GB" dirty="0"/>
              <a:t>"</a:t>
            </a:r>
            <a:endParaRPr lang="ru-RU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055338-1395-F070-A3A7-40A3E7401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78" r="35139"/>
          <a:stretch>
            <a:fillRect/>
          </a:stretch>
        </p:blipFill>
        <p:spPr>
          <a:xfrm>
            <a:off x="7674636" y="3224371"/>
            <a:ext cx="4088054" cy="239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0343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A563A-E514-A409-9053-A6B3EFD32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чого використовується операція </a:t>
            </a:r>
            <a:r>
              <a:rPr lang="ru-RU" b="1" dirty="0"/>
              <a:t>JOIN</a:t>
            </a:r>
            <a:r>
              <a:rPr lang="ru-RU" dirty="0"/>
              <a:t> у реляційних БД?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36E8FE-4697-A0E9-D54D-2B4506B28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10" y="2623743"/>
            <a:ext cx="11179984" cy="359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a</a:t>
            </a:r>
            <a:r>
              <a:rPr lang="uk-UA" dirty="0"/>
              <a:t>)</a:t>
            </a:r>
            <a:r>
              <a:rPr lang="en-GB" dirty="0"/>
              <a:t> </a:t>
            </a:r>
            <a:r>
              <a:rPr lang="ru-RU" dirty="0"/>
              <a:t>Щоб об’єднати рядки з двох таблиць за пов’язаними стовпцями</a:t>
            </a:r>
            <a:endParaRPr lang="en-GB" dirty="0"/>
          </a:p>
          <a:p>
            <a:pPr marL="457200" indent="-457200">
              <a:buAutoNum type="alphaL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b) Щоб видалити дублікати з таблиці</a:t>
            </a:r>
            <a:endParaRPr lang="en-GB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c) Щоб змінити схему (структуру) таблиці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d) </a:t>
            </a:r>
            <a:r>
              <a:rPr lang="uk-UA" dirty="0"/>
              <a:t>Щоб створити індекси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72681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D7523-D987-2339-1B8B-7A4A8EB9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B7C5-EE19-9A4C-83DB-F59B95A1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b="1" dirty="0"/>
              <a:t>Що найточніше описує збережену процедуру (</a:t>
            </a:r>
            <a:r>
              <a:rPr lang="en-GB" b="1" dirty="0"/>
              <a:t>Stored Procedure) </a:t>
            </a:r>
            <a:r>
              <a:rPr lang="uk-UA" b="1" dirty="0"/>
              <a:t>і навіщо вона потрібна?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5A5ED9-5003-C01F-4CF0-AEE2A1A91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10" y="2623743"/>
            <a:ext cx="11179984" cy="3599316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lphaLcParenR"/>
            </a:pPr>
            <a:r>
              <a:rPr lang="ru-RU" dirty="0"/>
              <a:t>Програма з SQL-інструкцій, збережена на сервері БД, яку можна багаторазово викликати з параметрами для виконання логіки ближче до даних</a:t>
            </a:r>
            <a:endParaRPr lang="en-GB" dirty="0"/>
          </a:p>
          <a:p>
            <a:pPr marL="457200" indent="-457200">
              <a:buAutoNum type="alphaL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b) Файл .sql на комп’ютері користувача для локального виконання запитів</a:t>
            </a:r>
            <a:endParaRPr lang="en-GB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c) </a:t>
            </a:r>
            <a:r>
              <a:rPr lang="uk-UA" dirty="0"/>
              <a:t>Триґер, що автоматично спрацьовує під час </a:t>
            </a:r>
            <a:r>
              <a:rPr lang="en-GB" dirty="0"/>
              <a:t>INSERT/UPDATE/DELETE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d) Матеріалізований вигляд для кешування результатів SELECT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224845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868AF-50BF-7F63-91A3-004302994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D80B5-A4C3-F4B2-0DA2-7A598328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Що таке нормалізація бази даних?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B584A4-67BF-3418-7423-DAAA67686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10" y="2623743"/>
            <a:ext cx="11179984" cy="3599316"/>
          </a:xfrm>
        </p:spPr>
        <p:txBody>
          <a:bodyPr>
            <a:normAutofit/>
          </a:bodyPr>
          <a:lstStyle/>
          <a:p>
            <a:pPr marL="457200" indent="-457200">
              <a:buAutoNum type="alphaLcParenR"/>
            </a:pPr>
            <a:r>
              <a:rPr lang="ru-RU" dirty="0"/>
              <a:t>Процес упорядкування структури БД за нормальними формами (1НФ, 2НФ, 3НФ тощо) для зменшення надлишковості й аномалій</a:t>
            </a:r>
          </a:p>
          <a:p>
            <a:pPr marL="457200" indent="-457200">
              <a:buAutoNum type="alphaLcParenR"/>
            </a:pPr>
            <a:endParaRPr lang="ru-RU" dirty="0"/>
          </a:p>
          <a:p>
            <a:pPr marL="0" indent="0">
              <a:buNone/>
            </a:pPr>
            <a:r>
              <a:rPr lang="ru-RU" dirty="0"/>
              <a:t>b) Створення індексів для прискорення запитів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c) </a:t>
            </a:r>
            <a:r>
              <a:rPr lang="uk-UA" dirty="0"/>
              <a:t>Реплікація даних між серверами</a:t>
            </a:r>
            <a:endParaRPr lang="en-GB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d) </a:t>
            </a:r>
            <a:r>
              <a:rPr lang="uk-UA" dirty="0"/>
              <a:t>Шифрування даних у таблицях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00645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96EE5-1F27-3013-76A8-71C4DF724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EF586-A039-E9A1-44A1-C781783DB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Відповіді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0BD4A-3C6E-38DE-9AFA-0D75D9292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1 — a</a:t>
            </a:r>
            <a:endParaRPr lang="uk-UA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2 — a</a:t>
            </a:r>
            <a:endParaRPr lang="uk-UA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3 — a</a:t>
            </a:r>
            <a:endParaRPr lang="uk-UA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4 — a</a:t>
            </a:r>
            <a:endParaRPr lang="uk-UA" b="1" dirty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5 </a:t>
            </a:r>
            <a:r>
              <a:rPr lang="en-GB" b="1"/>
              <a:t>— 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66902237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E697D8-12DC-4657-8695-53AC934C9FAD}">
  <we:reference id="a3b40b4f-8edf-490e-9df1-7e66f93912bf" version="1.2.0.0" store="EXCatalog" storeType="EXCatalog"/>
  <we:alternateReferences>
    <we:reference id="WA104380526" version="1.2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6866</TotalTime>
  <Words>4965</Words>
  <Application>Microsoft Office PowerPoint</Application>
  <PresentationFormat>Widescreen</PresentationFormat>
  <Paragraphs>1035</Paragraphs>
  <Slides>125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30" baseType="lpstr">
      <vt:lpstr>Arial</vt:lpstr>
      <vt:lpstr>Calibri</vt:lpstr>
      <vt:lpstr>Trebuchet MS</vt:lpstr>
      <vt:lpstr>Trebuchet MS (Body)</vt:lpstr>
      <vt:lpstr>Berlin</vt:lpstr>
      <vt:lpstr>Backend &amp; Database</vt:lpstr>
      <vt:lpstr>Посилання на репозиторій</vt:lpstr>
      <vt:lpstr>Зміст</vt:lpstr>
      <vt:lpstr>PowerPoint Presentation</vt:lpstr>
      <vt:lpstr>.NET</vt:lpstr>
      <vt:lpstr>Що таке C# ?</vt:lpstr>
      <vt:lpstr>Синтаксис С# </vt:lpstr>
      <vt:lpstr>Data types</vt:lpstr>
      <vt:lpstr>Code: Data types</vt:lpstr>
      <vt:lpstr>Code: Data types</vt:lpstr>
      <vt:lpstr>Types: Value and Reference</vt:lpstr>
      <vt:lpstr>Code: Value types &amp; Reference types</vt:lpstr>
      <vt:lpstr>Console: Value types &amp; Reference types</vt:lpstr>
      <vt:lpstr>Backend</vt:lpstr>
      <vt:lpstr>Чому бекенд важливий для веб-сайту?</vt:lpstr>
      <vt:lpstr>Database</vt:lpstr>
      <vt:lpstr>ASP.NET</vt:lpstr>
      <vt:lpstr>IDE </vt:lpstr>
      <vt:lpstr>Visual Studio</vt:lpstr>
      <vt:lpstr>Графічний інтерфейс VS</vt:lpstr>
      <vt:lpstr>Графічний інтерфейс VS</vt:lpstr>
      <vt:lpstr>Тести – «Test Explorer»</vt:lpstr>
      <vt:lpstr>Client-Server Architecture</vt:lpstr>
      <vt:lpstr>Client-Server Architecture</vt:lpstr>
      <vt:lpstr>HTTP: як працює запит і відповідь </vt:lpstr>
      <vt:lpstr>Найчастіші операції HTTP-методів</vt:lpstr>
      <vt:lpstr>HTTP status codes:</vt:lpstr>
      <vt:lpstr>Swagger</vt:lpstr>
      <vt:lpstr>Swagger – список ендпоінтів</vt:lpstr>
      <vt:lpstr>Swagger - Get All Projects</vt:lpstr>
      <vt:lpstr>Swagger - Get All Projects</vt:lpstr>
      <vt:lpstr>Swagger - Get All Projects</vt:lpstr>
      <vt:lpstr>Swagger - Update Project</vt:lpstr>
      <vt:lpstr>.NET — це…</vt:lpstr>
      <vt:lpstr>Синтаксис — це…</vt:lpstr>
      <vt:lpstr>Основні компоненти клієнт-серверної архітектури</vt:lpstr>
      <vt:lpstr>«Not Found» — це:</vt:lpstr>
      <vt:lpstr>Swagger — це інструмент для:</vt:lpstr>
      <vt:lpstr>Відповіді</vt:lpstr>
      <vt:lpstr>Зміст</vt:lpstr>
      <vt:lpstr>Проєктування: Class Diagram в UML</vt:lpstr>
      <vt:lpstr>Проєктування: Entity–Relationship Diagram</vt:lpstr>
      <vt:lpstr>Endpoint</vt:lpstr>
      <vt:lpstr>Project pattern DTO (Data Transfer Object)</vt:lpstr>
      <vt:lpstr>Навіщо потрібен DTO?</vt:lpstr>
      <vt:lpstr>Приклад використання DTO</vt:lpstr>
      <vt:lpstr>ORM (EF) / Procedure</vt:lpstr>
      <vt:lpstr>Entity Framework</vt:lpstr>
      <vt:lpstr>ORM</vt:lpstr>
      <vt:lpstr>Procedure </vt:lpstr>
      <vt:lpstr>Middleware</vt:lpstr>
      <vt:lpstr>Middleware</vt:lpstr>
      <vt:lpstr>Конвеєр middleware</vt:lpstr>
      <vt:lpstr>Цикл життя req/resp HTTP – GET All</vt:lpstr>
      <vt:lpstr>Code: Ендпоінту Get All</vt:lpstr>
      <vt:lpstr>Цикл життя req/resp HTTP - Get by ID with employees</vt:lpstr>
      <vt:lpstr>Code: Eндпоінту Get by Id</vt:lpstr>
      <vt:lpstr>Цикл життя req/resp HTTP - POST</vt:lpstr>
      <vt:lpstr>Code: Eндпоінту Post</vt:lpstr>
      <vt:lpstr>Цикл життя req/resp HTTP – PUT</vt:lpstr>
      <vt:lpstr>Code: Eндпоінту Put</vt:lpstr>
      <vt:lpstr>Цикл життя req/resp HTTP - DELETE</vt:lpstr>
      <vt:lpstr>Code: Eндпоінту Delete</vt:lpstr>
      <vt:lpstr>Діаграма класів показує насамперед:</vt:lpstr>
      <vt:lpstr>Endpoint — це:</vt:lpstr>
      <vt:lpstr>Навіщо застосовують DTO?</vt:lpstr>
      <vt:lpstr>Основна роль ORM:</vt:lpstr>
      <vt:lpstr>Де з .NET 6+ зазвичай налаштовують middleware?</vt:lpstr>
      <vt:lpstr>Відповіді</vt:lpstr>
      <vt:lpstr>Зміст</vt:lpstr>
      <vt:lpstr>Помилка - 404 Not found </vt:lpstr>
      <vt:lpstr>Code: Помилка - 404 Not found </vt:lpstr>
      <vt:lpstr>Помилка – 400 Bad request</vt:lpstr>
      <vt:lpstr>Code: Помилка – 400 Bad request</vt:lpstr>
      <vt:lpstr>Unit Tests vs Integration Tests</vt:lpstr>
      <vt:lpstr> Testing and the Arrange, Act and Assert (AAA) Pattern  </vt:lpstr>
      <vt:lpstr>Arrange</vt:lpstr>
      <vt:lpstr>Act</vt:lpstr>
      <vt:lpstr>Assert</vt:lpstr>
      <vt:lpstr>Code: Unit test</vt:lpstr>
      <vt:lpstr>Code: Integration test</vt:lpstr>
      <vt:lpstr>Code: Integration test</vt:lpstr>
      <vt:lpstr>PowerPoint Presentation</vt:lpstr>
      <vt:lpstr>SQL &amp; NoSQL</vt:lpstr>
      <vt:lpstr>Характеристики баз даних SQL</vt:lpstr>
      <vt:lpstr>Розбір вигляду таблиці в SQL</vt:lpstr>
      <vt:lpstr>Поширені системи баз даних SQL</vt:lpstr>
      <vt:lpstr>Характеристики баз даних NoSQL</vt:lpstr>
      <vt:lpstr>Поширені системи баз даних NoSQL</vt:lpstr>
      <vt:lpstr>Релаційний систем керування базами даних</vt:lpstr>
      <vt:lpstr>Сервер бази даних</vt:lpstr>
      <vt:lpstr>SQL та його синтаксис</vt:lpstr>
      <vt:lpstr>INSERT INTO</vt:lpstr>
      <vt:lpstr>Для чого потрібний патерн AAA у тестуванні?</vt:lpstr>
      <vt:lpstr>Unit-тест зазвичай перевіряє:</vt:lpstr>
      <vt:lpstr>Для чого характерні SQL БД?</vt:lpstr>
      <vt:lpstr>Сервер бази даних — це…</vt:lpstr>
      <vt:lpstr>Команда INSERT INTO призначена для:</vt:lpstr>
      <vt:lpstr>Відповіді</vt:lpstr>
      <vt:lpstr>Зміст</vt:lpstr>
      <vt:lpstr>Логічне та фізичне виконання інструкцій в SQL</vt:lpstr>
      <vt:lpstr>1. SELECT  </vt:lpstr>
      <vt:lpstr>1.1. SELECT </vt:lpstr>
      <vt:lpstr>2. WHERE</vt:lpstr>
      <vt:lpstr>3. ORDER BY</vt:lpstr>
      <vt:lpstr>4. GROUP BY</vt:lpstr>
      <vt:lpstr>Joining tables</vt:lpstr>
      <vt:lpstr>5. LEFT JOIN</vt:lpstr>
      <vt:lpstr>5.1. RIGHT JOIN</vt:lpstr>
      <vt:lpstr>5.2. FULL JOIN</vt:lpstr>
      <vt:lpstr>6. STORED PROCEDURE (PROCEDURE)</vt:lpstr>
      <vt:lpstr>6.1 STORED PROCEDURES (PROCEDURE)</vt:lpstr>
      <vt:lpstr>7. (CTE) Common Table Expression</vt:lpstr>
      <vt:lpstr>7.1. (CTE) Common Table Expression</vt:lpstr>
      <vt:lpstr>Нормалізація </vt:lpstr>
      <vt:lpstr>Навіщо потрібна нормалізація БД?</vt:lpstr>
      <vt:lpstr>NF1 </vt:lpstr>
      <vt:lpstr>NF2</vt:lpstr>
      <vt:lpstr>NF3</vt:lpstr>
      <vt:lpstr>Які існують SQL інструкції</vt:lpstr>
      <vt:lpstr>Який запит поверне тільки стовпці Id і Name з таблиці Projects (як на слайді)?</vt:lpstr>
      <vt:lpstr>Для чого використовується операція JOIN у реляційних БД?</vt:lpstr>
      <vt:lpstr>Що найточніше описує збережену процедуру (Stored Procedure) і навіщо вона потрібна?</vt:lpstr>
      <vt:lpstr>Що таке нормалізація бази даних?</vt:lpstr>
      <vt:lpstr>Відповіді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Ruslan Pidhainyi</dc:creator>
  <cp:lastModifiedBy>Ruslan Pidhainyi</cp:lastModifiedBy>
  <cp:revision>644</cp:revision>
  <dcterms:created xsi:type="dcterms:W3CDTF">2025-07-02T07:12:02Z</dcterms:created>
  <dcterms:modified xsi:type="dcterms:W3CDTF">2025-08-28T06:56:50Z</dcterms:modified>
</cp:coreProperties>
</file>