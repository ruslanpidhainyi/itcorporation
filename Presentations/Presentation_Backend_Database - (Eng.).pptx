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02"/>
  </p:notesMasterIdLst>
  <p:sldIdLst>
    <p:sldId id="256" r:id="rId2"/>
    <p:sldId id="351" r:id="rId3"/>
    <p:sldId id="378" r:id="rId4"/>
    <p:sldId id="294" r:id="rId5"/>
    <p:sldId id="258" r:id="rId6"/>
    <p:sldId id="257" r:id="rId7"/>
    <p:sldId id="259" r:id="rId8"/>
    <p:sldId id="383" r:id="rId9"/>
    <p:sldId id="381" r:id="rId10"/>
    <p:sldId id="387" r:id="rId11"/>
    <p:sldId id="385" r:id="rId12"/>
    <p:sldId id="382" r:id="rId13"/>
    <p:sldId id="384" r:id="rId14"/>
    <p:sldId id="386" r:id="rId15"/>
    <p:sldId id="391" r:id="rId16"/>
    <p:sldId id="359" r:id="rId17"/>
    <p:sldId id="260" r:id="rId18"/>
    <p:sldId id="355" r:id="rId19"/>
    <p:sldId id="356" r:id="rId20"/>
    <p:sldId id="357" r:id="rId21"/>
    <p:sldId id="358" r:id="rId22"/>
    <p:sldId id="375" r:id="rId23"/>
    <p:sldId id="390" r:id="rId24"/>
    <p:sldId id="393" r:id="rId25"/>
    <p:sldId id="261" r:id="rId26"/>
    <p:sldId id="262" r:id="rId27"/>
    <p:sldId id="263" r:id="rId28"/>
    <p:sldId id="296" r:id="rId29"/>
    <p:sldId id="316" r:id="rId30"/>
    <p:sldId id="317" r:id="rId31"/>
    <p:sldId id="318" r:id="rId32"/>
    <p:sldId id="319" r:id="rId33"/>
    <p:sldId id="350" r:id="rId34"/>
    <p:sldId id="379" r:id="rId35"/>
    <p:sldId id="290" r:id="rId36"/>
    <p:sldId id="291" r:id="rId37"/>
    <p:sldId id="295" r:id="rId38"/>
    <p:sldId id="288" r:id="rId39"/>
    <p:sldId id="293" r:id="rId40"/>
    <p:sldId id="265" r:id="rId41"/>
    <p:sldId id="297" r:id="rId42"/>
    <p:sldId id="298" r:id="rId43"/>
    <p:sldId id="300" r:id="rId44"/>
    <p:sldId id="352" r:id="rId45"/>
    <p:sldId id="353" r:id="rId46"/>
    <p:sldId id="354" r:id="rId47"/>
    <p:sldId id="283" r:id="rId48"/>
    <p:sldId id="306" r:id="rId49"/>
    <p:sldId id="284" r:id="rId50"/>
    <p:sldId id="307" r:id="rId51"/>
    <p:sldId id="363" r:id="rId52"/>
    <p:sldId id="308" r:id="rId53"/>
    <p:sldId id="286" r:id="rId54"/>
    <p:sldId id="309" r:id="rId55"/>
    <p:sldId id="287" r:id="rId56"/>
    <p:sldId id="310" r:id="rId57"/>
    <p:sldId id="380" r:id="rId58"/>
    <p:sldId id="367" r:id="rId59"/>
    <p:sldId id="366" r:id="rId60"/>
    <p:sldId id="369" r:id="rId61"/>
    <p:sldId id="368" r:id="rId62"/>
    <p:sldId id="301" r:id="rId63"/>
    <p:sldId id="311" r:id="rId64"/>
    <p:sldId id="312" r:id="rId65"/>
    <p:sldId id="313" r:id="rId66"/>
    <p:sldId id="314" r:id="rId67"/>
    <p:sldId id="302" r:id="rId68"/>
    <p:sldId id="303" r:id="rId69"/>
    <p:sldId id="407" r:id="rId70"/>
    <p:sldId id="305" r:id="rId71"/>
    <p:sldId id="338" r:id="rId72"/>
    <p:sldId id="339" r:id="rId73"/>
    <p:sldId id="321" r:id="rId74"/>
    <p:sldId id="340" r:id="rId75"/>
    <p:sldId id="341" r:id="rId76"/>
    <p:sldId id="342" r:id="rId77"/>
    <p:sldId id="322" r:id="rId78"/>
    <p:sldId id="323" r:id="rId79"/>
    <p:sldId id="320" r:id="rId80"/>
    <p:sldId id="377" r:id="rId81"/>
    <p:sldId id="388" r:id="rId82"/>
    <p:sldId id="413" r:id="rId83"/>
    <p:sldId id="324" r:id="rId84"/>
    <p:sldId id="325" r:id="rId85"/>
    <p:sldId id="331" r:id="rId86"/>
    <p:sldId id="332" r:id="rId87"/>
    <p:sldId id="326" r:id="rId88"/>
    <p:sldId id="389" r:id="rId89"/>
    <p:sldId id="327" r:id="rId90"/>
    <p:sldId id="334" r:id="rId91"/>
    <p:sldId id="335" r:id="rId92"/>
    <p:sldId id="328" r:id="rId93"/>
    <p:sldId id="336" r:id="rId94"/>
    <p:sldId id="329" r:id="rId95"/>
    <p:sldId id="337" r:id="rId96"/>
    <p:sldId id="343" r:id="rId97"/>
    <p:sldId id="347" r:id="rId98"/>
    <p:sldId id="348" r:id="rId99"/>
    <p:sldId id="345" r:id="rId100"/>
    <p:sldId id="346" r:id="rId10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63C3"/>
    <a:srgbClr val="309070"/>
    <a:srgbClr val="0066FF"/>
    <a:srgbClr val="FFCC66"/>
    <a:srgbClr val="6699FF"/>
    <a:srgbClr val="9966FF"/>
    <a:srgbClr val="3399FF"/>
    <a:srgbClr val="FF7C80"/>
    <a:srgbClr val="FF33CC"/>
    <a:srgbClr val="C92F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176" autoAdjust="0"/>
    <p:restoredTop sz="95196" autoAdjust="0"/>
  </p:normalViewPr>
  <p:slideViewPr>
    <p:cSldViewPr snapToGrid="0">
      <p:cViewPr varScale="1">
        <p:scale>
          <a:sx n="82" d="100"/>
          <a:sy n="82"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D3BC46-0F9E-49BB-B6A8-F9A1D87E05E3}" type="datetimeFigureOut">
              <a:rPr lang="en-GB" smtClean="0"/>
              <a:t>06/06/2026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3807C0-8609-48BC-809D-A7A19DEB92EC}" type="slidenum">
              <a:rPr lang="en-GB" smtClean="0"/>
              <a:t>‹#›</a:t>
            </a:fld>
            <a:endParaRPr lang="en-GB"/>
          </a:p>
        </p:txBody>
      </p:sp>
    </p:spTree>
    <p:extLst>
      <p:ext uri="{BB962C8B-B14F-4D97-AF65-F5344CB8AC3E}">
        <p14:creationId xmlns:p14="http://schemas.microsoft.com/office/powerpoint/2010/main" val="1133122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23807C0-8609-48BC-809D-A7A19DEB92EC}" type="slidenum">
              <a:rPr lang="en-GB" smtClean="0"/>
              <a:t>90</a:t>
            </a:fld>
            <a:endParaRPr lang="en-GB"/>
          </a:p>
        </p:txBody>
      </p:sp>
    </p:spTree>
    <p:extLst>
      <p:ext uri="{BB962C8B-B14F-4D97-AF65-F5344CB8AC3E}">
        <p14:creationId xmlns:p14="http://schemas.microsoft.com/office/powerpoint/2010/main" val="38085732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uk-UA"/>
          </a:p>
        </p:txBody>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uk-UA"/>
          </a:p>
        </p:txBody>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B236A9-3DF9-445B-954D-A7405BFD7BD3}" type="datetimeFigureOut">
              <a:rPr lang="en-GB" smtClean="0"/>
              <a:t>06/06/2026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9255346" y="2750337"/>
            <a:ext cx="1171888" cy="1356442"/>
          </a:xfrm>
        </p:spPr>
        <p:txBody>
          <a:bodyPr/>
          <a:lstStyle/>
          <a:p>
            <a:fld id="{90F91C76-D75D-4D65-A293-AFBEC305A3F8}" type="slidenum">
              <a:rPr lang="en-GB" smtClean="0"/>
              <a:t>‹#›</a:t>
            </a:fld>
            <a:endParaRPr lang="en-GB"/>
          </a:p>
        </p:txBody>
      </p:sp>
    </p:spTree>
    <p:extLst>
      <p:ext uri="{BB962C8B-B14F-4D97-AF65-F5344CB8AC3E}">
        <p14:creationId xmlns:p14="http://schemas.microsoft.com/office/powerpoint/2010/main" val="451295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B236A9-3DF9-445B-954D-A7405BFD7BD3}" type="datetimeFigureOut">
              <a:rPr lang="en-GB" smtClean="0"/>
              <a:t>06/06/2026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0F91C76-D75D-4D65-A293-AFBEC305A3F8}" type="slidenum">
              <a:rPr lang="en-GB" smtClean="0"/>
              <a:t>‹#›</a:t>
            </a:fld>
            <a:endParaRPr lang="en-GB"/>
          </a:p>
        </p:txBody>
      </p:sp>
    </p:spTree>
    <p:extLst>
      <p:ext uri="{BB962C8B-B14F-4D97-AF65-F5344CB8AC3E}">
        <p14:creationId xmlns:p14="http://schemas.microsoft.com/office/powerpoint/2010/main" val="1789488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B236A9-3DF9-445B-954D-A7405BFD7BD3}" type="datetimeFigureOut">
              <a:rPr lang="en-GB" smtClean="0"/>
              <a:t>06/06/2026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729455" y="2869895"/>
            <a:ext cx="1154151" cy="1090789"/>
          </a:xfrm>
        </p:spPr>
        <p:txBody>
          <a:bodyPr/>
          <a:lstStyle/>
          <a:p>
            <a:fld id="{90F91C76-D75D-4D65-A293-AFBEC305A3F8}" type="slidenum">
              <a:rPr lang="en-GB" smtClean="0"/>
              <a:t>‹#›</a:t>
            </a:fld>
            <a:endParaRPr lang="en-GB"/>
          </a:p>
        </p:txBody>
      </p:sp>
    </p:spTree>
    <p:extLst>
      <p:ext uri="{BB962C8B-B14F-4D97-AF65-F5344CB8AC3E}">
        <p14:creationId xmlns:p14="http://schemas.microsoft.com/office/powerpoint/2010/main" val="255060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B236A9-3DF9-445B-954D-A7405BFD7BD3}" type="datetimeFigureOut">
              <a:rPr lang="en-GB" smtClean="0"/>
              <a:t>06/06/2026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0F91C76-D75D-4D65-A293-AFBEC305A3F8}" type="slidenum">
              <a:rPr lang="en-GB" smtClean="0"/>
              <a:t>‹#›</a:t>
            </a:fld>
            <a:endParaRPr lang="en-GB"/>
          </a:p>
        </p:txBody>
      </p:sp>
    </p:spTree>
    <p:extLst>
      <p:ext uri="{BB962C8B-B14F-4D97-AF65-F5344CB8AC3E}">
        <p14:creationId xmlns:p14="http://schemas.microsoft.com/office/powerpoint/2010/main" val="1802935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B236A9-3DF9-445B-954D-A7405BFD7BD3}" type="datetimeFigureOut">
              <a:rPr lang="en-GB" smtClean="0"/>
              <a:t>06/06/2026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0F91C76-D75D-4D65-A293-AFBEC305A3F8}" type="slidenum">
              <a:rPr lang="en-GB" smtClean="0"/>
              <a:t>‹#›</a:t>
            </a:fld>
            <a:endParaRPr lang="en-GB"/>
          </a:p>
        </p:txBody>
      </p:sp>
    </p:spTree>
    <p:extLst>
      <p:ext uri="{BB962C8B-B14F-4D97-AF65-F5344CB8AC3E}">
        <p14:creationId xmlns:p14="http://schemas.microsoft.com/office/powerpoint/2010/main" val="2738362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B236A9-3DF9-445B-954D-A7405BFD7BD3}" type="datetimeFigureOut">
              <a:rPr lang="en-GB" smtClean="0"/>
              <a:t>06/06/2026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0F91C76-D75D-4D65-A293-AFBEC305A3F8}" type="slidenum">
              <a:rPr lang="en-GB" smtClean="0"/>
              <a:t>‹#›</a:t>
            </a:fld>
            <a:endParaRPr lang="en-GB"/>
          </a:p>
        </p:txBody>
      </p:sp>
    </p:spTree>
    <p:extLst>
      <p:ext uri="{BB962C8B-B14F-4D97-AF65-F5344CB8AC3E}">
        <p14:creationId xmlns:p14="http://schemas.microsoft.com/office/powerpoint/2010/main" val="3696228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D3B236A9-3DF9-445B-954D-A7405BFD7BD3}" type="datetimeFigureOut">
              <a:rPr lang="en-GB" smtClean="0"/>
              <a:t>06/06/2026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0F91C76-D75D-4D65-A293-AFBEC305A3F8}" type="slidenum">
              <a:rPr lang="en-GB" smtClean="0"/>
              <a:t>‹#›</a:t>
            </a:fld>
            <a:endParaRPr lang="en-GB"/>
          </a:p>
        </p:txBody>
      </p:sp>
    </p:spTree>
    <p:extLst>
      <p:ext uri="{BB962C8B-B14F-4D97-AF65-F5344CB8AC3E}">
        <p14:creationId xmlns:p14="http://schemas.microsoft.com/office/powerpoint/2010/main" val="2623813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B236A9-3DF9-445B-954D-A7405BFD7BD3}" type="datetimeFigureOut">
              <a:rPr lang="en-GB" smtClean="0"/>
              <a:t>06/06/2026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0F91C76-D75D-4D65-A293-AFBEC305A3F8}" type="slidenum">
              <a:rPr lang="en-GB" smtClean="0"/>
              <a:t>‹#›</a:t>
            </a:fld>
            <a:endParaRPr lang="en-GB"/>
          </a:p>
        </p:txBody>
      </p:sp>
    </p:spTree>
    <p:extLst>
      <p:ext uri="{BB962C8B-B14F-4D97-AF65-F5344CB8AC3E}">
        <p14:creationId xmlns:p14="http://schemas.microsoft.com/office/powerpoint/2010/main" val="2781531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B236A9-3DF9-445B-954D-A7405BFD7BD3}" type="datetimeFigureOut">
              <a:rPr lang="en-GB" smtClean="0"/>
              <a:t>06/06/2026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0F91C76-D75D-4D65-A293-AFBEC305A3F8}" type="slidenum">
              <a:rPr lang="en-GB" smtClean="0"/>
              <a:t>‹#›</a:t>
            </a:fld>
            <a:endParaRPr lang="en-GB"/>
          </a:p>
        </p:txBody>
      </p:sp>
    </p:spTree>
    <p:extLst>
      <p:ext uri="{BB962C8B-B14F-4D97-AF65-F5344CB8AC3E}">
        <p14:creationId xmlns:p14="http://schemas.microsoft.com/office/powerpoint/2010/main" val="1245503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B236A9-3DF9-445B-954D-A7405BFD7BD3}" type="datetimeFigureOut">
              <a:rPr lang="en-GB" smtClean="0"/>
              <a:t>06/06/2026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10729455" y="4711309"/>
            <a:ext cx="1154151" cy="1090789"/>
          </a:xfrm>
        </p:spPr>
        <p:txBody>
          <a:bodyPr/>
          <a:lstStyle/>
          <a:p>
            <a:fld id="{90F91C76-D75D-4D65-A293-AFBEC305A3F8}" type="slidenum">
              <a:rPr lang="en-GB" smtClean="0"/>
              <a:t>‹#›</a:t>
            </a:fld>
            <a:endParaRPr lang="en-GB"/>
          </a:p>
        </p:txBody>
      </p:sp>
    </p:spTree>
    <p:extLst>
      <p:ext uri="{BB962C8B-B14F-4D97-AF65-F5344CB8AC3E}">
        <p14:creationId xmlns:p14="http://schemas.microsoft.com/office/powerpoint/2010/main" val="593984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B236A9-3DF9-445B-954D-A7405BFD7BD3}" type="datetimeFigureOut">
              <a:rPr lang="en-GB" smtClean="0"/>
              <a:t>06/06/2026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10729455" y="4711615"/>
            <a:ext cx="1154151" cy="1090789"/>
          </a:xfrm>
        </p:spPr>
        <p:txBody>
          <a:bodyPr/>
          <a:lstStyle/>
          <a:p>
            <a:fld id="{90F91C76-D75D-4D65-A293-AFBEC305A3F8}" type="slidenum">
              <a:rPr lang="en-GB" smtClean="0"/>
              <a:t>‹#›</a:t>
            </a:fld>
            <a:endParaRPr lang="en-GB"/>
          </a:p>
        </p:txBody>
      </p:sp>
    </p:spTree>
    <p:extLst>
      <p:ext uri="{BB962C8B-B14F-4D97-AF65-F5344CB8AC3E}">
        <p14:creationId xmlns:p14="http://schemas.microsoft.com/office/powerpoint/2010/main" val="4240551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B236A9-3DF9-445B-954D-A7405BFD7BD3}" type="datetimeFigureOut">
              <a:rPr lang="en-GB" smtClean="0"/>
              <a:t>06/06/2026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10729455" y="4709925"/>
            <a:ext cx="1154151" cy="1090789"/>
          </a:xfrm>
        </p:spPr>
        <p:txBody>
          <a:bodyPr/>
          <a:lstStyle/>
          <a:p>
            <a:fld id="{90F91C76-D75D-4D65-A293-AFBEC305A3F8}" type="slidenum">
              <a:rPr lang="en-GB" smtClean="0"/>
              <a:t>‹#›</a:t>
            </a:fld>
            <a:endParaRPr lang="en-GB"/>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19368061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B236A9-3DF9-445B-954D-A7405BFD7BD3}" type="datetimeFigureOut">
              <a:rPr lang="en-GB" smtClean="0"/>
              <a:t>06/06/2026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10729455" y="4709925"/>
            <a:ext cx="1154151" cy="1090789"/>
          </a:xfrm>
        </p:spPr>
        <p:txBody>
          <a:bodyPr/>
          <a:lstStyle/>
          <a:p>
            <a:fld id="{90F91C76-D75D-4D65-A293-AFBEC305A3F8}" type="slidenum">
              <a:rPr lang="en-GB" smtClean="0"/>
              <a:t>‹#›</a:t>
            </a:fld>
            <a:endParaRPr lang="en-GB"/>
          </a:p>
        </p:txBody>
      </p:sp>
    </p:spTree>
    <p:extLst>
      <p:ext uri="{BB962C8B-B14F-4D97-AF65-F5344CB8AC3E}">
        <p14:creationId xmlns:p14="http://schemas.microsoft.com/office/powerpoint/2010/main" val="30371856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3B236A9-3DF9-445B-954D-A7405BFD7BD3}" type="datetimeFigureOut">
              <a:rPr lang="en-GB" smtClean="0"/>
              <a:t>06/06/2026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0F91C76-D75D-4D65-A293-AFBEC305A3F8}" type="slidenum">
              <a:rPr lang="en-GB" smtClean="0"/>
              <a:t>‹#›</a:t>
            </a:fld>
            <a:endParaRPr lang="en-GB"/>
          </a:p>
        </p:txBody>
      </p:sp>
    </p:spTree>
    <p:extLst>
      <p:ext uri="{BB962C8B-B14F-4D97-AF65-F5344CB8AC3E}">
        <p14:creationId xmlns:p14="http://schemas.microsoft.com/office/powerpoint/2010/main" val="9133617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3B236A9-3DF9-445B-954D-A7405BFD7BD3}" type="datetimeFigureOut">
              <a:rPr lang="en-GB" smtClean="0"/>
              <a:t>06/06/2026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0F91C76-D75D-4D65-A293-AFBEC305A3F8}" type="slidenum">
              <a:rPr lang="en-GB" smtClean="0"/>
              <a:t>‹#›</a:t>
            </a:fld>
            <a:endParaRPr lang="en-GB"/>
          </a:p>
        </p:txBody>
      </p:sp>
    </p:spTree>
    <p:extLst>
      <p:ext uri="{BB962C8B-B14F-4D97-AF65-F5344CB8AC3E}">
        <p14:creationId xmlns:p14="http://schemas.microsoft.com/office/powerpoint/2010/main" val="778556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B236A9-3DF9-445B-954D-A7405BFD7BD3}" type="datetimeFigureOut">
              <a:rPr lang="en-GB" smtClean="0"/>
              <a:t>06/06/2026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0F91C76-D75D-4D65-A293-AFBEC305A3F8}" type="slidenum">
              <a:rPr lang="en-GB" smtClean="0"/>
              <a:t>‹#›</a:t>
            </a:fld>
            <a:endParaRPr lang="en-GB"/>
          </a:p>
        </p:txBody>
      </p:sp>
    </p:spTree>
    <p:extLst>
      <p:ext uri="{BB962C8B-B14F-4D97-AF65-F5344CB8AC3E}">
        <p14:creationId xmlns:p14="http://schemas.microsoft.com/office/powerpoint/2010/main" val="1922598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D3B236A9-3DF9-445B-954D-A7405BFD7BD3}" type="datetimeFigureOut">
              <a:rPr lang="en-GB" smtClean="0"/>
              <a:t>06/06/2026</a:t>
            </a:fld>
            <a:endParaRPr lang="en-GB"/>
          </a:p>
        </p:txBody>
      </p:sp>
      <p:sp>
        <p:nvSpPr>
          <p:cNvPr id="5" name="Footer Placeholder 4"/>
          <p:cNvSpPr>
            <a:spLocks noGrp="1"/>
          </p:cNvSpPr>
          <p:nvPr>
            <p:ph type="ftr" sz="quarter" idx="11"/>
          </p:nvPr>
        </p:nvSpPr>
        <p:spPr>
          <a:xfrm>
            <a:off x="680321" y="5936188"/>
            <a:ext cx="6126805" cy="365125"/>
          </a:xfrm>
        </p:spPr>
        <p:txBody>
          <a:bodyPr/>
          <a:lstStyle/>
          <a:p>
            <a:endParaRPr lang="en-GB"/>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90F91C76-D75D-4D65-A293-AFBEC305A3F8}" type="slidenum">
              <a:rPr lang="en-GB" smtClean="0"/>
              <a:t>‹#›</a:t>
            </a:fld>
            <a:endParaRPr lang="en-GB"/>
          </a:p>
        </p:txBody>
      </p:sp>
    </p:spTree>
    <p:extLst>
      <p:ext uri="{BB962C8B-B14F-4D97-AF65-F5344CB8AC3E}">
        <p14:creationId xmlns:p14="http://schemas.microsoft.com/office/powerpoint/2010/main" val="1583065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3B236A9-3DF9-445B-954D-A7405BFD7BD3}" type="datetimeFigureOut">
              <a:rPr lang="en-GB" smtClean="0"/>
              <a:t>06/06/2026</a:t>
            </a:fld>
            <a:endParaRPr lang="en-GB"/>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90F91C76-D75D-4D65-A293-AFBEC305A3F8}" type="slidenum">
              <a:rPr lang="en-GB" smtClean="0"/>
              <a:t>‹#›</a:t>
            </a:fld>
            <a:endParaRPr lang="en-GB"/>
          </a:p>
        </p:txBody>
      </p:sp>
    </p:spTree>
    <p:extLst>
      <p:ext uri="{BB962C8B-B14F-4D97-AF65-F5344CB8AC3E}">
        <p14:creationId xmlns:p14="http://schemas.microsoft.com/office/powerpoint/2010/main" val="2083786448"/>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RuslanPidhainyi/ITCorporatio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asp.net/"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en.wikipedia.org/wiki/HTTP#Request_method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en.wikipedia.org/wiki/List_of_HTTP_status_codes"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s://localhost:7067/api/projects"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s://localhost:7067/api/projects/1/with-employees"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s://localhost:7067/api/projects"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hyperlink" Target="https://localhost:7067/api/projects/6"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hyperlink" Target="https://localhost:7067/api/projects/6"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localhost:7067/api/projects/6" TargetMode="External"/><Relationship Id="rId2" Type="http://schemas.openxmlformats.org/officeDocument/2006/relationships/hyperlink" Target="https://localhost:7067/api/projects/"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localhost:7067/api/projects"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learn.microsoft.com/en-us/dotnet/api/microsoft.visualstudio.testtools.unittesting.assert?view=mstest-net-3.9" TargetMode="External"/><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7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7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7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DB71C54-63C1-4B83-8324-BBCEC579C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D15D940-E187-4030-B313-FDC84AE67B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3046" y="0"/>
            <a:ext cx="406895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Subtitle 2">
            <a:extLst>
              <a:ext uri="{FF2B5EF4-FFF2-40B4-BE49-F238E27FC236}">
                <a16:creationId xmlns:a16="http://schemas.microsoft.com/office/drawing/2014/main" id="{A875733C-E4D7-B8C5-691D-92794567222A}"/>
              </a:ext>
            </a:extLst>
          </p:cNvPr>
          <p:cNvSpPr>
            <a:spLocks noGrp="1"/>
          </p:cNvSpPr>
          <p:nvPr>
            <p:ph type="subTitle" idx="1"/>
          </p:nvPr>
        </p:nvSpPr>
        <p:spPr>
          <a:xfrm>
            <a:off x="9292902" y="1286929"/>
            <a:ext cx="2216031" cy="4284129"/>
          </a:xfrm>
        </p:spPr>
        <p:txBody>
          <a:bodyPr anchor="ctr">
            <a:normAutofit/>
          </a:bodyPr>
          <a:lstStyle/>
          <a:p>
            <a:pPr algn="l"/>
            <a:endParaRPr lang="en-GB" sz="2800">
              <a:solidFill>
                <a:srgbClr val="FFFFFF"/>
              </a:solidFill>
            </a:endParaRPr>
          </a:p>
        </p:txBody>
      </p:sp>
      <p:sp>
        <p:nvSpPr>
          <p:cNvPr id="12" name="Rectangle 11">
            <a:extLst>
              <a:ext uri="{FF2B5EF4-FFF2-40B4-BE49-F238E27FC236}">
                <a16:creationId xmlns:a16="http://schemas.microsoft.com/office/drawing/2014/main" id="{76E38F34-66D8-4203-B16C-14AC20248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8968085"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E04B68B-89EB-6A36-5EA7-26BDE25134B7}"/>
              </a:ext>
            </a:extLst>
          </p:cNvPr>
          <p:cNvSpPr>
            <a:spLocks noGrp="1"/>
          </p:cNvSpPr>
          <p:nvPr>
            <p:ph type="ctrTitle"/>
          </p:nvPr>
        </p:nvSpPr>
        <p:spPr>
          <a:xfrm>
            <a:off x="643467" y="1286929"/>
            <a:ext cx="7674983" cy="4284129"/>
          </a:xfrm>
        </p:spPr>
        <p:txBody>
          <a:bodyPr anchor="ctr">
            <a:normAutofit/>
          </a:bodyPr>
          <a:lstStyle/>
          <a:p>
            <a:r>
              <a:rPr lang="en-GB" sz="8000" b="1" dirty="0"/>
              <a:t>Backend &amp; Database</a:t>
            </a:r>
          </a:p>
        </p:txBody>
      </p:sp>
    </p:spTree>
    <p:extLst>
      <p:ext uri="{BB962C8B-B14F-4D97-AF65-F5344CB8AC3E}">
        <p14:creationId xmlns:p14="http://schemas.microsoft.com/office/powerpoint/2010/main" val="1657081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736C4-483C-0BCF-02BA-7351ABA84779}"/>
              </a:ext>
            </a:extLst>
          </p:cNvPr>
          <p:cNvSpPr>
            <a:spLocks noGrp="1"/>
          </p:cNvSpPr>
          <p:nvPr>
            <p:ph type="title"/>
          </p:nvPr>
        </p:nvSpPr>
        <p:spPr>
          <a:xfrm>
            <a:off x="708313" y="771890"/>
            <a:ext cx="9613861" cy="1080938"/>
          </a:xfrm>
        </p:spPr>
        <p:txBody>
          <a:bodyPr/>
          <a:lstStyle/>
          <a:p>
            <a:r>
              <a:rPr lang="en-US" b="1" dirty="0"/>
              <a:t>Repository Link</a:t>
            </a:r>
          </a:p>
        </p:txBody>
      </p:sp>
      <p:sp>
        <p:nvSpPr>
          <p:cNvPr id="3" name="Content Placeholder 2">
            <a:extLst>
              <a:ext uri="{FF2B5EF4-FFF2-40B4-BE49-F238E27FC236}">
                <a16:creationId xmlns:a16="http://schemas.microsoft.com/office/drawing/2014/main" id="{F279BCB1-431D-3AF7-4B4E-51A1952F961C}"/>
              </a:ext>
            </a:extLst>
          </p:cNvPr>
          <p:cNvSpPr>
            <a:spLocks noGrp="1"/>
          </p:cNvSpPr>
          <p:nvPr>
            <p:ph idx="1"/>
          </p:nvPr>
        </p:nvSpPr>
        <p:spPr>
          <a:xfrm>
            <a:off x="1289069" y="1741803"/>
            <a:ext cx="9613861" cy="3599316"/>
          </a:xfrm>
        </p:spPr>
        <p:txBody>
          <a:bodyPr>
            <a:normAutofit/>
          </a:bodyPr>
          <a:lstStyle/>
          <a:p>
            <a:pPr marL="0" indent="0" algn="ctr">
              <a:buNone/>
            </a:pPr>
            <a:endParaRPr lang="uk-UA" b="1" dirty="0">
              <a:hlinkClick r:id="rId2"/>
            </a:endParaRPr>
          </a:p>
          <a:p>
            <a:pPr marL="0" indent="0" algn="ctr">
              <a:buNone/>
            </a:pPr>
            <a:endParaRPr lang="uk-UA" b="1" dirty="0">
              <a:hlinkClick r:id="rId2"/>
            </a:endParaRPr>
          </a:p>
          <a:p>
            <a:pPr marL="0" indent="0" algn="ctr">
              <a:buNone/>
            </a:pPr>
            <a:endParaRPr lang="uk-UA" b="1" dirty="0">
              <a:hlinkClick r:id="rId2"/>
            </a:endParaRPr>
          </a:p>
          <a:p>
            <a:pPr marL="0" indent="0" algn="ctr">
              <a:buNone/>
            </a:pPr>
            <a:endParaRPr lang="uk-UA" b="1" dirty="0">
              <a:hlinkClick r:id="rId2"/>
            </a:endParaRPr>
          </a:p>
          <a:p>
            <a:pPr marL="0" indent="0" algn="ctr">
              <a:buNone/>
            </a:pPr>
            <a:r>
              <a:rPr lang="pl-PL" b="1" dirty="0">
                <a:hlinkClick r:id="rId2"/>
              </a:rPr>
              <a:t>https://github.com/RuslanPidhainyi/ITCorporation</a:t>
            </a:r>
            <a:endParaRPr lang="en-US" sz="2800" dirty="0"/>
          </a:p>
        </p:txBody>
      </p:sp>
    </p:spTree>
    <p:extLst>
      <p:ext uri="{BB962C8B-B14F-4D97-AF65-F5344CB8AC3E}">
        <p14:creationId xmlns:p14="http://schemas.microsoft.com/office/powerpoint/2010/main" val="4022486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2BDC6-0611-CC2A-12B2-A003E9104AA0}"/>
              </a:ext>
            </a:extLst>
          </p:cNvPr>
          <p:cNvSpPr>
            <a:spLocks noGrp="1"/>
          </p:cNvSpPr>
          <p:nvPr>
            <p:ph type="title"/>
          </p:nvPr>
        </p:nvSpPr>
        <p:spPr/>
        <p:txBody>
          <a:bodyPr/>
          <a:lstStyle/>
          <a:p>
            <a:r>
              <a:rPr lang="en-US" b="1" dirty="0"/>
              <a:t>Contents</a:t>
            </a:r>
          </a:p>
        </p:txBody>
      </p:sp>
      <p:sp>
        <p:nvSpPr>
          <p:cNvPr id="3" name="Content Placeholder 2">
            <a:extLst>
              <a:ext uri="{FF2B5EF4-FFF2-40B4-BE49-F238E27FC236}">
                <a16:creationId xmlns:a16="http://schemas.microsoft.com/office/drawing/2014/main" id="{44C8D679-90AB-ED84-A24F-AA6D244A0B88}"/>
              </a:ext>
            </a:extLst>
          </p:cNvPr>
          <p:cNvSpPr>
            <a:spLocks noGrp="1"/>
          </p:cNvSpPr>
          <p:nvPr>
            <p:ph idx="1"/>
          </p:nvPr>
        </p:nvSpPr>
        <p:spPr>
          <a:xfrm>
            <a:off x="680321" y="2336872"/>
            <a:ext cx="10642772" cy="4245897"/>
          </a:xfrm>
        </p:spPr>
        <p:txBody>
          <a:bodyPr>
            <a:normAutofit/>
          </a:bodyPr>
          <a:lstStyle/>
          <a:p>
            <a:r>
              <a:rPr lang="en-US" b="1" dirty="0"/>
              <a:t>Backend</a:t>
            </a:r>
          </a:p>
          <a:p>
            <a:pPr lvl="1">
              <a:lnSpc>
                <a:spcPct val="110000"/>
              </a:lnSpc>
            </a:pPr>
            <a:r>
              <a:rPr lang="en-US" dirty="0" err="1"/>
              <a:t>.Net</a:t>
            </a:r>
            <a:r>
              <a:rPr lang="uk-UA" dirty="0"/>
              <a:t>(</a:t>
            </a:r>
            <a:r>
              <a:rPr lang="en-US" dirty="0"/>
              <a:t> C</a:t>
            </a:r>
            <a:r>
              <a:rPr lang="en-US" b="1" dirty="0"/>
              <a:t>#/</a:t>
            </a:r>
            <a:r>
              <a:rPr lang="en-US" b="1" dirty="0" err="1"/>
              <a:t>ASP.Net</a:t>
            </a:r>
            <a:r>
              <a:rPr lang="en-US" b="1" dirty="0"/>
              <a:t> ) </a:t>
            </a:r>
            <a:endParaRPr lang="pl-PL" b="1" dirty="0"/>
          </a:p>
          <a:p>
            <a:pPr lvl="1">
              <a:lnSpc>
                <a:spcPct val="110000"/>
              </a:lnSpc>
            </a:pPr>
            <a:r>
              <a:rPr lang="pl-PL" dirty="0" err="1"/>
              <a:t>Backend</a:t>
            </a:r>
            <a:endParaRPr lang="en-US" dirty="0"/>
          </a:p>
          <a:p>
            <a:pPr lvl="1">
              <a:lnSpc>
                <a:spcPct val="110000"/>
              </a:lnSpc>
            </a:pPr>
            <a:r>
              <a:rPr lang="en-US" dirty="0"/>
              <a:t>Database</a:t>
            </a:r>
          </a:p>
          <a:p>
            <a:pPr lvl="1">
              <a:lnSpc>
                <a:spcPct val="110000"/>
              </a:lnSpc>
            </a:pPr>
            <a:r>
              <a:rPr lang="en-US" dirty="0"/>
              <a:t>IDE (Visual Studio)</a:t>
            </a:r>
            <a:endParaRPr lang="pl-PL" dirty="0"/>
          </a:p>
          <a:p>
            <a:pPr lvl="1">
              <a:lnSpc>
                <a:spcPct val="110000"/>
              </a:lnSpc>
            </a:pPr>
            <a:r>
              <a:rPr lang="pl-PL" dirty="0"/>
              <a:t>Client-Server </a:t>
            </a:r>
            <a:r>
              <a:rPr lang="pl-PL" dirty="0" err="1"/>
              <a:t>architecture</a:t>
            </a:r>
            <a:endParaRPr lang="en-US" dirty="0"/>
          </a:p>
          <a:p>
            <a:pPr lvl="1">
              <a:lnSpc>
                <a:spcPct val="110000"/>
              </a:lnSpc>
            </a:pPr>
            <a:r>
              <a:rPr lang="en-US" dirty="0"/>
              <a:t>Request/Response HTTP</a:t>
            </a:r>
          </a:p>
          <a:p>
            <a:pPr lvl="1">
              <a:lnSpc>
                <a:spcPct val="110000"/>
              </a:lnSpc>
            </a:pPr>
            <a:r>
              <a:rPr lang="en-US" dirty="0"/>
              <a:t>Swagger</a:t>
            </a:r>
          </a:p>
          <a:p>
            <a:pPr marL="457200" lvl="1" indent="0">
              <a:buNone/>
            </a:pPr>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2234400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3E6C53-102E-4ACA-BCBB-3CC973B9948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Picture 10">
            <a:extLst>
              <a:ext uri="{FF2B5EF4-FFF2-40B4-BE49-F238E27FC236}">
                <a16:creationId xmlns:a16="http://schemas.microsoft.com/office/drawing/2014/main" id="{17B2B42C-0777-4D6E-9432-535281803A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13" name="Picture 12">
            <a:extLst>
              <a:ext uri="{FF2B5EF4-FFF2-40B4-BE49-F238E27FC236}">
                <a16:creationId xmlns:a16="http://schemas.microsoft.com/office/drawing/2014/main" id="{EFEAAB60-93E2-4DC6-99AC-939637BCE8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15" name="Rectangle 14">
            <a:extLst>
              <a:ext uri="{FF2B5EF4-FFF2-40B4-BE49-F238E27FC236}">
                <a16:creationId xmlns:a16="http://schemas.microsoft.com/office/drawing/2014/main" id="{7EF5ECB8-D49C-48FB-A93E-88EB2FFDF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411B77A2-BD5C-432D-B52E-C12612C74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9" name="Rectangle 18">
            <a:extLst>
              <a:ext uri="{FF2B5EF4-FFF2-40B4-BE49-F238E27FC236}">
                <a16:creationId xmlns:a16="http://schemas.microsoft.com/office/drawing/2014/main" id="{87C031CB-DEB3-405F-9996-5322C24A6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92031F0E-C3FA-4DAF-BD13-4AC665CFF0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3" name="Picture 22">
            <a:extLst>
              <a:ext uri="{FF2B5EF4-FFF2-40B4-BE49-F238E27FC236}">
                <a16:creationId xmlns:a16="http://schemas.microsoft.com/office/drawing/2014/main" id="{BE685C68-BF28-4330-A4FE-33ABD88511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5349629"/>
            <a:ext cx="11525954" cy="275942"/>
          </a:xfrm>
          <a:prstGeom prst="rect">
            <a:avLst/>
          </a:prstGeom>
        </p:spPr>
      </p:pic>
      <p:sp>
        <p:nvSpPr>
          <p:cNvPr id="25" name="Rectangle 24">
            <a:extLst>
              <a:ext uri="{FF2B5EF4-FFF2-40B4-BE49-F238E27FC236}">
                <a16:creationId xmlns:a16="http://schemas.microsoft.com/office/drawing/2014/main" id="{273350E1-40B5-47D9-8DDD-3C2A17B4B6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1525954" cy="5379499"/>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1">
            <a:extLst>
              <a:ext uri="{FF2B5EF4-FFF2-40B4-BE49-F238E27FC236}">
                <a16:creationId xmlns:a16="http://schemas.microsoft.com/office/drawing/2014/main" id="{D78A596B-3235-C6C7-4BC4-9080B2682882}"/>
              </a:ext>
            </a:extLst>
          </p:cNvPr>
          <p:cNvSpPr txBox="1">
            <a:spLocks/>
          </p:cNvSpPr>
          <p:nvPr/>
        </p:nvSpPr>
        <p:spPr>
          <a:xfrm>
            <a:off x="4063113" y="1997765"/>
            <a:ext cx="5872891" cy="269663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spcAft>
                <a:spcPts val="600"/>
              </a:spcAft>
            </a:pPr>
            <a:r>
              <a:rPr lang="en-US" sz="6000" b="1">
                <a:solidFill>
                  <a:srgbClr val="FFFFFF"/>
                </a:solidFill>
              </a:rPr>
              <a:t>Backend</a:t>
            </a:r>
          </a:p>
        </p:txBody>
      </p:sp>
      <p:pic>
        <p:nvPicPr>
          <p:cNvPr id="27" name="Picture 26">
            <a:extLst>
              <a:ext uri="{FF2B5EF4-FFF2-40B4-BE49-F238E27FC236}">
                <a16:creationId xmlns:a16="http://schemas.microsoft.com/office/drawing/2014/main" id="{A1500D0A-0DCA-4E06-8B25-618E6299CC9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print">
            <a:extLst>
              <a:ext uri="{28A0092B-C50C-407E-A947-70E740481C1C}">
                <a14:useLocalDpi xmlns:a14="http://schemas.microsoft.com/office/drawing/2010/main" val="0"/>
              </a:ext>
            </a:extLst>
          </a:blip>
          <a:stretch>
            <a:fillRect/>
          </a:stretch>
        </p:blipFill>
        <p:spPr>
          <a:xfrm>
            <a:off x="10585826" y="4686838"/>
            <a:ext cx="1602997" cy="144270"/>
          </a:xfrm>
          <a:prstGeom prst="rect">
            <a:avLst/>
          </a:prstGeom>
        </p:spPr>
      </p:pic>
      <p:sp>
        <p:nvSpPr>
          <p:cNvPr id="29" name="Rectangle 28">
            <a:extLst>
              <a:ext uri="{FF2B5EF4-FFF2-40B4-BE49-F238E27FC236}">
                <a16:creationId xmlns:a16="http://schemas.microsoft.com/office/drawing/2014/main" id="{108AC4DC-69B5-4DD1-84BC-850C5A2861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3034068"/>
            <a:ext cx="1602997"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256001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9550B-9F6B-4623-919E-9799AE61A035}"/>
              </a:ext>
            </a:extLst>
          </p:cNvPr>
          <p:cNvSpPr>
            <a:spLocks noGrp="1"/>
          </p:cNvSpPr>
          <p:nvPr>
            <p:ph type="title"/>
          </p:nvPr>
        </p:nvSpPr>
        <p:spPr/>
        <p:txBody>
          <a:bodyPr/>
          <a:lstStyle/>
          <a:p>
            <a:r>
              <a:rPr lang="en-US" b="1" dirty="0"/>
              <a:t>.NET</a:t>
            </a:r>
            <a:endParaRPr lang="en-GB" b="1" dirty="0"/>
          </a:p>
        </p:txBody>
      </p:sp>
      <p:sp>
        <p:nvSpPr>
          <p:cNvPr id="3" name="Content Placeholder 2">
            <a:extLst>
              <a:ext uri="{FF2B5EF4-FFF2-40B4-BE49-F238E27FC236}">
                <a16:creationId xmlns:a16="http://schemas.microsoft.com/office/drawing/2014/main" id="{292C43D4-67DB-73D4-EF3F-DF59E9E4E064}"/>
              </a:ext>
            </a:extLst>
          </p:cNvPr>
          <p:cNvSpPr>
            <a:spLocks noGrp="1"/>
          </p:cNvSpPr>
          <p:nvPr>
            <p:ph idx="1"/>
          </p:nvPr>
        </p:nvSpPr>
        <p:spPr>
          <a:xfrm>
            <a:off x="751114" y="2231696"/>
            <a:ext cx="7444031" cy="4351338"/>
          </a:xfrm>
        </p:spPr>
        <p:txBody>
          <a:bodyPr>
            <a:normAutofit/>
          </a:bodyPr>
          <a:lstStyle/>
          <a:p>
            <a:pPr>
              <a:lnSpc>
                <a:spcPct val="100000"/>
              </a:lnSpc>
            </a:pPr>
            <a:r>
              <a:rPr lang="ru-RU" sz="2000" b="1" dirty="0"/>
              <a:t>.NET </a:t>
            </a:r>
            <a:r>
              <a:rPr lang="en-US" sz="2000" dirty="0"/>
              <a:t>is a </a:t>
            </a:r>
            <a:r>
              <a:rPr lang="en-US" sz="2000" b="1" dirty="0"/>
              <a:t>platform</a:t>
            </a:r>
            <a:r>
              <a:rPr lang="en-US" sz="2000" dirty="0"/>
              <a:t> that allows you to create and run applications in various programming languages, such as C#, F#, and VB.NET.</a:t>
            </a:r>
            <a:endParaRPr lang="uk-UA" sz="2000" dirty="0"/>
          </a:p>
          <a:p>
            <a:pPr>
              <a:lnSpc>
                <a:spcPct val="100000"/>
              </a:lnSpc>
            </a:pPr>
            <a:endParaRPr lang="en-US" sz="2000" dirty="0"/>
          </a:p>
          <a:p>
            <a:pPr>
              <a:lnSpc>
                <a:spcPct val="100000"/>
              </a:lnSpc>
            </a:pPr>
            <a:r>
              <a:rPr lang="ru-RU" sz="2000" b="1" dirty="0"/>
              <a:t>.NET</a:t>
            </a:r>
            <a:r>
              <a:rPr lang="ru-RU" sz="2000" dirty="0"/>
              <a:t> </a:t>
            </a:r>
            <a:r>
              <a:rPr lang="en-US" sz="2000" dirty="0"/>
              <a:t>is a </a:t>
            </a:r>
            <a:r>
              <a:rPr lang="en-US" sz="2000" b="1" dirty="0"/>
              <a:t>cross-platform technology</a:t>
            </a:r>
            <a:r>
              <a:rPr lang="en-US" sz="2000" dirty="0"/>
              <a:t> that allows it to be used on different operating systems, such as</a:t>
            </a:r>
            <a:r>
              <a:rPr lang="uk-UA" sz="2000" dirty="0"/>
              <a:t>:</a:t>
            </a:r>
            <a:r>
              <a:rPr lang="ru-RU" sz="2000" dirty="0"/>
              <a:t> </a:t>
            </a:r>
          </a:p>
          <a:p>
            <a:pPr lvl="1">
              <a:lnSpc>
                <a:spcPct val="100000"/>
              </a:lnSpc>
            </a:pPr>
            <a:r>
              <a:rPr lang="pl-PL" dirty="0"/>
              <a:t>Windows </a:t>
            </a:r>
            <a:endParaRPr lang="uk-UA" dirty="0"/>
          </a:p>
          <a:p>
            <a:pPr lvl="1">
              <a:lnSpc>
                <a:spcPct val="100000"/>
              </a:lnSpc>
            </a:pPr>
            <a:r>
              <a:rPr lang="pl-PL" dirty="0"/>
              <a:t>macOS</a:t>
            </a:r>
            <a:endParaRPr lang="uk-UA" dirty="0"/>
          </a:p>
          <a:p>
            <a:pPr lvl="1">
              <a:lnSpc>
                <a:spcPct val="100000"/>
              </a:lnSpc>
            </a:pPr>
            <a:r>
              <a:rPr lang="pl-PL" dirty="0"/>
              <a:t>Linux</a:t>
            </a:r>
            <a:endParaRPr lang="en-GB" dirty="0"/>
          </a:p>
        </p:txBody>
      </p:sp>
      <p:pic>
        <p:nvPicPr>
          <p:cNvPr id="5" name="Picture 4">
            <a:extLst>
              <a:ext uri="{FF2B5EF4-FFF2-40B4-BE49-F238E27FC236}">
                <a16:creationId xmlns:a16="http://schemas.microsoft.com/office/drawing/2014/main" id="{6452028D-DC9F-76C7-34DB-F165DA65FD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6926" y="355698"/>
            <a:ext cx="2102179" cy="2102179"/>
          </a:xfrm>
          <a:prstGeom prst="rect">
            <a:avLst/>
          </a:prstGeom>
        </p:spPr>
      </p:pic>
    </p:spTree>
    <p:extLst>
      <p:ext uri="{BB962C8B-B14F-4D97-AF65-F5344CB8AC3E}">
        <p14:creationId xmlns:p14="http://schemas.microsoft.com/office/powerpoint/2010/main" val="2607316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C0B87-D915-361A-B57E-D6D2D20F8684}"/>
              </a:ext>
            </a:extLst>
          </p:cNvPr>
          <p:cNvSpPr>
            <a:spLocks noGrp="1"/>
          </p:cNvSpPr>
          <p:nvPr>
            <p:ph type="title"/>
          </p:nvPr>
        </p:nvSpPr>
        <p:spPr/>
        <p:txBody>
          <a:bodyPr/>
          <a:lstStyle/>
          <a:p>
            <a:r>
              <a:rPr lang="en-US" b="1" dirty="0"/>
              <a:t>What is C#</a:t>
            </a:r>
            <a:r>
              <a:rPr lang="uk-UA" b="1" dirty="0"/>
              <a:t> ?</a:t>
            </a:r>
            <a:endParaRPr lang="en-GB" b="1" dirty="0"/>
          </a:p>
        </p:txBody>
      </p:sp>
      <p:sp>
        <p:nvSpPr>
          <p:cNvPr id="3" name="Content Placeholder 2">
            <a:extLst>
              <a:ext uri="{FF2B5EF4-FFF2-40B4-BE49-F238E27FC236}">
                <a16:creationId xmlns:a16="http://schemas.microsoft.com/office/drawing/2014/main" id="{AD1FBCB6-F5F5-A8B0-34DC-30B2F07A7D2E}"/>
              </a:ext>
            </a:extLst>
          </p:cNvPr>
          <p:cNvSpPr>
            <a:spLocks noGrp="1"/>
          </p:cNvSpPr>
          <p:nvPr>
            <p:ph idx="1"/>
          </p:nvPr>
        </p:nvSpPr>
        <p:spPr>
          <a:xfrm>
            <a:off x="569045" y="2101397"/>
            <a:ext cx="9218422" cy="4351338"/>
          </a:xfrm>
        </p:spPr>
        <p:txBody>
          <a:bodyPr>
            <a:noAutofit/>
          </a:bodyPr>
          <a:lstStyle/>
          <a:p>
            <a:pPr>
              <a:lnSpc>
                <a:spcPct val="100000"/>
              </a:lnSpc>
            </a:pPr>
            <a:r>
              <a:rPr lang="en-US" sz="2000" b="1" dirty="0"/>
              <a:t>C# </a:t>
            </a:r>
            <a:r>
              <a:rPr lang="en-US" sz="2000" dirty="0"/>
              <a:t>is a </a:t>
            </a:r>
            <a:r>
              <a:rPr lang="en-US" sz="2000" b="1" dirty="0"/>
              <a:t>compiled</a:t>
            </a:r>
            <a:r>
              <a:rPr lang="en-US" sz="2000" dirty="0"/>
              <a:t>, high-level, and </a:t>
            </a:r>
            <a:r>
              <a:rPr lang="en-US" sz="2000" b="1" dirty="0"/>
              <a:t>object-oriented programming language</a:t>
            </a:r>
            <a:r>
              <a:rPr lang="en-US" sz="2000" dirty="0"/>
              <a:t> that runs on the .NET platform.</a:t>
            </a:r>
          </a:p>
          <a:p>
            <a:pPr>
              <a:lnSpc>
                <a:spcPct val="100000"/>
              </a:lnSpc>
            </a:pPr>
            <a:r>
              <a:rPr lang="en-US" sz="2000" dirty="0"/>
              <a:t>C# is also a </a:t>
            </a:r>
            <a:r>
              <a:rPr lang="en-US" sz="2000" b="1" dirty="0"/>
              <a:t>cross-platform</a:t>
            </a:r>
            <a:r>
              <a:rPr lang="en-US" sz="2000" dirty="0"/>
              <a:t> language, which allows us to use it in various areas of development.</a:t>
            </a:r>
            <a:endParaRPr lang="uk-UA" sz="2000" dirty="0"/>
          </a:p>
          <a:p>
            <a:pPr>
              <a:lnSpc>
                <a:spcPct val="100000"/>
              </a:lnSpc>
            </a:pPr>
            <a:r>
              <a:rPr lang="en-US" sz="2000" dirty="0"/>
              <a:t>For example:</a:t>
            </a:r>
            <a:endParaRPr lang="uk-UA" sz="2000" dirty="0"/>
          </a:p>
          <a:p>
            <a:pPr lvl="1">
              <a:lnSpc>
                <a:spcPct val="100000"/>
              </a:lnSpc>
            </a:pPr>
            <a:r>
              <a:rPr lang="pl-PL" dirty="0"/>
              <a:t>M</a:t>
            </a:r>
            <a:r>
              <a:rPr lang="en-US" dirty="0" err="1"/>
              <a:t>obile</a:t>
            </a:r>
            <a:r>
              <a:rPr lang="en-US" dirty="0"/>
              <a:t> applications</a:t>
            </a:r>
            <a:endParaRPr lang="uk-UA" dirty="0"/>
          </a:p>
          <a:p>
            <a:pPr lvl="1">
              <a:lnSpc>
                <a:spcPct val="100000"/>
              </a:lnSpc>
            </a:pPr>
            <a:r>
              <a:rPr lang="pl-PL" dirty="0"/>
              <a:t>W</a:t>
            </a:r>
            <a:r>
              <a:rPr lang="en-US" dirty="0" err="1"/>
              <a:t>eb</a:t>
            </a:r>
            <a:r>
              <a:rPr lang="en-US" dirty="0"/>
              <a:t> services</a:t>
            </a:r>
            <a:endParaRPr lang="uk-UA" dirty="0"/>
          </a:p>
          <a:p>
            <a:pPr lvl="1">
              <a:lnSpc>
                <a:spcPct val="100000"/>
              </a:lnSpc>
            </a:pPr>
            <a:r>
              <a:rPr lang="en-US" dirty="0"/>
              <a:t>Games</a:t>
            </a:r>
            <a:endParaRPr lang="uk-UA" dirty="0"/>
          </a:p>
          <a:p>
            <a:pPr lvl="1">
              <a:lnSpc>
                <a:spcPct val="100000"/>
              </a:lnSpc>
            </a:pPr>
            <a:r>
              <a:rPr lang="pl-PL" dirty="0"/>
              <a:t>And more</a:t>
            </a:r>
          </a:p>
          <a:p>
            <a:pPr lvl="1">
              <a:lnSpc>
                <a:spcPct val="100000"/>
              </a:lnSpc>
            </a:pPr>
            <a:endParaRPr lang="uk-UA" dirty="0"/>
          </a:p>
          <a:p>
            <a:pPr>
              <a:lnSpc>
                <a:spcPct val="100000"/>
              </a:lnSpc>
            </a:pPr>
            <a:r>
              <a:rPr lang="en-US" sz="2000" dirty="0"/>
              <a:t>For this, there are various frameworks: </a:t>
            </a:r>
            <a:r>
              <a:rPr lang="en-US" sz="2000" b="1" dirty="0"/>
              <a:t>.NET MAUI, ASP.NET, Unity</a:t>
            </a:r>
            <a:r>
              <a:rPr lang="en-US" sz="2000" dirty="0"/>
              <a:t>, and others.</a:t>
            </a:r>
            <a:endParaRPr lang="uk-UA" sz="2000" dirty="0"/>
          </a:p>
        </p:txBody>
      </p:sp>
    </p:spTree>
    <p:extLst>
      <p:ext uri="{BB962C8B-B14F-4D97-AF65-F5344CB8AC3E}">
        <p14:creationId xmlns:p14="http://schemas.microsoft.com/office/powerpoint/2010/main" val="2770911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A77B5-9DF8-0734-E4B4-08743CDECCD1}"/>
              </a:ext>
            </a:extLst>
          </p:cNvPr>
          <p:cNvSpPr>
            <a:spLocks noGrp="1"/>
          </p:cNvSpPr>
          <p:nvPr>
            <p:ph type="title"/>
          </p:nvPr>
        </p:nvSpPr>
        <p:spPr/>
        <p:txBody>
          <a:bodyPr/>
          <a:lstStyle/>
          <a:p>
            <a:r>
              <a:rPr lang="en-US" b="1" dirty="0"/>
              <a:t>C# Syntax</a:t>
            </a:r>
            <a:endParaRPr lang="en-GB" b="1" dirty="0"/>
          </a:p>
        </p:txBody>
      </p:sp>
      <p:pic>
        <p:nvPicPr>
          <p:cNvPr id="11" name="Content Placeholder 10">
            <a:extLst>
              <a:ext uri="{FF2B5EF4-FFF2-40B4-BE49-F238E27FC236}">
                <a16:creationId xmlns:a16="http://schemas.microsoft.com/office/drawing/2014/main" id="{CE9C6C0C-6FE6-24BB-20D2-62372D1C1AB0}"/>
              </a:ext>
            </a:extLst>
          </p:cNvPr>
          <p:cNvPicPr>
            <a:picLocks noGrp="1" noChangeAspect="1"/>
          </p:cNvPicPr>
          <p:nvPr>
            <p:ph idx="1"/>
          </p:nvPr>
        </p:nvPicPr>
        <p:blipFill>
          <a:blip r:embed="rId2"/>
          <a:stretch>
            <a:fillRect/>
          </a:stretch>
        </p:blipFill>
        <p:spPr>
          <a:xfrm>
            <a:off x="3667276" y="2078611"/>
            <a:ext cx="8126790" cy="4462719"/>
          </a:xfrm>
        </p:spPr>
      </p:pic>
      <p:sp>
        <p:nvSpPr>
          <p:cNvPr id="4" name="TextBox 3">
            <a:extLst>
              <a:ext uri="{FF2B5EF4-FFF2-40B4-BE49-F238E27FC236}">
                <a16:creationId xmlns:a16="http://schemas.microsoft.com/office/drawing/2014/main" id="{D529FF83-CC92-6048-A82E-B040001F27AD}"/>
              </a:ext>
            </a:extLst>
          </p:cNvPr>
          <p:cNvSpPr txBox="1"/>
          <p:nvPr/>
        </p:nvSpPr>
        <p:spPr>
          <a:xfrm>
            <a:off x="452848" y="2116440"/>
            <a:ext cx="2924141" cy="1938992"/>
          </a:xfrm>
          <a:prstGeom prst="rect">
            <a:avLst/>
          </a:prstGeom>
          <a:noFill/>
        </p:spPr>
        <p:txBody>
          <a:bodyPr wrap="square">
            <a:spAutoFit/>
          </a:bodyPr>
          <a:lstStyle/>
          <a:p>
            <a:r>
              <a:rPr lang="en-US" sz="2000" b="1" dirty="0"/>
              <a:t>Syntax</a:t>
            </a:r>
            <a:r>
              <a:rPr lang="en-US" sz="2000" dirty="0"/>
              <a:t> is a structure or set of rules that describe how to correctly use specific constructs of a programming language.</a:t>
            </a:r>
            <a:endParaRPr lang="en-GB" sz="2000" dirty="0"/>
          </a:p>
        </p:txBody>
      </p:sp>
    </p:spTree>
    <p:extLst>
      <p:ext uri="{BB962C8B-B14F-4D97-AF65-F5344CB8AC3E}">
        <p14:creationId xmlns:p14="http://schemas.microsoft.com/office/powerpoint/2010/main" val="4196691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31E8-13A1-FF53-27A2-E728D87BDB53}"/>
              </a:ext>
            </a:extLst>
          </p:cNvPr>
          <p:cNvSpPr>
            <a:spLocks noGrp="1"/>
          </p:cNvSpPr>
          <p:nvPr>
            <p:ph type="title"/>
          </p:nvPr>
        </p:nvSpPr>
        <p:spPr/>
        <p:txBody>
          <a:bodyPr/>
          <a:lstStyle/>
          <a:p>
            <a:r>
              <a:rPr lang="en-US" b="1" dirty="0"/>
              <a:t>Data types</a:t>
            </a:r>
            <a:endParaRPr lang="en-GB" b="1" dirty="0"/>
          </a:p>
        </p:txBody>
      </p:sp>
      <p:pic>
        <p:nvPicPr>
          <p:cNvPr id="9" name="Content Placeholder 8">
            <a:extLst>
              <a:ext uri="{FF2B5EF4-FFF2-40B4-BE49-F238E27FC236}">
                <a16:creationId xmlns:a16="http://schemas.microsoft.com/office/drawing/2014/main" id="{1C2A6B14-518A-A974-895E-B422C4F56DC2}"/>
              </a:ext>
            </a:extLst>
          </p:cNvPr>
          <p:cNvPicPr>
            <a:picLocks noGrp="1" noChangeAspect="1"/>
          </p:cNvPicPr>
          <p:nvPr>
            <p:ph idx="1"/>
          </p:nvPr>
        </p:nvPicPr>
        <p:blipFill>
          <a:blip r:embed="rId2"/>
          <a:stretch>
            <a:fillRect/>
          </a:stretch>
        </p:blipFill>
        <p:spPr>
          <a:xfrm>
            <a:off x="6517341" y="2116440"/>
            <a:ext cx="5452062" cy="4377568"/>
          </a:xfrm>
        </p:spPr>
      </p:pic>
      <p:sp>
        <p:nvSpPr>
          <p:cNvPr id="3" name="TextBox 2">
            <a:extLst>
              <a:ext uri="{FF2B5EF4-FFF2-40B4-BE49-F238E27FC236}">
                <a16:creationId xmlns:a16="http://schemas.microsoft.com/office/drawing/2014/main" id="{8DD4700C-DE21-C4C1-0667-91EEB6BB8214}"/>
              </a:ext>
            </a:extLst>
          </p:cNvPr>
          <p:cNvSpPr txBox="1"/>
          <p:nvPr/>
        </p:nvSpPr>
        <p:spPr>
          <a:xfrm>
            <a:off x="372165" y="2116440"/>
            <a:ext cx="5723835" cy="3970318"/>
          </a:xfrm>
          <a:prstGeom prst="rect">
            <a:avLst/>
          </a:prstGeom>
          <a:noFill/>
        </p:spPr>
        <p:txBody>
          <a:bodyPr wrap="square">
            <a:spAutoFit/>
          </a:bodyPr>
          <a:lstStyle/>
          <a:p>
            <a:r>
              <a:rPr lang="en-US" b="1" dirty="0"/>
              <a:t>C# is a strictly typed programming language</a:t>
            </a:r>
            <a:r>
              <a:rPr lang="en-US" dirty="0"/>
              <a:t>, which means strict adherence to data types. Data types help store certain information, and each of them has a defined amount of memory that we can use.</a:t>
            </a:r>
            <a:endParaRPr lang="pl-PL" dirty="0"/>
          </a:p>
          <a:p>
            <a:endParaRPr lang="ru-RU" dirty="0"/>
          </a:p>
          <a:p>
            <a:r>
              <a:rPr lang="en-US" dirty="0"/>
              <a:t>Classification of data types:</a:t>
            </a:r>
            <a:endParaRPr lang="pl-PL" dirty="0"/>
          </a:p>
          <a:p>
            <a:endParaRPr lang="en-GB" dirty="0"/>
          </a:p>
          <a:p>
            <a:pPr marL="342900" indent="-342900">
              <a:buFont typeface="Arial" panose="020B0604020202020204" pitchFamily="34" charset="0"/>
              <a:buChar char="•"/>
            </a:pPr>
            <a:r>
              <a:rPr lang="en-GB" b="1" dirty="0"/>
              <a:t>Numeric / Integer types </a:t>
            </a:r>
            <a:r>
              <a:rPr lang="en-GB" dirty="0"/>
              <a:t>— </a:t>
            </a:r>
            <a:r>
              <a:rPr lang="en-US" dirty="0"/>
              <a:t>whole numbers</a:t>
            </a:r>
            <a:endParaRPr lang="uk-UA" dirty="0"/>
          </a:p>
          <a:p>
            <a:pPr marL="342900" indent="-342900">
              <a:buFont typeface="Arial" panose="020B0604020202020204" pitchFamily="34" charset="0"/>
              <a:buChar char="•"/>
            </a:pPr>
            <a:r>
              <a:rPr lang="en-GB" b="1" dirty="0"/>
              <a:t>Floating-point types </a:t>
            </a:r>
            <a:r>
              <a:rPr lang="en-GB" dirty="0"/>
              <a:t>— </a:t>
            </a:r>
            <a:r>
              <a:rPr lang="en-US" dirty="0"/>
              <a:t>floating-point numbers</a:t>
            </a:r>
            <a:endParaRPr lang="uk-UA" dirty="0"/>
          </a:p>
          <a:p>
            <a:pPr marL="342900" indent="-342900">
              <a:buFont typeface="Arial" panose="020B0604020202020204" pitchFamily="34" charset="0"/>
              <a:buChar char="•"/>
            </a:pPr>
            <a:r>
              <a:rPr lang="en-GB" b="1" dirty="0"/>
              <a:t>Character types </a:t>
            </a:r>
            <a:r>
              <a:rPr lang="en-GB" dirty="0"/>
              <a:t>— </a:t>
            </a:r>
            <a:r>
              <a:rPr lang="en-US" dirty="0"/>
              <a:t>characters and text</a:t>
            </a:r>
            <a:endParaRPr lang="uk-UA" dirty="0"/>
          </a:p>
          <a:p>
            <a:pPr marL="342900" indent="-342900">
              <a:buFont typeface="Arial" panose="020B0604020202020204" pitchFamily="34" charset="0"/>
              <a:buChar char="•"/>
            </a:pPr>
            <a:r>
              <a:rPr lang="en-GB" b="1" dirty="0"/>
              <a:t>Boolean type </a:t>
            </a:r>
            <a:r>
              <a:rPr lang="en-GB" dirty="0"/>
              <a:t>— </a:t>
            </a:r>
            <a:r>
              <a:rPr lang="en-US" dirty="0"/>
              <a:t>logical data type</a:t>
            </a:r>
            <a:endParaRPr lang="uk-UA" dirty="0"/>
          </a:p>
          <a:p>
            <a:pPr marL="342900" indent="-342900">
              <a:buFont typeface="Arial" panose="020B0604020202020204" pitchFamily="34" charset="0"/>
              <a:buChar char="•"/>
            </a:pPr>
            <a:r>
              <a:rPr lang="en-GB" b="1" dirty="0"/>
              <a:t>Special type </a:t>
            </a:r>
            <a:r>
              <a:rPr lang="en-GB" dirty="0"/>
              <a:t>— </a:t>
            </a:r>
            <a:r>
              <a:rPr lang="en-US" dirty="0"/>
              <a:t>objects. Objects can be classes, interfaces, delegates, </a:t>
            </a:r>
            <a:r>
              <a:rPr lang="en-US" dirty="0" err="1"/>
              <a:t>etc</a:t>
            </a:r>
            <a:r>
              <a:rPr lang="pl-PL" dirty="0"/>
              <a:t>.</a:t>
            </a:r>
            <a:endParaRPr lang="uk-UA" dirty="0"/>
          </a:p>
          <a:p>
            <a:endParaRPr lang="en-GB" dirty="0"/>
          </a:p>
        </p:txBody>
      </p:sp>
    </p:spTree>
    <p:extLst>
      <p:ext uri="{BB962C8B-B14F-4D97-AF65-F5344CB8AC3E}">
        <p14:creationId xmlns:p14="http://schemas.microsoft.com/office/powerpoint/2010/main" val="1430334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EFE7E-A15E-3BF7-C9E4-663FACCF46E3}"/>
              </a:ext>
            </a:extLst>
          </p:cNvPr>
          <p:cNvSpPr>
            <a:spLocks noGrp="1"/>
          </p:cNvSpPr>
          <p:nvPr>
            <p:ph type="title"/>
          </p:nvPr>
        </p:nvSpPr>
        <p:spPr/>
        <p:txBody>
          <a:bodyPr/>
          <a:lstStyle/>
          <a:p>
            <a:r>
              <a:rPr lang="en-GB" b="1" dirty="0"/>
              <a:t>Code: </a:t>
            </a:r>
            <a:r>
              <a:rPr lang="en-US" b="1" dirty="0"/>
              <a:t>Data types</a:t>
            </a:r>
          </a:p>
        </p:txBody>
      </p:sp>
      <p:pic>
        <p:nvPicPr>
          <p:cNvPr id="5" name="Content Placeholder 4">
            <a:extLst>
              <a:ext uri="{FF2B5EF4-FFF2-40B4-BE49-F238E27FC236}">
                <a16:creationId xmlns:a16="http://schemas.microsoft.com/office/drawing/2014/main" id="{BDF134C1-9416-B016-0AA3-D916D5A7A924}"/>
              </a:ext>
            </a:extLst>
          </p:cNvPr>
          <p:cNvPicPr>
            <a:picLocks noGrp="1" noChangeAspect="1"/>
          </p:cNvPicPr>
          <p:nvPr>
            <p:ph idx="1"/>
          </p:nvPr>
        </p:nvPicPr>
        <p:blipFill>
          <a:blip r:embed="rId2"/>
          <a:stretch>
            <a:fillRect/>
          </a:stretch>
        </p:blipFill>
        <p:spPr>
          <a:xfrm>
            <a:off x="2568665" y="2076824"/>
            <a:ext cx="6785260" cy="4521199"/>
          </a:xfrm>
        </p:spPr>
      </p:pic>
    </p:spTree>
    <p:extLst>
      <p:ext uri="{BB962C8B-B14F-4D97-AF65-F5344CB8AC3E}">
        <p14:creationId xmlns:p14="http://schemas.microsoft.com/office/powerpoint/2010/main" val="3677120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00746-DAAA-37D7-8409-72D68DE0F3D3}"/>
              </a:ext>
            </a:extLst>
          </p:cNvPr>
          <p:cNvSpPr>
            <a:spLocks noGrp="1"/>
          </p:cNvSpPr>
          <p:nvPr>
            <p:ph type="title"/>
          </p:nvPr>
        </p:nvSpPr>
        <p:spPr/>
        <p:txBody>
          <a:bodyPr/>
          <a:lstStyle/>
          <a:p>
            <a:r>
              <a:rPr lang="en-GB" b="1" dirty="0"/>
              <a:t>Code: </a:t>
            </a:r>
            <a:r>
              <a:rPr lang="en-US" b="1" dirty="0"/>
              <a:t>Data types</a:t>
            </a:r>
            <a:endParaRPr lang="en-GB" b="1" dirty="0"/>
          </a:p>
        </p:txBody>
      </p:sp>
      <p:pic>
        <p:nvPicPr>
          <p:cNvPr id="7" name="Content Placeholder 6">
            <a:extLst>
              <a:ext uri="{FF2B5EF4-FFF2-40B4-BE49-F238E27FC236}">
                <a16:creationId xmlns:a16="http://schemas.microsoft.com/office/drawing/2014/main" id="{4A4223C0-2E9B-40D0-4CD6-CC73721BAEA8}"/>
              </a:ext>
            </a:extLst>
          </p:cNvPr>
          <p:cNvPicPr>
            <a:picLocks noGrp="1" noChangeAspect="1"/>
          </p:cNvPicPr>
          <p:nvPr>
            <p:ph idx="1"/>
          </p:nvPr>
        </p:nvPicPr>
        <p:blipFill>
          <a:blip r:embed="rId2"/>
          <a:stretch>
            <a:fillRect/>
          </a:stretch>
        </p:blipFill>
        <p:spPr>
          <a:xfrm>
            <a:off x="2707341" y="2148540"/>
            <a:ext cx="6246589" cy="4374563"/>
          </a:xfrm>
        </p:spPr>
      </p:pic>
      <p:sp>
        <p:nvSpPr>
          <p:cNvPr id="6" name="Frame 5">
            <a:extLst>
              <a:ext uri="{FF2B5EF4-FFF2-40B4-BE49-F238E27FC236}">
                <a16:creationId xmlns:a16="http://schemas.microsoft.com/office/drawing/2014/main" id="{35C3043D-8DC6-D7D7-701B-F9E0017D7453}"/>
              </a:ext>
            </a:extLst>
          </p:cNvPr>
          <p:cNvSpPr/>
          <p:nvPr/>
        </p:nvSpPr>
        <p:spPr>
          <a:xfrm>
            <a:off x="7581900" y="4272280"/>
            <a:ext cx="1242060" cy="975360"/>
          </a:xfrm>
          <a:prstGeom prst="frame">
            <a:avLst>
              <a:gd name="adj1" fmla="val 3360"/>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7030A0"/>
              </a:solidFill>
            </a:endParaRPr>
          </a:p>
        </p:txBody>
      </p:sp>
    </p:spTree>
    <p:extLst>
      <p:ext uri="{BB962C8B-B14F-4D97-AF65-F5344CB8AC3E}">
        <p14:creationId xmlns:p14="http://schemas.microsoft.com/office/powerpoint/2010/main" val="2480970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38B9E-9A83-C964-4C50-A22EC963062E}"/>
              </a:ext>
            </a:extLst>
          </p:cNvPr>
          <p:cNvSpPr>
            <a:spLocks noGrp="1"/>
          </p:cNvSpPr>
          <p:nvPr>
            <p:ph type="title"/>
          </p:nvPr>
        </p:nvSpPr>
        <p:spPr/>
        <p:txBody>
          <a:bodyPr/>
          <a:lstStyle/>
          <a:p>
            <a:r>
              <a:rPr lang="pl-PL" b="1" dirty="0" err="1"/>
              <a:t>Types</a:t>
            </a:r>
            <a:r>
              <a:rPr lang="pl-PL" b="1" dirty="0"/>
              <a:t>: Value and Reference</a:t>
            </a:r>
            <a:endParaRPr lang="en-GB" b="1" dirty="0"/>
          </a:p>
        </p:txBody>
      </p:sp>
      <p:sp>
        <p:nvSpPr>
          <p:cNvPr id="10" name="TextBox 9">
            <a:extLst>
              <a:ext uri="{FF2B5EF4-FFF2-40B4-BE49-F238E27FC236}">
                <a16:creationId xmlns:a16="http://schemas.microsoft.com/office/drawing/2014/main" id="{28D43DDA-62DE-248D-396A-879F9B76E198}"/>
              </a:ext>
            </a:extLst>
          </p:cNvPr>
          <p:cNvSpPr txBox="1"/>
          <p:nvPr/>
        </p:nvSpPr>
        <p:spPr>
          <a:xfrm>
            <a:off x="4774557" y="1998240"/>
            <a:ext cx="1425388" cy="369332"/>
          </a:xfrm>
          <a:prstGeom prst="rect">
            <a:avLst/>
          </a:prstGeom>
          <a:noFill/>
        </p:spPr>
        <p:txBody>
          <a:bodyPr wrap="square">
            <a:spAutoFit/>
          </a:bodyPr>
          <a:lstStyle/>
          <a:p>
            <a:r>
              <a:rPr lang="pl-PL" b="1" dirty="0"/>
              <a:t>Data </a:t>
            </a:r>
            <a:r>
              <a:rPr lang="pl-PL" b="1" dirty="0" err="1"/>
              <a:t>types</a:t>
            </a:r>
            <a:endParaRPr lang="en-GB" b="1" dirty="0"/>
          </a:p>
        </p:txBody>
      </p:sp>
      <p:sp>
        <p:nvSpPr>
          <p:cNvPr id="14" name="TextBox 13">
            <a:extLst>
              <a:ext uri="{FF2B5EF4-FFF2-40B4-BE49-F238E27FC236}">
                <a16:creationId xmlns:a16="http://schemas.microsoft.com/office/drawing/2014/main" id="{A7D71090-E6B6-392B-513A-17CC32F3983B}"/>
              </a:ext>
            </a:extLst>
          </p:cNvPr>
          <p:cNvSpPr txBox="1"/>
          <p:nvPr/>
        </p:nvSpPr>
        <p:spPr>
          <a:xfrm>
            <a:off x="1872234" y="3091468"/>
            <a:ext cx="1434353" cy="369332"/>
          </a:xfrm>
          <a:prstGeom prst="rect">
            <a:avLst/>
          </a:prstGeom>
          <a:noFill/>
        </p:spPr>
        <p:txBody>
          <a:bodyPr wrap="square">
            <a:spAutoFit/>
          </a:bodyPr>
          <a:lstStyle/>
          <a:p>
            <a:r>
              <a:rPr lang="pl-PL" b="1" dirty="0"/>
              <a:t>Value </a:t>
            </a:r>
            <a:r>
              <a:rPr lang="pl-PL" b="1" dirty="0" err="1"/>
              <a:t>types</a:t>
            </a:r>
            <a:endParaRPr lang="en-GB" b="1" dirty="0"/>
          </a:p>
        </p:txBody>
      </p:sp>
      <p:cxnSp>
        <p:nvCxnSpPr>
          <p:cNvPr id="18" name="Straight Arrow Connector 17">
            <a:extLst>
              <a:ext uri="{FF2B5EF4-FFF2-40B4-BE49-F238E27FC236}">
                <a16:creationId xmlns:a16="http://schemas.microsoft.com/office/drawing/2014/main" id="{74A19CA3-C45D-07F3-7FC6-496810D896B2}"/>
              </a:ext>
            </a:extLst>
          </p:cNvPr>
          <p:cNvCxnSpPr>
            <a:cxnSpLocks/>
          </p:cNvCxnSpPr>
          <p:nvPr/>
        </p:nvCxnSpPr>
        <p:spPr>
          <a:xfrm flipH="1">
            <a:off x="3424518" y="2303929"/>
            <a:ext cx="1350039" cy="744682"/>
          </a:xfrm>
          <a:prstGeom prst="straightConnector1">
            <a:avLst/>
          </a:prstGeom>
          <a:ln w="41275">
            <a:solidFill>
              <a:srgbClr val="002060"/>
            </a:solidFill>
            <a:tailEnd type="triangle"/>
          </a:ln>
        </p:spPr>
        <p:style>
          <a:lnRef idx="3">
            <a:schemeClr val="accent5"/>
          </a:lnRef>
          <a:fillRef idx="0">
            <a:schemeClr val="accent5"/>
          </a:fillRef>
          <a:effectRef idx="2">
            <a:schemeClr val="accent5"/>
          </a:effectRef>
          <a:fontRef idx="minor">
            <a:schemeClr val="tx1"/>
          </a:fontRef>
        </p:style>
      </p:cxnSp>
      <p:sp>
        <p:nvSpPr>
          <p:cNvPr id="20" name="TextBox 19">
            <a:extLst>
              <a:ext uri="{FF2B5EF4-FFF2-40B4-BE49-F238E27FC236}">
                <a16:creationId xmlns:a16="http://schemas.microsoft.com/office/drawing/2014/main" id="{E648E6BF-C360-FF9D-1317-54F5DA1959D4}"/>
              </a:ext>
            </a:extLst>
          </p:cNvPr>
          <p:cNvSpPr txBox="1"/>
          <p:nvPr/>
        </p:nvSpPr>
        <p:spPr>
          <a:xfrm>
            <a:off x="6744764" y="3048611"/>
            <a:ext cx="1958363" cy="369332"/>
          </a:xfrm>
          <a:prstGeom prst="rect">
            <a:avLst/>
          </a:prstGeom>
          <a:noFill/>
        </p:spPr>
        <p:txBody>
          <a:bodyPr wrap="square">
            <a:spAutoFit/>
          </a:bodyPr>
          <a:lstStyle/>
          <a:p>
            <a:r>
              <a:rPr lang="pl-PL" b="1" dirty="0"/>
              <a:t>Reference </a:t>
            </a:r>
            <a:r>
              <a:rPr lang="pl-PL" b="1" dirty="0" err="1"/>
              <a:t>types</a:t>
            </a:r>
            <a:endParaRPr lang="en-GB" b="1" dirty="0"/>
          </a:p>
        </p:txBody>
      </p:sp>
      <p:cxnSp>
        <p:nvCxnSpPr>
          <p:cNvPr id="25" name="Straight Arrow Connector 24">
            <a:extLst>
              <a:ext uri="{FF2B5EF4-FFF2-40B4-BE49-F238E27FC236}">
                <a16:creationId xmlns:a16="http://schemas.microsoft.com/office/drawing/2014/main" id="{50B56A7E-0109-7F41-9174-358E4CC4DD45}"/>
              </a:ext>
            </a:extLst>
          </p:cNvPr>
          <p:cNvCxnSpPr>
            <a:cxnSpLocks/>
          </p:cNvCxnSpPr>
          <p:nvPr/>
        </p:nvCxnSpPr>
        <p:spPr>
          <a:xfrm>
            <a:off x="6199945" y="2303929"/>
            <a:ext cx="953890" cy="768567"/>
          </a:xfrm>
          <a:prstGeom prst="straightConnector1">
            <a:avLst/>
          </a:prstGeom>
          <a:ln w="41275">
            <a:solidFill>
              <a:srgbClr val="002060"/>
            </a:solidFill>
            <a:tailEnd type="triangle"/>
          </a:ln>
        </p:spPr>
        <p:style>
          <a:lnRef idx="3">
            <a:schemeClr val="accent5"/>
          </a:lnRef>
          <a:fillRef idx="0">
            <a:schemeClr val="accent5"/>
          </a:fillRef>
          <a:effectRef idx="2">
            <a:schemeClr val="accent5"/>
          </a:effectRef>
          <a:fontRef idx="minor">
            <a:schemeClr val="tx1"/>
          </a:fontRef>
        </p:style>
      </p:cxnSp>
      <p:sp>
        <p:nvSpPr>
          <p:cNvPr id="34" name="TextBox 33">
            <a:extLst>
              <a:ext uri="{FF2B5EF4-FFF2-40B4-BE49-F238E27FC236}">
                <a16:creationId xmlns:a16="http://schemas.microsoft.com/office/drawing/2014/main" id="{BB502F6C-B249-4E9A-F7B2-A8AEA96372C2}"/>
              </a:ext>
            </a:extLst>
          </p:cNvPr>
          <p:cNvSpPr txBox="1"/>
          <p:nvPr/>
        </p:nvSpPr>
        <p:spPr>
          <a:xfrm>
            <a:off x="1905851" y="3469765"/>
            <a:ext cx="1434353" cy="3139321"/>
          </a:xfrm>
          <a:prstGeom prst="rect">
            <a:avLst/>
          </a:prstGeom>
          <a:noFill/>
        </p:spPr>
        <p:txBody>
          <a:bodyPr wrap="square">
            <a:spAutoFit/>
          </a:bodyPr>
          <a:lstStyle/>
          <a:p>
            <a:pPr marL="285750" indent="-285750">
              <a:buFont typeface="Arial" panose="020B0604020202020204" pitchFamily="34" charset="0"/>
              <a:buChar char="•"/>
            </a:pPr>
            <a:r>
              <a:rPr lang="pl-PL" b="1" dirty="0"/>
              <a:t>(s)</a:t>
            </a:r>
            <a:r>
              <a:rPr lang="pl-PL" b="1" dirty="0" err="1"/>
              <a:t>byte</a:t>
            </a:r>
            <a:endParaRPr lang="pl-PL" b="1" dirty="0"/>
          </a:p>
          <a:p>
            <a:pPr marL="285750" indent="-285750">
              <a:buFont typeface="Arial" panose="020B0604020202020204" pitchFamily="34" charset="0"/>
              <a:buChar char="•"/>
            </a:pPr>
            <a:r>
              <a:rPr lang="pl-PL" b="1" dirty="0"/>
              <a:t>(u)</a:t>
            </a:r>
            <a:r>
              <a:rPr lang="pl-PL" b="1" dirty="0" err="1"/>
              <a:t>int</a:t>
            </a:r>
            <a:endParaRPr lang="pl-PL" b="1" dirty="0"/>
          </a:p>
          <a:p>
            <a:pPr marL="285750" indent="-285750">
              <a:buFont typeface="Arial" panose="020B0604020202020204" pitchFamily="34" charset="0"/>
              <a:buChar char="•"/>
            </a:pPr>
            <a:r>
              <a:rPr lang="pl-PL" b="1" dirty="0"/>
              <a:t>(u)</a:t>
            </a:r>
            <a:r>
              <a:rPr lang="pl-PL" b="1" dirty="0" err="1"/>
              <a:t>short</a:t>
            </a:r>
            <a:endParaRPr lang="pl-PL" b="1" dirty="0"/>
          </a:p>
          <a:p>
            <a:pPr marL="285750" indent="-285750">
              <a:buFont typeface="Arial" panose="020B0604020202020204" pitchFamily="34" charset="0"/>
              <a:buChar char="•"/>
            </a:pPr>
            <a:r>
              <a:rPr lang="pl-PL" b="1" dirty="0"/>
              <a:t>(u)</a:t>
            </a:r>
            <a:r>
              <a:rPr lang="pl-PL" b="1" dirty="0" err="1"/>
              <a:t>long</a:t>
            </a:r>
            <a:endParaRPr lang="pl-PL" b="1" dirty="0"/>
          </a:p>
          <a:p>
            <a:pPr marL="285750" indent="-285750">
              <a:buFont typeface="Arial" panose="020B0604020202020204" pitchFamily="34" charset="0"/>
              <a:buChar char="•"/>
            </a:pPr>
            <a:endParaRPr lang="pl-PL" b="1" dirty="0"/>
          </a:p>
          <a:p>
            <a:pPr marL="285750" indent="-285750">
              <a:buFont typeface="Arial" panose="020B0604020202020204" pitchFamily="34" charset="0"/>
              <a:buChar char="•"/>
            </a:pPr>
            <a:r>
              <a:rPr lang="pl-PL" b="1" dirty="0" err="1"/>
              <a:t>float</a:t>
            </a:r>
            <a:endParaRPr lang="pl-PL" b="1" dirty="0"/>
          </a:p>
          <a:p>
            <a:pPr marL="285750" indent="-285750">
              <a:buFont typeface="Arial" panose="020B0604020202020204" pitchFamily="34" charset="0"/>
              <a:buChar char="•"/>
            </a:pPr>
            <a:r>
              <a:rPr lang="pl-PL" b="1" dirty="0" err="1"/>
              <a:t>double</a:t>
            </a:r>
            <a:endParaRPr lang="pl-PL" b="1" dirty="0"/>
          </a:p>
          <a:p>
            <a:pPr marL="285750" indent="-285750">
              <a:buFont typeface="Arial" panose="020B0604020202020204" pitchFamily="34" charset="0"/>
              <a:buChar char="•"/>
            </a:pPr>
            <a:r>
              <a:rPr lang="pl-PL" b="1" dirty="0" err="1"/>
              <a:t>decimal</a:t>
            </a:r>
            <a:endParaRPr lang="pl-PL" b="1" dirty="0"/>
          </a:p>
          <a:p>
            <a:pPr marL="285750" indent="-285750">
              <a:buFont typeface="Arial" panose="020B0604020202020204" pitchFamily="34" charset="0"/>
              <a:buChar char="•"/>
            </a:pPr>
            <a:endParaRPr lang="pl-PL" b="1" dirty="0"/>
          </a:p>
          <a:p>
            <a:pPr marL="285750" indent="-285750">
              <a:buFont typeface="Arial" panose="020B0604020202020204" pitchFamily="34" charset="0"/>
              <a:buChar char="•"/>
            </a:pPr>
            <a:r>
              <a:rPr lang="pl-PL" b="1" dirty="0"/>
              <a:t>char</a:t>
            </a:r>
          </a:p>
          <a:p>
            <a:pPr marL="285750" indent="-285750">
              <a:buFont typeface="Arial" panose="020B0604020202020204" pitchFamily="34" charset="0"/>
              <a:buChar char="•"/>
            </a:pPr>
            <a:r>
              <a:rPr lang="pl-PL" b="1" dirty="0" err="1"/>
              <a:t>bool</a:t>
            </a:r>
            <a:endParaRPr lang="en-GB" b="1" dirty="0"/>
          </a:p>
        </p:txBody>
      </p:sp>
      <p:sp>
        <p:nvSpPr>
          <p:cNvPr id="35" name="TextBox 34">
            <a:extLst>
              <a:ext uri="{FF2B5EF4-FFF2-40B4-BE49-F238E27FC236}">
                <a16:creationId xmlns:a16="http://schemas.microsoft.com/office/drawing/2014/main" id="{67DD6252-872A-F73F-AB9F-A52B958AEF29}"/>
              </a:ext>
            </a:extLst>
          </p:cNvPr>
          <p:cNvSpPr txBox="1"/>
          <p:nvPr/>
        </p:nvSpPr>
        <p:spPr>
          <a:xfrm>
            <a:off x="6199945" y="3429000"/>
            <a:ext cx="4677549" cy="2862322"/>
          </a:xfrm>
          <a:prstGeom prst="rect">
            <a:avLst/>
          </a:prstGeom>
          <a:noFill/>
        </p:spPr>
        <p:txBody>
          <a:bodyPr wrap="square">
            <a:spAutoFit/>
          </a:bodyPr>
          <a:lstStyle/>
          <a:p>
            <a:r>
              <a:rPr lang="en-US" dirty="0"/>
              <a:t>This slide is mostly in English. The only Ukrainian text is the description under </a:t>
            </a:r>
            <a:r>
              <a:rPr lang="en-US" b="1" dirty="0"/>
              <a:t>Reference types</a:t>
            </a:r>
            <a:r>
              <a:rPr lang="ru-RU" b="1" dirty="0"/>
              <a:t>:</a:t>
            </a:r>
            <a:endParaRPr lang="pl-PL" b="1" dirty="0"/>
          </a:p>
          <a:p>
            <a:endParaRPr lang="pl-PL" b="1" dirty="0"/>
          </a:p>
          <a:p>
            <a:pPr marL="285750" indent="-285750">
              <a:buFont typeface="Arial" panose="020B0604020202020204" pitchFamily="34" charset="0"/>
              <a:buChar char="•"/>
            </a:pPr>
            <a:r>
              <a:rPr lang="pl-PL" b="1" dirty="0"/>
              <a:t>	string</a:t>
            </a:r>
          </a:p>
          <a:p>
            <a:pPr marL="285750" indent="-285750">
              <a:buFont typeface="Arial" panose="020B0604020202020204" pitchFamily="34" charset="0"/>
              <a:buChar char="•"/>
            </a:pPr>
            <a:r>
              <a:rPr lang="pl-PL" b="1" dirty="0"/>
              <a:t>	</a:t>
            </a:r>
            <a:r>
              <a:rPr lang="pl-PL" b="1" dirty="0" err="1"/>
              <a:t>array</a:t>
            </a:r>
            <a:r>
              <a:rPr lang="pl-PL" b="1" dirty="0"/>
              <a:t> (</a:t>
            </a:r>
            <a:r>
              <a:rPr lang="pl-PL" b="1" dirty="0" err="1"/>
              <a:t>int</a:t>
            </a:r>
            <a:r>
              <a:rPr lang="pl-PL" b="1" dirty="0"/>
              <a:t>[], </a:t>
            </a:r>
            <a:r>
              <a:rPr lang="pl-PL" b="1" dirty="0" err="1"/>
              <a:t>double</a:t>
            </a:r>
            <a:r>
              <a:rPr lang="pl-PL" b="1" dirty="0"/>
              <a:t>[,])</a:t>
            </a:r>
          </a:p>
          <a:p>
            <a:pPr marL="285750" indent="-285750">
              <a:buFont typeface="Arial" panose="020B0604020202020204" pitchFamily="34" charset="0"/>
              <a:buChar char="•"/>
            </a:pPr>
            <a:r>
              <a:rPr lang="pl-PL" b="1" dirty="0"/>
              <a:t>	</a:t>
            </a:r>
            <a:r>
              <a:rPr lang="pl-PL" b="1" dirty="0" err="1"/>
              <a:t>class</a:t>
            </a:r>
            <a:endParaRPr lang="pl-PL" b="1" dirty="0"/>
          </a:p>
          <a:p>
            <a:pPr marL="285750" indent="-285750">
              <a:buFont typeface="Arial" panose="020B0604020202020204" pitchFamily="34" charset="0"/>
              <a:buChar char="•"/>
            </a:pPr>
            <a:r>
              <a:rPr lang="pl-PL" b="1" dirty="0"/>
              <a:t>	</a:t>
            </a:r>
            <a:r>
              <a:rPr lang="pl-PL" b="1" dirty="0" err="1"/>
              <a:t>interface</a:t>
            </a:r>
            <a:endParaRPr lang="pl-PL" b="1" dirty="0"/>
          </a:p>
          <a:p>
            <a:pPr marL="285750" indent="-285750">
              <a:buFont typeface="Arial" panose="020B0604020202020204" pitchFamily="34" charset="0"/>
              <a:buChar char="•"/>
            </a:pPr>
            <a:r>
              <a:rPr lang="pl-PL" b="1" dirty="0"/>
              <a:t>	</a:t>
            </a:r>
            <a:r>
              <a:rPr lang="pl-PL" b="1" dirty="0" err="1"/>
              <a:t>delegate</a:t>
            </a:r>
            <a:endParaRPr lang="pl-PL" b="1" dirty="0"/>
          </a:p>
          <a:p>
            <a:r>
              <a:rPr lang="pl-PL" b="1" dirty="0"/>
              <a:t>	 </a:t>
            </a:r>
            <a:endParaRPr lang="en-GB" b="1" dirty="0"/>
          </a:p>
        </p:txBody>
      </p:sp>
    </p:spTree>
    <p:extLst>
      <p:ext uri="{BB962C8B-B14F-4D97-AF65-F5344CB8AC3E}">
        <p14:creationId xmlns:p14="http://schemas.microsoft.com/office/powerpoint/2010/main" val="1619585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39006-5944-5078-5215-9054D873E6EF}"/>
              </a:ext>
            </a:extLst>
          </p:cNvPr>
          <p:cNvSpPr>
            <a:spLocks noGrp="1"/>
          </p:cNvSpPr>
          <p:nvPr>
            <p:ph type="title"/>
          </p:nvPr>
        </p:nvSpPr>
        <p:spPr/>
        <p:txBody>
          <a:bodyPr/>
          <a:lstStyle/>
          <a:p>
            <a:r>
              <a:rPr lang="en-US" dirty="0"/>
              <a:t>Code: Value types &amp; Reference types</a:t>
            </a:r>
          </a:p>
        </p:txBody>
      </p:sp>
      <p:pic>
        <p:nvPicPr>
          <p:cNvPr id="5" name="Picture 4">
            <a:extLst>
              <a:ext uri="{FF2B5EF4-FFF2-40B4-BE49-F238E27FC236}">
                <a16:creationId xmlns:a16="http://schemas.microsoft.com/office/drawing/2014/main" id="{720CFED6-6F41-BAB4-C4A4-D38C5C1539A4}"/>
              </a:ext>
            </a:extLst>
          </p:cNvPr>
          <p:cNvPicPr>
            <a:picLocks noChangeAspect="1"/>
          </p:cNvPicPr>
          <p:nvPr/>
        </p:nvPicPr>
        <p:blipFill>
          <a:blip r:embed="rId2"/>
          <a:stretch>
            <a:fillRect/>
          </a:stretch>
        </p:blipFill>
        <p:spPr>
          <a:xfrm>
            <a:off x="1510594" y="2136379"/>
            <a:ext cx="8907391" cy="4542327"/>
          </a:xfrm>
          <a:prstGeom prst="rect">
            <a:avLst/>
          </a:prstGeom>
        </p:spPr>
      </p:pic>
    </p:spTree>
    <p:extLst>
      <p:ext uri="{BB962C8B-B14F-4D97-AF65-F5344CB8AC3E}">
        <p14:creationId xmlns:p14="http://schemas.microsoft.com/office/powerpoint/2010/main" val="2808099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B7088-F6DF-7921-0AFC-0BE2B6256F62}"/>
              </a:ext>
            </a:extLst>
          </p:cNvPr>
          <p:cNvSpPr>
            <a:spLocks noGrp="1"/>
          </p:cNvSpPr>
          <p:nvPr>
            <p:ph type="title"/>
          </p:nvPr>
        </p:nvSpPr>
        <p:spPr/>
        <p:txBody>
          <a:bodyPr/>
          <a:lstStyle/>
          <a:p>
            <a:r>
              <a:rPr lang="en-US" dirty="0"/>
              <a:t>Console: Value types &amp; Reference types</a:t>
            </a:r>
            <a:endParaRPr lang="en-GB" dirty="0"/>
          </a:p>
        </p:txBody>
      </p:sp>
      <p:pic>
        <p:nvPicPr>
          <p:cNvPr id="4" name="Picture 3">
            <a:extLst>
              <a:ext uri="{FF2B5EF4-FFF2-40B4-BE49-F238E27FC236}">
                <a16:creationId xmlns:a16="http://schemas.microsoft.com/office/drawing/2014/main" id="{582764EC-B23E-7167-FED2-E9A4B349301B}"/>
              </a:ext>
            </a:extLst>
          </p:cNvPr>
          <p:cNvPicPr>
            <a:picLocks noChangeAspect="1"/>
          </p:cNvPicPr>
          <p:nvPr/>
        </p:nvPicPr>
        <p:blipFill>
          <a:blip r:embed="rId2"/>
          <a:stretch>
            <a:fillRect/>
          </a:stretch>
        </p:blipFill>
        <p:spPr>
          <a:xfrm>
            <a:off x="2194560" y="2154206"/>
            <a:ext cx="7414636" cy="4415131"/>
          </a:xfrm>
          <a:prstGeom prst="rect">
            <a:avLst/>
          </a:prstGeom>
        </p:spPr>
      </p:pic>
      <p:cxnSp>
        <p:nvCxnSpPr>
          <p:cNvPr id="7" name="Straight Connector 6">
            <a:extLst>
              <a:ext uri="{FF2B5EF4-FFF2-40B4-BE49-F238E27FC236}">
                <a16:creationId xmlns:a16="http://schemas.microsoft.com/office/drawing/2014/main" id="{C23400EA-595C-48A5-BD7D-37B9355C30FD}"/>
              </a:ext>
            </a:extLst>
          </p:cNvPr>
          <p:cNvCxnSpPr/>
          <p:nvPr/>
        </p:nvCxnSpPr>
        <p:spPr>
          <a:xfrm>
            <a:off x="3268980" y="4076700"/>
            <a:ext cx="1332000" cy="0"/>
          </a:xfrm>
          <a:prstGeom prst="line">
            <a:avLst/>
          </a:prstGeom>
          <a:ln>
            <a:solidFill>
              <a:srgbClr val="C00000"/>
            </a:solidFill>
          </a:ln>
        </p:spPr>
        <p:style>
          <a:lnRef idx="3">
            <a:schemeClr val="accent6"/>
          </a:lnRef>
          <a:fillRef idx="0">
            <a:schemeClr val="accent6"/>
          </a:fillRef>
          <a:effectRef idx="2">
            <a:schemeClr val="accent6"/>
          </a:effectRef>
          <a:fontRef idx="minor">
            <a:schemeClr val="tx1"/>
          </a:fontRef>
        </p:style>
      </p:cxnSp>
      <p:cxnSp>
        <p:nvCxnSpPr>
          <p:cNvPr id="8" name="Straight Connector 7">
            <a:extLst>
              <a:ext uri="{FF2B5EF4-FFF2-40B4-BE49-F238E27FC236}">
                <a16:creationId xmlns:a16="http://schemas.microsoft.com/office/drawing/2014/main" id="{A42D965E-0B83-3743-9577-09064E80B918}"/>
              </a:ext>
            </a:extLst>
          </p:cNvPr>
          <p:cNvCxnSpPr>
            <a:cxnSpLocks/>
          </p:cNvCxnSpPr>
          <p:nvPr/>
        </p:nvCxnSpPr>
        <p:spPr>
          <a:xfrm>
            <a:off x="5326380" y="4091940"/>
            <a:ext cx="2019300" cy="0"/>
          </a:xfrm>
          <a:prstGeom prst="line">
            <a:avLst/>
          </a:prstGeom>
          <a:ln>
            <a:solidFill>
              <a:srgbClr val="C00000"/>
            </a:solidFill>
          </a:ln>
        </p:spPr>
        <p:style>
          <a:lnRef idx="3">
            <a:schemeClr val="accent6"/>
          </a:lnRef>
          <a:fillRef idx="0">
            <a:schemeClr val="accent6"/>
          </a:fillRef>
          <a:effectRef idx="2">
            <a:schemeClr val="accent6"/>
          </a:effectRef>
          <a:fontRef idx="minor">
            <a:schemeClr val="tx1"/>
          </a:fontRef>
        </p:style>
      </p:cxnSp>
      <p:cxnSp>
        <p:nvCxnSpPr>
          <p:cNvPr id="10" name="Straight Connector 9">
            <a:extLst>
              <a:ext uri="{FF2B5EF4-FFF2-40B4-BE49-F238E27FC236}">
                <a16:creationId xmlns:a16="http://schemas.microsoft.com/office/drawing/2014/main" id="{3C587969-4678-17ED-F23F-1658FECD6DD7}"/>
              </a:ext>
            </a:extLst>
          </p:cNvPr>
          <p:cNvCxnSpPr>
            <a:cxnSpLocks/>
          </p:cNvCxnSpPr>
          <p:nvPr/>
        </p:nvCxnSpPr>
        <p:spPr>
          <a:xfrm>
            <a:off x="3268980" y="6210300"/>
            <a:ext cx="1943100" cy="0"/>
          </a:xfrm>
          <a:prstGeom prst="line">
            <a:avLst/>
          </a:prstGeom>
          <a:ln>
            <a:solidFill>
              <a:srgbClr val="C00000"/>
            </a:solidFill>
          </a:ln>
        </p:spPr>
        <p:style>
          <a:lnRef idx="3">
            <a:schemeClr val="accent6"/>
          </a:lnRef>
          <a:fillRef idx="0">
            <a:schemeClr val="accent6"/>
          </a:fillRef>
          <a:effectRef idx="2">
            <a:schemeClr val="accent6"/>
          </a:effectRef>
          <a:fontRef idx="minor">
            <a:schemeClr val="tx1"/>
          </a:fontRef>
        </p:style>
      </p:cxnSp>
      <p:cxnSp>
        <p:nvCxnSpPr>
          <p:cNvPr id="13" name="Straight Connector 12">
            <a:extLst>
              <a:ext uri="{FF2B5EF4-FFF2-40B4-BE49-F238E27FC236}">
                <a16:creationId xmlns:a16="http://schemas.microsoft.com/office/drawing/2014/main" id="{CD0F6BFC-1EAC-66CA-E984-006DDE08281F}"/>
              </a:ext>
            </a:extLst>
          </p:cNvPr>
          <p:cNvCxnSpPr>
            <a:cxnSpLocks/>
          </p:cNvCxnSpPr>
          <p:nvPr/>
        </p:nvCxnSpPr>
        <p:spPr>
          <a:xfrm>
            <a:off x="5951220" y="6225540"/>
            <a:ext cx="2354580" cy="0"/>
          </a:xfrm>
          <a:prstGeom prst="line">
            <a:avLst/>
          </a:prstGeom>
          <a:ln>
            <a:solidFill>
              <a:srgbClr val="C00000"/>
            </a:solidFill>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555890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1FF1-68E2-FD81-E5D9-C728BADE994A}"/>
              </a:ext>
            </a:extLst>
          </p:cNvPr>
          <p:cNvSpPr>
            <a:spLocks noGrp="1"/>
          </p:cNvSpPr>
          <p:nvPr>
            <p:ph type="title"/>
          </p:nvPr>
        </p:nvSpPr>
        <p:spPr/>
        <p:txBody>
          <a:bodyPr/>
          <a:lstStyle/>
          <a:p>
            <a:r>
              <a:rPr lang="pl-PL" b="1" dirty="0" err="1"/>
              <a:t>Backend</a:t>
            </a:r>
            <a:endParaRPr lang="en-GB" b="1" dirty="0"/>
          </a:p>
        </p:txBody>
      </p:sp>
      <p:sp>
        <p:nvSpPr>
          <p:cNvPr id="3" name="Content Placeholder 2">
            <a:extLst>
              <a:ext uri="{FF2B5EF4-FFF2-40B4-BE49-F238E27FC236}">
                <a16:creationId xmlns:a16="http://schemas.microsoft.com/office/drawing/2014/main" id="{7F3C5F16-6F68-8706-7A7D-E1C1F9D02676}"/>
              </a:ext>
            </a:extLst>
          </p:cNvPr>
          <p:cNvSpPr>
            <a:spLocks noGrp="1"/>
          </p:cNvSpPr>
          <p:nvPr>
            <p:ph idx="1"/>
          </p:nvPr>
        </p:nvSpPr>
        <p:spPr>
          <a:xfrm>
            <a:off x="680321" y="2687166"/>
            <a:ext cx="6384670" cy="3599316"/>
          </a:xfrm>
        </p:spPr>
        <p:txBody>
          <a:bodyPr>
            <a:normAutofit/>
          </a:bodyPr>
          <a:lstStyle/>
          <a:p>
            <a:r>
              <a:rPr lang="en-US" sz="2000" dirty="0"/>
              <a:t>The server side of a website is everything the user doesn't see: the beating heart or engine that responds to requests, sending data to the frontend for display</a:t>
            </a:r>
            <a:r>
              <a:rPr lang="uk-UA" sz="2000" dirty="0"/>
              <a:t>.</a:t>
            </a:r>
            <a:endParaRPr lang="en-US" sz="2000" dirty="0"/>
          </a:p>
          <a:p>
            <a:endParaRPr lang="uk-UA" sz="2000" dirty="0"/>
          </a:p>
          <a:p>
            <a:r>
              <a:rPr lang="en-US" sz="2000" dirty="0"/>
              <a:t>The backend consists of servers, databases, operating systems, APIs, and other components that work together to deliver the needed information to the user as quickly as possible</a:t>
            </a:r>
            <a:r>
              <a:rPr lang="uk-UA" sz="2000" dirty="0"/>
              <a:t>.</a:t>
            </a:r>
            <a:endParaRPr lang="en-GB" sz="2000" dirty="0"/>
          </a:p>
        </p:txBody>
      </p:sp>
      <p:pic>
        <p:nvPicPr>
          <p:cNvPr id="9" name="Picture 8" descr="A computer server and a server&#10;&#10;AI-generated content may be incorrect.">
            <a:extLst>
              <a:ext uri="{FF2B5EF4-FFF2-40B4-BE49-F238E27FC236}">
                <a16:creationId xmlns:a16="http://schemas.microsoft.com/office/drawing/2014/main" id="{05C3E78D-C9BB-8B5E-A819-89836BCE0B08}"/>
              </a:ext>
            </a:extLst>
          </p:cNvPr>
          <p:cNvPicPr>
            <a:picLocks noChangeAspect="1"/>
          </p:cNvPicPr>
          <p:nvPr/>
        </p:nvPicPr>
        <p:blipFill>
          <a:blip r:embed="rId2">
            <a:extLst>
              <a:ext uri="{28A0092B-C50C-407E-A947-70E740481C1C}">
                <a14:useLocalDpi xmlns:a14="http://schemas.microsoft.com/office/drawing/2010/main" val="0"/>
              </a:ext>
            </a:extLst>
          </a:blip>
          <a:srcRect l="28242" t="44445" r="24351" b="35854"/>
          <a:stretch>
            <a:fillRect/>
          </a:stretch>
        </p:blipFill>
        <p:spPr>
          <a:xfrm>
            <a:off x="7133227" y="3323475"/>
            <a:ext cx="4872251" cy="2699735"/>
          </a:xfrm>
          <a:prstGeom prst="rect">
            <a:avLst/>
          </a:prstGeom>
        </p:spPr>
      </p:pic>
      <p:sp>
        <p:nvSpPr>
          <p:cNvPr id="11" name="TextBox 10">
            <a:extLst>
              <a:ext uri="{FF2B5EF4-FFF2-40B4-BE49-F238E27FC236}">
                <a16:creationId xmlns:a16="http://schemas.microsoft.com/office/drawing/2014/main" id="{AEF17A67-8952-FDFC-CBD1-92A8FE9294CB}"/>
              </a:ext>
            </a:extLst>
          </p:cNvPr>
          <p:cNvSpPr txBox="1"/>
          <p:nvPr/>
        </p:nvSpPr>
        <p:spPr>
          <a:xfrm>
            <a:off x="10369697" y="5775500"/>
            <a:ext cx="1319538" cy="400110"/>
          </a:xfrm>
          <a:prstGeom prst="rect">
            <a:avLst/>
          </a:prstGeom>
          <a:noFill/>
        </p:spPr>
        <p:txBody>
          <a:bodyPr wrap="square">
            <a:spAutoFit/>
          </a:bodyPr>
          <a:lstStyle/>
          <a:p>
            <a:r>
              <a:rPr lang="en-US" sz="2000" b="1" dirty="0">
                <a:solidFill>
                  <a:schemeClr val="bg1"/>
                </a:solidFill>
              </a:rPr>
              <a:t>Database</a:t>
            </a:r>
          </a:p>
        </p:txBody>
      </p:sp>
      <p:sp>
        <p:nvSpPr>
          <p:cNvPr id="12" name="TextBox 11">
            <a:extLst>
              <a:ext uri="{FF2B5EF4-FFF2-40B4-BE49-F238E27FC236}">
                <a16:creationId xmlns:a16="http://schemas.microsoft.com/office/drawing/2014/main" id="{CCB60B63-2F57-CBF8-60A7-B6E6E2B37EC7}"/>
              </a:ext>
            </a:extLst>
          </p:cNvPr>
          <p:cNvSpPr txBox="1"/>
          <p:nvPr/>
        </p:nvSpPr>
        <p:spPr>
          <a:xfrm>
            <a:off x="7928175" y="5776290"/>
            <a:ext cx="1024145" cy="400110"/>
          </a:xfrm>
          <a:prstGeom prst="rect">
            <a:avLst/>
          </a:prstGeom>
          <a:noFill/>
        </p:spPr>
        <p:txBody>
          <a:bodyPr wrap="square">
            <a:spAutoFit/>
          </a:bodyPr>
          <a:lstStyle/>
          <a:p>
            <a:r>
              <a:rPr lang="en-US" sz="2000" b="1" dirty="0">
                <a:solidFill>
                  <a:schemeClr val="bg1"/>
                </a:solidFill>
              </a:rPr>
              <a:t>Server</a:t>
            </a:r>
          </a:p>
        </p:txBody>
      </p:sp>
      <p:sp>
        <p:nvSpPr>
          <p:cNvPr id="13" name="TextBox 12">
            <a:extLst>
              <a:ext uri="{FF2B5EF4-FFF2-40B4-BE49-F238E27FC236}">
                <a16:creationId xmlns:a16="http://schemas.microsoft.com/office/drawing/2014/main" id="{88B0066F-62D5-F7D3-CE32-45F8255944C7}"/>
              </a:ext>
            </a:extLst>
          </p:cNvPr>
          <p:cNvSpPr txBox="1"/>
          <p:nvPr/>
        </p:nvSpPr>
        <p:spPr>
          <a:xfrm>
            <a:off x="8859364" y="2134559"/>
            <a:ext cx="1419975" cy="461665"/>
          </a:xfrm>
          <a:prstGeom prst="rect">
            <a:avLst/>
          </a:prstGeom>
          <a:noFill/>
        </p:spPr>
        <p:txBody>
          <a:bodyPr wrap="square">
            <a:spAutoFit/>
          </a:bodyPr>
          <a:lstStyle/>
          <a:p>
            <a:r>
              <a:rPr lang="en-US" sz="2400" b="1" dirty="0">
                <a:solidFill>
                  <a:schemeClr val="bg1"/>
                </a:solidFill>
              </a:rPr>
              <a:t>Backend</a:t>
            </a:r>
          </a:p>
        </p:txBody>
      </p:sp>
      <p:sp>
        <p:nvSpPr>
          <p:cNvPr id="15" name="Left Brace 14">
            <a:extLst>
              <a:ext uri="{FF2B5EF4-FFF2-40B4-BE49-F238E27FC236}">
                <a16:creationId xmlns:a16="http://schemas.microsoft.com/office/drawing/2014/main" id="{E4A31F46-2841-5F8A-5E35-900E9C683989}"/>
              </a:ext>
            </a:extLst>
          </p:cNvPr>
          <p:cNvSpPr/>
          <p:nvPr/>
        </p:nvSpPr>
        <p:spPr>
          <a:xfrm rot="5400000">
            <a:off x="9213756" y="2077263"/>
            <a:ext cx="631174" cy="1975476"/>
          </a:xfrm>
          <a:prstGeom prst="leftBrace">
            <a:avLst>
              <a:gd name="adj1" fmla="val 22005"/>
              <a:gd name="adj2" fmla="val 50000"/>
            </a:avLst>
          </a:prstGeom>
          <a:noFill/>
          <a:ln w="381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a:solidFill>
                  <a:schemeClr val="bg1"/>
                </a:solidFill>
              </a:ln>
            </a:endParaRPr>
          </a:p>
        </p:txBody>
      </p:sp>
    </p:spTree>
    <p:extLst>
      <p:ext uri="{BB962C8B-B14F-4D97-AF65-F5344CB8AC3E}">
        <p14:creationId xmlns:p14="http://schemas.microsoft.com/office/powerpoint/2010/main" val="2300951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49E31-7C21-C28A-347F-C61EB8C5EAF6}"/>
              </a:ext>
            </a:extLst>
          </p:cNvPr>
          <p:cNvSpPr>
            <a:spLocks noGrp="1"/>
          </p:cNvSpPr>
          <p:nvPr>
            <p:ph type="title"/>
          </p:nvPr>
        </p:nvSpPr>
        <p:spPr/>
        <p:txBody>
          <a:bodyPr/>
          <a:lstStyle/>
          <a:p>
            <a:r>
              <a:rPr lang="en-US" b="1" dirty="0"/>
              <a:t>Why is the backend important for a website?</a:t>
            </a:r>
            <a:endParaRPr lang="en-GB" b="1" dirty="0"/>
          </a:p>
        </p:txBody>
      </p:sp>
      <p:sp>
        <p:nvSpPr>
          <p:cNvPr id="3" name="Content Placeholder 2">
            <a:extLst>
              <a:ext uri="{FF2B5EF4-FFF2-40B4-BE49-F238E27FC236}">
                <a16:creationId xmlns:a16="http://schemas.microsoft.com/office/drawing/2014/main" id="{123E3A11-91AA-86F8-1D09-672FC8B4F55A}"/>
              </a:ext>
            </a:extLst>
          </p:cNvPr>
          <p:cNvSpPr>
            <a:spLocks noGrp="1"/>
          </p:cNvSpPr>
          <p:nvPr>
            <p:ph idx="1"/>
          </p:nvPr>
        </p:nvSpPr>
        <p:spPr>
          <a:xfrm>
            <a:off x="599639" y="2372731"/>
            <a:ext cx="10686926" cy="4153574"/>
          </a:xfrm>
        </p:spPr>
        <p:txBody>
          <a:bodyPr>
            <a:normAutofit/>
          </a:bodyPr>
          <a:lstStyle/>
          <a:p>
            <a:pPr marL="457200" indent="-457200">
              <a:buFont typeface="+mj-lt"/>
              <a:buAutoNum type="arabicPeriod"/>
            </a:pPr>
            <a:r>
              <a:rPr lang="en-US" sz="2000" b="1" dirty="0"/>
              <a:t>Request processing and business </a:t>
            </a:r>
            <a:r>
              <a:rPr lang="en-US" sz="2000" b="1" dirty="0" err="1"/>
              <a:t>logi</a:t>
            </a:r>
            <a:endParaRPr lang="pl-PL" sz="2000" b="1" dirty="0"/>
          </a:p>
          <a:p>
            <a:pPr marL="457200" indent="-457200">
              <a:buFont typeface="+mj-lt"/>
              <a:buAutoNum type="arabicPeriod"/>
            </a:pPr>
            <a:endParaRPr lang="pl-PL" sz="2000" b="1" dirty="0"/>
          </a:p>
          <a:p>
            <a:pPr marL="457200" indent="-457200">
              <a:buFont typeface="+mj-lt"/>
              <a:buAutoNum type="arabicPeriod"/>
            </a:pPr>
            <a:r>
              <a:rPr lang="en-US" sz="2000" b="1" dirty="0"/>
              <a:t>Authentication and authorization</a:t>
            </a:r>
            <a:endParaRPr lang="pl-PL" sz="2000" b="1" dirty="0"/>
          </a:p>
          <a:p>
            <a:pPr marL="457200" indent="-457200">
              <a:buFont typeface="+mj-lt"/>
              <a:buAutoNum type="arabicPeriod"/>
            </a:pPr>
            <a:endParaRPr lang="pl-PL" sz="2000" b="1" dirty="0"/>
          </a:p>
          <a:p>
            <a:pPr marL="457200" indent="-457200">
              <a:buFont typeface="+mj-lt"/>
              <a:buAutoNum type="arabicPeriod"/>
            </a:pPr>
            <a:r>
              <a:rPr lang="en-US" sz="2000" b="1" dirty="0"/>
              <a:t>Data storage and management</a:t>
            </a:r>
            <a:endParaRPr lang="pl-PL" sz="2000" b="1" dirty="0"/>
          </a:p>
          <a:p>
            <a:pPr marL="457200" indent="-457200">
              <a:buFont typeface="+mj-lt"/>
              <a:buAutoNum type="arabicPeriod"/>
            </a:pPr>
            <a:endParaRPr lang="pl-PL" sz="2000" b="1" dirty="0"/>
          </a:p>
          <a:p>
            <a:pPr marL="457200" indent="-457200">
              <a:buFont typeface="+mj-lt"/>
              <a:buAutoNum type="arabicPeriod"/>
            </a:pPr>
            <a:r>
              <a:rPr lang="en-US" sz="2000" b="1" dirty="0"/>
              <a:t>Security</a:t>
            </a:r>
            <a:endParaRPr lang="pl-PL" sz="2000" b="1" dirty="0"/>
          </a:p>
          <a:p>
            <a:pPr marL="457200" indent="-457200">
              <a:buFont typeface="+mj-lt"/>
              <a:buAutoNum type="arabicPeriod"/>
            </a:pPr>
            <a:endParaRPr lang="pl-PL" sz="2000" b="1" dirty="0"/>
          </a:p>
          <a:p>
            <a:pPr marL="457200" indent="-457200">
              <a:buFont typeface="+mj-lt"/>
              <a:buAutoNum type="arabicPeriod"/>
            </a:pPr>
            <a:r>
              <a:rPr lang="en-US" sz="2000" b="1" dirty="0"/>
              <a:t>Flexible deployment</a:t>
            </a:r>
          </a:p>
        </p:txBody>
      </p:sp>
      <p:pic>
        <p:nvPicPr>
          <p:cNvPr id="5" name="Picture 4" descr="A circular diagram of a system&#10;&#10;AI-generated content may be incorrect.">
            <a:extLst>
              <a:ext uri="{FF2B5EF4-FFF2-40B4-BE49-F238E27FC236}">
                <a16:creationId xmlns:a16="http://schemas.microsoft.com/office/drawing/2014/main" id="{A9995BD3-25BD-8D1E-AE5E-5010D0FEA3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2018" y="2152891"/>
            <a:ext cx="4238125" cy="4153574"/>
          </a:xfrm>
          <a:prstGeom prst="rect">
            <a:avLst/>
          </a:prstGeom>
        </p:spPr>
      </p:pic>
    </p:spTree>
    <p:extLst>
      <p:ext uri="{BB962C8B-B14F-4D97-AF65-F5344CB8AC3E}">
        <p14:creationId xmlns:p14="http://schemas.microsoft.com/office/powerpoint/2010/main" val="3615782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2D75D-8975-4A47-CDCA-03621E773217}"/>
              </a:ext>
            </a:extLst>
          </p:cNvPr>
          <p:cNvSpPr>
            <a:spLocks noGrp="1"/>
          </p:cNvSpPr>
          <p:nvPr>
            <p:ph type="title"/>
          </p:nvPr>
        </p:nvSpPr>
        <p:spPr/>
        <p:txBody>
          <a:bodyPr/>
          <a:lstStyle/>
          <a:p>
            <a:r>
              <a:rPr lang="en-GB" b="1" dirty="0"/>
              <a:t>Database</a:t>
            </a:r>
          </a:p>
        </p:txBody>
      </p:sp>
      <p:sp>
        <p:nvSpPr>
          <p:cNvPr id="3" name="Content Placeholder 2">
            <a:extLst>
              <a:ext uri="{FF2B5EF4-FFF2-40B4-BE49-F238E27FC236}">
                <a16:creationId xmlns:a16="http://schemas.microsoft.com/office/drawing/2014/main" id="{F3E5AFFC-28EC-226F-9D59-7D2DE363D39E}"/>
              </a:ext>
            </a:extLst>
          </p:cNvPr>
          <p:cNvSpPr>
            <a:spLocks noGrp="1"/>
          </p:cNvSpPr>
          <p:nvPr>
            <p:ph idx="1"/>
          </p:nvPr>
        </p:nvSpPr>
        <p:spPr>
          <a:xfrm>
            <a:off x="809172" y="3352097"/>
            <a:ext cx="7321611" cy="1515604"/>
          </a:xfrm>
        </p:spPr>
        <p:txBody>
          <a:bodyPr>
            <a:normAutofit/>
          </a:bodyPr>
          <a:lstStyle/>
          <a:p>
            <a:pPr>
              <a:lnSpc>
                <a:spcPct val="100000"/>
              </a:lnSpc>
            </a:pPr>
            <a:r>
              <a:rPr lang="en-US" sz="2000" dirty="0"/>
              <a:t>A </a:t>
            </a:r>
            <a:r>
              <a:rPr lang="en-US" sz="2000" b="1" dirty="0"/>
              <a:t>database</a:t>
            </a:r>
            <a:r>
              <a:rPr lang="en-US" sz="2000" dirty="0"/>
              <a:t> is an organized collection of data stored in a computer system in electronic form. It allows you to quickly enter, edit, organize, and retrieve information.</a:t>
            </a:r>
            <a:endParaRPr lang="en-GB" sz="2000" dirty="0"/>
          </a:p>
        </p:txBody>
      </p:sp>
      <p:pic>
        <p:nvPicPr>
          <p:cNvPr id="9" name="Picture 8">
            <a:extLst>
              <a:ext uri="{FF2B5EF4-FFF2-40B4-BE49-F238E27FC236}">
                <a16:creationId xmlns:a16="http://schemas.microsoft.com/office/drawing/2014/main" id="{FBB13E59-847D-F3B0-8B37-86015FEB67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5625" y="2662615"/>
            <a:ext cx="2708816" cy="2708816"/>
          </a:xfrm>
          <a:prstGeom prst="rect">
            <a:avLst/>
          </a:prstGeom>
        </p:spPr>
      </p:pic>
    </p:spTree>
    <p:extLst>
      <p:ext uri="{BB962C8B-B14F-4D97-AF65-F5344CB8AC3E}">
        <p14:creationId xmlns:p14="http://schemas.microsoft.com/office/powerpoint/2010/main" val="2119829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62085-F563-351D-0E31-B481065E70C7}"/>
              </a:ext>
            </a:extLst>
          </p:cNvPr>
          <p:cNvSpPr>
            <a:spLocks noGrp="1"/>
          </p:cNvSpPr>
          <p:nvPr>
            <p:ph type="title"/>
          </p:nvPr>
        </p:nvSpPr>
        <p:spPr/>
        <p:txBody>
          <a:bodyPr/>
          <a:lstStyle/>
          <a:p>
            <a:r>
              <a:rPr lang="en-GB" b="1" dirty="0"/>
              <a:t>ASP.NET</a:t>
            </a:r>
            <a:endParaRPr lang="en-GB" dirty="0"/>
          </a:p>
        </p:txBody>
      </p:sp>
      <p:sp>
        <p:nvSpPr>
          <p:cNvPr id="3" name="Content Placeholder 2">
            <a:extLst>
              <a:ext uri="{FF2B5EF4-FFF2-40B4-BE49-F238E27FC236}">
                <a16:creationId xmlns:a16="http://schemas.microsoft.com/office/drawing/2014/main" id="{0C4157A9-7774-B65B-3A3F-4BA61C2AD5A4}"/>
              </a:ext>
            </a:extLst>
          </p:cNvPr>
          <p:cNvSpPr>
            <a:spLocks noGrp="1"/>
          </p:cNvSpPr>
          <p:nvPr>
            <p:ph idx="1"/>
          </p:nvPr>
        </p:nvSpPr>
        <p:spPr>
          <a:xfrm>
            <a:off x="680320" y="2217510"/>
            <a:ext cx="9713981" cy="4351338"/>
          </a:xfrm>
        </p:spPr>
        <p:txBody>
          <a:bodyPr>
            <a:normAutofit/>
          </a:bodyPr>
          <a:lstStyle/>
          <a:p>
            <a:pPr>
              <a:lnSpc>
                <a:spcPct val="100000"/>
              </a:lnSpc>
            </a:pPr>
            <a:r>
              <a:rPr lang="en-US" dirty="0"/>
              <a:t>ASP.NET is a </a:t>
            </a:r>
            <a:r>
              <a:rPr lang="en-US" b="1" dirty="0"/>
              <a:t>framework</a:t>
            </a:r>
            <a:r>
              <a:rPr lang="en-US" dirty="0"/>
              <a:t> that is </a:t>
            </a:r>
            <a:r>
              <a:rPr lang="en-US" b="1" dirty="0"/>
              <a:t>cross-platform</a:t>
            </a:r>
            <a:r>
              <a:rPr lang="en-US" dirty="0"/>
              <a:t> and open-source.</a:t>
            </a:r>
            <a:endParaRPr lang="pl-PL" dirty="0"/>
          </a:p>
          <a:p>
            <a:pPr>
              <a:lnSpc>
                <a:spcPct val="100000"/>
              </a:lnSpc>
            </a:pPr>
            <a:endParaRPr lang="uk-UA" dirty="0"/>
          </a:p>
          <a:p>
            <a:pPr>
              <a:lnSpc>
                <a:spcPct val="100000"/>
              </a:lnSpc>
            </a:pPr>
            <a:r>
              <a:rPr lang="en-US" dirty="0"/>
              <a:t>The framework is designed for building web applications and services using .NET and C#. For example:</a:t>
            </a:r>
            <a:endParaRPr lang="pl-PL" dirty="0"/>
          </a:p>
          <a:p>
            <a:pPr marL="0" indent="0">
              <a:lnSpc>
                <a:spcPct val="100000"/>
              </a:lnSpc>
              <a:buNone/>
            </a:pPr>
            <a:endParaRPr lang="pl-PL" sz="2000" dirty="0"/>
          </a:p>
          <a:p>
            <a:pPr lvl="1">
              <a:lnSpc>
                <a:spcPct val="100000"/>
              </a:lnSpc>
            </a:pPr>
            <a:r>
              <a:rPr lang="en-US" sz="2400" dirty="0"/>
              <a:t>Creating endpoints using REST API and implementing functionality according to the given business logic, such as authentication, authorization, or data processing.</a:t>
            </a:r>
            <a:endParaRPr lang="uk-UA" sz="2400" dirty="0"/>
          </a:p>
        </p:txBody>
      </p:sp>
      <p:pic>
        <p:nvPicPr>
          <p:cNvPr id="5" name="Picture 4" descr="A blue background with white text&#10;&#10;AI-generated content may be incorrect.">
            <a:extLst>
              <a:ext uri="{FF2B5EF4-FFF2-40B4-BE49-F238E27FC236}">
                <a16:creationId xmlns:a16="http://schemas.microsoft.com/office/drawing/2014/main" id="{8728FEEE-940B-92E5-2DE5-8CF4ED1C66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3744" y="545873"/>
            <a:ext cx="2243470" cy="1495647"/>
          </a:xfrm>
          <a:prstGeom prst="rect">
            <a:avLst/>
          </a:prstGeom>
        </p:spPr>
      </p:pic>
    </p:spTree>
    <p:extLst>
      <p:ext uri="{BB962C8B-B14F-4D97-AF65-F5344CB8AC3E}">
        <p14:creationId xmlns:p14="http://schemas.microsoft.com/office/powerpoint/2010/main" val="3037606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E77C5-E02D-A554-1051-7BBF1448DFD1}"/>
              </a:ext>
            </a:extLst>
          </p:cNvPr>
          <p:cNvSpPr>
            <a:spLocks noGrp="1"/>
          </p:cNvSpPr>
          <p:nvPr>
            <p:ph type="title"/>
          </p:nvPr>
        </p:nvSpPr>
        <p:spPr/>
        <p:txBody>
          <a:bodyPr/>
          <a:lstStyle/>
          <a:p>
            <a:r>
              <a:rPr lang="en-GB" b="1" dirty="0"/>
              <a:t>IDE </a:t>
            </a:r>
          </a:p>
        </p:txBody>
      </p:sp>
      <p:sp>
        <p:nvSpPr>
          <p:cNvPr id="3" name="Content Placeholder 2">
            <a:extLst>
              <a:ext uri="{FF2B5EF4-FFF2-40B4-BE49-F238E27FC236}">
                <a16:creationId xmlns:a16="http://schemas.microsoft.com/office/drawing/2014/main" id="{76970C18-409D-271B-6604-B9D0B5028C29}"/>
              </a:ext>
            </a:extLst>
          </p:cNvPr>
          <p:cNvSpPr>
            <a:spLocks noGrp="1"/>
          </p:cNvSpPr>
          <p:nvPr>
            <p:ph idx="1"/>
          </p:nvPr>
        </p:nvSpPr>
        <p:spPr/>
        <p:txBody>
          <a:bodyPr>
            <a:normAutofit/>
          </a:bodyPr>
          <a:lstStyle/>
          <a:p>
            <a:r>
              <a:rPr lang="en-GB" sz="2000" b="1" dirty="0"/>
              <a:t>IDE (Integrated Development Environment) </a:t>
            </a:r>
            <a:r>
              <a:rPr lang="en-GB" sz="2000" dirty="0"/>
              <a:t>– </a:t>
            </a:r>
            <a:r>
              <a:rPr lang="en-US" sz="2000" dirty="0"/>
              <a:t>This is the software needed for writing programs. An IDE typically includes the following tools:</a:t>
            </a:r>
            <a:endParaRPr lang="ru-RU" sz="2000" dirty="0"/>
          </a:p>
          <a:p>
            <a:pPr lvl="1"/>
            <a:r>
              <a:rPr lang="en-US" dirty="0"/>
              <a:t>Code editor</a:t>
            </a:r>
            <a:endParaRPr lang="uk-UA" dirty="0"/>
          </a:p>
          <a:p>
            <a:pPr lvl="1"/>
            <a:r>
              <a:rPr lang="en-US" dirty="0"/>
              <a:t>Compiler/Interpreter</a:t>
            </a:r>
            <a:endParaRPr lang="uk-UA" dirty="0"/>
          </a:p>
          <a:p>
            <a:pPr lvl="1"/>
            <a:r>
              <a:rPr lang="en-US" dirty="0"/>
              <a:t>Testing tools</a:t>
            </a:r>
            <a:endParaRPr lang="uk-UA" dirty="0"/>
          </a:p>
          <a:p>
            <a:pPr lvl="1"/>
            <a:r>
              <a:rPr lang="en-GB" dirty="0"/>
              <a:t>Builder</a:t>
            </a:r>
            <a:endParaRPr lang="uk-UA" dirty="0"/>
          </a:p>
          <a:p>
            <a:pPr lvl="1"/>
            <a:r>
              <a:rPr lang="en-GB" dirty="0"/>
              <a:t>Debugger</a:t>
            </a:r>
            <a:endParaRPr lang="uk-UA" dirty="0"/>
          </a:p>
          <a:p>
            <a:pPr lvl="1"/>
            <a:r>
              <a:rPr lang="en-US" dirty="0"/>
              <a:t>Package manager</a:t>
            </a:r>
            <a:endParaRPr lang="en-GB" dirty="0"/>
          </a:p>
          <a:p>
            <a:endParaRPr lang="uk-UA" sz="2000" dirty="0"/>
          </a:p>
          <a:p>
            <a:endParaRPr lang="uk-UA" sz="2000" dirty="0"/>
          </a:p>
        </p:txBody>
      </p:sp>
      <p:sp>
        <p:nvSpPr>
          <p:cNvPr id="5" name="TextBox 4">
            <a:extLst>
              <a:ext uri="{FF2B5EF4-FFF2-40B4-BE49-F238E27FC236}">
                <a16:creationId xmlns:a16="http://schemas.microsoft.com/office/drawing/2014/main" id="{5C452655-D8A9-0643-C2C9-7C8C9D7067EE}"/>
              </a:ext>
            </a:extLst>
          </p:cNvPr>
          <p:cNvSpPr txBox="1"/>
          <p:nvPr/>
        </p:nvSpPr>
        <p:spPr>
          <a:xfrm>
            <a:off x="978504" y="5582246"/>
            <a:ext cx="10338847" cy="707886"/>
          </a:xfrm>
          <a:prstGeom prst="rect">
            <a:avLst/>
          </a:prstGeom>
          <a:noFill/>
        </p:spPr>
        <p:txBody>
          <a:bodyPr wrap="square">
            <a:spAutoFit/>
          </a:bodyPr>
          <a:lstStyle/>
          <a:p>
            <a:r>
              <a:rPr lang="en-US" sz="2000" dirty="0"/>
              <a:t>In other words, it is a comprehensive environment that simplifies the development process, making it more efficient and convenient.</a:t>
            </a:r>
            <a:endParaRPr lang="en-GB" sz="2000" dirty="0"/>
          </a:p>
        </p:txBody>
      </p:sp>
    </p:spTree>
    <p:extLst>
      <p:ext uri="{BB962C8B-B14F-4D97-AF65-F5344CB8AC3E}">
        <p14:creationId xmlns:p14="http://schemas.microsoft.com/office/powerpoint/2010/main" val="3778461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4BAC4-4B5A-14AE-280A-D7AF0AC17DCF}"/>
              </a:ext>
            </a:extLst>
          </p:cNvPr>
          <p:cNvSpPr>
            <a:spLocks noGrp="1"/>
          </p:cNvSpPr>
          <p:nvPr>
            <p:ph type="title"/>
          </p:nvPr>
        </p:nvSpPr>
        <p:spPr/>
        <p:txBody>
          <a:bodyPr/>
          <a:lstStyle/>
          <a:p>
            <a:r>
              <a:rPr lang="en-GB" b="1" dirty="0"/>
              <a:t>Visual Studio</a:t>
            </a:r>
          </a:p>
        </p:txBody>
      </p:sp>
      <p:sp>
        <p:nvSpPr>
          <p:cNvPr id="3" name="Content Placeholder 2">
            <a:extLst>
              <a:ext uri="{FF2B5EF4-FFF2-40B4-BE49-F238E27FC236}">
                <a16:creationId xmlns:a16="http://schemas.microsoft.com/office/drawing/2014/main" id="{AC0CEEFA-8A3C-F84D-EF36-4261E1FA25E4}"/>
              </a:ext>
            </a:extLst>
          </p:cNvPr>
          <p:cNvSpPr>
            <a:spLocks noGrp="1"/>
          </p:cNvSpPr>
          <p:nvPr>
            <p:ph idx="1"/>
          </p:nvPr>
        </p:nvSpPr>
        <p:spPr/>
        <p:txBody>
          <a:bodyPr>
            <a:normAutofit/>
          </a:bodyPr>
          <a:lstStyle/>
          <a:p>
            <a:r>
              <a:rPr lang="en-US" sz="2000" b="1" dirty="0"/>
              <a:t>Visual Studio </a:t>
            </a:r>
            <a:r>
              <a:rPr lang="en-US" sz="2000" dirty="0"/>
              <a:t>is an integrated development environment created by Microsoft.</a:t>
            </a:r>
            <a:endParaRPr lang="pl-PL" sz="2000" dirty="0"/>
          </a:p>
          <a:p>
            <a:endParaRPr lang="uk-UA" sz="2000" dirty="0"/>
          </a:p>
          <a:p>
            <a:r>
              <a:rPr lang="en-US" sz="2000" dirty="0"/>
              <a:t>Visual Studio supports programming languages: C#, C++, JavaScript, TypeScript, Python, F#</a:t>
            </a:r>
            <a:endParaRPr lang="pl-PL" sz="2000" dirty="0"/>
          </a:p>
          <a:p>
            <a:endParaRPr lang="en-GB" sz="2000" dirty="0"/>
          </a:p>
          <a:p>
            <a:r>
              <a:rPr lang="en-US" sz="2000" dirty="0"/>
              <a:t>Visual Studio allows you to use the following frameworks: .NET (Framework/Core), </a:t>
            </a:r>
            <a:r>
              <a:rPr lang="en-US" sz="2000" dirty="0" err="1"/>
              <a:t>MSTest</a:t>
            </a:r>
            <a:r>
              <a:rPr lang="en-US" sz="2000" dirty="0"/>
              <a:t>, </a:t>
            </a:r>
            <a:r>
              <a:rPr lang="en-US" sz="2000" dirty="0" err="1"/>
              <a:t>xUnit</a:t>
            </a:r>
            <a:endParaRPr lang="uk-UA" sz="2000" dirty="0"/>
          </a:p>
          <a:p>
            <a:endParaRPr lang="en-GB" sz="2000" dirty="0"/>
          </a:p>
        </p:txBody>
      </p:sp>
    </p:spTree>
    <p:extLst>
      <p:ext uri="{BB962C8B-B14F-4D97-AF65-F5344CB8AC3E}">
        <p14:creationId xmlns:p14="http://schemas.microsoft.com/office/powerpoint/2010/main" val="2655436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650BD-6303-E136-6C7D-4F157A46ADC4}"/>
              </a:ext>
            </a:extLst>
          </p:cNvPr>
          <p:cNvSpPr>
            <a:spLocks noGrp="1"/>
          </p:cNvSpPr>
          <p:nvPr>
            <p:ph type="title"/>
          </p:nvPr>
        </p:nvSpPr>
        <p:spPr/>
        <p:txBody>
          <a:bodyPr/>
          <a:lstStyle/>
          <a:p>
            <a:r>
              <a:rPr lang="en-US" b="1" dirty="0"/>
              <a:t>VS Graphical Interface</a:t>
            </a:r>
            <a:endParaRPr lang="en-GB" b="1" dirty="0"/>
          </a:p>
        </p:txBody>
      </p:sp>
      <p:pic>
        <p:nvPicPr>
          <p:cNvPr id="5" name="Content Placeholder 4">
            <a:extLst>
              <a:ext uri="{FF2B5EF4-FFF2-40B4-BE49-F238E27FC236}">
                <a16:creationId xmlns:a16="http://schemas.microsoft.com/office/drawing/2014/main" id="{E0571014-512D-44BD-0D0C-27380FAD2293}"/>
              </a:ext>
            </a:extLst>
          </p:cNvPr>
          <p:cNvPicPr>
            <a:picLocks noGrp="1" noChangeAspect="1"/>
          </p:cNvPicPr>
          <p:nvPr>
            <p:ph idx="1"/>
          </p:nvPr>
        </p:nvPicPr>
        <p:blipFill>
          <a:blip r:embed="rId2"/>
          <a:stretch>
            <a:fillRect/>
          </a:stretch>
        </p:blipFill>
        <p:spPr>
          <a:xfrm>
            <a:off x="2107665" y="2336800"/>
            <a:ext cx="7634428" cy="4064000"/>
          </a:xfrm>
          <a:ln>
            <a:solidFill>
              <a:srgbClr val="FFCC66"/>
            </a:solidFill>
          </a:ln>
        </p:spPr>
      </p:pic>
      <p:sp>
        <p:nvSpPr>
          <p:cNvPr id="6" name="Frame 5">
            <a:extLst>
              <a:ext uri="{FF2B5EF4-FFF2-40B4-BE49-F238E27FC236}">
                <a16:creationId xmlns:a16="http://schemas.microsoft.com/office/drawing/2014/main" id="{7986973E-0EC2-F07B-5161-75329DEE8412}"/>
              </a:ext>
            </a:extLst>
          </p:cNvPr>
          <p:cNvSpPr/>
          <p:nvPr/>
        </p:nvSpPr>
        <p:spPr>
          <a:xfrm>
            <a:off x="2207260" y="2849880"/>
            <a:ext cx="6394704" cy="2584701"/>
          </a:xfrm>
          <a:prstGeom prst="frame">
            <a:avLst>
              <a:gd name="adj1" fmla="val 1404"/>
            </a:avLst>
          </a:prstGeom>
          <a:solidFill>
            <a:srgbClr val="309070"/>
          </a:solidFill>
          <a:ln>
            <a:solidFill>
              <a:srgbClr val="3090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3399FF"/>
              </a:solidFill>
            </a:endParaRPr>
          </a:p>
        </p:txBody>
      </p:sp>
      <p:sp>
        <p:nvSpPr>
          <p:cNvPr id="8" name="Frame 7">
            <a:extLst>
              <a:ext uri="{FF2B5EF4-FFF2-40B4-BE49-F238E27FC236}">
                <a16:creationId xmlns:a16="http://schemas.microsoft.com/office/drawing/2014/main" id="{A1C24C99-1F7E-259C-B22C-563AE676BE86}"/>
              </a:ext>
            </a:extLst>
          </p:cNvPr>
          <p:cNvSpPr/>
          <p:nvPr/>
        </p:nvSpPr>
        <p:spPr>
          <a:xfrm>
            <a:off x="2207260" y="5412740"/>
            <a:ext cx="7424420" cy="889690"/>
          </a:xfrm>
          <a:prstGeom prst="frame">
            <a:avLst>
              <a:gd name="adj1" fmla="val 3360"/>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7030A0"/>
              </a:solidFill>
            </a:endParaRPr>
          </a:p>
        </p:txBody>
      </p:sp>
      <p:sp>
        <p:nvSpPr>
          <p:cNvPr id="9" name="Frame 8">
            <a:extLst>
              <a:ext uri="{FF2B5EF4-FFF2-40B4-BE49-F238E27FC236}">
                <a16:creationId xmlns:a16="http://schemas.microsoft.com/office/drawing/2014/main" id="{6CC9B7B6-C446-58D9-2EAB-888B531415BE}"/>
              </a:ext>
            </a:extLst>
          </p:cNvPr>
          <p:cNvSpPr/>
          <p:nvPr/>
        </p:nvSpPr>
        <p:spPr>
          <a:xfrm>
            <a:off x="8601964" y="2641633"/>
            <a:ext cx="1029716" cy="2792950"/>
          </a:xfrm>
          <a:prstGeom prst="frame">
            <a:avLst>
              <a:gd name="adj1" fmla="val 2706"/>
            </a:avLst>
          </a:prstGeom>
          <a:solidFill>
            <a:srgbClr val="FFCC66"/>
          </a:solidFill>
          <a:ln>
            <a:solidFill>
              <a:srgbClr val="FFCC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Frame 9">
            <a:extLst>
              <a:ext uri="{FF2B5EF4-FFF2-40B4-BE49-F238E27FC236}">
                <a16:creationId xmlns:a16="http://schemas.microsoft.com/office/drawing/2014/main" id="{BA4820CD-04CE-21B1-D044-1F774CEB211F}"/>
              </a:ext>
            </a:extLst>
          </p:cNvPr>
          <p:cNvSpPr/>
          <p:nvPr/>
        </p:nvSpPr>
        <p:spPr>
          <a:xfrm>
            <a:off x="4634484" y="2456889"/>
            <a:ext cx="351854" cy="190500"/>
          </a:xfrm>
          <a:prstGeom prst="frame">
            <a:avLst>
              <a:gd name="adj1" fmla="val 10773"/>
            </a:avLst>
          </a:prstGeom>
          <a:solidFill>
            <a:srgbClr val="3D63C3"/>
          </a:solidFill>
          <a:ln>
            <a:solidFill>
              <a:srgbClr val="3D63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12" name="Straight Connector 11">
            <a:extLst>
              <a:ext uri="{FF2B5EF4-FFF2-40B4-BE49-F238E27FC236}">
                <a16:creationId xmlns:a16="http://schemas.microsoft.com/office/drawing/2014/main" id="{19981A71-AC0D-710D-3A98-980D47BE36B4}"/>
              </a:ext>
            </a:extLst>
          </p:cNvPr>
          <p:cNvCxnSpPr>
            <a:cxnSpLocks/>
          </p:cNvCxnSpPr>
          <p:nvPr/>
        </p:nvCxnSpPr>
        <p:spPr>
          <a:xfrm flipH="1">
            <a:off x="1378424" y="3661745"/>
            <a:ext cx="828836" cy="0"/>
          </a:xfrm>
          <a:prstGeom prst="line">
            <a:avLst/>
          </a:prstGeom>
          <a:ln w="38100">
            <a:solidFill>
              <a:srgbClr val="309070"/>
            </a:solidFill>
          </a:ln>
        </p:spPr>
        <p:style>
          <a:lnRef idx="3">
            <a:schemeClr val="accent6"/>
          </a:lnRef>
          <a:fillRef idx="0">
            <a:schemeClr val="accent6"/>
          </a:fillRef>
          <a:effectRef idx="2">
            <a:schemeClr val="accent6"/>
          </a:effectRef>
          <a:fontRef idx="minor">
            <a:schemeClr val="tx1"/>
          </a:fontRef>
        </p:style>
      </p:cxnSp>
      <p:cxnSp>
        <p:nvCxnSpPr>
          <p:cNvPr id="13" name="Straight Connector 12">
            <a:extLst>
              <a:ext uri="{FF2B5EF4-FFF2-40B4-BE49-F238E27FC236}">
                <a16:creationId xmlns:a16="http://schemas.microsoft.com/office/drawing/2014/main" id="{9C5D70E6-79C5-2B9E-3B02-4D0A87531437}"/>
              </a:ext>
            </a:extLst>
          </p:cNvPr>
          <p:cNvCxnSpPr>
            <a:cxnSpLocks/>
          </p:cNvCxnSpPr>
          <p:nvPr/>
        </p:nvCxnSpPr>
        <p:spPr>
          <a:xfrm flipH="1">
            <a:off x="1378424" y="5513489"/>
            <a:ext cx="850426" cy="0"/>
          </a:xfrm>
          <a:prstGeom prst="line">
            <a:avLst/>
          </a:prstGeom>
          <a:ln w="38100">
            <a:solidFill>
              <a:srgbClr val="7030A0"/>
            </a:solidFill>
          </a:ln>
        </p:spPr>
        <p:style>
          <a:lnRef idx="3">
            <a:schemeClr val="accent6"/>
          </a:lnRef>
          <a:fillRef idx="0">
            <a:schemeClr val="accent6"/>
          </a:fillRef>
          <a:effectRef idx="2">
            <a:schemeClr val="accent6"/>
          </a:effectRef>
          <a:fontRef idx="minor">
            <a:schemeClr val="tx1"/>
          </a:fontRef>
        </p:style>
      </p:cxnSp>
      <p:cxnSp>
        <p:nvCxnSpPr>
          <p:cNvPr id="17" name="Straight Connector 16">
            <a:extLst>
              <a:ext uri="{FF2B5EF4-FFF2-40B4-BE49-F238E27FC236}">
                <a16:creationId xmlns:a16="http://schemas.microsoft.com/office/drawing/2014/main" id="{06155687-830E-0146-3389-E806856383AF}"/>
              </a:ext>
            </a:extLst>
          </p:cNvPr>
          <p:cNvCxnSpPr>
            <a:cxnSpLocks/>
          </p:cNvCxnSpPr>
          <p:nvPr/>
        </p:nvCxnSpPr>
        <p:spPr>
          <a:xfrm flipH="1" flipV="1">
            <a:off x="1378424" y="2456889"/>
            <a:ext cx="3381536" cy="708"/>
          </a:xfrm>
          <a:prstGeom prst="line">
            <a:avLst/>
          </a:prstGeom>
          <a:ln w="38100">
            <a:solidFill>
              <a:srgbClr val="3D63C3"/>
            </a:solidFill>
          </a:ln>
        </p:spPr>
        <p:style>
          <a:lnRef idx="3">
            <a:schemeClr val="accent1"/>
          </a:lnRef>
          <a:fillRef idx="0">
            <a:schemeClr val="accent1"/>
          </a:fillRef>
          <a:effectRef idx="2">
            <a:schemeClr val="accent1"/>
          </a:effectRef>
          <a:fontRef idx="minor">
            <a:schemeClr val="tx1"/>
          </a:fontRef>
        </p:style>
      </p:cxnSp>
      <p:cxnSp>
        <p:nvCxnSpPr>
          <p:cNvPr id="23" name="Straight Connector 22">
            <a:extLst>
              <a:ext uri="{FF2B5EF4-FFF2-40B4-BE49-F238E27FC236}">
                <a16:creationId xmlns:a16="http://schemas.microsoft.com/office/drawing/2014/main" id="{148E4DA9-A42E-E15F-8B5A-528A8CF5392E}"/>
              </a:ext>
            </a:extLst>
          </p:cNvPr>
          <p:cNvCxnSpPr>
            <a:cxnSpLocks/>
          </p:cNvCxnSpPr>
          <p:nvPr/>
        </p:nvCxnSpPr>
        <p:spPr>
          <a:xfrm>
            <a:off x="9551671" y="2654447"/>
            <a:ext cx="760729" cy="0"/>
          </a:xfrm>
          <a:prstGeom prst="line">
            <a:avLst/>
          </a:prstGeom>
          <a:ln w="38100">
            <a:solidFill>
              <a:srgbClr val="FFCC66"/>
            </a:solidFill>
          </a:ln>
        </p:spPr>
        <p:style>
          <a:lnRef idx="3">
            <a:schemeClr val="accent6"/>
          </a:lnRef>
          <a:fillRef idx="0">
            <a:schemeClr val="accent6"/>
          </a:fillRef>
          <a:effectRef idx="2">
            <a:schemeClr val="accent6"/>
          </a:effectRef>
          <a:fontRef idx="minor">
            <a:schemeClr val="tx1"/>
          </a:fontRef>
        </p:style>
      </p:cxnSp>
      <p:sp>
        <p:nvSpPr>
          <p:cNvPr id="25" name="TextBox 24">
            <a:extLst>
              <a:ext uri="{FF2B5EF4-FFF2-40B4-BE49-F238E27FC236}">
                <a16:creationId xmlns:a16="http://schemas.microsoft.com/office/drawing/2014/main" id="{72C6A6E2-435A-D3A0-F19A-B1FA62A28A61}"/>
              </a:ext>
            </a:extLst>
          </p:cNvPr>
          <p:cNvSpPr txBox="1"/>
          <p:nvPr/>
        </p:nvSpPr>
        <p:spPr>
          <a:xfrm>
            <a:off x="-45347" y="2258400"/>
            <a:ext cx="1848984" cy="369332"/>
          </a:xfrm>
          <a:prstGeom prst="rect">
            <a:avLst/>
          </a:prstGeom>
          <a:noFill/>
        </p:spPr>
        <p:txBody>
          <a:bodyPr wrap="square">
            <a:spAutoFit/>
          </a:bodyPr>
          <a:lstStyle/>
          <a:p>
            <a:r>
              <a:rPr lang="en-US" b="1" dirty="0"/>
              <a:t>Start button</a:t>
            </a:r>
            <a:endParaRPr lang="en-GB" b="1" dirty="0"/>
          </a:p>
        </p:txBody>
      </p:sp>
      <p:sp>
        <p:nvSpPr>
          <p:cNvPr id="26" name="TextBox 25">
            <a:extLst>
              <a:ext uri="{FF2B5EF4-FFF2-40B4-BE49-F238E27FC236}">
                <a16:creationId xmlns:a16="http://schemas.microsoft.com/office/drawing/2014/main" id="{4E466984-245D-7AD8-ED8A-65A2C9B1A37B}"/>
              </a:ext>
            </a:extLst>
          </p:cNvPr>
          <p:cNvSpPr txBox="1"/>
          <p:nvPr/>
        </p:nvSpPr>
        <p:spPr>
          <a:xfrm>
            <a:off x="-21802" y="3429000"/>
            <a:ext cx="1756467" cy="369332"/>
          </a:xfrm>
          <a:prstGeom prst="rect">
            <a:avLst/>
          </a:prstGeom>
          <a:noFill/>
        </p:spPr>
        <p:txBody>
          <a:bodyPr wrap="square">
            <a:spAutoFit/>
          </a:bodyPr>
          <a:lstStyle/>
          <a:p>
            <a:r>
              <a:rPr lang="en-US" b="1" dirty="0"/>
              <a:t>Code editor</a:t>
            </a:r>
            <a:endParaRPr lang="en-GB" b="1" dirty="0"/>
          </a:p>
        </p:txBody>
      </p:sp>
      <p:sp>
        <p:nvSpPr>
          <p:cNvPr id="27" name="TextBox 26">
            <a:extLst>
              <a:ext uri="{FF2B5EF4-FFF2-40B4-BE49-F238E27FC236}">
                <a16:creationId xmlns:a16="http://schemas.microsoft.com/office/drawing/2014/main" id="{EC138E94-E849-881A-DDBA-4C749A35A2F2}"/>
              </a:ext>
            </a:extLst>
          </p:cNvPr>
          <p:cNvSpPr txBox="1"/>
          <p:nvPr/>
        </p:nvSpPr>
        <p:spPr>
          <a:xfrm>
            <a:off x="248349" y="5328823"/>
            <a:ext cx="1324365" cy="369332"/>
          </a:xfrm>
          <a:prstGeom prst="rect">
            <a:avLst/>
          </a:prstGeom>
          <a:noFill/>
        </p:spPr>
        <p:txBody>
          <a:bodyPr wrap="square">
            <a:spAutoFit/>
          </a:bodyPr>
          <a:lstStyle/>
          <a:p>
            <a:r>
              <a:rPr lang="en-US" b="1" dirty="0"/>
              <a:t>Error list</a:t>
            </a:r>
            <a:endParaRPr lang="en-GB" b="1" dirty="0"/>
          </a:p>
        </p:txBody>
      </p:sp>
      <p:sp>
        <p:nvSpPr>
          <p:cNvPr id="28" name="TextBox 27">
            <a:extLst>
              <a:ext uri="{FF2B5EF4-FFF2-40B4-BE49-F238E27FC236}">
                <a16:creationId xmlns:a16="http://schemas.microsoft.com/office/drawing/2014/main" id="{99737B44-18D4-030B-B270-C3A0B7FC7724}"/>
              </a:ext>
            </a:extLst>
          </p:cNvPr>
          <p:cNvSpPr txBox="1"/>
          <p:nvPr/>
        </p:nvSpPr>
        <p:spPr>
          <a:xfrm>
            <a:off x="10412858" y="2366256"/>
            <a:ext cx="1414588" cy="646331"/>
          </a:xfrm>
          <a:prstGeom prst="rect">
            <a:avLst/>
          </a:prstGeom>
          <a:noFill/>
        </p:spPr>
        <p:txBody>
          <a:bodyPr wrap="square">
            <a:spAutoFit/>
          </a:bodyPr>
          <a:lstStyle/>
          <a:p>
            <a:r>
              <a:rPr lang="en-GB" b="1" dirty="0"/>
              <a:t>Solution Explorer</a:t>
            </a:r>
          </a:p>
        </p:txBody>
      </p:sp>
    </p:spTree>
    <p:extLst>
      <p:ext uri="{BB962C8B-B14F-4D97-AF65-F5344CB8AC3E}">
        <p14:creationId xmlns:p14="http://schemas.microsoft.com/office/powerpoint/2010/main" val="1201792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42D13-E6C6-90F7-8DB9-E8A0989862A6}"/>
              </a:ext>
            </a:extLst>
          </p:cNvPr>
          <p:cNvSpPr>
            <a:spLocks noGrp="1"/>
          </p:cNvSpPr>
          <p:nvPr>
            <p:ph type="title"/>
          </p:nvPr>
        </p:nvSpPr>
        <p:spPr/>
        <p:txBody>
          <a:bodyPr/>
          <a:lstStyle/>
          <a:p>
            <a:r>
              <a:rPr lang="en-US" b="1" dirty="0"/>
              <a:t>VS Graphical Interface</a:t>
            </a:r>
            <a:endParaRPr lang="en-GB" dirty="0"/>
          </a:p>
        </p:txBody>
      </p:sp>
      <p:pic>
        <p:nvPicPr>
          <p:cNvPr id="12" name="Content Placeholder 11">
            <a:extLst>
              <a:ext uri="{FF2B5EF4-FFF2-40B4-BE49-F238E27FC236}">
                <a16:creationId xmlns:a16="http://schemas.microsoft.com/office/drawing/2014/main" id="{73A6E315-131D-9C71-BC31-42C5643BC65B}"/>
              </a:ext>
            </a:extLst>
          </p:cNvPr>
          <p:cNvPicPr>
            <a:picLocks noGrp="1" noChangeAspect="1"/>
          </p:cNvPicPr>
          <p:nvPr>
            <p:ph idx="1"/>
          </p:nvPr>
        </p:nvPicPr>
        <p:blipFill>
          <a:blip r:embed="rId2"/>
          <a:stretch>
            <a:fillRect/>
          </a:stretch>
        </p:blipFill>
        <p:spPr>
          <a:xfrm>
            <a:off x="2112515" y="2336800"/>
            <a:ext cx="7734412" cy="4123139"/>
          </a:xfrm>
        </p:spPr>
      </p:pic>
      <p:sp>
        <p:nvSpPr>
          <p:cNvPr id="13" name="Frame 12">
            <a:extLst>
              <a:ext uri="{FF2B5EF4-FFF2-40B4-BE49-F238E27FC236}">
                <a16:creationId xmlns:a16="http://schemas.microsoft.com/office/drawing/2014/main" id="{F5F8F625-4FAA-E42A-5ED3-BBB30F787595}"/>
              </a:ext>
            </a:extLst>
          </p:cNvPr>
          <p:cNvSpPr/>
          <p:nvPr/>
        </p:nvSpPr>
        <p:spPr>
          <a:xfrm>
            <a:off x="2106930" y="4585969"/>
            <a:ext cx="169640" cy="112109"/>
          </a:xfrm>
          <a:prstGeom prst="frame">
            <a:avLst/>
          </a:prstGeom>
          <a:solidFill>
            <a:srgbClr val="9966FF"/>
          </a:solidFill>
          <a:ln>
            <a:solidFill>
              <a:srgbClr val="996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16" name="Straight Connector 15">
            <a:extLst>
              <a:ext uri="{FF2B5EF4-FFF2-40B4-BE49-F238E27FC236}">
                <a16:creationId xmlns:a16="http://schemas.microsoft.com/office/drawing/2014/main" id="{476F8254-B21F-5063-7C0A-74B3CEE824B0}"/>
              </a:ext>
            </a:extLst>
          </p:cNvPr>
          <p:cNvCxnSpPr>
            <a:cxnSpLocks/>
          </p:cNvCxnSpPr>
          <p:nvPr/>
        </p:nvCxnSpPr>
        <p:spPr>
          <a:xfrm flipH="1">
            <a:off x="1285866" y="4637291"/>
            <a:ext cx="829580" cy="0"/>
          </a:xfrm>
          <a:prstGeom prst="line">
            <a:avLst/>
          </a:prstGeom>
          <a:ln w="38100">
            <a:solidFill>
              <a:srgbClr val="9966FF"/>
            </a:solidFill>
          </a:ln>
        </p:spPr>
        <p:style>
          <a:lnRef idx="3">
            <a:schemeClr val="accent5"/>
          </a:lnRef>
          <a:fillRef idx="0">
            <a:schemeClr val="accent5"/>
          </a:fillRef>
          <a:effectRef idx="2">
            <a:schemeClr val="accent5"/>
          </a:effectRef>
          <a:fontRef idx="minor">
            <a:schemeClr val="tx1"/>
          </a:fontRef>
        </p:style>
      </p:cxnSp>
      <p:sp>
        <p:nvSpPr>
          <p:cNvPr id="18" name="TextBox 17">
            <a:extLst>
              <a:ext uri="{FF2B5EF4-FFF2-40B4-BE49-F238E27FC236}">
                <a16:creationId xmlns:a16="http://schemas.microsoft.com/office/drawing/2014/main" id="{0B7083BD-E137-604A-F71D-8C71C374E3EA}"/>
              </a:ext>
            </a:extLst>
          </p:cNvPr>
          <p:cNvSpPr txBox="1"/>
          <p:nvPr/>
        </p:nvSpPr>
        <p:spPr>
          <a:xfrm>
            <a:off x="-34601" y="4417614"/>
            <a:ext cx="1361439" cy="369332"/>
          </a:xfrm>
          <a:prstGeom prst="rect">
            <a:avLst/>
          </a:prstGeom>
          <a:noFill/>
        </p:spPr>
        <p:txBody>
          <a:bodyPr wrap="square">
            <a:spAutoFit/>
          </a:bodyPr>
          <a:lstStyle/>
          <a:p>
            <a:r>
              <a:rPr lang="en-GB" b="1" dirty="0"/>
              <a:t>Breakpoint</a:t>
            </a:r>
          </a:p>
        </p:txBody>
      </p:sp>
      <p:sp>
        <p:nvSpPr>
          <p:cNvPr id="21" name="Frame 20">
            <a:extLst>
              <a:ext uri="{FF2B5EF4-FFF2-40B4-BE49-F238E27FC236}">
                <a16:creationId xmlns:a16="http://schemas.microsoft.com/office/drawing/2014/main" id="{DEEE0BD0-BC67-E2A7-073B-931D82CE8AB1}"/>
              </a:ext>
            </a:extLst>
          </p:cNvPr>
          <p:cNvSpPr/>
          <p:nvPr/>
        </p:nvSpPr>
        <p:spPr>
          <a:xfrm>
            <a:off x="4617720" y="4726939"/>
            <a:ext cx="1028700" cy="212090"/>
          </a:xfrm>
          <a:prstGeom prst="frame">
            <a:avLst/>
          </a:prstGeom>
          <a:solidFill>
            <a:srgbClr val="309070"/>
          </a:solidFill>
          <a:ln>
            <a:solidFill>
              <a:srgbClr val="3090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23" name="Straight Connector 22">
            <a:extLst>
              <a:ext uri="{FF2B5EF4-FFF2-40B4-BE49-F238E27FC236}">
                <a16:creationId xmlns:a16="http://schemas.microsoft.com/office/drawing/2014/main" id="{05EEBF93-E8E3-9CDF-4BFE-92F5214DB9D2}"/>
              </a:ext>
            </a:extLst>
          </p:cNvPr>
          <p:cNvCxnSpPr>
            <a:cxnSpLocks/>
          </p:cNvCxnSpPr>
          <p:nvPr/>
        </p:nvCxnSpPr>
        <p:spPr>
          <a:xfrm flipH="1">
            <a:off x="1386840" y="4917755"/>
            <a:ext cx="3228088" cy="785815"/>
          </a:xfrm>
          <a:prstGeom prst="line">
            <a:avLst/>
          </a:prstGeom>
          <a:ln w="38100">
            <a:solidFill>
              <a:srgbClr val="309070"/>
            </a:solidFill>
          </a:ln>
        </p:spPr>
        <p:style>
          <a:lnRef idx="3">
            <a:schemeClr val="accent5"/>
          </a:lnRef>
          <a:fillRef idx="0">
            <a:schemeClr val="accent5"/>
          </a:fillRef>
          <a:effectRef idx="2">
            <a:schemeClr val="accent5"/>
          </a:effectRef>
          <a:fontRef idx="minor">
            <a:schemeClr val="tx1"/>
          </a:fontRef>
        </p:style>
      </p:cxnSp>
      <p:sp>
        <p:nvSpPr>
          <p:cNvPr id="25" name="TextBox 24">
            <a:extLst>
              <a:ext uri="{FF2B5EF4-FFF2-40B4-BE49-F238E27FC236}">
                <a16:creationId xmlns:a16="http://schemas.microsoft.com/office/drawing/2014/main" id="{506A9E81-AEFA-1796-B823-72A5A418B4CC}"/>
              </a:ext>
            </a:extLst>
          </p:cNvPr>
          <p:cNvSpPr txBox="1"/>
          <p:nvPr/>
        </p:nvSpPr>
        <p:spPr>
          <a:xfrm>
            <a:off x="-34601" y="5294221"/>
            <a:ext cx="1660286" cy="1200329"/>
          </a:xfrm>
          <a:prstGeom prst="rect">
            <a:avLst/>
          </a:prstGeom>
          <a:noFill/>
        </p:spPr>
        <p:txBody>
          <a:bodyPr wrap="square">
            <a:spAutoFit/>
          </a:bodyPr>
          <a:lstStyle/>
          <a:p>
            <a:r>
              <a:rPr lang="en-US" b="1" dirty="0"/>
              <a:t>Detailed information about the "project"</a:t>
            </a:r>
            <a:endParaRPr lang="en-GB" b="1" dirty="0"/>
          </a:p>
        </p:txBody>
      </p:sp>
      <p:sp>
        <p:nvSpPr>
          <p:cNvPr id="26" name="Frame 25">
            <a:extLst>
              <a:ext uri="{FF2B5EF4-FFF2-40B4-BE49-F238E27FC236}">
                <a16:creationId xmlns:a16="http://schemas.microsoft.com/office/drawing/2014/main" id="{0314D64E-A92F-ADD0-DFC2-E1FAD9AEEF5C}"/>
              </a:ext>
            </a:extLst>
          </p:cNvPr>
          <p:cNvSpPr/>
          <p:nvPr/>
        </p:nvSpPr>
        <p:spPr>
          <a:xfrm>
            <a:off x="4656047" y="2475306"/>
            <a:ext cx="476023" cy="158496"/>
          </a:xfrm>
          <a:prstGeom prst="frame">
            <a:avLst/>
          </a:prstGeom>
          <a:solidFill>
            <a:srgbClr val="3D63C3"/>
          </a:solidFill>
          <a:ln>
            <a:solidFill>
              <a:srgbClr val="3D63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ame 26">
            <a:extLst>
              <a:ext uri="{FF2B5EF4-FFF2-40B4-BE49-F238E27FC236}">
                <a16:creationId xmlns:a16="http://schemas.microsoft.com/office/drawing/2014/main" id="{B4CA4B56-5A78-3633-1556-3659AA1581C6}"/>
              </a:ext>
            </a:extLst>
          </p:cNvPr>
          <p:cNvSpPr/>
          <p:nvPr/>
        </p:nvSpPr>
        <p:spPr>
          <a:xfrm>
            <a:off x="5955789" y="2491740"/>
            <a:ext cx="688314" cy="135458"/>
          </a:xfrm>
          <a:prstGeom prst="frame">
            <a:avLst>
              <a:gd name="adj1" fmla="val 6410"/>
            </a:avLst>
          </a:prstGeom>
          <a:solidFill>
            <a:srgbClr val="3D63C3"/>
          </a:solidFill>
          <a:ln>
            <a:solidFill>
              <a:srgbClr val="3D63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29" name="Straight Connector 28">
            <a:extLst>
              <a:ext uri="{FF2B5EF4-FFF2-40B4-BE49-F238E27FC236}">
                <a16:creationId xmlns:a16="http://schemas.microsoft.com/office/drawing/2014/main" id="{B745307D-D6FF-88DD-8A03-9FDD5A041863}"/>
              </a:ext>
            </a:extLst>
          </p:cNvPr>
          <p:cNvCxnSpPr>
            <a:cxnSpLocks/>
          </p:cNvCxnSpPr>
          <p:nvPr/>
        </p:nvCxnSpPr>
        <p:spPr>
          <a:xfrm flipH="1" flipV="1">
            <a:off x="1326838" y="2327723"/>
            <a:ext cx="3346991" cy="198065"/>
          </a:xfrm>
          <a:prstGeom prst="line">
            <a:avLst/>
          </a:prstGeom>
          <a:ln w="38100">
            <a:solidFill>
              <a:srgbClr val="3D63C3"/>
            </a:solidFill>
          </a:ln>
        </p:spPr>
        <p:style>
          <a:lnRef idx="3">
            <a:schemeClr val="accent6"/>
          </a:lnRef>
          <a:fillRef idx="0">
            <a:schemeClr val="accent6"/>
          </a:fillRef>
          <a:effectRef idx="2">
            <a:schemeClr val="accent6"/>
          </a:effectRef>
          <a:fontRef idx="minor">
            <a:schemeClr val="tx1"/>
          </a:fontRef>
        </p:style>
      </p:cxnSp>
      <p:cxnSp>
        <p:nvCxnSpPr>
          <p:cNvPr id="30" name="Straight Connector 29">
            <a:extLst>
              <a:ext uri="{FF2B5EF4-FFF2-40B4-BE49-F238E27FC236}">
                <a16:creationId xmlns:a16="http://schemas.microsoft.com/office/drawing/2014/main" id="{36098D22-2D58-AFCD-5FDA-D1189748C5A7}"/>
              </a:ext>
            </a:extLst>
          </p:cNvPr>
          <p:cNvCxnSpPr>
            <a:cxnSpLocks/>
          </p:cNvCxnSpPr>
          <p:nvPr/>
        </p:nvCxnSpPr>
        <p:spPr>
          <a:xfrm flipH="1" flipV="1">
            <a:off x="1295400" y="2320150"/>
            <a:ext cx="4831080" cy="174130"/>
          </a:xfrm>
          <a:prstGeom prst="line">
            <a:avLst/>
          </a:prstGeom>
          <a:ln w="38100">
            <a:solidFill>
              <a:srgbClr val="3D63C3"/>
            </a:solidFill>
          </a:ln>
        </p:spPr>
        <p:style>
          <a:lnRef idx="3">
            <a:schemeClr val="accent6"/>
          </a:lnRef>
          <a:fillRef idx="0">
            <a:schemeClr val="accent6"/>
          </a:fillRef>
          <a:effectRef idx="2">
            <a:schemeClr val="accent6"/>
          </a:effectRef>
          <a:fontRef idx="minor">
            <a:schemeClr val="tx1"/>
          </a:fontRef>
        </p:style>
      </p:cxnSp>
      <p:sp>
        <p:nvSpPr>
          <p:cNvPr id="32" name="TextBox 31">
            <a:extLst>
              <a:ext uri="{FF2B5EF4-FFF2-40B4-BE49-F238E27FC236}">
                <a16:creationId xmlns:a16="http://schemas.microsoft.com/office/drawing/2014/main" id="{3DC38E22-53FC-B8E6-26A8-3F790D9A91CF}"/>
              </a:ext>
            </a:extLst>
          </p:cNvPr>
          <p:cNvSpPr txBox="1"/>
          <p:nvPr/>
        </p:nvSpPr>
        <p:spPr>
          <a:xfrm>
            <a:off x="186517" y="1964010"/>
            <a:ext cx="1699884" cy="646331"/>
          </a:xfrm>
          <a:prstGeom prst="rect">
            <a:avLst/>
          </a:prstGeom>
          <a:noFill/>
        </p:spPr>
        <p:txBody>
          <a:bodyPr wrap="square">
            <a:spAutoFit/>
          </a:bodyPr>
          <a:lstStyle/>
          <a:p>
            <a:r>
              <a:rPr lang="en-US" b="1" dirty="0"/>
              <a:t>Debugger buttons</a:t>
            </a:r>
            <a:endParaRPr lang="en-GB" b="1" dirty="0"/>
          </a:p>
        </p:txBody>
      </p:sp>
    </p:spTree>
    <p:extLst>
      <p:ext uri="{BB962C8B-B14F-4D97-AF65-F5344CB8AC3E}">
        <p14:creationId xmlns:p14="http://schemas.microsoft.com/office/powerpoint/2010/main" val="3903137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20FD-BC89-CCC7-4CCD-09F36B152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56DC7E-FE65-82A2-4F3D-8DC735EEB0FF}"/>
              </a:ext>
            </a:extLst>
          </p:cNvPr>
          <p:cNvSpPr>
            <a:spLocks noGrp="1"/>
          </p:cNvSpPr>
          <p:nvPr>
            <p:ph type="title"/>
          </p:nvPr>
        </p:nvSpPr>
        <p:spPr/>
        <p:txBody>
          <a:bodyPr/>
          <a:lstStyle/>
          <a:p>
            <a:r>
              <a:rPr lang="en-US" b="1" dirty="0"/>
              <a:t>Tests — "Test Explorer"</a:t>
            </a:r>
            <a:endParaRPr lang="en-GB" b="1" dirty="0"/>
          </a:p>
        </p:txBody>
      </p:sp>
      <p:sp>
        <p:nvSpPr>
          <p:cNvPr id="3" name="Content Placeholder 2">
            <a:extLst>
              <a:ext uri="{FF2B5EF4-FFF2-40B4-BE49-F238E27FC236}">
                <a16:creationId xmlns:a16="http://schemas.microsoft.com/office/drawing/2014/main" id="{E42FF3C1-CA90-E23E-94BC-FAEAB13AFAB3}"/>
              </a:ext>
            </a:extLst>
          </p:cNvPr>
          <p:cNvSpPr>
            <a:spLocks noGrp="1"/>
          </p:cNvSpPr>
          <p:nvPr>
            <p:ph idx="1"/>
          </p:nvPr>
        </p:nvSpPr>
        <p:spPr/>
        <p:txBody>
          <a:bodyPr>
            <a:normAutofit/>
          </a:bodyPr>
          <a:lstStyle/>
          <a:p>
            <a:pPr>
              <a:lnSpc>
                <a:spcPct val="100000"/>
              </a:lnSpc>
            </a:pPr>
            <a:r>
              <a:rPr lang="en-US" sz="2000" dirty="0"/>
              <a:t>In the Visual Studio code editor, there is a "Test Explorer" tab where you can run tests, see their statuses, and error messages if there are any.</a:t>
            </a:r>
            <a:endParaRPr lang="en-GB" sz="2000" dirty="0"/>
          </a:p>
        </p:txBody>
      </p:sp>
      <p:pic>
        <p:nvPicPr>
          <p:cNvPr id="14" name="Picture 13">
            <a:extLst>
              <a:ext uri="{FF2B5EF4-FFF2-40B4-BE49-F238E27FC236}">
                <a16:creationId xmlns:a16="http://schemas.microsoft.com/office/drawing/2014/main" id="{2E21264E-BF1F-76DD-C0D8-2CD038BE42EE}"/>
              </a:ext>
            </a:extLst>
          </p:cNvPr>
          <p:cNvPicPr>
            <a:picLocks noChangeAspect="1"/>
          </p:cNvPicPr>
          <p:nvPr/>
        </p:nvPicPr>
        <p:blipFill>
          <a:blip r:embed="rId2"/>
          <a:stretch>
            <a:fillRect/>
          </a:stretch>
        </p:blipFill>
        <p:spPr>
          <a:xfrm>
            <a:off x="1647948" y="3787241"/>
            <a:ext cx="8533282" cy="1961320"/>
          </a:xfrm>
          <a:prstGeom prst="rect">
            <a:avLst/>
          </a:prstGeom>
        </p:spPr>
      </p:pic>
      <p:sp>
        <p:nvSpPr>
          <p:cNvPr id="10" name="Frame 9">
            <a:extLst>
              <a:ext uri="{FF2B5EF4-FFF2-40B4-BE49-F238E27FC236}">
                <a16:creationId xmlns:a16="http://schemas.microsoft.com/office/drawing/2014/main" id="{A32E642C-8E0F-2146-51A0-5EA390A292D5}"/>
              </a:ext>
            </a:extLst>
          </p:cNvPr>
          <p:cNvSpPr/>
          <p:nvPr/>
        </p:nvSpPr>
        <p:spPr>
          <a:xfrm>
            <a:off x="1647949" y="3916680"/>
            <a:ext cx="431042" cy="190500"/>
          </a:xfrm>
          <a:prstGeom prst="frame">
            <a:avLst/>
          </a:prstGeom>
          <a:solidFill>
            <a:srgbClr val="309070"/>
          </a:solidFill>
          <a:ln>
            <a:solidFill>
              <a:srgbClr val="3090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Frame 10">
            <a:extLst>
              <a:ext uri="{FF2B5EF4-FFF2-40B4-BE49-F238E27FC236}">
                <a16:creationId xmlns:a16="http://schemas.microsoft.com/office/drawing/2014/main" id="{B7A61D3F-D099-ED29-7A9E-ECEF32541E69}"/>
              </a:ext>
            </a:extLst>
          </p:cNvPr>
          <p:cNvSpPr/>
          <p:nvPr/>
        </p:nvSpPr>
        <p:spPr>
          <a:xfrm>
            <a:off x="2512951" y="3890010"/>
            <a:ext cx="1041780" cy="243840"/>
          </a:xfrm>
          <a:prstGeom prst="frame">
            <a:avLst/>
          </a:prstGeom>
          <a:solidFill>
            <a:srgbClr val="6699FF"/>
          </a:solidFill>
          <a:ln>
            <a:solidFill>
              <a:srgbClr val="66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2" name="Frame 11">
            <a:extLst>
              <a:ext uri="{FF2B5EF4-FFF2-40B4-BE49-F238E27FC236}">
                <a16:creationId xmlns:a16="http://schemas.microsoft.com/office/drawing/2014/main" id="{76636F51-62A6-2706-2C21-7CE152EE33C5}"/>
              </a:ext>
            </a:extLst>
          </p:cNvPr>
          <p:cNvSpPr/>
          <p:nvPr/>
        </p:nvSpPr>
        <p:spPr>
          <a:xfrm>
            <a:off x="1647949" y="4210302"/>
            <a:ext cx="2568452" cy="1419101"/>
          </a:xfrm>
          <a:prstGeom prst="frame">
            <a:avLst>
              <a:gd name="adj1" fmla="val 1435"/>
            </a:avLst>
          </a:prstGeom>
          <a:solidFill>
            <a:srgbClr val="FFCC66"/>
          </a:solidFill>
          <a:ln>
            <a:solidFill>
              <a:srgbClr val="FFCC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5" name="Frame 14">
            <a:extLst>
              <a:ext uri="{FF2B5EF4-FFF2-40B4-BE49-F238E27FC236}">
                <a16:creationId xmlns:a16="http://schemas.microsoft.com/office/drawing/2014/main" id="{30E168F9-5F77-0E95-B245-BBFFF2E4FBAC}"/>
              </a:ext>
            </a:extLst>
          </p:cNvPr>
          <p:cNvSpPr/>
          <p:nvPr/>
        </p:nvSpPr>
        <p:spPr>
          <a:xfrm>
            <a:off x="4218264" y="4210301"/>
            <a:ext cx="4200311" cy="1419101"/>
          </a:xfrm>
          <a:prstGeom prst="frame">
            <a:avLst>
              <a:gd name="adj1" fmla="val 1435"/>
            </a:avLst>
          </a:prstGeom>
          <a:solidFill>
            <a:srgbClr val="9966FF"/>
          </a:solidFill>
          <a:ln>
            <a:solidFill>
              <a:srgbClr val="996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17" name="Straight Connector 16">
            <a:extLst>
              <a:ext uri="{FF2B5EF4-FFF2-40B4-BE49-F238E27FC236}">
                <a16:creationId xmlns:a16="http://schemas.microsoft.com/office/drawing/2014/main" id="{D32D0595-EC02-C6EF-3337-CC1E21EFBB05}"/>
              </a:ext>
            </a:extLst>
          </p:cNvPr>
          <p:cNvCxnSpPr>
            <a:cxnSpLocks/>
          </p:cNvCxnSpPr>
          <p:nvPr/>
        </p:nvCxnSpPr>
        <p:spPr>
          <a:xfrm flipH="1" flipV="1">
            <a:off x="1124712" y="3925206"/>
            <a:ext cx="565909" cy="6858"/>
          </a:xfrm>
          <a:prstGeom prst="line">
            <a:avLst/>
          </a:prstGeom>
          <a:ln w="38100">
            <a:solidFill>
              <a:srgbClr val="309070"/>
            </a:solidFill>
          </a:ln>
        </p:spPr>
        <p:style>
          <a:lnRef idx="3">
            <a:schemeClr val="accent5"/>
          </a:lnRef>
          <a:fillRef idx="0">
            <a:schemeClr val="accent5"/>
          </a:fillRef>
          <a:effectRef idx="2">
            <a:schemeClr val="accent5"/>
          </a:effectRef>
          <a:fontRef idx="minor">
            <a:schemeClr val="tx1"/>
          </a:fontRef>
        </p:style>
      </p:cxnSp>
      <p:cxnSp>
        <p:nvCxnSpPr>
          <p:cNvPr id="18" name="Straight Connector 17">
            <a:extLst>
              <a:ext uri="{FF2B5EF4-FFF2-40B4-BE49-F238E27FC236}">
                <a16:creationId xmlns:a16="http://schemas.microsoft.com/office/drawing/2014/main" id="{39C337E4-86A8-A47A-6E76-6F492C2528C3}"/>
              </a:ext>
            </a:extLst>
          </p:cNvPr>
          <p:cNvCxnSpPr>
            <a:cxnSpLocks/>
          </p:cNvCxnSpPr>
          <p:nvPr/>
        </p:nvCxnSpPr>
        <p:spPr>
          <a:xfrm flipH="1" flipV="1">
            <a:off x="1103376" y="4919851"/>
            <a:ext cx="565909" cy="6858"/>
          </a:xfrm>
          <a:prstGeom prst="line">
            <a:avLst/>
          </a:prstGeom>
          <a:ln w="38100">
            <a:solidFill>
              <a:srgbClr val="FFCC66"/>
            </a:solidFill>
          </a:ln>
        </p:spPr>
        <p:style>
          <a:lnRef idx="3">
            <a:schemeClr val="accent5"/>
          </a:lnRef>
          <a:fillRef idx="0">
            <a:schemeClr val="accent5"/>
          </a:fillRef>
          <a:effectRef idx="2">
            <a:schemeClr val="accent5"/>
          </a:effectRef>
          <a:fontRef idx="minor">
            <a:schemeClr val="tx1"/>
          </a:fontRef>
        </p:style>
      </p:cxnSp>
      <p:cxnSp>
        <p:nvCxnSpPr>
          <p:cNvPr id="19" name="Straight Connector 18">
            <a:extLst>
              <a:ext uri="{FF2B5EF4-FFF2-40B4-BE49-F238E27FC236}">
                <a16:creationId xmlns:a16="http://schemas.microsoft.com/office/drawing/2014/main" id="{7B2A391E-14CC-5743-9C1F-7674815F7593}"/>
              </a:ext>
            </a:extLst>
          </p:cNvPr>
          <p:cNvCxnSpPr>
            <a:cxnSpLocks/>
          </p:cNvCxnSpPr>
          <p:nvPr/>
        </p:nvCxnSpPr>
        <p:spPr>
          <a:xfrm flipH="1">
            <a:off x="8406382" y="4767901"/>
            <a:ext cx="2440688" cy="0"/>
          </a:xfrm>
          <a:prstGeom prst="line">
            <a:avLst/>
          </a:prstGeom>
          <a:ln w="38100">
            <a:solidFill>
              <a:srgbClr val="9966FF"/>
            </a:solidFill>
          </a:ln>
        </p:spPr>
        <p:style>
          <a:lnRef idx="3">
            <a:schemeClr val="accent5"/>
          </a:lnRef>
          <a:fillRef idx="0">
            <a:schemeClr val="accent5"/>
          </a:fillRef>
          <a:effectRef idx="2">
            <a:schemeClr val="accent5"/>
          </a:effectRef>
          <a:fontRef idx="minor">
            <a:schemeClr val="tx1"/>
          </a:fontRef>
        </p:style>
      </p:cxnSp>
      <p:cxnSp>
        <p:nvCxnSpPr>
          <p:cNvPr id="22" name="Straight Connector 21">
            <a:extLst>
              <a:ext uri="{FF2B5EF4-FFF2-40B4-BE49-F238E27FC236}">
                <a16:creationId xmlns:a16="http://schemas.microsoft.com/office/drawing/2014/main" id="{1FAE6437-94A0-46EB-EC5C-EC4F4B73D075}"/>
              </a:ext>
            </a:extLst>
          </p:cNvPr>
          <p:cNvCxnSpPr>
            <a:cxnSpLocks/>
          </p:cNvCxnSpPr>
          <p:nvPr/>
        </p:nvCxnSpPr>
        <p:spPr>
          <a:xfrm flipH="1">
            <a:off x="3512058" y="3906918"/>
            <a:ext cx="7305360" cy="0"/>
          </a:xfrm>
          <a:prstGeom prst="line">
            <a:avLst/>
          </a:prstGeom>
          <a:ln w="38100">
            <a:solidFill>
              <a:srgbClr val="6699FF"/>
            </a:solidFill>
          </a:ln>
        </p:spPr>
        <p:style>
          <a:lnRef idx="3">
            <a:schemeClr val="accent5"/>
          </a:lnRef>
          <a:fillRef idx="0">
            <a:schemeClr val="accent5"/>
          </a:fillRef>
          <a:effectRef idx="2">
            <a:schemeClr val="accent5"/>
          </a:effectRef>
          <a:fontRef idx="minor">
            <a:schemeClr val="tx1"/>
          </a:fontRef>
        </p:style>
      </p:cxnSp>
      <p:sp>
        <p:nvSpPr>
          <p:cNvPr id="25" name="TextBox 24">
            <a:extLst>
              <a:ext uri="{FF2B5EF4-FFF2-40B4-BE49-F238E27FC236}">
                <a16:creationId xmlns:a16="http://schemas.microsoft.com/office/drawing/2014/main" id="{AE0F2A37-0D3D-CEA8-814E-92E32409BCB8}"/>
              </a:ext>
            </a:extLst>
          </p:cNvPr>
          <p:cNvSpPr txBox="1"/>
          <p:nvPr/>
        </p:nvSpPr>
        <p:spPr>
          <a:xfrm>
            <a:off x="233872" y="3621472"/>
            <a:ext cx="1093881" cy="646331"/>
          </a:xfrm>
          <a:prstGeom prst="rect">
            <a:avLst/>
          </a:prstGeom>
          <a:noFill/>
        </p:spPr>
        <p:txBody>
          <a:bodyPr wrap="square">
            <a:spAutoFit/>
          </a:bodyPr>
          <a:lstStyle/>
          <a:p>
            <a:r>
              <a:rPr lang="en-US" b="1" dirty="0"/>
              <a:t>Start buttons</a:t>
            </a:r>
            <a:endParaRPr lang="en-GB" b="1" dirty="0"/>
          </a:p>
        </p:txBody>
      </p:sp>
      <p:sp>
        <p:nvSpPr>
          <p:cNvPr id="26" name="TextBox 25">
            <a:extLst>
              <a:ext uri="{FF2B5EF4-FFF2-40B4-BE49-F238E27FC236}">
                <a16:creationId xmlns:a16="http://schemas.microsoft.com/office/drawing/2014/main" id="{8C9DA961-5F1A-AE1D-206D-27B97372166F}"/>
              </a:ext>
            </a:extLst>
          </p:cNvPr>
          <p:cNvSpPr txBox="1"/>
          <p:nvPr/>
        </p:nvSpPr>
        <p:spPr>
          <a:xfrm>
            <a:off x="10899226" y="4537068"/>
            <a:ext cx="1178170" cy="369332"/>
          </a:xfrm>
          <a:prstGeom prst="rect">
            <a:avLst/>
          </a:prstGeom>
          <a:noFill/>
        </p:spPr>
        <p:txBody>
          <a:bodyPr wrap="square">
            <a:spAutoFit/>
          </a:bodyPr>
          <a:lstStyle/>
          <a:p>
            <a:r>
              <a:rPr lang="en-US" b="1" dirty="0"/>
              <a:t>Error list</a:t>
            </a:r>
            <a:endParaRPr lang="en-GB" b="1" dirty="0"/>
          </a:p>
        </p:txBody>
      </p:sp>
      <p:sp>
        <p:nvSpPr>
          <p:cNvPr id="27" name="TextBox 26">
            <a:extLst>
              <a:ext uri="{FF2B5EF4-FFF2-40B4-BE49-F238E27FC236}">
                <a16:creationId xmlns:a16="http://schemas.microsoft.com/office/drawing/2014/main" id="{88545E88-CE63-B8E3-CBCF-D72E3E787524}"/>
              </a:ext>
            </a:extLst>
          </p:cNvPr>
          <p:cNvSpPr txBox="1"/>
          <p:nvPr/>
        </p:nvSpPr>
        <p:spPr>
          <a:xfrm>
            <a:off x="10899226" y="3597324"/>
            <a:ext cx="1071975" cy="646331"/>
          </a:xfrm>
          <a:prstGeom prst="rect">
            <a:avLst/>
          </a:prstGeom>
          <a:noFill/>
        </p:spPr>
        <p:txBody>
          <a:bodyPr wrap="square">
            <a:spAutoFit/>
          </a:bodyPr>
          <a:lstStyle/>
          <a:p>
            <a:r>
              <a:rPr lang="en-US" b="1" dirty="0"/>
              <a:t>Test statuses</a:t>
            </a:r>
            <a:endParaRPr lang="en-GB" b="1" dirty="0"/>
          </a:p>
        </p:txBody>
      </p:sp>
      <p:sp>
        <p:nvSpPr>
          <p:cNvPr id="28" name="TextBox 27">
            <a:extLst>
              <a:ext uri="{FF2B5EF4-FFF2-40B4-BE49-F238E27FC236}">
                <a16:creationId xmlns:a16="http://schemas.microsoft.com/office/drawing/2014/main" id="{B0801A83-E59D-FB57-443F-58C345E45CED}"/>
              </a:ext>
            </a:extLst>
          </p:cNvPr>
          <p:cNvSpPr txBox="1"/>
          <p:nvPr/>
        </p:nvSpPr>
        <p:spPr>
          <a:xfrm>
            <a:off x="100926" y="4721734"/>
            <a:ext cx="1178170" cy="369332"/>
          </a:xfrm>
          <a:prstGeom prst="rect">
            <a:avLst/>
          </a:prstGeom>
          <a:noFill/>
        </p:spPr>
        <p:txBody>
          <a:bodyPr wrap="square">
            <a:spAutoFit/>
          </a:bodyPr>
          <a:lstStyle/>
          <a:p>
            <a:r>
              <a:rPr lang="en-US" b="1" dirty="0"/>
              <a:t>Test list</a:t>
            </a:r>
            <a:endParaRPr lang="en-GB" b="1" dirty="0"/>
          </a:p>
        </p:txBody>
      </p:sp>
    </p:spTree>
    <p:extLst>
      <p:ext uri="{BB962C8B-B14F-4D97-AF65-F5344CB8AC3E}">
        <p14:creationId xmlns:p14="http://schemas.microsoft.com/office/powerpoint/2010/main" val="1452019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59C12-44A5-02B4-91E6-A3E28FDE5FE4}"/>
              </a:ext>
            </a:extLst>
          </p:cNvPr>
          <p:cNvSpPr>
            <a:spLocks noGrp="1"/>
          </p:cNvSpPr>
          <p:nvPr>
            <p:ph type="title"/>
          </p:nvPr>
        </p:nvSpPr>
        <p:spPr/>
        <p:txBody>
          <a:bodyPr/>
          <a:lstStyle/>
          <a:p>
            <a:r>
              <a:rPr lang="en-GB" b="1" dirty="0"/>
              <a:t>Client-Server Architecture</a:t>
            </a:r>
          </a:p>
        </p:txBody>
      </p:sp>
      <p:sp>
        <p:nvSpPr>
          <p:cNvPr id="3" name="Content Placeholder 2">
            <a:extLst>
              <a:ext uri="{FF2B5EF4-FFF2-40B4-BE49-F238E27FC236}">
                <a16:creationId xmlns:a16="http://schemas.microsoft.com/office/drawing/2014/main" id="{6FB9A35A-EE19-E83E-6A84-474D5314F5F4}"/>
              </a:ext>
            </a:extLst>
          </p:cNvPr>
          <p:cNvSpPr>
            <a:spLocks noGrp="1"/>
          </p:cNvSpPr>
          <p:nvPr>
            <p:ph idx="1"/>
          </p:nvPr>
        </p:nvSpPr>
        <p:spPr/>
        <p:txBody>
          <a:bodyPr>
            <a:normAutofit/>
          </a:bodyPr>
          <a:lstStyle/>
          <a:p>
            <a:r>
              <a:rPr lang="en-US" sz="2000" b="1" dirty="0"/>
              <a:t>Client-server architecture</a:t>
            </a:r>
            <a:r>
              <a:rPr lang="en-US" sz="2000" dirty="0"/>
              <a:t> is one of the key software development patterns that dominates the creation of distributed network applications. It is based on the interaction and data exchange between the </a:t>
            </a:r>
            <a:r>
              <a:rPr lang="en-US" sz="2000" b="1" dirty="0"/>
              <a:t>client</a:t>
            </a:r>
            <a:r>
              <a:rPr lang="en-US" sz="2000" dirty="0"/>
              <a:t> and the </a:t>
            </a:r>
            <a:r>
              <a:rPr lang="en-US" sz="2000" b="1" dirty="0"/>
              <a:t>server</a:t>
            </a:r>
            <a:r>
              <a:rPr lang="en-US" sz="2000" dirty="0"/>
              <a:t> over a </a:t>
            </a:r>
            <a:r>
              <a:rPr lang="en-US" sz="2000" b="1" dirty="0"/>
              <a:t>network</a:t>
            </a:r>
            <a:r>
              <a:rPr lang="en-US" sz="2000" dirty="0"/>
              <a:t>.</a:t>
            </a:r>
            <a:endParaRPr lang="pl-PL" sz="2000" dirty="0"/>
          </a:p>
          <a:p>
            <a:endParaRPr lang="uk-UA" sz="2000" dirty="0"/>
          </a:p>
          <a:p>
            <a:r>
              <a:rPr lang="en-US" sz="2000" dirty="0"/>
              <a:t>It involves the following main components: </a:t>
            </a:r>
          </a:p>
          <a:p>
            <a:pPr lvl="1"/>
            <a:r>
              <a:rPr lang="en-US" dirty="0"/>
              <a:t>Client</a:t>
            </a:r>
            <a:r>
              <a:rPr lang="uk-UA" dirty="0"/>
              <a:t> </a:t>
            </a:r>
          </a:p>
          <a:p>
            <a:pPr lvl="1"/>
            <a:r>
              <a:rPr lang="en-US" dirty="0"/>
              <a:t>Server</a:t>
            </a:r>
            <a:r>
              <a:rPr lang="uk-UA" dirty="0"/>
              <a:t> </a:t>
            </a:r>
          </a:p>
          <a:p>
            <a:pPr lvl="1"/>
            <a:r>
              <a:rPr lang="en-US" dirty="0"/>
              <a:t>Network</a:t>
            </a:r>
            <a:endParaRPr lang="ru-RU" dirty="0"/>
          </a:p>
          <a:p>
            <a:endParaRPr lang="en-GB" sz="2000" dirty="0"/>
          </a:p>
        </p:txBody>
      </p:sp>
      <p:pic>
        <p:nvPicPr>
          <p:cNvPr id="5" name="Picture 4">
            <a:extLst>
              <a:ext uri="{FF2B5EF4-FFF2-40B4-BE49-F238E27FC236}">
                <a16:creationId xmlns:a16="http://schemas.microsoft.com/office/drawing/2014/main" id="{2641874F-91C6-92FA-713D-E167C14D97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2140" y="3600930"/>
            <a:ext cx="4173071" cy="2503842"/>
          </a:xfrm>
          <a:prstGeom prst="rect">
            <a:avLst/>
          </a:prstGeom>
        </p:spPr>
      </p:pic>
    </p:spTree>
    <p:extLst>
      <p:ext uri="{BB962C8B-B14F-4D97-AF65-F5344CB8AC3E}">
        <p14:creationId xmlns:p14="http://schemas.microsoft.com/office/powerpoint/2010/main" val="353492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81627-B3B9-F224-6E77-87CD023AE80D}"/>
              </a:ext>
            </a:extLst>
          </p:cNvPr>
          <p:cNvSpPr>
            <a:spLocks noGrp="1"/>
          </p:cNvSpPr>
          <p:nvPr>
            <p:ph type="title"/>
          </p:nvPr>
        </p:nvSpPr>
        <p:spPr/>
        <p:txBody>
          <a:bodyPr/>
          <a:lstStyle/>
          <a:p>
            <a:r>
              <a:rPr lang="en-GB" b="1" dirty="0"/>
              <a:t>Client-Server Architecture</a:t>
            </a:r>
          </a:p>
        </p:txBody>
      </p:sp>
      <p:sp>
        <p:nvSpPr>
          <p:cNvPr id="3" name="Content Placeholder 2">
            <a:extLst>
              <a:ext uri="{FF2B5EF4-FFF2-40B4-BE49-F238E27FC236}">
                <a16:creationId xmlns:a16="http://schemas.microsoft.com/office/drawing/2014/main" id="{A04D7FFF-C640-7316-C7C0-661ABAA82F6B}"/>
              </a:ext>
            </a:extLst>
          </p:cNvPr>
          <p:cNvSpPr>
            <a:spLocks noGrp="1"/>
          </p:cNvSpPr>
          <p:nvPr>
            <p:ph idx="1"/>
          </p:nvPr>
        </p:nvSpPr>
        <p:spPr>
          <a:xfrm>
            <a:off x="331694" y="2336873"/>
            <a:ext cx="9045572" cy="4207362"/>
          </a:xfrm>
        </p:spPr>
        <p:txBody>
          <a:bodyPr>
            <a:normAutofit/>
          </a:bodyPr>
          <a:lstStyle/>
          <a:p>
            <a:r>
              <a:rPr lang="en-US" sz="2000" b="1" dirty="0"/>
              <a:t>Client</a:t>
            </a:r>
            <a:r>
              <a:rPr lang="en-US" sz="2000" dirty="0"/>
              <a:t> — initiates requests and displays results on the user's device (PC, phone, browser). (In our project, the client is built with Angular)</a:t>
            </a:r>
            <a:endParaRPr lang="pl-PL" sz="2000" dirty="0"/>
          </a:p>
          <a:p>
            <a:endParaRPr lang="ru-RU" sz="2000" dirty="0"/>
          </a:p>
          <a:p>
            <a:r>
              <a:rPr lang="en-US" sz="2000" b="1" dirty="0"/>
              <a:t>Server</a:t>
            </a:r>
            <a:r>
              <a:rPr lang="en-US" sz="2000" dirty="0"/>
              <a:t> — processes requests, executes business logic, queries the database, and forms responses. Usually deployed in a data center or the cloud. (In our project, the server is written in </a:t>
            </a:r>
            <a:r>
              <a:rPr lang="en-US" sz="2000" dirty="0">
                <a:hlinkClick r:id="rId2"/>
              </a:rPr>
              <a:t>ASP.NET</a:t>
            </a:r>
            <a:r>
              <a:rPr lang="en-US" sz="2000" dirty="0"/>
              <a:t> Core, and data is stored in PostgreSQL)</a:t>
            </a:r>
          </a:p>
          <a:p>
            <a:endParaRPr lang="uk-UA" sz="2000" dirty="0"/>
          </a:p>
          <a:p>
            <a:r>
              <a:rPr lang="en-US" sz="2000" b="1" dirty="0"/>
              <a:t>Network</a:t>
            </a:r>
            <a:r>
              <a:rPr lang="en-US" sz="2000" dirty="0"/>
              <a:t> — the communication channel (TCP/IP, HTTP/2, WebSocket, etc.) through which the client and server exchange messages. </a:t>
            </a:r>
            <a:endParaRPr lang="pl-PL" sz="2000" dirty="0"/>
          </a:p>
          <a:p>
            <a:pPr marL="0" indent="0">
              <a:buNone/>
            </a:pPr>
            <a:endParaRPr lang="pl-PL" sz="2000" dirty="0"/>
          </a:p>
          <a:p>
            <a:pPr marL="0" indent="0" algn="ctr">
              <a:buNone/>
            </a:pPr>
            <a:r>
              <a:rPr lang="en-US" sz="2000" dirty="0"/>
              <a:t>(In our project, the interaction is organized through </a:t>
            </a:r>
            <a:r>
              <a:rPr lang="en-US" sz="2000" b="1" dirty="0"/>
              <a:t>RESTful HTTP API</a:t>
            </a:r>
            <a:r>
              <a:rPr lang="en-US" sz="2000" dirty="0"/>
              <a:t>)</a:t>
            </a:r>
            <a:endParaRPr lang="en-GB" sz="2000" dirty="0"/>
          </a:p>
        </p:txBody>
      </p:sp>
      <p:pic>
        <p:nvPicPr>
          <p:cNvPr id="5" name="Picture 4">
            <a:extLst>
              <a:ext uri="{FF2B5EF4-FFF2-40B4-BE49-F238E27FC236}">
                <a16:creationId xmlns:a16="http://schemas.microsoft.com/office/drawing/2014/main" id="{958D223A-FAB6-5B8E-871A-EA9EC548D4CC}"/>
              </a:ext>
            </a:extLst>
          </p:cNvPr>
          <p:cNvPicPr>
            <a:picLocks noChangeAspect="1"/>
          </p:cNvPicPr>
          <p:nvPr/>
        </p:nvPicPr>
        <p:blipFill>
          <a:blip r:embed="rId3"/>
          <a:stretch>
            <a:fillRect/>
          </a:stretch>
        </p:blipFill>
        <p:spPr>
          <a:xfrm>
            <a:off x="9685366" y="2490389"/>
            <a:ext cx="2377642" cy="3435282"/>
          </a:xfrm>
          <a:prstGeom prst="rect">
            <a:avLst/>
          </a:prstGeom>
        </p:spPr>
      </p:pic>
      <p:sp>
        <p:nvSpPr>
          <p:cNvPr id="6" name="Frame 5">
            <a:extLst>
              <a:ext uri="{FF2B5EF4-FFF2-40B4-BE49-F238E27FC236}">
                <a16:creationId xmlns:a16="http://schemas.microsoft.com/office/drawing/2014/main" id="{2409C6D9-C592-C007-42DE-6E0C9A47B392}"/>
              </a:ext>
            </a:extLst>
          </p:cNvPr>
          <p:cNvSpPr/>
          <p:nvPr/>
        </p:nvSpPr>
        <p:spPr>
          <a:xfrm>
            <a:off x="9877361" y="4208030"/>
            <a:ext cx="851647" cy="300998"/>
          </a:xfrm>
          <a:prstGeom prst="frame">
            <a:avLst/>
          </a:prstGeom>
          <a:solidFill>
            <a:srgbClr val="0070C0"/>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 name="Frame 6">
            <a:extLst>
              <a:ext uri="{FF2B5EF4-FFF2-40B4-BE49-F238E27FC236}">
                <a16:creationId xmlns:a16="http://schemas.microsoft.com/office/drawing/2014/main" id="{1A4CCDF6-F4AC-3AF2-92E7-B708F5E4CD5A}"/>
              </a:ext>
            </a:extLst>
          </p:cNvPr>
          <p:cNvSpPr/>
          <p:nvPr/>
        </p:nvSpPr>
        <p:spPr>
          <a:xfrm>
            <a:off x="9877362" y="3713289"/>
            <a:ext cx="851647" cy="300998"/>
          </a:xfrm>
          <a:prstGeom prst="frame">
            <a:avLst/>
          </a:prstGeom>
          <a:solidFill>
            <a:srgbClr val="00B050"/>
          </a:solidFill>
          <a:ln>
            <a:solidFill>
              <a:srgbClr val="3090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9" name="Straight Arrow Connector 8">
            <a:extLst>
              <a:ext uri="{FF2B5EF4-FFF2-40B4-BE49-F238E27FC236}">
                <a16:creationId xmlns:a16="http://schemas.microsoft.com/office/drawing/2014/main" id="{6BE4293C-8AAF-0EEE-2024-E6D16CC8C4EC}"/>
              </a:ext>
            </a:extLst>
          </p:cNvPr>
          <p:cNvCxnSpPr>
            <a:cxnSpLocks/>
          </p:cNvCxnSpPr>
          <p:nvPr/>
        </p:nvCxnSpPr>
        <p:spPr>
          <a:xfrm>
            <a:off x="8257592" y="2855167"/>
            <a:ext cx="1517420" cy="1555468"/>
          </a:xfrm>
          <a:prstGeom prst="straightConnector1">
            <a:avLst/>
          </a:prstGeom>
          <a:ln w="38100">
            <a:solidFill>
              <a:srgbClr val="0066FF"/>
            </a:solidFill>
            <a:tailEnd type="triangle"/>
          </a:ln>
        </p:spPr>
        <p:style>
          <a:lnRef idx="3">
            <a:schemeClr val="accent4"/>
          </a:lnRef>
          <a:fillRef idx="0">
            <a:schemeClr val="accent4"/>
          </a:fillRef>
          <a:effectRef idx="2">
            <a:schemeClr val="accent4"/>
          </a:effectRef>
          <a:fontRef idx="minor">
            <a:schemeClr val="tx1"/>
          </a:fontRef>
        </p:style>
      </p:cxnSp>
      <p:cxnSp>
        <p:nvCxnSpPr>
          <p:cNvPr id="18" name="Straight Arrow Connector 17">
            <a:extLst>
              <a:ext uri="{FF2B5EF4-FFF2-40B4-BE49-F238E27FC236}">
                <a16:creationId xmlns:a16="http://schemas.microsoft.com/office/drawing/2014/main" id="{7DEC187E-CBFE-9026-B3BD-65DB37DF51CE}"/>
              </a:ext>
            </a:extLst>
          </p:cNvPr>
          <p:cNvCxnSpPr>
            <a:cxnSpLocks/>
            <a:endCxn id="7" idx="1"/>
          </p:cNvCxnSpPr>
          <p:nvPr/>
        </p:nvCxnSpPr>
        <p:spPr>
          <a:xfrm flipV="1">
            <a:off x="9135035" y="3863788"/>
            <a:ext cx="742327" cy="150499"/>
          </a:xfrm>
          <a:prstGeom prst="straightConnector1">
            <a:avLst/>
          </a:prstGeom>
          <a:ln w="38100">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853442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1C03A-0906-D5FF-B4A4-A8325BF9CBEE}"/>
              </a:ext>
            </a:extLst>
          </p:cNvPr>
          <p:cNvSpPr>
            <a:spLocks noGrp="1"/>
          </p:cNvSpPr>
          <p:nvPr>
            <p:ph type="title"/>
          </p:nvPr>
        </p:nvSpPr>
        <p:spPr/>
        <p:txBody>
          <a:bodyPr/>
          <a:lstStyle/>
          <a:p>
            <a:r>
              <a:rPr lang="en-US" b="1" dirty="0"/>
              <a:t>HTTP: How Request and Response Work</a:t>
            </a:r>
            <a:endParaRPr lang="en-GB" b="1" dirty="0"/>
          </a:p>
        </p:txBody>
      </p:sp>
      <p:sp>
        <p:nvSpPr>
          <p:cNvPr id="3" name="Content Placeholder 2">
            <a:extLst>
              <a:ext uri="{FF2B5EF4-FFF2-40B4-BE49-F238E27FC236}">
                <a16:creationId xmlns:a16="http://schemas.microsoft.com/office/drawing/2014/main" id="{AD6843BA-4289-6072-323B-DD5FF95A493C}"/>
              </a:ext>
            </a:extLst>
          </p:cNvPr>
          <p:cNvSpPr>
            <a:spLocks noGrp="1"/>
          </p:cNvSpPr>
          <p:nvPr>
            <p:ph idx="1"/>
          </p:nvPr>
        </p:nvSpPr>
        <p:spPr>
          <a:xfrm>
            <a:off x="519751" y="2457971"/>
            <a:ext cx="5071281" cy="4133898"/>
          </a:xfrm>
        </p:spPr>
        <p:txBody>
          <a:bodyPr>
            <a:normAutofit/>
          </a:bodyPr>
          <a:lstStyle/>
          <a:p>
            <a:pPr>
              <a:lnSpc>
                <a:spcPct val="100000"/>
              </a:lnSpc>
            </a:pPr>
            <a:r>
              <a:rPr lang="en-US" sz="2000" b="1" dirty="0"/>
              <a:t>Client (frontend)</a:t>
            </a:r>
            <a:r>
              <a:rPr lang="en-US" sz="2000" dirty="0"/>
              <a:t> sends an HTTP request to the server (optionally in JSON or XML format)</a:t>
            </a:r>
            <a:endParaRPr lang="pl-PL" sz="2000" dirty="0"/>
          </a:p>
          <a:p>
            <a:pPr>
              <a:lnSpc>
                <a:spcPct val="100000"/>
              </a:lnSpc>
            </a:pPr>
            <a:endParaRPr lang="uk-UA" sz="2000" dirty="0"/>
          </a:p>
          <a:p>
            <a:pPr>
              <a:lnSpc>
                <a:spcPct val="100000"/>
              </a:lnSpc>
            </a:pPr>
            <a:r>
              <a:rPr lang="en-US" sz="2000" b="1" dirty="0"/>
              <a:t>Server (backend)</a:t>
            </a:r>
            <a:r>
              <a:rPr lang="en-US" sz="2000" dirty="0"/>
              <a:t> processes the request and forms an HTTP response, also (optionally in JSON or XML format)</a:t>
            </a:r>
            <a:endParaRPr lang="en-GB" sz="2000" dirty="0"/>
          </a:p>
        </p:txBody>
      </p:sp>
      <p:pic>
        <p:nvPicPr>
          <p:cNvPr id="5" name="Picture 4">
            <a:extLst>
              <a:ext uri="{FF2B5EF4-FFF2-40B4-BE49-F238E27FC236}">
                <a16:creationId xmlns:a16="http://schemas.microsoft.com/office/drawing/2014/main" id="{8A801DCA-2E17-A631-6254-A95FF13A24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6985" y="-744278"/>
            <a:ext cx="9053622" cy="9053622"/>
          </a:xfrm>
          <a:prstGeom prst="rect">
            <a:avLst/>
          </a:prstGeom>
        </p:spPr>
      </p:pic>
    </p:spTree>
    <p:extLst>
      <p:ext uri="{BB962C8B-B14F-4D97-AF65-F5344CB8AC3E}">
        <p14:creationId xmlns:p14="http://schemas.microsoft.com/office/powerpoint/2010/main" val="24863943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62C2E-5139-66CB-E012-D64E0062605C}"/>
              </a:ext>
            </a:extLst>
          </p:cNvPr>
          <p:cNvSpPr>
            <a:spLocks noGrp="1"/>
          </p:cNvSpPr>
          <p:nvPr>
            <p:ph type="title"/>
          </p:nvPr>
        </p:nvSpPr>
        <p:spPr/>
        <p:txBody>
          <a:bodyPr/>
          <a:lstStyle/>
          <a:p>
            <a:r>
              <a:rPr lang="en-US" b="1" dirty="0"/>
              <a:t>Most Common HTTP Method Operations</a:t>
            </a:r>
            <a:endParaRPr lang="en-GB" b="1" dirty="0"/>
          </a:p>
        </p:txBody>
      </p:sp>
      <p:sp>
        <p:nvSpPr>
          <p:cNvPr id="3" name="Content Placeholder 2">
            <a:extLst>
              <a:ext uri="{FF2B5EF4-FFF2-40B4-BE49-F238E27FC236}">
                <a16:creationId xmlns:a16="http://schemas.microsoft.com/office/drawing/2014/main" id="{D40ED729-547D-7945-C36B-3FC64F265EEB}"/>
              </a:ext>
            </a:extLst>
          </p:cNvPr>
          <p:cNvSpPr>
            <a:spLocks noGrp="1"/>
          </p:cNvSpPr>
          <p:nvPr>
            <p:ph idx="1"/>
          </p:nvPr>
        </p:nvSpPr>
        <p:spPr>
          <a:xfrm>
            <a:off x="722243" y="2157279"/>
            <a:ext cx="4678017" cy="1792218"/>
          </a:xfrm>
        </p:spPr>
        <p:txBody>
          <a:bodyPr/>
          <a:lstStyle/>
          <a:p>
            <a:r>
              <a:rPr lang="en-US" b="1" dirty="0"/>
              <a:t>Get</a:t>
            </a:r>
            <a:r>
              <a:rPr lang="en-US" dirty="0"/>
              <a:t> – retrieves data</a:t>
            </a:r>
            <a:endParaRPr lang="uk-UA" dirty="0"/>
          </a:p>
          <a:p>
            <a:pPr lvl="1"/>
            <a:r>
              <a:rPr lang="en-GB" dirty="0"/>
              <a:t>/users</a:t>
            </a:r>
          </a:p>
          <a:p>
            <a:pPr lvl="1"/>
            <a:r>
              <a:rPr lang="en-GB" dirty="0"/>
              <a:t>/user</a:t>
            </a:r>
            <a:r>
              <a:rPr lang="pl-PL" dirty="0"/>
              <a:t>/3</a:t>
            </a:r>
          </a:p>
          <a:p>
            <a:pPr lvl="1"/>
            <a:r>
              <a:rPr lang="en-US" dirty="0"/>
              <a:t>Returns status</a:t>
            </a:r>
            <a:r>
              <a:rPr lang="uk-UA" dirty="0"/>
              <a:t>: 200 </a:t>
            </a:r>
            <a:r>
              <a:rPr lang="pl-PL" dirty="0"/>
              <a:t>or</a:t>
            </a:r>
            <a:r>
              <a:rPr lang="uk-UA" dirty="0"/>
              <a:t> 404</a:t>
            </a:r>
          </a:p>
        </p:txBody>
      </p:sp>
      <p:sp>
        <p:nvSpPr>
          <p:cNvPr id="6" name="Content Placeholder 2">
            <a:extLst>
              <a:ext uri="{FF2B5EF4-FFF2-40B4-BE49-F238E27FC236}">
                <a16:creationId xmlns:a16="http://schemas.microsoft.com/office/drawing/2014/main" id="{ABADBCD1-2853-5BA7-AB91-D5B13E50EA01}"/>
              </a:ext>
            </a:extLst>
          </p:cNvPr>
          <p:cNvSpPr txBox="1">
            <a:spLocks/>
          </p:cNvSpPr>
          <p:nvPr/>
        </p:nvSpPr>
        <p:spPr>
          <a:xfrm>
            <a:off x="680321" y="3968199"/>
            <a:ext cx="4913243" cy="17922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Post</a:t>
            </a:r>
            <a:r>
              <a:rPr lang="en-US" sz="2400" dirty="0"/>
              <a:t> – creates a new resource</a:t>
            </a:r>
            <a:endParaRPr lang="uk-UA" sz="2400" dirty="0"/>
          </a:p>
          <a:p>
            <a:pPr lvl="1"/>
            <a:r>
              <a:rPr lang="en-GB" sz="2000" dirty="0"/>
              <a:t>/users</a:t>
            </a:r>
          </a:p>
          <a:p>
            <a:pPr lvl="1"/>
            <a:r>
              <a:rPr lang="en-GB" sz="2000" dirty="0"/>
              <a:t>/user</a:t>
            </a:r>
            <a:endParaRPr lang="pl-PL" sz="2000" dirty="0"/>
          </a:p>
          <a:p>
            <a:pPr lvl="1"/>
            <a:r>
              <a:rPr lang="en-US" sz="2000" dirty="0"/>
              <a:t>Returns status: 201, 204 or 400</a:t>
            </a:r>
            <a:endParaRPr lang="uk-UA" dirty="0"/>
          </a:p>
          <a:p>
            <a:endParaRPr lang="pl-PL" dirty="0"/>
          </a:p>
        </p:txBody>
      </p:sp>
      <p:sp>
        <p:nvSpPr>
          <p:cNvPr id="7" name="Content Placeholder 2">
            <a:extLst>
              <a:ext uri="{FF2B5EF4-FFF2-40B4-BE49-F238E27FC236}">
                <a16:creationId xmlns:a16="http://schemas.microsoft.com/office/drawing/2014/main" id="{037C608D-7B50-E7EF-724D-04A26CAFD861}"/>
              </a:ext>
            </a:extLst>
          </p:cNvPr>
          <p:cNvSpPr txBox="1">
            <a:spLocks/>
          </p:cNvSpPr>
          <p:nvPr/>
        </p:nvSpPr>
        <p:spPr>
          <a:xfrm>
            <a:off x="6165351" y="2110349"/>
            <a:ext cx="5271052" cy="14642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Put</a:t>
            </a:r>
            <a:r>
              <a:rPr lang="en-US" sz="2400" dirty="0"/>
              <a:t> – updates a resource by</a:t>
            </a:r>
            <a:r>
              <a:rPr lang="en-US" sz="2400" b="1" dirty="0"/>
              <a:t> Id</a:t>
            </a:r>
            <a:endParaRPr lang="uk-UA" sz="2400" b="1" dirty="0"/>
          </a:p>
          <a:p>
            <a:pPr lvl="1"/>
            <a:r>
              <a:rPr lang="en-GB" sz="2000" dirty="0"/>
              <a:t>/user</a:t>
            </a:r>
            <a:r>
              <a:rPr lang="pl-PL" sz="2000" dirty="0"/>
              <a:t>/3</a:t>
            </a:r>
          </a:p>
          <a:p>
            <a:pPr lvl="1"/>
            <a:r>
              <a:rPr lang="en-US" sz="2000" dirty="0"/>
              <a:t>Returns status: </a:t>
            </a:r>
            <a:r>
              <a:rPr lang="uk-UA" sz="2000" dirty="0"/>
              <a:t>200 </a:t>
            </a:r>
            <a:r>
              <a:rPr lang="pl-PL" sz="2000" dirty="0"/>
              <a:t>or</a:t>
            </a:r>
            <a:r>
              <a:rPr lang="uk-UA" sz="2000" dirty="0"/>
              <a:t> 404</a:t>
            </a:r>
          </a:p>
          <a:p>
            <a:endParaRPr lang="uk-UA" dirty="0"/>
          </a:p>
          <a:p>
            <a:endParaRPr lang="pl-PL" dirty="0"/>
          </a:p>
        </p:txBody>
      </p:sp>
      <p:sp>
        <p:nvSpPr>
          <p:cNvPr id="8" name="Content Placeholder 2">
            <a:extLst>
              <a:ext uri="{FF2B5EF4-FFF2-40B4-BE49-F238E27FC236}">
                <a16:creationId xmlns:a16="http://schemas.microsoft.com/office/drawing/2014/main" id="{3E2368CE-2C2C-8464-04A5-DFB57B9EA43D}"/>
              </a:ext>
            </a:extLst>
          </p:cNvPr>
          <p:cNvSpPr txBox="1">
            <a:spLocks/>
          </p:cNvSpPr>
          <p:nvPr/>
        </p:nvSpPr>
        <p:spPr>
          <a:xfrm>
            <a:off x="6165351" y="3968199"/>
            <a:ext cx="5002695" cy="17922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Delete</a:t>
            </a:r>
            <a:r>
              <a:rPr lang="en-US" sz="2400" dirty="0"/>
              <a:t> – deletes a resource by </a:t>
            </a:r>
            <a:r>
              <a:rPr lang="en-US" sz="2400" b="1" dirty="0"/>
              <a:t>Id</a:t>
            </a:r>
            <a:endParaRPr lang="en-GB" sz="2400" b="1" dirty="0"/>
          </a:p>
          <a:p>
            <a:pPr lvl="1"/>
            <a:r>
              <a:rPr lang="en-GB" sz="2000" dirty="0"/>
              <a:t>/user</a:t>
            </a:r>
            <a:r>
              <a:rPr lang="pl-PL" sz="2000" dirty="0"/>
              <a:t>/3</a:t>
            </a:r>
          </a:p>
          <a:p>
            <a:pPr lvl="1"/>
            <a:r>
              <a:rPr lang="en-US" sz="2000" dirty="0"/>
              <a:t>Returns status: </a:t>
            </a:r>
            <a:r>
              <a:rPr lang="uk-UA" sz="2000" dirty="0"/>
              <a:t>20</a:t>
            </a:r>
            <a:r>
              <a:rPr lang="en-US" sz="2000" dirty="0"/>
              <a:t>4</a:t>
            </a:r>
            <a:r>
              <a:rPr lang="uk-UA" sz="2000" dirty="0"/>
              <a:t> </a:t>
            </a:r>
            <a:r>
              <a:rPr lang="pl-PL" sz="2000" dirty="0"/>
              <a:t>or</a:t>
            </a:r>
            <a:r>
              <a:rPr lang="uk-UA" sz="2000" dirty="0"/>
              <a:t> 404</a:t>
            </a:r>
          </a:p>
        </p:txBody>
      </p:sp>
      <p:sp>
        <p:nvSpPr>
          <p:cNvPr id="4" name="Content Placeholder 2">
            <a:extLst>
              <a:ext uri="{FF2B5EF4-FFF2-40B4-BE49-F238E27FC236}">
                <a16:creationId xmlns:a16="http://schemas.microsoft.com/office/drawing/2014/main" id="{FB6A964D-DFCD-E81B-0B8E-0D2FFF8FFB3F}"/>
              </a:ext>
            </a:extLst>
          </p:cNvPr>
          <p:cNvSpPr txBox="1">
            <a:spLocks/>
          </p:cNvSpPr>
          <p:nvPr/>
        </p:nvSpPr>
        <p:spPr>
          <a:xfrm>
            <a:off x="1143000" y="5910606"/>
            <a:ext cx="10058400" cy="3299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List of HTTP methods</a:t>
            </a:r>
            <a:r>
              <a:rPr lang="pl-PL" sz="2000" dirty="0"/>
              <a:t> </a:t>
            </a:r>
            <a:r>
              <a:rPr lang="en-GB" sz="2000" dirty="0">
                <a:hlinkClick r:id="rId2"/>
              </a:rPr>
              <a:t>https://en.wikipedia.org/wiki/HTTP#Request_methods</a:t>
            </a:r>
            <a:endParaRPr lang="pl-PL" sz="2000" dirty="0"/>
          </a:p>
        </p:txBody>
      </p:sp>
    </p:spTree>
    <p:extLst>
      <p:ext uri="{BB962C8B-B14F-4D97-AF65-F5344CB8AC3E}">
        <p14:creationId xmlns:p14="http://schemas.microsoft.com/office/powerpoint/2010/main" val="2120629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64970-004C-2AD6-1BDD-EDBAFEBB650C}"/>
              </a:ext>
            </a:extLst>
          </p:cNvPr>
          <p:cNvSpPr>
            <a:spLocks noGrp="1"/>
          </p:cNvSpPr>
          <p:nvPr>
            <p:ph type="title"/>
          </p:nvPr>
        </p:nvSpPr>
        <p:spPr/>
        <p:txBody>
          <a:bodyPr/>
          <a:lstStyle/>
          <a:p>
            <a:r>
              <a:rPr lang="en-GB" b="1" dirty="0"/>
              <a:t>HTTP status codes</a:t>
            </a:r>
            <a:r>
              <a:rPr lang="uk-UA" b="1" dirty="0"/>
              <a:t>:</a:t>
            </a:r>
            <a:endParaRPr lang="en-GB" b="1" dirty="0"/>
          </a:p>
        </p:txBody>
      </p:sp>
      <p:sp>
        <p:nvSpPr>
          <p:cNvPr id="4" name="Content Placeholder 2">
            <a:extLst>
              <a:ext uri="{FF2B5EF4-FFF2-40B4-BE49-F238E27FC236}">
                <a16:creationId xmlns:a16="http://schemas.microsoft.com/office/drawing/2014/main" id="{537165D7-23AC-907E-1C1D-EE49AA741515}"/>
              </a:ext>
            </a:extLst>
          </p:cNvPr>
          <p:cNvSpPr txBox="1">
            <a:spLocks/>
          </p:cNvSpPr>
          <p:nvPr/>
        </p:nvSpPr>
        <p:spPr>
          <a:xfrm>
            <a:off x="838200" y="6189985"/>
            <a:ext cx="10515600" cy="4737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List of HTTP status codes</a:t>
            </a:r>
            <a:r>
              <a:rPr lang="pl-PL" sz="2000" dirty="0"/>
              <a:t> </a:t>
            </a:r>
            <a:r>
              <a:rPr lang="en-GB" sz="2000" dirty="0">
                <a:hlinkClick r:id="rId2"/>
              </a:rPr>
              <a:t>https://en.wikipedia.org/wiki/List_of_HTTP_status_codes</a:t>
            </a:r>
            <a:r>
              <a:rPr lang="uk-UA" sz="2000" dirty="0">
                <a:hlinkClick r:id="rId2"/>
              </a:rPr>
              <a:t> </a:t>
            </a:r>
            <a:endParaRPr lang="en-US" sz="2000" dirty="0"/>
          </a:p>
        </p:txBody>
      </p:sp>
      <p:pic>
        <p:nvPicPr>
          <p:cNvPr id="6" name="Picture 5">
            <a:extLst>
              <a:ext uri="{FF2B5EF4-FFF2-40B4-BE49-F238E27FC236}">
                <a16:creationId xmlns:a16="http://schemas.microsoft.com/office/drawing/2014/main" id="{8E52E7A3-5921-C47F-648D-9050B2CD9343}"/>
              </a:ext>
            </a:extLst>
          </p:cNvPr>
          <p:cNvPicPr>
            <a:picLocks noChangeAspect="1"/>
          </p:cNvPicPr>
          <p:nvPr/>
        </p:nvPicPr>
        <p:blipFill>
          <a:blip r:embed="rId3"/>
          <a:srcRect t="21443" b="25086"/>
          <a:stretch>
            <a:fillRect/>
          </a:stretch>
        </p:blipFill>
        <p:spPr>
          <a:xfrm>
            <a:off x="3542445" y="2233153"/>
            <a:ext cx="4572000" cy="3667027"/>
          </a:xfrm>
          <a:prstGeom prst="rect">
            <a:avLst/>
          </a:prstGeom>
        </p:spPr>
      </p:pic>
    </p:spTree>
    <p:extLst>
      <p:ext uri="{BB962C8B-B14F-4D97-AF65-F5344CB8AC3E}">
        <p14:creationId xmlns:p14="http://schemas.microsoft.com/office/powerpoint/2010/main" val="38498848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7E527-8855-F37C-BF3B-9DAEA69D4362}"/>
              </a:ext>
            </a:extLst>
          </p:cNvPr>
          <p:cNvSpPr>
            <a:spLocks noGrp="1"/>
          </p:cNvSpPr>
          <p:nvPr>
            <p:ph type="title"/>
          </p:nvPr>
        </p:nvSpPr>
        <p:spPr/>
        <p:txBody>
          <a:bodyPr/>
          <a:lstStyle/>
          <a:p>
            <a:r>
              <a:rPr lang="en-GB" b="1" dirty="0"/>
              <a:t>Swagger</a:t>
            </a:r>
          </a:p>
        </p:txBody>
      </p:sp>
      <p:sp>
        <p:nvSpPr>
          <p:cNvPr id="3" name="Content Placeholder 2">
            <a:extLst>
              <a:ext uri="{FF2B5EF4-FFF2-40B4-BE49-F238E27FC236}">
                <a16:creationId xmlns:a16="http://schemas.microsoft.com/office/drawing/2014/main" id="{A7FBDD3A-58CF-0B8A-72BB-4E6DB4E2C227}"/>
              </a:ext>
            </a:extLst>
          </p:cNvPr>
          <p:cNvSpPr>
            <a:spLocks noGrp="1"/>
          </p:cNvSpPr>
          <p:nvPr>
            <p:ph idx="1"/>
          </p:nvPr>
        </p:nvSpPr>
        <p:spPr>
          <a:xfrm>
            <a:off x="838200" y="2189814"/>
            <a:ext cx="10515600" cy="4351338"/>
          </a:xfrm>
        </p:spPr>
        <p:txBody>
          <a:bodyPr>
            <a:normAutofit/>
          </a:bodyPr>
          <a:lstStyle/>
          <a:p>
            <a:pPr>
              <a:lnSpc>
                <a:spcPct val="100000"/>
              </a:lnSpc>
            </a:pPr>
            <a:r>
              <a:rPr lang="en-US" sz="2000" b="1" dirty="0"/>
              <a:t>Swagger</a:t>
            </a:r>
            <a:r>
              <a:rPr lang="en-US" sz="2000" dirty="0"/>
              <a:t> is a tool for describing, documenting, and visualizing REST APIs.</a:t>
            </a:r>
            <a:endParaRPr lang="pl-PL" sz="2000" dirty="0"/>
          </a:p>
          <a:p>
            <a:pPr>
              <a:lnSpc>
                <a:spcPct val="100000"/>
              </a:lnSpc>
            </a:pPr>
            <a:endParaRPr lang="en-GB" sz="2000" dirty="0"/>
          </a:p>
          <a:p>
            <a:pPr>
              <a:lnSpc>
                <a:spcPct val="100000"/>
              </a:lnSpc>
            </a:pPr>
            <a:r>
              <a:rPr lang="en-US" sz="2000" dirty="0"/>
              <a:t>Based on the </a:t>
            </a:r>
            <a:r>
              <a:rPr lang="en-US" sz="2000" b="1" dirty="0"/>
              <a:t>Swagger</a:t>
            </a:r>
            <a:r>
              <a:rPr lang="en-US" sz="2000" dirty="0"/>
              <a:t> specification, you can automatically generate source code for client libraries and clear text documentation.</a:t>
            </a:r>
            <a:endParaRPr lang="pl-PL" sz="2000" dirty="0"/>
          </a:p>
          <a:p>
            <a:pPr>
              <a:lnSpc>
                <a:spcPct val="100000"/>
              </a:lnSpc>
            </a:pPr>
            <a:endParaRPr lang="uk-UA" sz="2000" dirty="0"/>
          </a:p>
          <a:p>
            <a:pPr>
              <a:lnSpc>
                <a:spcPct val="100000"/>
              </a:lnSpc>
            </a:pPr>
            <a:r>
              <a:rPr lang="en-US" sz="2000" dirty="0"/>
              <a:t>Swagger creates documentation that is understandable to both humans and machines.</a:t>
            </a:r>
          </a:p>
          <a:p>
            <a:pPr>
              <a:lnSpc>
                <a:spcPct val="100000"/>
              </a:lnSpc>
            </a:pPr>
            <a:endParaRPr lang="en-GB" sz="2000" dirty="0"/>
          </a:p>
          <a:p>
            <a:pPr>
              <a:lnSpc>
                <a:spcPct val="100000"/>
              </a:lnSpc>
            </a:pPr>
            <a:r>
              <a:rPr lang="pl-PL" sz="2000" dirty="0"/>
              <a:t>T</a:t>
            </a:r>
            <a:r>
              <a:rPr lang="en-US" sz="2000" dirty="0"/>
              <a:t>he tool also allows you to trigger endpoints to verify the functionality of our server.</a:t>
            </a:r>
            <a:endParaRPr lang="en-GB" sz="2000" dirty="0"/>
          </a:p>
          <a:p>
            <a:pPr>
              <a:lnSpc>
                <a:spcPct val="100000"/>
              </a:lnSpc>
            </a:pPr>
            <a:endParaRPr lang="en-GB" sz="2000" dirty="0"/>
          </a:p>
        </p:txBody>
      </p:sp>
      <p:pic>
        <p:nvPicPr>
          <p:cNvPr id="6" name="Picture 5" descr="A green background with white text&#10;&#10;AI-generated content may be incorrect.">
            <a:extLst>
              <a:ext uri="{FF2B5EF4-FFF2-40B4-BE49-F238E27FC236}">
                <a16:creationId xmlns:a16="http://schemas.microsoft.com/office/drawing/2014/main" id="{704273F0-D0C8-5573-66EC-631B03E850C7}"/>
              </a:ext>
            </a:extLst>
          </p:cNvPr>
          <p:cNvPicPr>
            <a:picLocks noChangeAspect="1"/>
          </p:cNvPicPr>
          <p:nvPr/>
        </p:nvPicPr>
        <p:blipFill>
          <a:blip r:embed="rId2">
            <a:extLst>
              <a:ext uri="{28A0092B-C50C-407E-A947-70E740481C1C}">
                <a14:useLocalDpi xmlns:a14="http://schemas.microsoft.com/office/drawing/2010/main" val="0"/>
              </a:ext>
            </a:extLst>
          </a:blip>
          <a:srcRect l="13526" t="39184" r="14398" b="40915"/>
          <a:stretch>
            <a:fillRect/>
          </a:stretch>
        </p:blipFill>
        <p:spPr>
          <a:xfrm>
            <a:off x="8889242" y="587983"/>
            <a:ext cx="2963470" cy="1454630"/>
          </a:xfrm>
          <a:prstGeom prst="rect">
            <a:avLst/>
          </a:prstGeom>
        </p:spPr>
      </p:pic>
    </p:spTree>
    <p:extLst>
      <p:ext uri="{BB962C8B-B14F-4D97-AF65-F5344CB8AC3E}">
        <p14:creationId xmlns:p14="http://schemas.microsoft.com/office/powerpoint/2010/main" val="11128426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38097-6F4B-0C9B-0F22-8F30863EBD06}"/>
              </a:ext>
            </a:extLst>
          </p:cNvPr>
          <p:cNvSpPr>
            <a:spLocks noGrp="1"/>
          </p:cNvSpPr>
          <p:nvPr>
            <p:ph type="title"/>
          </p:nvPr>
        </p:nvSpPr>
        <p:spPr/>
        <p:txBody>
          <a:bodyPr/>
          <a:lstStyle/>
          <a:p>
            <a:r>
              <a:rPr lang="en-GB" b="1" dirty="0"/>
              <a:t>Swagger</a:t>
            </a:r>
            <a:r>
              <a:rPr lang="uk-UA" b="1" dirty="0"/>
              <a:t> – </a:t>
            </a:r>
            <a:r>
              <a:rPr lang="en-US" b="1" dirty="0"/>
              <a:t>List of Endpoints</a:t>
            </a:r>
            <a:endParaRPr lang="en-GB" b="1" dirty="0"/>
          </a:p>
        </p:txBody>
      </p:sp>
      <p:sp>
        <p:nvSpPr>
          <p:cNvPr id="17" name="TextBox 16">
            <a:extLst>
              <a:ext uri="{FF2B5EF4-FFF2-40B4-BE49-F238E27FC236}">
                <a16:creationId xmlns:a16="http://schemas.microsoft.com/office/drawing/2014/main" id="{9AEBB8AC-15E2-1FF8-D926-985CAC6364A9}"/>
              </a:ext>
            </a:extLst>
          </p:cNvPr>
          <p:cNvSpPr txBox="1"/>
          <p:nvPr/>
        </p:nvSpPr>
        <p:spPr>
          <a:xfrm>
            <a:off x="627951" y="3496712"/>
            <a:ext cx="1214498" cy="646331"/>
          </a:xfrm>
          <a:prstGeom prst="rect">
            <a:avLst/>
          </a:prstGeom>
          <a:noFill/>
        </p:spPr>
        <p:txBody>
          <a:bodyPr wrap="square">
            <a:spAutoFit/>
          </a:bodyPr>
          <a:lstStyle/>
          <a:p>
            <a:r>
              <a:rPr lang="en-US" b="1" dirty="0"/>
              <a:t>Server localhost</a:t>
            </a:r>
            <a:endParaRPr lang="en-GB" b="1" dirty="0"/>
          </a:p>
        </p:txBody>
      </p:sp>
      <p:sp>
        <p:nvSpPr>
          <p:cNvPr id="24" name="TextBox 23">
            <a:extLst>
              <a:ext uri="{FF2B5EF4-FFF2-40B4-BE49-F238E27FC236}">
                <a16:creationId xmlns:a16="http://schemas.microsoft.com/office/drawing/2014/main" id="{EE8435AF-6E9F-5849-3A6E-C06A71E2DD0E}"/>
              </a:ext>
            </a:extLst>
          </p:cNvPr>
          <p:cNvSpPr txBox="1"/>
          <p:nvPr/>
        </p:nvSpPr>
        <p:spPr>
          <a:xfrm>
            <a:off x="680321" y="4428598"/>
            <a:ext cx="1396468" cy="646331"/>
          </a:xfrm>
          <a:prstGeom prst="rect">
            <a:avLst/>
          </a:prstGeom>
          <a:noFill/>
        </p:spPr>
        <p:txBody>
          <a:bodyPr wrap="square">
            <a:spAutoFit/>
          </a:bodyPr>
          <a:lstStyle/>
          <a:p>
            <a:r>
              <a:rPr lang="en-US" b="1" dirty="0"/>
              <a:t>List of endpoints</a:t>
            </a:r>
            <a:endParaRPr lang="en-GB" b="1" dirty="0"/>
          </a:p>
        </p:txBody>
      </p:sp>
      <p:pic>
        <p:nvPicPr>
          <p:cNvPr id="8" name="Picture 7">
            <a:extLst>
              <a:ext uri="{FF2B5EF4-FFF2-40B4-BE49-F238E27FC236}">
                <a16:creationId xmlns:a16="http://schemas.microsoft.com/office/drawing/2014/main" id="{C8C7FD1E-1314-8A1C-055B-8B459596BB7C}"/>
              </a:ext>
            </a:extLst>
          </p:cNvPr>
          <p:cNvPicPr>
            <a:picLocks noChangeAspect="1"/>
          </p:cNvPicPr>
          <p:nvPr/>
        </p:nvPicPr>
        <p:blipFill>
          <a:blip r:embed="rId2"/>
          <a:stretch>
            <a:fillRect/>
          </a:stretch>
        </p:blipFill>
        <p:spPr>
          <a:xfrm>
            <a:off x="2679510" y="2385521"/>
            <a:ext cx="7761028" cy="3719251"/>
          </a:xfrm>
          <a:prstGeom prst="rect">
            <a:avLst/>
          </a:prstGeom>
        </p:spPr>
      </p:pic>
      <p:sp>
        <p:nvSpPr>
          <p:cNvPr id="9" name="Frame 8">
            <a:extLst>
              <a:ext uri="{FF2B5EF4-FFF2-40B4-BE49-F238E27FC236}">
                <a16:creationId xmlns:a16="http://schemas.microsoft.com/office/drawing/2014/main" id="{50451E2A-B4D5-F3CD-3D7D-24BA6868813D}"/>
              </a:ext>
            </a:extLst>
          </p:cNvPr>
          <p:cNvSpPr/>
          <p:nvPr/>
        </p:nvSpPr>
        <p:spPr>
          <a:xfrm>
            <a:off x="2889896" y="3613666"/>
            <a:ext cx="1208982" cy="412424"/>
          </a:xfrm>
          <a:prstGeom prst="frame">
            <a:avLst>
              <a:gd name="adj1" fmla="val 4779"/>
            </a:avLst>
          </a:prstGeom>
          <a:solidFill>
            <a:srgbClr val="309070"/>
          </a:solidFill>
          <a:ln>
            <a:solidFill>
              <a:srgbClr val="3090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Frame 9">
            <a:extLst>
              <a:ext uri="{FF2B5EF4-FFF2-40B4-BE49-F238E27FC236}">
                <a16:creationId xmlns:a16="http://schemas.microsoft.com/office/drawing/2014/main" id="{17356877-108D-0E0C-8AE9-636792561518}"/>
              </a:ext>
            </a:extLst>
          </p:cNvPr>
          <p:cNvSpPr/>
          <p:nvPr/>
        </p:nvSpPr>
        <p:spPr>
          <a:xfrm>
            <a:off x="2871700" y="4428598"/>
            <a:ext cx="7386089" cy="1657977"/>
          </a:xfrm>
          <a:prstGeom prst="frame">
            <a:avLst>
              <a:gd name="adj1" fmla="val 2584"/>
            </a:avLst>
          </a:prstGeom>
          <a:solidFill>
            <a:srgbClr val="309070"/>
          </a:solidFill>
          <a:ln>
            <a:solidFill>
              <a:srgbClr val="3090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11" name="Straight Connector 10">
            <a:extLst>
              <a:ext uri="{FF2B5EF4-FFF2-40B4-BE49-F238E27FC236}">
                <a16:creationId xmlns:a16="http://schemas.microsoft.com/office/drawing/2014/main" id="{6DBFDB00-55B4-418C-C0C5-59FB398C0BB3}"/>
              </a:ext>
            </a:extLst>
          </p:cNvPr>
          <p:cNvCxnSpPr>
            <a:cxnSpLocks/>
          </p:cNvCxnSpPr>
          <p:nvPr/>
        </p:nvCxnSpPr>
        <p:spPr>
          <a:xfrm flipH="1">
            <a:off x="1978025" y="3756717"/>
            <a:ext cx="911871" cy="0"/>
          </a:xfrm>
          <a:prstGeom prst="line">
            <a:avLst/>
          </a:prstGeom>
          <a:ln w="38100">
            <a:solidFill>
              <a:srgbClr val="309070"/>
            </a:solidFill>
          </a:ln>
        </p:spPr>
        <p:style>
          <a:lnRef idx="3">
            <a:schemeClr val="accent5"/>
          </a:lnRef>
          <a:fillRef idx="0">
            <a:schemeClr val="accent5"/>
          </a:fillRef>
          <a:effectRef idx="2">
            <a:schemeClr val="accent5"/>
          </a:effectRef>
          <a:fontRef idx="minor">
            <a:schemeClr val="tx1"/>
          </a:fontRef>
        </p:style>
      </p:cxnSp>
      <p:cxnSp>
        <p:nvCxnSpPr>
          <p:cNvPr id="14" name="Straight Connector 13">
            <a:extLst>
              <a:ext uri="{FF2B5EF4-FFF2-40B4-BE49-F238E27FC236}">
                <a16:creationId xmlns:a16="http://schemas.microsoft.com/office/drawing/2014/main" id="{2CCDCD6E-9BC6-3FCA-F0DD-E234AFDA3914}"/>
              </a:ext>
            </a:extLst>
          </p:cNvPr>
          <p:cNvCxnSpPr>
            <a:cxnSpLocks/>
          </p:cNvCxnSpPr>
          <p:nvPr/>
        </p:nvCxnSpPr>
        <p:spPr>
          <a:xfrm flipH="1">
            <a:off x="1998606" y="4751763"/>
            <a:ext cx="911871" cy="0"/>
          </a:xfrm>
          <a:prstGeom prst="line">
            <a:avLst/>
          </a:prstGeom>
          <a:ln w="38100">
            <a:solidFill>
              <a:srgbClr val="309070"/>
            </a:solidFill>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4427908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A7F52-BB23-FAE0-B4D0-E7A8361D0EDA}"/>
              </a:ext>
            </a:extLst>
          </p:cNvPr>
          <p:cNvSpPr>
            <a:spLocks noGrp="1"/>
          </p:cNvSpPr>
          <p:nvPr>
            <p:ph type="title"/>
          </p:nvPr>
        </p:nvSpPr>
        <p:spPr/>
        <p:txBody>
          <a:bodyPr/>
          <a:lstStyle/>
          <a:p>
            <a:r>
              <a:rPr lang="en-GB" b="1" dirty="0"/>
              <a:t>Swagger</a:t>
            </a:r>
            <a:r>
              <a:rPr lang="uk-UA" b="1" dirty="0"/>
              <a:t> - </a:t>
            </a:r>
            <a:r>
              <a:rPr lang="en-GB" b="1" dirty="0"/>
              <a:t>Get All</a:t>
            </a:r>
            <a:r>
              <a:rPr lang="uk-UA" b="1" dirty="0"/>
              <a:t> </a:t>
            </a:r>
            <a:r>
              <a:rPr lang="en-GB" b="1" dirty="0"/>
              <a:t>Projects</a:t>
            </a:r>
          </a:p>
        </p:txBody>
      </p:sp>
      <p:sp>
        <p:nvSpPr>
          <p:cNvPr id="12" name="TextBox 11">
            <a:extLst>
              <a:ext uri="{FF2B5EF4-FFF2-40B4-BE49-F238E27FC236}">
                <a16:creationId xmlns:a16="http://schemas.microsoft.com/office/drawing/2014/main" id="{4DFF3FB3-F6EF-25CB-8EE8-C7276C1822A6}"/>
              </a:ext>
            </a:extLst>
          </p:cNvPr>
          <p:cNvSpPr txBox="1"/>
          <p:nvPr/>
        </p:nvSpPr>
        <p:spPr>
          <a:xfrm>
            <a:off x="52225" y="2596074"/>
            <a:ext cx="1433197" cy="400110"/>
          </a:xfrm>
          <a:prstGeom prst="rect">
            <a:avLst/>
          </a:prstGeom>
          <a:noFill/>
        </p:spPr>
        <p:txBody>
          <a:bodyPr wrap="square">
            <a:spAutoFit/>
          </a:bodyPr>
          <a:lstStyle/>
          <a:p>
            <a:r>
              <a:rPr lang="en-US" sz="2000" b="1" dirty="0"/>
              <a:t>Endpoint</a:t>
            </a:r>
            <a:endParaRPr lang="en-GB" sz="2000" b="1" dirty="0"/>
          </a:p>
        </p:txBody>
      </p:sp>
      <p:sp>
        <p:nvSpPr>
          <p:cNvPr id="16" name="TextBox 15">
            <a:extLst>
              <a:ext uri="{FF2B5EF4-FFF2-40B4-BE49-F238E27FC236}">
                <a16:creationId xmlns:a16="http://schemas.microsoft.com/office/drawing/2014/main" id="{A16E7642-C252-3BFE-DB39-51ED9FB7C891}"/>
              </a:ext>
            </a:extLst>
          </p:cNvPr>
          <p:cNvSpPr txBox="1"/>
          <p:nvPr/>
        </p:nvSpPr>
        <p:spPr>
          <a:xfrm>
            <a:off x="62406" y="3173123"/>
            <a:ext cx="3002538" cy="1631216"/>
          </a:xfrm>
          <a:prstGeom prst="rect">
            <a:avLst/>
          </a:prstGeom>
          <a:noFill/>
        </p:spPr>
        <p:txBody>
          <a:bodyPr wrap="square">
            <a:spAutoFit/>
          </a:bodyPr>
          <a:lstStyle/>
          <a:p>
            <a:r>
              <a:rPr lang="en-US" sz="2000" b="1" dirty="0"/>
              <a:t>Parameters</a:t>
            </a:r>
            <a:r>
              <a:rPr lang="en-US" sz="2000" dirty="0"/>
              <a:t> — which we can pass in the request, specifically in the header, path, and query parts</a:t>
            </a:r>
            <a:endParaRPr lang="en-GB" sz="2000" dirty="0"/>
          </a:p>
        </p:txBody>
      </p:sp>
      <p:sp>
        <p:nvSpPr>
          <p:cNvPr id="17" name="TextBox 16">
            <a:extLst>
              <a:ext uri="{FF2B5EF4-FFF2-40B4-BE49-F238E27FC236}">
                <a16:creationId xmlns:a16="http://schemas.microsoft.com/office/drawing/2014/main" id="{F5938171-5FDA-D5F3-2E35-BC5FE9160F15}"/>
              </a:ext>
            </a:extLst>
          </p:cNvPr>
          <p:cNvSpPr txBox="1"/>
          <p:nvPr/>
        </p:nvSpPr>
        <p:spPr>
          <a:xfrm>
            <a:off x="98800" y="4906371"/>
            <a:ext cx="2966144" cy="1631216"/>
          </a:xfrm>
          <a:prstGeom prst="rect">
            <a:avLst/>
          </a:prstGeom>
          <a:noFill/>
        </p:spPr>
        <p:txBody>
          <a:bodyPr wrap="square">
            <a:spAutoFit/>
          </a:bodyPr>
          <a:lstStyle/>
          <a:p>
            <a:r>
              <a:rPr lang="en-US" sz="2000" b="1" dirty="0"/>
              <a:t>Response</a:t>
            </a:r>
            <a:r>
              <a:rPr lang="en-US" sz="2000" dirty="0"/>
              <a:t> — body documentation about what we expect in the response in JSON format with status</a:t>
            </a:r>
            <a:endParaRPr lang="en-GB" sz="2000" dirty="0"/>
          </a:p>
        </p:txBody>
      </p:sp>
      <p:pic>
        <p:nvPicPr>
          <p:cNvPr id="6" name="Picture 5">
            <a:extLst>
              <a:ext uri="{FF2B5EF4-FFF2-40B4-BE49-F238E27FC236}">
                <a16:creationId xmlns:a16="http://schemas.microsoft.com/office/drawing/2014/main" id="{F2248B3E-5EBE-B042-F596-5F1DCADBEE29}"/>
              </a:ext>
            </a:extLst>
          </p:cNvPr>
          <p:cNvPicPr>
            <a:picLocks noChangeAspect="1"/>
          </p:cNvPicPr>
          <p:nvPr/>
        </p:nvPicPr>
        <p:blipFill>
          <a:blip r:embed="rId2"/>
          <a:stretch>
            <a:fillRect/>
          </a:stretch>
        </p:blipFill>
        <p:spPr>
          <a:xfrm>
            <a:off x="3436809" y="2408072"/>
            <a:ext cx="8227114" cy="3499286"/>
          </a:xfrm>
          <a:prstGeom prst="rect">
            <a:avLst/>
          </a:prstGeom>
        </p:spPr>
      </p:pic>
      <p:sp>
        <p:nvSpPr>
          <p:cNvPr id="7" name="Frame 6">
            <a:extLst>
              <a:ext uri="{FF2B5EF4-FFF2-40B4-BE49-F238E27FC236}">
                <a16:creationId xmlns:a16="http://schemas.microsoft.com/office/drawing/2014/main" id="{20E40F73-351B-041E-8FBF-92AC188605E9}"/>
              </a:ext>
            </a:extLst>
          </p:cNvPr>
          <p:cNvSpPr/>
          <p:nvPr/>
        </p:nvSpPr>
        <p:spPr>
          <a:xfrm>
            <a:off x="3690620" y="2738120"/>
            <a:ext cx="1231672" cy="228600"/>
          </a:xfrm>
          <a:prstGeom prst="frame">
            <a:avLst>
              <a:gd name="adj1" fmla="val 4779"/>
            </a:avLst>
          </a:prstGeom>
          <a:solidFill>
            <a:srgbClr val="309070"/>
          </a:solidFill>
          <a:ln w="25400">
            <a:solidFill>
              <a:srgbClr val="3090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Frame 8">
            <a:extLst>
              <a:ext uri="{FF2B5EF4-FFF2-40B4-BE49-F238E27FC236}">
                <a16:creationId xmlns:a16="http://schemas.microsoft.com/office/drawing/2014/main" id="{9BDACA7E-0B38-666E-C4CC-27937C291819}"/>
              </a:ext>
            </a:extLst>
          </p:cNvPr>
          <p:cNvSpPr/>
          <p:nvPr/>
        </p:nvSpPr>
        <p:spPr>
          <a:xfrm>
            <a:off x="3690620" y="2996184"/>
            <a:ext cx="7732556" cy="756950"/>
          </a:xfrm>
          <a:prstGeom prst="frame">
            <a:avLst>
              <a:gd name="adj1" fmla="val 4779"/>
            </a:avLst>
          </a:prstGeom>
          <a:solidFill>
            <a:srgbClr val="309070"/>
          </a:solidFill>
          <a:ln>
            <a:solidFill>
              <a:srgbClr val="3090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Frame 9">
            <a:extLst>
              <a:ext uri="{FF2B5EF4-FFF2-40B4-BE49-F238E27FC236}">
                <a16:creationId xmlns:a16="http://schemas.microsoft.com/office/drawing/2014/main" id="{0E92839D-2162-A5CF-0B50-BCBE2C275F7D}"/>
              </a:ext>
            </a:extLst>
          </p:cNvPr>
          <p:cNvSpPr/>
          <p:nvPr/>
        </p:nvSpPr>
        <p:spPr>
          <a:xfrm>
            <a:off x="3690620" y="3782598"/>
            <a:ext cx="7732556" cy="2058130"/>
          </a:xfrm>
          <a:prstGeom prst="frame">
            <a:avLst>
              <a:gd name="adj1" fmla="val 1571"/>
            </a:avLst>
          </a:prstGeom>
          <a:solidFill>
            <a:srgbClr val="309070"/>
          </a:solidFill>
          <a:ln>
            <a:solidFill>
              <a:srgbClr val="3090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13" name="Straight Connector 12">
            <a:extLst>
              <a:ext uri="{FF2B5EF4-FFF2-40B4-BE49-F238E27FC236}">
                <a16:creationId xmlns:a16="http://schemas.microsoft.com/office/drawing/2014/main" id="{800D769A-45EB-E783-9741-00908500F86A}"/>
              </a:ext>
            </a:extLst>
          </p:cNvPr>
          <p:cNvCxnSpPr>
            <a:cxnSpLocks/>
            <a:endCxn id="12" idx="3"/>
          </p:cNvCxnSpPr>
          <p:nvPr/>
        </p:nvCxnSpPr>
        <p:spPr>
          <a:xfrm flipH="1" flipV="1">
            <a:off x="1485422" y="2796129"/>
            <a:ext cx="2205198" cy="39364"/>
          </a:xfrm>
          <a:prstGeom prst="line">
            <a:avLst/>
          </a:prstGeom>
          <a:ln w="38100">
            <a:solidFill>
              <a:srgbClr val="309070"/>
            </a:solidFill>
          </a:ln>
        </p:spPr>
        <p:style>
          <a:lnRef idx="3">
            <a:schemeClr val="accent5"/>
          </a:lnRef>
          <a:fillRef idx="0">
            <a:schemeClr val="accent5"/>
          </a:fillRef>
          <a:effectRef idx="2">
            <a:schemeClr val="accent5"/>
          </a:effectRef>
          <a:fontRef idx="minor">
            <a:schemeClr val="tx1"/>
          </a:fontRef>
        </p:style>
      </p:cxnSp>
      <p:cxnSp>
        <p:nvCxnSpPr>
          <p:cNvPr id="19" name="Straight Connector 18">
            <a:extLst>
              <a:ext uri="{FF2B5EF4-FFF2-40B4-BE49-F238E27FC236}">
                <a16:creationId xmlns:a16="http://schemas.microsoft.com/office/drawing/2014/main" id="{30629CA2-FCEB-ED7C-AFD0-681290BBD01A}"/>
              </a:ext>
            </a:extLst>
          </p:cNvPr>
          <p:cNvCxnSpPr>
            <a:cxnSpLocks/>
          </p:cNvCxnSpPr>
          <p:nvPr/>
        </p:nvCxnSpPr>
        <p:spPr>
          <a:xfrm flipH="1">
            <a:off x="3043475" y="3457434"/>
            <a:ext cx="664169" cy="78868"/>
          </a:xfrm>
          <a:prstGeom prst="line">
            <a:avLst/>
          </a:prstGeom>
          <a:ln w="38100">
            <a:solidFill>
              <a:srgbClr val="309070"/>
            </a:solidFill>
          </a:ln>
        </p:spPr>
        <p:style>
          <a:lnRef idx="3">
            <a:schemeClr val="accent5"/>
          </a:lnRef>
          <a:fillRef idx="0">
            <a:schemeClr val="accent5"/>
          </a:fillRef>
          <a:effectRef idx="2">
            <a:schemeClr val="accent5"/>
          </a:effectRef>
          <a:fontRef idx="minor">
            <a:schemeClr val="tx1"/>
          </a:fontRef>
        </p:style>
      </p:cxnSp>
      <p:cxnSp>
        <p:nvCxnSpPr>
          <p:cNvPr id="23" name="Straight Connector 22">
            <a:extLst>
              <a:ext uri="{FF2B5EF4-FFF2-40B4-BE49-F238E27FC236}">
                <a16:creationId xmlns:a16="http://schemas.microsoft.com/office/drawing/2014/main" id="{4F31741F-6C34-AEDD-A560-EE1F4F2432A3}"/>
              </a:ext>
            </a:extLst>
          </p:cNvPr>
          <p:cNvCxnSpPr>
            <a:cxnSpLocks/>
          </p:cNvCxnSpPr>
          <p:nvPr/>
        </p:nvCxnSpPr>
        <p:spPr>
          <a:xfrm flipH="1">
            <a:off x="2379306" y="4906371"/>
            <a:ext cx="1328338" cy="225466"/>
          </a:xfrm>
          <a:prstGeom prst="line">
            <a:avLst/>
          </a:prstGeom>
          <a:ln w="38100">
            <a:solidFill>
              <a:srgbClr val="309070"/>
            </a:solidFill>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9911865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0D3BB-5A45-AEF2-CB16-DFB0B64DCEBC}"/>
              </a:ext>
            </a:extLst>
          </p:cNvPr>
          <p:cNvSpPr>
            <a:spLocks noGrp="1"/>
          </p:cNvSpPr>
          <p:nvPr>
            <p:ph type="title"/>
          </p:nvPr>
        </p:nvSpPr>
        <p:spPr/>
        <p:txBody>
          <a:bodyPr/>
          <a:lstStyle/>
          <a:p>
            <a:r>
              <a:rPr lang="en-GB" b="1" dirty="0"/>
              <a:t>Swagger</a:t>
            </a:r>
            <a:r>
              <a:rPr lang="uk-UA" b="1" dirty="0"/>
              <a:t> - </a:t>
            </a:r>
            <a:r>
              <a:rPr lang="en-GB" b="1" dirty="0"/>
              <a:t>Get All</a:t>
            </a:r>
            <a:r>
              <a:rPr lang="uk-UA" b="1" dirty="0"/>
              <a:t> </a:t>
            </a:r>
            <a:r>
              <a:rPr lang="en-GB" b="1" dirty="0"/>
              <a:t>Projects</a:t>
            </a:r>
          </a:p>
        </p:txBody>
      </p:sp>
      <p:sp>
        <p:nvSpPr>
          <p:cNvPr id="12" name="TextBox 11">
            <a:extLst>
              <a:ext uri="{FF2B5EF4-FFF2-40B4-BE49-F238E27FC236}">
                <a16:creationId xmlns:a16="http://schemas.microsoft.com/office/drawing/2014/main" id="{BEA012DB-D49D-AE57-EE9B-A521EF25B272}"/>
              </a:ext>
            </a:extLst>
          </p:cNvPr>
          <p:cNvSpPr txBox="1"/>
          <p:nvPr/>
        </p:nvSpPr>
        <p:spPr>
          <a:xfrm>
            <a:off x="228134" y="3167090"/>
            <a:ext cx="2355067" cy="2554545"/>
          </a:xfrm>
          <a:prstGeom prst="rect">
            <a:avLst/>
          </a:prstGeom>
          <a:noFill/>
        </p:spPr>
        <p:txBody>
          <a:bodyPr wrap="square">
            <a:spAutoFit/>
          </a:bodyPr>
          <a:lstStyle/>
          <a:p>
            <a:r>
              <a:rPr lang="en-US" sz="2000" b="1" dirty="0"/>
              <a:t>Response</a:t>
            </a:r>
            <a:r>
              <a:rPr lang="en-US" sz="2000" dirty="0"/>
              <a:t> — documentation in the body section about what we expect in the response in the form of objects with status</a:t>
            </a:r>
            <a:endParaRPr lang="en-GB" sz="2000" dirty="0"/>
          </a:p>
        </p:txBody>
      </p:sp>
      <p:pic>
        <p:nvPicPr>
          <p:cNvPr id="10" name="Picture 9">
            <a:extLst>
              <a:ext uri="{FF2B5EF4-FFF2-40B4-BE49-F238E27FC236}">
                <a16:creationId xmlns:a16="http://schemas.microsoft.com/office/drawing/2014/main" id="{F6170CF1-A8D5-9BA5-72B1-A6F3BACB261E}"/>
              </a:ext>
            </a:extLst>
          </p:cNvPr>
          <p:cNvPicPr>
            <a:picLocks noChangeAspect="1"/>
          </p:cNvPicPr>
          <p:nvPr/>
        </p:nvPicPr>
        <p:blipFill>
          <a:blip r:embed="rId2"/>
          <a:stretch>
            <a:fillRect/>
          </a:stretch>
        </p:blipFill>
        <p:spPr>
          <a:xfrm>
            <a:off x="2720329" y="2276310"/>
            <a:ext cx="8862071" cy="3884743"/>
          </a:xfrm>
          <a:prstGeom prst="rect">
            <a:avLst/>
          </a:prstGeom>
        </p:spPr>
      </p:pic>
      <p:sp>
        <p:nvSpPr>
          <p:cNvPr id="11" name="Frame 10">
            <a:extLst>
              <a:ext uri="{FF2B5EF4-FFF2-40B4-BE49-F238E27FC236}">
                <a16:creationId xmlns:a16="http://schemas.microsoft.com/office/drawing/2014/main" id="{F273DADF-4FAD-4F7F-A2DF-C1FBD327396A}"/>
              </a:ext>
            </a:extLst>
          </p:cNvPr>
          <p:cNvSpPr/>
          <p:nvPr/>
        </p:nvSpPr>
        <p:spPr>
          <a:xfrm>
            <a:off x="2994584" y="3655218"/>
            <a:ext cx="8310312" cy="2449553"/>
          </a:xfrm>
          <a:prstGeom prst="frame">
            <a:avLst>
              <a:gd name="adj1" fmla="val 1571"/>
            </a:avLst>
          </a:prstGeom>
          <a:solidFill>
            <a:srgbClr val="309070"/>
          </a:solidFill>
          <a:ln>
            <a:solidFill>
              <a:srgbClr val="3090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13" name="Straight Connector 12">
            <a:extLst>
              <a:ext uri="{FF2B5EF4-FFF2-40B4-BE49-F238E27FC236}">
                <a16:creationId xmlns:a16="http://schemas.microsoft.com/office/drawing/2014/main" id="{34DE1783-270A-A839-7C34-56D5CD407B83}"/>
              </a:ext>
            </a:extLst>
          </p:cNvPr>
          <p:cNvCxnSpPr>
            <a:cxnSpLocks/>
          </p:cNvCxnSpPr>
          <p:nvPr/>
        </p:nvCxnSpPr>
        <p:spPr>
          <a:xfrm flipH="1">
            <a:off x="2383809" y="3782705"/>
            <a:ext cx="610775" cy="0"/>
          </a:xfrm>
          <a:prstGeom prst="line">
            <a:avLst/>
          </a:prstGeom>
          <a:ln w="38100">
            <a:solidFill>
              <a:srgbClr val="309070"/>
            </a:solidFill>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96499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2EA0C-0667-BCAD-1F24-74CFD4E856DA}"/>
              </a:ext>
            </a:extLst>
          </p:cNvPr>
          <p:cNvSpPr>
            <a:spLocks noGrp="1"/>
          </p:cNvSpPr>
          <p:nvPr>
            <p:ph type="title"/>
          </p:nvPr>
        </p:nvSpPr>
        <p:spPr/>
        <p:txBody>
          <a:bodyPr/>
          <a:lstStyle/>
          <a:p>
            <a:r>
              <a:rPr lang="en-GB" b="1" dirty="0"/>
              <a:t>Swagger</a:t>
            </a:r>
            <a:r>
              <a:rPr lang="uk-UA" b="1" dirty="0"/>
              <a:t> - </a:t>
            </a:r>
            <a:r>
              <a:rPr lang="en-GB" b="1" dirty="0"/>
              <a:t>Get All</a:t>
            </a:r>
            <a:r>
              <a:rPr lang="uk-UA" b="1" dirty="0"/>
              <a:t> </a:t>
            </a:r>
            <a:r>
              <a:rPr lang="en-GB" b="1" dirty="0"/>
              <a:t>Projects</a:t>
            </a:r>
            <a:endParaRPr lang="en-GB" dirty="0"/>
          </a:p>
        </p:txBody>
      </p:sp>
      <p:pic>
        <p:nvPicPr>
          <p:cNvPr id="7" name="Picture 6">
            <a:extLst>
              <a:ext uri="{FF2B5EF4-FFF2-40B4-BE49-F238E27FC236}">
                <a16:creationId xmlns:a16="http://schemas.microsoft.com/office/drawing/2014/main" id="{1A315AAB-3338-2565-67E5-0B1B949BB7D6}"/>
              </a:ext>
            </a:extLst>
          </p:cNvPr>
          <p:cNvPicPr>
            <a:picLocks noChangeAspect="1"/>
          </p:cNvPicPr>
          <p:nvPr/>
        </p:nvPicPr>
        <p:blipFill>
          <a:blip r:embed="rId2"/>
          <a:stretch>
            <a:fillRect/>
          </a:stretch>
        </p:blipFill>
        <p:spPr>
          <a:xfrm>
            <a:off x="3903258" y="2311923"/>
            <a:ext cx="7278806" cy="4146271"/>
          </a:xfrm>
          <a:prstGeom prst="rect">
            <a:avLst/>
          </a:prstGeom>
        </p:spPr>
      </p:pic>
      <p:sp>
        <p:nvSpPr>
          <p:cNvPr id="6" name="TextBox 5">
            <a:extLst>
              <a:ext uri="{FF2B5EF4-FFF2-40B4-BE49-F238E27FC236}">
                <a16:creationId xmlns:a16="http://schemas.microsoft.com/office/drawing/2014/main" id="{35E90D1F-E69A-C296-A3F0-9E94969D91E4}"/>
              </a:ext>
            </a:extLst>
          </p:cNvPr>
          <p:cNvSpPr txBox="1"/>
          <p:nvPr/>
        </p:nvSpPr>
        <p:spPr>
          <a:xfrm>
            <a:off x="406967" y="3913950"/>
            <a:ext cx="2823520" cy="1323439"/>
          </a:xfrm>
          <a:prstGeom prst="rect">
            <a:avLst/>
          </a:prstGeom>
          <a:noFill/>
        </p:spPr>
        <p:txBody>
          <a:bodyPr wrap="square">
            <a:spAutoFit/>
          </a:bodyPr>
          <a:lstStyle/>
          <a:p>
            <a:r>
              <a:rPr lang="uk-UA" sz="2000" b="1" dirty="0"/>
              <a:t>Відповідь </a:t>
            </a:r>
            <a:r>
              <a:rPr lang="pl-PL" sz="2000" b="1" dirty="0"/>
              <a:t>body</a:t>
            </a:r>
            <a:r>
              <a:rPr lang="uk-UA" sz="2000" b="1" dirty="0"/>
              <a:t> з сервера</a:t>
            </a:r>
            <a:r>
              <a:rPr lang="uk-UA" sz="2000" dirty="0"/>
              <a:t> – список проєктів в форматі </a:t>
            </a:r>
            <a:r>
              <a:rPr lang="en-GB" sz="2000" dirty="0"/>
              <a:t>JSON</a:t>
            </a:r>
          </a:p>
        </p:txBody>
      </p:sp>
      <p:sp>
        <p:nvSpPr>
          <p:cNvPr id="11" name="TextBox 10">
            <a:extLst>
              <a:ext uri="{FF2B5EF4-FFF2-40B4-BE49-F238E27FC236}">
                <a16:creationId xmlns:a16="http://schemas.microsoft.com/office/drawing/2014/main" id="{1854CE0E-FA8D-552F-2A4E-A466DEBC3683}"/>
              </a:ext>
            </a:extLst>
          </p:cNvPr>
          <p:cNvSpPr txBox="1"/>
          <p:nvPr/>
        </p:nvSpPr>
        <p:spPr>
          <a:xfrm>
            <a:off x="406967" y="3188358"/>
            <a:ext cx="2509105" cy="400110"/>
          </a:xfrm>
          <a:prstGeom prst="rect">
            <a:avLst/>
          </a:prstGeom>
          <a:noFill/>
        </p:spPr>
        <p:txBody>
          <a:bodyPr wrap="square">
            <a:spAutoFit/>
          </a:bodyPr>
          <a:lstStyle/>
          <a:p>
            <a:r>
              <a:rPr lang="uk-UA" sz="2000" b="1" dirty="0"/>
              <a:t>Запит на ендпоінт</a:t>
            </a:r>
            <a:endParaRPr lang="en-GB" sz="2000" b="1" dirty="0"/>
          </a:p>
        </p:txBody>
      </p:sp>
      <p:cxnSp>
        <p:nvCxnSpPr>
          <p:cNvPr id="3" name="Straight Connector 2">
            <a:extLst>
              <a:ext uri="{FF2B5EF4-FFF2-40B4-BE49-F238E27FC236}">
                <a16:creationId xmlns:a16="http://schemas.microsoft.com/office/drawing/2014/main" id="{94AE3BF8-DD51-CCE0-1304-88ADC018E729}"/>
              </a:ext>
            </a:extLst>
          </p:cNvPr>
          <p:cNvCxnSpPr>
            <a:cxnSpLocks/>
          </p:cNvCxnSpPr>
          <p:nvPr/>
        </p:nvCxnSpPr>
        <p:spPr>
          <a:xfrm flipH="1">
            <a:off x="2916072" y="3388413"/>
            <a:ext cx="1038404" cy="0"/>
          </a:xfrm>
          <a:prstGeom prst="line">
            <a:avLst/>
          </a:prstGeom>
          <a:ln w="38100">
            <a:solidFill>
              <a:srgbClr val="309070"/>
            </a:solidFill>
          </a:ln>
        </p:spPr>
        <p:style>
          <a:lnRef idx="3">
            <a:schemeClr val="accent5"/>
          </a:lnRef>
          <a:fillRef idx="0">
            <a:schemeClr val="accent5"/>
          </a:fillRef>
          <a:effectRef idx="2">
            <a:schemeClr val="accent5"/>
          </a:effectRef>
          <a:fontRef idx="minor">
            <a:schemeClr val="tx1"/>
          </a:fontRef>
        </p:style>
      </p:cxnSp>
      <p:cxnSp>
        <p:nvCxnSpPr>
          <p:cNvPr id="8" name="Straight Connector 7">
            <a:extLst>
              <a:ext uri="{FF2B5EF4-FFF2-40B4-BE49-F238E27FC236}">
                <a16:creationId xmlns:a16="http://schemas.microsoft.com/office/drawing/2014/main" id="{FFB040AE-9BCA-080B-6536-F4095FA660BC}"/>
              </a:ext>
            </a:extLst>
          </p:cNvPr>
          <p:cNvCxnSpPr>
            <a:cxnSpLocks/>
          </p:cNvCxnSpPr>
          <p:nvPr/>
        </p:nvCxnSpPr>
        <p:spPr>
          <a:xfrm flipH="1">
            <a:off x="2916072" y="4142907"/>
            <a:ext cx="1136213" cy="0"/>
          </a:xfrm>
          <a:prstGeom prst="line">
            <a:avLst/>
          </a:prstGeom>
          <a:ln w="38100">
            <a:solidFill>
              <a:srgbClr val="309070"/>
            </a:solidFill>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9111938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BF8D1-9753-9A00-12C6-5CB127D14B2A}"/>
              </a:ext>
            </a:extLst>
          </p:cNvPr>
          <p:cNvSpPr>
            <a:spLocks noGrp="1"/>
          </p:cNvSpPr>
          <p:nvPr>
            <p:ph type="title"/>
          </p:nvPr>
        </p:nvSpPr>
        <p:spPr/>
        <p:txBody>
          <a:bodyPr/>
          <a:lstStyle/>
          <a:p>
            <a:r>
              <a:rPr lang="en-GB" b="1" dirty="0"/>
              <a:t>Swagger</a:t>
            </a:r>
            <a:r>
              <a:rPr lang="uk-UA" b="1" dirty="0"/>
              <a:t> - </a:t>
            </a:r>
            <a:r>
              <a:rPr lang="en-GB" b="1" dirty="0"/>
              <a:t>Update</a:t>
            </a:r>
            <a:r>
              <a:rPr lang="uk-UA" b="1" dirty="0"/>
              <a:t> </a:t>
            </a:r>
            <a:r>
              <a:rPr lang="en-GB" b="1" dirty="0"/>
              <a:t>Project</a:t>
            </a:r>
            <a:endParaRPr lang="en-GB" dirty="0"/>
          </a:p>
        </p:txBody>
      </p:sp>
      <p:sp>
        <p:nvSpPr>
          <p:cNvPr id="12" name="TextBox 11">
            <a:extLst>
              <a:ext uri="{FF2B5EF4-FFF2-40B4-BE49-F238E27FC236}">
                <a16:creationId xmlns:a16="http://schemas.microsoft.com/office/drawing/2014/main" id="{8855ECB5-4D0B-5CC5-3DCD-20660FF29757}"/>
              </a:ext>
            </a:extLst>
          </p:cNvPr>
          <p:cNvSpPr txBox="1"/>
          <p:nvPr/>
        </p:nvSpPr>
        <p:spPr>
          <a:xfrm>
            <a:off x="459475" y="2361080"/>
            <a:ext cx="2680965" cy="1631216"/>
          </a:xfrm>
          <a:prstGeom prst="rect">
            <a:avLst/>
          </a:prstGeom>
          <a:noFill/>
        </p:spPr>
        <p:txBody>
          <a:bodyPr wrap="square">
            <a:spAutoFit/>
          </a:bodyPr>
          <a:lstStyle/>
          <a:p>
            <a:r>
              <a:rPr lang="en-US" sz="2000" b="1" dirty="0"/>
              <a:t>Parameters</a:t>
            </a:r>
            <a:r>
              <a:rPr lang="en-US" sz="2000" dirty="0"/>
              <a:t> — which we can pass in the request, specifically in the header, path, and query parts</a:t>
            </a:r>
            <a:endParaRPr lang="en-GB" sz="2000" dirty="0"/>
          </a:p>
        </p:txBody>
      </p:sp>
      <p:sp>
        <p:nvSpPr>
          <p:cNvPr id="13" name="TextBox 12">
            <a:extLst>
              <a:ext uri="{FF2B5EF4-FFF2-40B4-BE49-F238E27FC236}">
                <a16:creationId xmlns:a16="http://schemas.microsoft.com/office/drawing/2014/main" id="{88B5F081-50BD-18AB-AFE0-74BC8338BFE2}"/>
              </a:ext>
            </a:extLst>
          </p:cNvPr>
          <p:cNvSpPr txBox="1"/>
          <p:nvPr/>
        </p:nvSpPr>
        <p:spPr>
          <a:xfrm>
            <a:off x="459475" y="4390029"/>
            <a:ext cx="2874742" cy="1631216"/>
          </a:xfrm>
          <a:prstGeom prst="rect">
            <a:avLst/>
          </a:prstGeom>
          <a:noFill/>
        </p:spPr>
        <p:txBody>
          <a:bodyPr wrap="square">
            <a:spAutoFit/>
          </a:bodyPr>
          <a:lstStyle/>
          <a:p>
            <a:r>
              <a:rPr lang="en-US" sz="2000" b="1" dirty="0"/>
              <a:t>Request body</a:t>
            </a:r>
            <a:r>
              <a:rPr lang="en-US" sz="2000" dirty="0"/>
              <a:t> — here we can specify what exactly we pass in our request in the body part in JSON format</a:t>
            </a:r>
            <a:endParaRPr lang="en-GB" sz="2000" dirty="0"/>
          </a:p>
        </p:txBody>
      </p:sp>
      <p:pic>
        <p:nvPicPr>
          <p:cNvPr id="8" name="Picture 7">
            <a:extLst>
              <a:ext uri="{FF2B5EF4-FFF2-40B4-BE49-F238E27FC236}">
                <a16:creationId xmlns:a16="http://schemas.microsoft.com/office/drawing/2014/main" id="{F0299B2A-E8A9-C935-73AB-9D56E2FBC105}"/>
              </a:ext>
            </a:extLst>
          </p:cNvPr>
          <p:cNvPicPr>
            <a:picLocks noChangeAspect="1"/>
          </p:cNvPicPr>
          <p:nvPr/>
        </p:nvPicPr>
        <p:blipFill>
          <a:blip r:embed="rId2"/>
          <a:stretch>
            <a:fillRect/>
          </a:stretch>
        </p:blipFill>
        <p:spPr>
          <a:xfrm>
            <a:off x="4121623" y="2361080"/>
            <a:ext cx="6720576" cy="3743692"/>
          </a:xfrm>
          <a:prstGeom prst="rect">
            <a:avLst/>
          </a:prstGeom>
        </p:spPr>
      </p:pic>
      <p:sp>
        <p:nvSpPr>
          <p:cNvPr id="10" name="Frame 9">
            <a:extLst>
              <a:ext uri="{FF2B5EF4-FFF2-40B4-BE49-F238E27FC236}">
                <a16:creationId xmlns:a16="http://schemas.microsoft.com/office/drawing/2014/main" id="{90EAAA27-4B59-062B-5C36-73F45CA77767}"/>
              </a:ext>
            </a:extLst>
          </p:cNvPr>
          <p:cNvSpPr/>
          <p:nvPr/>
        </p:nvSpPr>
        <p:spPr>
          <a:xfrm>
            <a:off x="4423050" y="2563398"/>
            <a:ext cx="6176711" cy="865602"/>
          </a:xfrm>
          <a:prstGeom prst="frame">
            <a:avLst>
              <a:gd name="adj1" fmla="val 1571"/>
            </a:avLst>
          </a:prstGeom>
          <a:solidFill>
            <a:srgbClr val="309070"/>
          </a:solidFill>
          <a:ln w="28575">
            <a:solidFill>
              <a:srgbClr val="3090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Frame 10">
            <a:extLst>
              <a:ext uri="{FF2B5EF4-FFF2-40B4-BE49-F238E27FC236}">
                <a16:creationId xmlns:a16="http://schemas.microsoft.com/office/drawing/2014/main" id="{74B81434-90CA-CC7E-AAF9-26D5C22D38CB}"/>
              </a:ext>
            </a:extLst>
          </p:cNvPr>
          <p:cNvSpPr/>
          <p:nvPr/>
        </p:nvSpPr>
        <p:spPr>
          <a:xfrm>
            <a:off x="4423049" y="3468482"/>
            <a:ext cx="6176711" cy="921547"/>
          </a:xfrm>
          <a:prstGeom prst="frame">
            <a:avLst>
              <a:gd name="adj1" fmla="val 1571"/>
            </a:avLst>
          </a:prstGeom>
          <a:solidFill>
            <a:srgbClr val="309070"/>
          </a:solidFill>
          <a:ln w="28575">
            <a:solidFill>
              <a:srgbClr val="3090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14" name="Straight Connector 13">
            <a:extLst>
              <a:ext uri="{FF2B5EF4-FFF2-40B4-BE49-F238E27FC236}">
                <a16:creationId xmlns:a16="http://schemas.microsoft.com/office/drawing/2014/main" id="{E0C43A08-A387-F7F9-9454-E2F25ECC0CA0}"/>
              </a:ext>
            </a:extLst>
          </p:cNvPr>
          <p:cNvCxnSpPr>
            <a:cxnSpLocks/>
          </p:cNvCxnSpPr>
          <p:nvPr/>
        </p:nvCxnSpPr>
        <p:spPr>
          <a:xfrm flipH="1">
            <a:off x="3380096" y="2610490"/>
            <a:ext cx="1038404" cy="0"/>
          </a:xfrm>
          <a:prstGeom prst="line">
            <a:avLst/>
          </a:prstGeom>
          <a:ln w="38100">
            <a:solidFill>
              <a:srgbClr val="309070"/>
            </a:solidFill>
          </a:ln>
        </p:spPr>
        <p:style>
          <a:lnRef idx="3">
            <a:schemeClr val="accent5"/>
          </a:lnRef>
          <a:fillRef idx="0">
            <a:schemeClr val="accent5"/>
          </a:fillRef>
          <a:effectRef idx="2">
            <a:schemeClr val="accent5"/>
          </a:effectRef>
          <a:fontRef idx="minor">
            <a:schemeClr val="tx1"/>
          </a:fontRef>
        </p:style>
      </p:cxnSp>
      <p:cxnSp>
        <p:nvCxnSpPr>
          <p:cNvPr id="15" name="Straight Connector 14">
            <a:extLst>
              <a:ext uri="{FF2B5EF4-FFF2-40B4-BE49-F238E27FC236}">
                <a16:creationId xmlns:a16="http://schemas.microsoft.com/office/drawing/2014/main" id="{D4F0FAA6-52FF-B189-B063-13E2F31546AE}"/>
              </a:ext>
            </a:extLst>
          </p:cNvPr>
          <p:cNvCxnSpPr>
            <a:cxnSpLocks/>
          </p:cNvCxnSpPr>
          <p:nvPr/>
        </p:nvCxnSpPr>
        <p:spPr>
          <a:xfrm flipH="1">
            <a:off x="3135360" y="3677920"/>
            <a:ext cx="1307100" cy="903179"/>
          </a:xfrm>
          <a:prstGeom prst="line">
            <a:avLst/>
          </a:prstGeom>
          <a:ln w="38100">
            <a:solidFill>
              <a:srgbClr val="309070"/>
            </a:solidFill>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9690333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F5E58-7568-F6B5-2536-C4DC4A62DC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41CFC-343A-E4B2-D8AA-B20824E57054}"/>
              </a:ext>
            </a:extLst>
          </p:cNvPr>
          <p:cNvSpPr>
            <a:spLocks noGrp="1"/>
          </p:cNvSpPr>
          <p:nvPr>
            <p:ph type="title"/>
          </p:nvPr>
        </p:nvSpPr>
        <p:spPr/>
        <p:txBody>
          <a:bodyPr/>
          <a:lstStyle/>
          <a:p>
            <a:r>
              <a:rPr lang="en-US" b="1" dirty="0"/>
              <a:t>Contents</a:t>
            </a:r>
            <a:endParaRPr lang="en-US" dirty="0"/>
          </a:p>
        </p:txBody>
      </p:sp>
      <p:sp>
        <p:nvSpPr>
          <p:cNvPr id="3" name="Content Placeholder 2">
            <a:extLst>
              <a:ext uri="{FF2B5EF4-FFF2-40B4-BE49-F238E27FC236}">
                <a16:creationId xmlns:a16="http://schemas.microsoft.com/office/drawing/2014/main" id="{30F87EDB-658E-C5AA-2F2C-E151FCAC7399}"/>
              </a:ext>
            </a:extLst>
          </p:cNvPr>
          <p:cNvSpPr>
            <a:spLocks noGrp="1"/>
          </p:cNvSpPr>
          <p:nvPr>
            <p:ph idx="1"/>
          </p:nvPr>
        </p:nvSpPr>
        <p:spPr/>
        <p:txBody>
          <a:bodyPr>
            <a:normAutofit/>
          </a:bodyPr>
          <a:lstStyle/>
          <a:p>
            <a:r>
              <a:rPr lang="en-US" b="1" dirty="0"/>
              <a:t>Backend</a:t>
            </a:r>
            <a:endParaRPr lang="pl-PL" dirty="0"/>
          </a:p>
          <a:p>
            <a:pPr lvl="1">
              <a:lnSpc>
                <a:spcPct val="110000"/>
              </a:lnSpc>
            </a:pPr>
            <a:r>
              <a:rPr lang="en-US" b="1" dirty="0"/>
              <a:t>Design:</a:t>
            </a:r>
            <a:r>
              <a:rPr lang="en-US" dirty="0"/>
              <a:t> Class Diagram UML / ERD</a:t>
            </a:r>
            <a:endParaRPr lang="pl-PL" dirty="0"/>
          </a:p>
          <a:p>
            <a:pPr lvl="1">
              <a:lnSpc>
                <a:spcPct val="110000"/>
              </a:lnSpc>
            </a:pPr>
            <a:r>
              <a:rPr lang="en-US" dirty="0"/>
              <a:t>Endpoint</a:t>
            </a:r>
          </a:p>
          <a:p>
            <a:pPr lvl="1">
              <a:lnSpc>
                <a:spcPct val="110000"/>
              </a:lnSpc>
            </a:pPr>
            <a:r>
              <a:rPr lang="en-US" dirty="0"/>
              <a:t>Pattern DTO</a:t>
            </a:r>
          </a:p>
          <a:p>
            <a:pPr lvl="1">
              <a:lnSpc>
                <a:spcPct val="110000"/>
              </a:lnSpc>
            </a:pPr>
            <a:r>
              <a:rPr lang="en-US" dirty="0"/>
              <a:t>ORM (EF) / Procedure</a:t>
            </a:r>
          </a:p>
          <a:p>
            <a:pPr lvl="1">
              <a:lnSpc>
                <a:spcPct val="110000"/>
              </a:lnSpc>
            </a:pPr>
            <a:r>
              <a:rPr lang="en-US" dirty="0"/>
              <a:t>Middleware</a:t>
            </a:r>
            <a:endParaRPr lang="en-US" b="1" dirty="0"/>
          </a:p>
          <a:p>
            <a:pPr lvl="1">
              <a:lnSpc>
                <a:spcPct val="100000"/>
              </a:lnSpc>
            </a:pPr>
            <a:r>
              <a:rPr lang="en-US" b="1" dirty="0"/>
              <a:t>Lifecycle</a:t>
            </a:r>
            <a:r>
              <a:rPr lang="en-US" dirty="0"/>
              <a:t> of req/resp HTTP (Get, Post, Put, Delete)</a:t>
            </a:r>
            <a:endParaRPr lang="uk-UA" dirty="0"/>
          </a:p>
          <a:p>
            <a:pPr lvl="1"/>
            <a:endParaRPr lang="uk-UA" dirty="0"/>
          </a:p>
          <a:p>
            <a:pPr lvl="1"/>
            <a:endParaRPr lang="uk-UA" dirty="0"/>
          </a:p>
          <a:p>
            <a:pPr lvl="1"/>
            <a:endParaRPr lang="en-US" b="1" dirty="0"/>
          </a:p>
          <a:p>
            <a:pPr lvl="1"/>
            <a:endParaRPr lang="en-US" b="1"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41352472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DC06E-6389-CCF4-A06B-244716AC862F}"/>
              </a:ext>
            </a:extLst>
          </p:cNvPr>
          <p:cNvSpPr>
            <a:spLocks noGrp="1"/>
          </p:cNvSpPr>
          <p:nvPr>
            <p:ph type="title"/>
          </p:nvPr>
        </p:nvSpPr>
        <p:spPr/>
        <p:txBody>
          <a:bodyPr/>
          <a:lstStyle/>
          <a:p>
            <a:r>
              <a:rPr lang="en-US" b="1" dirty="0"/>
              <a:t>Design: Class Diagram in UML</a:t>
            </a:r>
            <a:endParaRPr lang="en-GB" b="1" dirty="0"/>
          </a:p>
        </p:txBody>
      </p:sp>
      <p:pic>
        <p:nvPicPr>
          <p:cNvPr id="5" name="Content Placeholder 4">
            <a:extLst>
              <a:ext uri="{FF2B5EF4-FFF2-40B4-BE49-F238E27FC236}">
                <a16:creationId xmlns:a16="http://schemas.microsoft.com/office/drawing/2014/main" id="{5BBFF5A1-DB3F-90AD-BA08-F07AD1E6AB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26424" y="2882099"/>
            <a:ext cx="6870320" cy="3054567"/>
          </a:xfrm>
        </p:spPr>
      </p:pic>
      <p:sp>
        <p:nvSpPr>
          <p:cNvPr id="4" name="TextBox 3">
            <a:extLst>
              <a:ext uri="{FF2B5EF4-FFF2-40B4-BE49-F238E27FC236}">
                <a16:creationId xmlns:a16="http://schemas.microsoft.com/office/drawing/2014/main" id="{103CB3AA-7DEA-F313-4358-8904763B2928}"/>
              </a:ext>
            </a:extLst>
          </p:cNvPr>
          <p:cNvSpPr txBox="1"/>
          <p:nvPr/>
        </p:nvSpPr>
        <p:spPr>
          <a:xfrm>
            <a:off x="365741" y="2824332"/>
            <a:ext cx="3877803" cy="3477875"/>
          </a:xfrm>
          <a:prstGeom prst="rect">
            <a:avLst/>
          </a:prstGeom>
          <a:noFill/>
        </p:spPr>
        <p:txBody>
          <a:bodyPr wrap="square">
            <a:spAutoFit/>
          </a:bodyPr>
          <a:lstStyle/>
          <a:p>
            <a:r>
              <a:rPr lang="en-US" sz="2000" b="1" dirty="0"/>
              <a:t>Class Diagram (UML)</a:t>
            </a:r>
            <a:r>
              <a:rPr lang="en-US" sz="2000" dirty="0"/>
              <a:t> is a static representation of the system's structure: it shows classes with their attributes and methods, and the relationships between them (associations, compositions, inheritance). It helps to quickly understand which entities exist in the domain and how they interact with each other.</a:t>
            </a:r>
            <a:endParaRPr lang="en-GB" sz="2000" dirty="0"/>
          </a:p>
        </p:txBody>
      </p:sp>
    </p:spTree>
    <p:extLst>
      <p:ext uri="{BB962C8B-B14F-4D97-AF65-F5344CB8AC3E}">
        <p14:creationId xmlns:p14="http://schemas.microsoft.com/office/powerpoint/2010/main" val="12387380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931C7-FA91-AD69-838E-E77CDCBF7E2B}"/>
              </a:ext>
            </a:extLst>
          </p:cNvPr>
          <p:cNvSpPr>
            <a:spLocks noGrp="1"/>
          </p:cNvSpPr>
          <p:nvPr>
            <p:ph type="title"/>
          </p:nvPr>
        </p:nvSpPr>
        <p:spPr/>
        <p:txBody>
          <a:bodyPr/>
          <a:lstStyle/>
          <a:p>
            <a:r>
              <a:rPr lang="en-US" b="1" dirty="0"/>
              <a:t>Design: Entity-Relationship Diagram</a:t>
            </a:r>
            <a:endParaRPr lang="en-GB" b="1" dirty="0"/>
          </a:p>
        </p:txBody>
      </p:sp>
      <p:pic>
        <p:nvPicPr>
          <p:cNvPr id="5" name="Content Placeholder 4">
            <a:extLst>
              <a:ext uri="{FF2B5EF4-FFF2-40B4-BE49-F238E27FC236}">
                <a16:creationId xmlns:a16="http://schemas.microsoft.com/office/drawing/2014/main" id="{7F374A00-7F15-DA05-72A9-D6BDE9C052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53927" y="2154712"/>
            <a:ext cx="4631594" cy="4351338"/>
          </a:xfrm>
        </p:spPr>
      </p:pic>
      <p:sp>
        <p:nvSpPr>
          <p:cNvPr id="4" name="TextBox 3">
            <a:extLst>
              <a:ext uri="{FF2B5EF4-FFF2-40B4-BE49-F238E27FC236}">
                <a16:creationId xmlns:a16="http://schemas.microsoft.com/office/drawing/2014/main" id="{3E8C77CD-87B9-F174-0321-8B3074DEBB52}"/>
              </a:ext>
            </a:extLst>
          </p:cNvPr>
          <p:cNvSpPr txBox="1"/>
          <p:nvPr/>
        </p:nvSpPr>
        <p:spPr>
          <a:xfrm>
            <a:off x="244940" y="2824946"/>
            <a:ext cx="5908987" cy="2308324"/>
          </a:xfrm>
          <a:prstGeom prst="rect">
            <a:avLst/>
          </a:prstGeom>
          <a:noFill/>
        </p:spPr>
        <p:txBody>
          <a:bodyPr wrap="square">
            <a:spAutoFit/>
          </a:bodyPr>
          <a:lstStyle/>
          <a:p>
            <a:pPr marL="285750" indent="-285750">
              <a:buFont typeface="Arial" panose="020B0604020202020204" pitchFamily="34" charset="0"/>
              <a:buChar char="•"/>
            </a:pPr>
            <a:r>
              <a:rPr lang="en-US" sz="2000" b="1" dirty="0"/>
              <a:t>Entity-Relationship Diagram (ERD)</a:t>
            </a:r>
            <a:r>
              <a:rPr lang="en-US" sz="2000" dirty="0"/>
              <a:t> is a graphical representation of the logical data model: it shows entity tables, their attributes, and relationships (1 : 1, 1 : N, M : N).</a:t>
            </a:r>
            <a:endParaRPr lang="pl-PL" sz="2000" dirty="0"/>
          </a:p>
          <a:p>
            <a:pPr marL="285750" indent="-285750">
              <a:buFont typeface="Arial" panose="020B0604020202020204" pitchFamily="34" charset="0"/>
              <a:buChar char="•"/>
            </a:pPr>
            <a:endParaRPr lang="uk-UA" sz="2400" dirty="0"/>
          </a:p>
          <a:p>
            <a:r>
              <a:rPr lang="en-US" sz="2000" dirty="0"/>
              <a:t>Allows you to quickly assess the database structure and verify data integrity.</a:t>
            </a:r>
          </a:p>
        </p:txBody>
      </p:sp>
    </p:spTree>
    <p:extLst>
      <p:ext uri="{BB962C8B-B14F-4D97-AF65-F5344CB8AC3E}">
        <p14:creationId xmlns:p14="http://schemas.microsoft.com/office/powerpoint/2010/main" val="28105468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7BCA3-F563-6856-B439-2D9B9D97FA6A}"/>
              </a:ext>
            </a:extLst>
          </p:cNvPr>
          <p:cNvSpPr>
            <a:spLocks noGrp="1"/>
          </p:cNvSpPr>
          <p:nvPr>
            <p:ph type="title"/>
          </p:nvPr>
        </p:nvSpPr>
        <p:spPr/>
        <p:txBody>
          <a:bodyPr/>
          <a:lstStyle/>
          <a:p>
            <a:r>
              <a:rPr lang="en-GB" b="1" dirty="0"/>
              <a:t>Endpoint</a:t>
            </a:r>
          </a:p>
        </p:txBody>
      </p:sp>
      <p:sp>
        <p:nvSpPr>
          <p:cNvPr id="3" name="Content Placeholder 2">
            <a:extLst>
              <a:ext uri="{FF2B5EF4-FFF2-40B4-BE49-F238E27FC236}">
                <a16:creationId xmlns:a16="http://schemas.microsoft.com/office/drawing/2014/main" id="{16D02331-5F60-BB59-480D-75E898B2B71C}"/>
              </a:ext>
            </a:extLst>
          </p:cNvPr>
          <p:cNvSpPr>
            <a:spLocks noGrp="1"/>
          </p:cNvSpPr>
          <p:nvPr>
            <p:ph idx="1"/>
          </p:nvPr>
        </p:nvSpPr>
        <p:spPr>
          <a:xfrm>
            <a:off x="501553" y="3163106"/>
            <a:ext cx="4425287" cy="2248854"/>
          </a:xfrm>
        </p:spPr>
        <p:txBody>
          <a:bodyPr>
            <a:normAutofit/>
          </a:bodyPr>
          <a:lstStyle/>
          <a:p>
            <a:pPr>
              <a:lnSpc>
                <a:spcPct val="100000"/>
              </a:lnSpc>
            </a:pPr>
            <a:r>
              <a:rPr lang="en-US" sz="2000" b="1" dirty="0" err="1"/>
              <a:t>ndpoint</a:t>
            </a:r>
            <a:r>
              <a:rPr lang="en-US" sz="2000" dirty="0"/>
              <a:t> — the interaction between two sides: the client and the server. In other words, it is a specific URL path where you can send requests and receive responses.</a:t>
            </a:r>
            <a:endParaRPr lang="en-GB" sz="2000" dirty="0"/>
          </a:p>
        </p:txBody>
      </p:sp>
      <p:sp>
        <p:nvSpPr>
          <p:cNvPr id="5" name="TextBox 4">
            <a:extLst>
              <a:ext uri="{FF2B5EF4-FFF2-40B4-BE49-F238E27FC236}">
                <a16:creationId xmlns:a16="http://schemas.microsoft.com/office/drawing/2014/main" id="{96F17868-D815-9F15-75E3-DD985841AEEE}"/>
              </a:ext>
            </a:extLst>
          </p:cNvPr>
          <p:cNvSpPr txBox="1"/>
          <p:nvPr/>
        </p:nvSpPr>
        <p:spPr>
          <a:xfrm>
            <a:off x="5487251" y="2303297"/>
            <a:ext cx="5578311" cy="461665"/>
          </a:xfrm>
          <a:prstGeom prst="rect">
            <a:avLst/>
          </a:prstGeom>
          <a:noFill/>
        </p:spPr>
        <p:txBody>
          <a:bodyPr wrap="square">
            <a:spAutoFit/>
          </a:bodyPr>
          <a:lstStyle/>
          <a:p>
            <a:r>
              <a:rPr lang="en-US" sz="2400" b="1" dirty="0"/>
              <a:t>Example:</a:t>
            </a:r>
            <a:endParaRPr lang="en-GB" sz="2800" b="1" dirty="0"/>
          </a:p>
        </p:txBody>
      </p:sp>
      <p:pic>
        <p:nvPicPr>
          <p:cNvPr id="8" name="Picture 7">
            <a:extLst>
              <a:ext uri="{FF2B5EF4-FFF2-40B4-BE49-F238E27FC236}">
                <a16:creationId xmlns:a16="http://schemas.microsoft.com/office/drawing/2014/main" id="{5B389C9F-738F-FA63-BB6A-40225E29C1FC}"/>
              </a:ext>
            </a:extLst>
          </p:cNvPr>
          <p:cNvPicPr>
            <a:picLocks noChangeAspect="1"/>
          </p:cNvPicPr>
          <p:nvPr/>
        </p:nvPicPr>
        <p:blipFill>
          <a:blip r:embed="rId2"/>
          <a:stretch>
            <a:fillRect/>
          </a:stretch>
        </p:blipFill>
        <p:spPr>
          <a:xfrm>
            <a:off x="5580668" y="2958791"/>
            <a:ext cx="4039164" cy="752580"/>
          </a:xfrm>
          <a:prstGeom prst="rect">
            <a:avLst/>
          </a:prstGeom>
        </p:spPr>
      </p:pic>
      <p:pic>
        <p:nvPicPr>
          <p:cNvPr id="6" name="Picture 5">
            <a:extLst>
              <a:ext uri="{FF2B5EF4-FFF2-40B4-BE49-F238E27FC236}">
                <a16:creationId xmlns:a16="http://schemas.microsoft.com/office/drawing/2014/main" id="{B6788FD6-2DF4-945F-BAAB-1D7EE63C1A29}"/>
              </a:ext>
            </a:extLst>
          </p:cNvPr>
          <p:cNvPicPr>
            <a:picLocks noChangeAspect="1"/>
          </p:cNvPicPr>
          <p:nvPr/>
        </p:nvPicPr>
        <p:blipFill>
          <a:blip r:embed="rId3">
            <a:extLst>
              <a:ext uri="{28A0092B-C50C-407E-A947-70E740481C1C}">
                <a14:useLocalDpi xmlns:a14="http://schemas.microsoft.com/office/drawing/2010/main" val="0"/>
              </a:ext>
            </a:extLst>
          </a:blip>
          <a:srcRect l="2939" t="5644" r="8067"/>
          <a:stretch>
            <a:fillRect/>
          </a:stretch>
        </p:blipFill>
        <p:spPr>
          <a:xfrm>
            <a:off x="5548823" y="4552151"/>
            <a:ext cx="6353326" cy="1422113"/>
          </a:xfrm>
          <a:prstGeom prst="rect">
            <a:avLst/>
          </a:prstGeom>
        </p:spPr>
      </p:pic>
    </p:spTree>
    <p:extLst>
      <p:ext uri="{BB962C8B-B14F-4D97-AF65-F5344CB8AC3E}">
        <p14:creationId xmlns:p14="http://schemas.microsoft.com/office/powerpoint/2010/main" val="23245266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D2B23-8C54-4FE9-45F3-165B046FBA02}"/>
              </a:ext>
            </a:extLst>
          </p:cNvPr>
          <p:cNvSpPr>
            <a:spLocks noGrp="1"/>
          </p:cNvSpPr>
          <p:nvPr>
            <p:ph type="title"/>
          </p:nvPr>
        </p:nvSpPr>
        <p:spPr/>
        <p:txBody>
          <a:bodyPr/>
          <a:lstStyle/>
          <a:p>
            <a:r>
              <a:rPr lang="en-GB" b="1" dirty="0"/>
              <a:t>Project pattern DTO (Data Transfer Object)</a:t>
            </a:r>
          </a:p>
        </p:txBody>
      </p:sp>
      <p:sp>
        <p:nvSpPr>
          <p:cNvPr id="3" name="Content Placeholder 2">
            <a:extLst>
              <a:ext uri="{FF2B5EF4-FFF2-40B4-BE49-F238E27FC236}">
                <a16:creationId xmlns:a16="http://schemas.microsoft.com/office/drawing/2014/main" id="{6A0A0784-3BE8-4BA3-CBCA-9D671487CEC2}"/>
              </a:ext>
            </a:extLst>
          </p:cNvPr>
          <p:cNvSpPr>
            <a:spLocks noGrp="1"/>
          </p:cNvSpPr>
          <p:nvPr>
            <p:ph idx="1"/>
          </p:nvPr>
        </p:nvSpPr>
        <p:spPr>
          <a:xfrm>
            <a:off x="721413" y="2221410"/>
            <a:ext cx="11077280" cy="4351338"/>
          </a:xfrm>
        </p:spPr>
        <p:txBody>
          <a:bodyPr/>
          <a:lstStyle/>
          <a:p>
            <a:pPr>
              <a:lnSpc>
                <a:spcPct val="100000"/>
              </a:lnSpc>
            </a:pPr>
            <a:r>
              <a:rPr lang="en-US" sz="2000" b="1" dirty="0"/>
              <a:t>DTO or (Data Transfer Object) </a:t>
            </a:r>
            <a:r>
              <a:rPr lang="en-US" sz="2000" dirty="0"/>
              <a:t>is an </a:t>
            </a:r>
            <a:r>
              <a:rPr lang="en-US" sz="2000" b="1" dirty="0"/>
              <a:t>object</a:t>
            </a:r>
            <a:r>
              <a:rPr lang="en-US" sz="2000" dirty="0"/>
              <a:t> used for </a:t>
            </a:r>
            <a:r>
              <a:rPr lang="en-US" sz="2000" b="1" dirty="0"/>
              <a:t>transferring data</a:t>
            </a:r>
            <a:r>
              <a:rPr lang="en-US" sz="2000" dirty="0"/>
              <a:t> between domains (for example, in a client-server architecture).</a:t>
            </a:r>
            <a:endParaRPr lang="uk-UA" dirty="0"/>
          </a:p>
          <a:p>
            <a:endParaRPr lang="uk-UA" dirty="0"/>
          </a:p>
          <a:p>
            <a:pPr marL="0" indent="0">
              <a:buNone/>
            </a:pPr>
            <a:endParaRPr lang="en-GB" dirty="0"/>
          </a:p>
        </p:txBody>
      </p:sp>
      <p:pic>
        <p:nvPicPr>
          <p:cNvPr id="5" name="Picture 4">
            <a:extLst>
              <a:ext uri="{FF2B5EF4-FFF2-40B4-BE49-F238E27FC236}">
                <a16:creationId xmlns:a16="http://schemas.microsoft.com/office/drawing/2014/main" id="{3524702E-7C17-C134-EB7D-F0B495DF0D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5019" y="3229483"/>
            <a:ext cx="6742857" cy="3288889"/>
          </a:xfrm>
          <a:prstGeom prst="rect">
            <a:avLst/>
          </a:prstGeom>
        </p:spPr>
      </p:pic>
    </p:spTree>
    <p:extLst>
      <p:ext uri="{BB962C8B-B14F-4D97-AF65-F5344CB8AC3E}">
        <p14:creationId xmlns:p14="http://schemas.microsoft.com/office/powerpoint/2010/main" val="31576270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6150A-A7E7-BF3F-7153-AB5A71C4A926}"/>
              </a:ext>
            </a:extLst>
          </p:cNvPr>
          <p:cNvSpPr>
            <a:spLocks noGrp="1"/>
          </p:cNvSpPr>
          <p:nvPr>
            <p:ph type="title"/>
          </p:nvPr>
        </p:nvSpPr>
        <p:spPr/>
        <p:txBody>
          <a:bodyPr/>
          <a:lstStyle/>
          <a:p>
            <a:r>
              <a:rPr lang="uk-UA" b="1" dirty="0"/>
              <a:t>Приклад використання </a:t>
            </a:r>
            <a:r>
              <a:rPr lang="en-GB" b="1" dirty="0"/>
              <a:t>DTO</a:t>
            </a:r>
          </a:p>
        </p:txBody>
      </p:sp>
      <p:pic>
        <p:nvPicPr>
          <p:cNvPr id="6" name="Picture 5">
            <a:extLst>
              <a:ext uri="{FF2B5EF4-FFF2-40B4-BE49-F238E27FC236}">
                <a16:creationId xmlns:a16="http://schemas.microsoft.com/office/drawing/2014/main" id="{A4B4CFB2-762E-8070-73A5-A666EC60B9A4}"/>
              </a:ext>
            </a:extLst>
          </p:cNvPr>
          <p:cNvPicPr>
            <a:picLocks noChangeAspect="1"/>
          </p:cNvPicPr>
          <p:nvPr/>
        </p:nvPicPr>
        <p:blipFill>
          <a:blip r:embed="rId2"/>
          <a:srcRect l="13947" t="2535" r="3100" b="13230"/>
          <a:stretch>
            <a:fillRect/>
          </a:stretch>
        </p:blipFill>
        <p:spPr>
          <a:xfrm>
            <a:off x="9039540" y="2890692"/>
            <a:ext cx="2897915" cy="1675761"/>
          </a:xfrm>
          <a:prstGeom prst="rect">
            <a:avLst/>
          </a:prstGeom>
        </p:spPr>
      </p:pic>
      <p:pic>
        <p:nvPicPr>
          <p:cNvPr id="9" name="Picture 8">
            <a:extLst>
              <a:ext uri="{FF2B5EF4-FFF2-40B4-BE49-F238E27FC236}">
                <a16:creationId xmlns:a16="http://schemas.microsoft.com/office/drawing/2014/main" id="{7750CBE2-C2F4-A5FE-2804-E2ECC4339C17}"/>
              </a:ext>
            </a:extLst>
          </p:cNvPr>
          <p:cNvPicPr>
            <a:picLocks noChangeAspect="1"/>
          </p:cNvPicPr>
          <p:nvPr/>
        </p:nvPicPr>
        <p:blipFill>
          <a:blip r:embed="rId3"/>
          <a:srcRect l="12523"/>
          <a:stretch>
            <a:fillRect/>
          </a:stretch>
        </p:blipFill>
        <p:spPr>
          <a:xfrm>
            <a:off x="9039540" y="4814905"/>
            <a:ext cx="2994930" cy="1648674"/>
          </a:xfrm>
          <a:prstGeom prst="rect">
            <a:avLst/>
          </a:prstGeom>
        </p:spPr>
      </p:pic>
      <p:pic>
        <p:nvPicPr>
          <p:cNvPr id="11" name="Picture 10">
            <a:extLst>
              <a:ext uri="{FF2B5EF4-FFF2-40B4-BE49-F238E27FC236}">
                <a16:creationId xmlns:a16="http://schemas.microsoft.com/office/drawing/2014/main" id="{7C885AD5-5845-7E28-3A1A-2D35530FF2E2}"/>
              </a:ext>
            </a:extLst>
          </p:cNvPr>
          <p:cNvPicPr>
            <a:picLocks noChangeAspect="1"/>
          </p:cNvPicPr>
          <p:nvPr/>
        </p:nvPicPr>
        <p:blipFill>
          <a:blip r:embed="rId4"/>
          <a:srcRect l="15962" t="-321" r="-15962" b="321"/>
          <a:stretch>
            <a:fillRect/>
          </a:stretch>
        </p:blipFill>
        <p:spPr>
          <a:xfrm>
            <a:off x="5826642" y="3569241"/>
            <a:ext cx="3563773" cy="1396655"/>
          </a:xfrm>
          <a:prstGeom prst="rect">
            <a:avLst/>
          </a:prstGeom>
        </p:spPr>
      </p:pic>
      <p:pic>
        <p:nvPicPr>
          <p:cNvPr id="13" name="Picture 12">
            <a:extLst>
              <a:ext uri="{FF2B5EF4-FFF2-40B4-BE49-F238E27FC236}">
                <a16:creationId xmlns:a16="http://schemas.microsoft.com/office/drawing/2014/main" id="{507725BA-EDBD-30CF-B2F7-CDBA8D4A7648}"/>
              </a:ext>
            </a:extLst>
          </p:cNvPr>
          <p:cNvPicPr>
            <a:picLocks noChangeAspect="1"/>
          </p:cNvPicPr>
          <p:nvPr/>
        </p:nvPicPr>
        <p:blipFill>
          <a:blip r:embed="rId5"/>
          <a:stretch>
            <a:fillRect/>
          </a:stretch>
        </p:blipFill>
        <p:spPr>
          <a:xfrm>
            <a:off x="184298" y="3341509"/>
            <a:ext cx="5445762" cy="1762120"/>
          </a:xfrm>
          <a:prstGeom prst="rect">
            <a:avLst/>
          </a:prstGeom>
        </p:spPr>
      </p:pic>
      <p:sp>
        <p:nvSpPr>
          <p:cNvPr id="15" name="TextBox 14">
            <a:extLst>
              <a:ext uri="{FF2B5EF4-FFF2-40B4-BE49-F238E27FC236}">
                <a16:creationId xmlns:a16="http://schemas.microsoft.com/office/drawing/2014/main" id="{D033D638-85AC-A471-96D9-861A42A7D4F9}"/>
              </a:ext>
            </a:extLst>
          </p:cNvPr>
          <p:cNvSpPr txBox="1"/>
          <p:nvPr/>
        </p:nvSpPr>
        <p:spPr>
          <a:xfrm>
            <a:off x="2506466" y="2890692"/>
            <a:ext cx="1173879" cy="369332"/>
          </a:xfrm>
          <a:prstGeom prst="rect">
            <a:avLst/>
          </a:prstGeom>
          <a:noFill/>
        </p:spPr>
        <p:txBody>
          <a:bodyPr wrap="square">
            <a:spAutoFit/>
          </a:bodyPr>
          <a:lstStyle/>
          <a:p>
            <a:r>
              <a:rPr lang="en-GB" b="1" dirty="0"/>
              <a:t>Frontend</a:t>
            </a:r>
            <a:endParaRPr lang="en-US" b="1" dirty="0"/>
          </a:p>
        </p:txBody>
      </p:sp>
      <p:sp>
        <p:nvSpPr>
          <p:cNvPr id="16" name="TextBox 15">
            <a:extLst>
              <a:ext uri="{FF2B5EF4-FFF2-40B4-BE49-F238E27FC236}">
                <a16:creationId xmlns:a16="http://schemas.microsoft.com/office/drawing/2014/main" id="{4F8734BE-4A55-E67C-D177-D3DD968E76C8}"/>
              </a:ext>
            </a:extLst>
          </p:cNvPr>
          <p:cNvSpPr txBox="1"/>
          <p:nvPr/>
        </p:nvSpPr>
        <p:spPr>
          <a:xfrm>
            <a:off x="7048897" y="3013035"/>
            <a:ext cx="682560" cy="369332"/>
          </a:xfrm>
          <a:prstGeom prst="rect">
            <a:avLst/>
          </a:prstGeom>
          <a:noFill/>
        </p:spPr>
        <p:txBody>
          <a:bodyPr wrap="square">
            <a:spAutoFit/>
          </a:bodyPr>
          <a:lstStyle/>
          <a:p>
            <a:r>
              <a:rPr lang="en-GB" b="1" dirty="0"/>
              <a:t>DTO</a:t>
            </a:r>
            <a:endParaRPr lang="en-US" b="1" dirty="0"/>
          </a:p>
        </p:txBody>
      </p:sp>
      <p:sp>
        <p:nvSpPr>
          <p:cNvPr id="17" name="TextBox 16">
            <a:extLst>
              <a:ext uri="{FF2B5EF4-FFF2-40B4-BE49-F238E27FC236}">
                <a16:creationId xmlns:a16="http://schemas.microsoft.com/office/drawing/2014/main" id="{0A9E7ADD-AA7B-D23C-FF73-1B5763F1A769}"/>
              </a:ext>
            </a:extLst>
          </p:cNvPr>
          <p:cNvSpPr txBox="1"/>
          <p:nvPr/>
        </p:nvSpPr>
        <p:spPr>
          <a:xfrm>
            <a:off x="9805744" y="2397134"/>
            <a:ext cx="1173879" cy="369332"/>
          </a:xfrm>
          <a:prstGeom prst="rect">
            <a:avLst/>
          </a:prstGeom>
          <a:noFill/>
        </p:spPr>
        <p:txBody>
          <a:bodyPr wrap="square">
            <a:spAutoFit/>
          </a:bodyPr>
          <a:lstStyle/>
          <a:p>
            <a:r>
              <a:rPr lang="en-GB" b="1" dirty="0"/>
              <a:t>Backend</a:t>
            </a:r>
            <a:endParaRPr lang="en-US" b="1" dirty="0"/>
          </a:p>
        </p:txBody>
      </p:sp>
    </p:spTree>
    <p:extLst>
      <p:ext uri="{BB962C8B-B14F-4D97-AF65-F5344CB8AC3E}">
        <p14:creationId xmlns:p14="http://schemas.microsoft.com/office/powerpoint/2010/main" val="6045924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8F85F-DD1D-EC29-66BE-37152547F1A0}"/>
              </a:ext>
            </a:extLst>
          </p:cNvPr>
          <p:cNvSpPr>
            <a:spLocks noGrp="1"/>
          </p:cNvSpPr>
          <p:nvPr>
            <p:ph type="title"/>
          </p:nvPr>
        </p:nvSpPr>
        <p:spPr/>
        <p:txBody>
          <a:bodyPr/>
          <a:lstStyle/>
          <a:p>
            <a:r>
              <a:rPr lang="en-US" b="1" dirty="0"/>
              <a:t>ORM (EF) </a:t>
            </a:r>
            <a:r>
              <a:rPr lang="en-GB" b="1" dirty="0"/>
              <a:t>/ </a:t>
            </a:r>
            <a:r>
              <a:rPr lang="en-US" b="1" dirty="0"/>
              <a:t>Procedure</a:t>
            </a:r>
            <a:endParaRPr lang="en-GB" b="1" dirty="0"/>
          </a:p>
        </p:txBody>
      </p:sp>
      <p:sp>
        <p:nvSpPr>
          <p:cNvPr id="3" name="Content Placeholder 2">
            <a:extLst>
              <a:ext uri="{FF2B5EF4-FFF2-40B4-BE49-F238E27FC236}">
                <a16:creationId xmlns:a16="http://schemas.microsoft.com/office/drawing/2014/main" id="{4CB7A654-C2A0-1B68-ADDB-5CF65194ACE0}"/>
              </a:ext>
            </a:extLst>
          </p:cNvPr>
          <p:cNvSpPr>
            <a:spLocks noGrp="1"/>
          </p:cNvSpPr>
          <p:nvPr>
            <p:ph idx="1"/>
          </p:nvPr>
        </p:nvSpPr>
        <p:spPr/>
        <p:txBody>
          <a:bodyPr>
            <a:normAutofit/>
          </a:bodyPr>
          <a:lstStyle/>
          <a:p>
            <a:pPr>
              <a:lnSpc>
                <a:spcPct val="100000"/>
              </a:lnSpc>
            </a:pPr>
            <a:r>
              <a:rPr lang="en-US" sz="2000" dirty="0"/>
              <a:t>ASP.NET Core also communicates with the database using Entity Framework technology, which is an example of the Object-Relational Mapper (ORM) programming type.</a:t>
            </a:r>
            <a:endParaRPr lang="pl-PL" sz="2000" dirty="0"/>
          </a:p>
          <a:p>
            <a:pPr>
              <a:lnSpc>
                <a:spcPct val="100000"/>
              </a:lnSpc>
            </a:pPr>
            <a:endParaRPr lang="en-US" sz="2000" dirty="0"/>
          </a:p>
          <a:p>
            <a:r>
              <a:rPr lang="en-US" sz="2000" dirty="0"/>
              <a:t>Communication with the database using: </a:t>
            </a:r>
          </a:p>
          <a:p>
            <a:pPr lvl="1">
              <a:lnSpc>
                <a:spcPct val="100000"/>
              </a:lnSpc>
            </a:pPr>
            <a:r>
              <a:rPr lang="en-GB" dirty="0"/>
              <a:t>Entity Framework</a:t>
            </a:r>
          </a:p>
          <a:p>
            <a:pPr lvl="1">
              <a:lnSpc>
                <a:spcPct val="100000"/>
              </a:lnSpc>
            </a:pPr>
            <a:r>
              <a:rPr lang="en-GB" dirty="0"/>
              <a:t>Procedure</a:t>
            </a:r>
            <a:endParaRPr lang="en-US" dirty="0"/>
          </a:p>
        </p:txBody>
      </p:sp>
      <p:pic>
        <p:nvPicPr>
          <p:cNvPr id="5" name="Picture 4" descr="A diagram of a computer&#10;&#10;AI-generated content may be incorrect.">
            <a:extLst>
              <a:ext uri="{FF2B5EF4-FFF2-40B4-BE49-F238E27FC236}">
                <a16:creationId xmlns:a16="http://schemas.microsoft.com/office/drawing/2014/main" id="{2285E4AF-87DD-1D4A-530A-4A313EF49B73}"/>
              </a:ext>
            </a:extLst>
          </p:cNvPr>
          <p:cNvPicPr>
            <a:picLocks noChangeAspect="1"/>
          </p:cNvPicPr>
          <p:nvPr/>
        </p:nvPicPr>
        <p:blipFill>
          <a:blip r:embed="rId2">
            <a:extLst>
              <a:ext uri="{28A0092B-C50C-407E-A947-70E740481C1C}">
                <a14:useLocalDpi xmlns:a14="http://schemas.microsoft.com/office/drawing/2010/main" val="0"/>
              </a:ext>
            </a:extLst>
          </a:blip>
          <a:srcRect l="11410" t="14128" r="12787" b="17217"/>
          <a:stretch>
            <a:fillRect/>
          </a:stretch>
        </p:blipFill>
        <p:spPr>
          <a:xfrm>
            <a:off x="6245715" y="3429000"/>
            <a:ext cx="5265964" cy="2503968"/>
          </a:xfrm>
          <a:prstGeom prst="rect">
            <a:avLst/>
          </a:prstGeom>
        </p:spPr>
      </p:pic>
    </p:spTree>
    <p:extLst>
      <p:ext uri="{BB962C8B-B14F-4D97-AF65-F5344CB8AC3E}">
        <p14:creationId xmlns:p14="http://schemas.microsoft.com/office/powerpoint/2010/main" val="26004019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F1B8E-442E-872F-AC37-C94DA066F9B0}"/>
              </a:ext>
            </a:extLst>
          </p:cNvPr>
          <p:cNvSpPr>
            <a:spLocks noGrp="1"/>
          </p:cNvSpPr>
          <p:nvPr>
            <p:ph type="title"/>
          </p:nvPr>
        </p:nvSpPr>
        <p:spPr/>
        <p:txBody>
          <a:bodyPr/>
          <a:lstStyle/>
          <a:p>
            <a:r>
              <a:rPr lang="en-GB" b="1" dirty="0"/>
              <a:t>Entity Framework</a:t>
            </a:r>
          </a:p>
        </p:txBody>
      </p:sp>
      <p:sp>
        <p:nvSpPr>
          <p:cNvPr id="3" name="Content Placeholder 2">
            <a:extLst>
              <a:ext uri="{FF2B5EF4-FFF2-40B4-BE49-F238E27FC236}">
                <a16:creationId xmlns:a16="http://schemas.microsoft.com/office/drawing/2014/main" id="{321339A2-D0FC-11CF-F769-02088AEC6CD5}"/>
              </a:ext>
            </a:extLst>
          </p:cNvPr>
          <p:cNvSpPr>
            <a:spLocks noGrp="1"/>
          </p:cNvSpPr>
          <p:nvPr>
            <p:ph idx="1"/>
          </p:nvPr>
        </p:nvSpPr>
        <p:spPr>
          <a:xfrm>
            <a:off x="680321" y="2336873"/>
            <a:ext cx="11161159" cy="3599316"/>
          </a:xfrm>
        </p:spPr>
        <p:txBody>
          <a:bodyPr>
            <a:noAutofit/>
          </a:bodyPr>
          <a:lstStyle/>
          <a:p>
            <a:r>
              <a:rPr lang="en-US" sz="2000" dirty="0"/>
              <a:t>Entity Framework (EF) is a </a:t>
            </a:r>
            <a:r>
              <a:rPr lang="en-US" sz="2000" b="1" dirty="0"/>
              <a:t>tool</a:t>
            </a:r>
            <a:r>
              <a:rPr lang="en-US" sz="2000" dirty="0"/>
              <a:t> that simplifies the work of .NET applications with databases.</a:t>
            </a:r>
            <a:endParaRPr lang="pl-PL" sz="2000" dirty="0"/>
          </a:p>
          <a:p>
            <a:endParaRPr lang="uk-UA" sz="2000" dirty="0"/>
          </a:p>
          <a:p>
            <a:r>
              <a:rPr lang="en-GB" sz="2000" dirty="0"/>
              <a:t>EF:</a:t>
            </a:r>
            <a:endParaRPr lang="uk-UA" sz="2000" dirty="0"/>
          </a:p>
          <a:p>
            <a:pPr lvl="1"/>
            <a:r>
              <a:rPr lang="en-US" dirty="0"/>
              <a:t>converts tables into objects so they are easier to work with in C#</a:t>
            </a:r>
          </a:p>
          <a:p>
            <a:pPr lvl="1"/>
            <a:r>
              <a:rPr lang="en-US" dirty="0"/>
              <a:t>allows you to write LINQ queries instead of SQL</a:t>
            </a:r>
          </a:p>
          <a:p>
            <a:pPr lvl="1"/>
            <a:r>
              <a:rPr lang="en-US" dirty="0"/>
              <a:t>automatically tracks changes and updates stored data</a:t>
            </a:r>
          </a:p>
          <a:p>
            <a:pPr lvl="1"/>
            <a:r>
              <a:rPr lang="en-US" dirty="0"/>
              <a:t>helps safely modify the database structure (migrations).</a:t>
            </a:r>
          </a:p>
          <a:p>
            <a:pPr lvl="1"/>
            <a:endParaRPr lang="uk-UA" dirty="0"/>
          </a:p>
          <a:p>
            <a:pPr marL="0" indent="0">
              <a:buNone/>
            </a:pPr>
            <a:r>
              <a:rPr lang="en-US" sz="2000" dirty="0"/>
              <a:t>In summary, EF makes access to any supported database clear and simple.</a:t>
            </a:r>
          </a:p>
          <a:p>
            <a:pPr marL="0" indent="0">
              <a:buNone/>
            </a:pPr>
            <a:endParaRPr lang="en-GB" sz="2000" dirty="0"/>
          </a:p>
        </p:txBody>
      </p:sp>
      <p:pic>
        <p:nvPicPr>
          <p:cNvPr id="5" name="Picture 4" descr="A blue logo with white text&#10;&#10;AI-generated content may be incorrect.">
            <a:extLst>
              <a:ext uri="{FF2B5EF4-FFF2-40B4-BE49-F238E27FC236}">
                <a16:creationId xmlns:a16="http://schemas.microsoft.com/office/drawing/2014/main" id="{EB7EBAB1-4024-D1CD-E91D-842E9E2C7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92678" y="471457"/>
            <a:ext cx="2471237" cy="1644479"/>
          </a:xfrm>
          <a:prstGeom prst="rect">
            <a:avLst/>
          </a:prstGeom>
        </p:spPr>
      </p:pic>
    </p:spTree>
    <p:extLst>
      <p:ext uri="{BB962C8B-B14F-4D97-AF65-F5344CB8AC3E}">
        <p14:creationId xmlns:p14="http://schemas.microsoft.com/office/powerpoint/2010/main" val="24809640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19CCC-8E4F-CC7D-2AF1-CDFF3CD4B3E1}"/>
              </a:ext>
            </a:extLst>
          </p:cNvPr>
          <p:cNvSpPr>
            <a:spLocks noGrp="1"/>
          </p:cNvSpPr>
          <p:nvPr>
            <p:ph type="title"/>
          </p:nvPr>
        </p:nvSpPr>
        <p:spPr/>
        <p:txBody>
          <a:bodyPr/>
          <a:lstStyle/>
          <a:p>
            <a:r>
              <a:rPr lang="en-GB" b="1" dirty="0"/>
              <a:t>ORM</a:t>
            </a:r>
          </a:p>
        </p:txBody>
      </p:sp>
      <p:sp>
        <p:nvSpPr>
          <p:cNvPr id="3" name="Content Placeholder 2">
            <a:extLst>
              <a:ext uri="{FF2B5EF4-FFF2-40B4-BE49-F238E27FC236}">
                <a16:creationId xmlns:a16="http://schemas.microsoft.com/office/drawing/2014/main" id="{A72D983F-C2B2-5CF6-8B91-AAE1456936BE}"/>
              </a:ext>
            </a:extLst>
          </p:cNvPr>
          <p:cNvSpPr>
            <a:spLocks noGrp="1"/>
          </p:cNvSpPr>
          <p:nvPr>
            <p:ph idx="1"/>
          </p:nvPr>
        </p:nvSpPr>
        <p:spPr>
          <a:xfrm>
            <a:off x="602897" y="2185017"/>
            <a:ext cx="4176860" cy="4351338"/>
          </a:xfrm>
        </p:spPr>
        <p:txBody>
          <a:bodyPr>
            <a:normAutofit/>
          </a:bodyPr>
          <a:lstStyle/>
          <a:p>
            <a:pPr>
              <a:lnSpc>
                <a:spcPct val="100000"/>
              </a:lnSpc>
            </a:pPr>
            <a:r>
              <a:rPr lang="en-US" sz="2000" dirty="0"/>
              <a:t>Object-Relational Mapper (ORM) — frees the developer from writing SQL queries and helps map our classes to tables in the database.</a:t>
            </a:r>
            <a:endParaRPr lang="en-GB" sz="1800" dirty="0"/>
          </a:p>
          <a:p>
            <a:endParaRPr lang="en-GB" sz="1800" dirty="0"/>
          </a:p>
          <a:p>
            <a:r>
              <a:rPr lang="en-US" sz="2000" dirty="0"/>
              <a:t>Mapping </a:t>
            </a:r>
            <a:r>
              <a:rPr lang="uk-UA" sz="2000" dirty="0"/>
              <a:t>:</a:t>
            </a:r>
          </a:p>
          <a:p>
            <a:pPr lvl="1"/>
            <a:r>
              <a:rPr lang="en-GB" dirty="0"/>
              <a:t>Class -&gt; Table</a:t>
            </a:r>
          </a:p>
          <a:p>
            <a:pPr lvl="1"/>
            <a:r>
              <a:rPr lang="pl-PL" dirty="0" err="1"/>
              <a:t>Propert</a:t>
            </a:r>
            <a:r>
              <a:rPr lang="en-GB" dirty="0"/>
              <a:t>y -&gt; Record</a:t>
            </a:r>
            <a:endParaRPr lang="uk-UA" dirty="0"/>
          </a:p>
        </p:txBody>
      </p:sp>
      <p:pic>
        <p:nvPicPr>
          <p:cNvPr id="6" name="Picture 5">
            <a:extLst>
              <a:ext uri="{FF2B5EF4-FFF2-40B4-BE49-F238E27FC236}">
                <a16:creationId xmlns:a16="http://schemas.microsoft.com/office/drawing/2014/main" id="{F7FF87F5-EB3E-AB22-640F-60EAD2D5011C}"/>
              </a:ext>
            </a:extLst>
          </p:cNvPr>
          <p:cNvPicPr>
            <a:picLocks noChangeAspect="1"/>
          </p:cNvPicPr>
          <p:nvPr/>
        </p:nvPicPr>
        <p:blipFill>
          <a:blip r:embed="rId2"/>
          <a:stretch>
            <a:fillRect/>
          </a:stretch>
        </p:blipFill>
        <p:spPr>
          <a:xfrm>
            <a:off x="7412244" y="2387964"/>
            <a:ext cx="4073941" cy="1693066"/>
          </a:xfrm>
          <a:prstGeom prst="rect">
            <a:avLst/>
          </a:prstGeom>
        </p:spPr>
      </p:pic>
      <p:pic>
        <p:nvPicPr>
          <p:cNvPr id="7" name="Content Placeholder 5">
            <a:extLst>
              <a:ext uri="{FF2B5EF4-FFF2-40B4-BE49-F238E27FC236}">
                <a16:creationId xmlns:a16="http://schemas.microsoft.com/office/drawing/2014/main" id="{0C10328F-D066-E539-EBD5-BAD89434DB98}"/>
              </a:ext>
            </a:extLst>
          </p:cNvPr>
          <p:cNvPicPr>
            <a:picLocks noChangeAspect="1"/>
          </p:cNvPicPr>
          <p:nvPr/>
        </p:nvPicPr>
        <p:blipFill>
          <a:blip r:embed="rId3"/>
          <a:stretch>
            <a:fillRect/>
          </a:stretch>
        </p:blipFill>
        <p:spPr>
          <a:xfrm>
            <a:off x="8063910" y="4547206"/>
            <a:ext cx="2071608" cy="2103478"/>
          </a:xfrm>
          <a:prstGeom prst="rect">
            <a:avLst/>
          </a:prstGeom>
        </p:spPr>
      </p:pic>
      <p:sp>
        <p:nvSpPr>
          <p:cNvPr id="9" name="TextBox 8">
            <a:extLst>
              <a:ext uri="{FF2B5EF4-FFF2-40B4-BE49-F238E27FC236}">
                <a16:creationId xmlns:a16="http://schemas.microsoft.com/office/drawing/2014/main" id="{3BE4CCEC-8638-5BDF-6155-4B8A4DA78EF2}"/>
              </a:ext>
            </a:extLst>
          </p:cNvPr>
          <p:cNvSpPr txBox="1"/>
          <p:nvPr/>
        </p:nvSpPr>
        <p:spPr>
          <a:xfrm>
            <a:off x="5812019" y="2206087"/>
            <a:ext cx="1148338" cy="461665"/>
          </a:xfrm>
          <a:prstGeom prst="rect">
            <a:avLst/>
          </a:prstGeom>
          <a:noFill/>
        </p:spPr>
        <p:txBody>
          <a:bodyPr wrap="square">
            <a:spAutoFit/>
          </a:bodyPr>
          <a:lstStyle/>
          <a:p>
            <a:r>
              <a:rPr lang="en-GB" sz="2400" b="1" dirty="0"/>
              <a:t>Class</a:t>
            </a:r>
            <a:endParaRPr lang="en-GB" sz="3200" b="1" dirty="0"/>
          </a:p>
        </p:txBody>
      </p:sp>
      <p:cxnSp>
        <p:nvCxnSpPr>
          <p:cNvPr id="13" name="Straight Arrow Connector 12">
            <a:extLst>
              <a:ext uri="{FF2B5EF4-FFF2-40B4-BE49-F238E27FC236}">
                <a16:creationId xmlns:a16="http://schemas.microsoft.com/office/drawing/2014/main" id="{0324455F-0F58-45D1-3BBE-72FEFE89BFD0}"/>
              </a:ext>
            </a:extLst>
          </p:cNvPr>
          <p:cNvCxnSpPr>
            <a:cxnSpLocks/>
          </p:cNvCxnSpPr>
          <p:nvPr/>
        </p:nvCxnSpPr>
        <p:spPr>
          <a:xfrm>
            <a:off x="6681187" y="2503835"/>
            <a:ext cx="731057" cy="134490"/>
          </a:xfrm>
          <a:prstGeom prst="straightConnector1">
            <a:avLst/>
          </a:prstGeom>
          <a:ln w="38100">
            <a:solidFill>
              <a:schemeClr val="tx1">
                <a:alpha val="99000"/>
              </a:schemeClr>
            </a:solidFill>
            <a:tailEnd type="triangle"/>
          </a:ln>
        </p:spPr>
        <p:style>
          <a:lnRef idx="3">
            <a:schemeClr val="accent1"/>
          </a:lnRef>
          <a:fillRef idx="0">
            <a:schemeClr val="accent1"/>
          </a:fillRef>
          <a:effectRef idx="2">
            <a:schemeClr val="accent1"/>
          </a:effectRef>
          <a:fontRef idx="minor">
            <a:schemeClr val="tx1"/>
          </a:fontRef>
        </p:style>
      </p:cxnSp>
      <p:sp>
        <p:nvSpPr>
          <p:cNvPr id="15" name="TextBox 14">
            <a:extLst>
              <a:ext uri="{FF2B5EF4-FFF2-40B4-BE49-F238E27FC236}">
                <a16:creationId xmlns:a16="http://schemas.microsoft.com/office/drawing/2014/main" id="{673A6A95-F432-1A14-F427-D620717497A6}"/>
              </a:ext>
            </a:extLst>
          </p:cNvPr>
          <p:cNvSpPr txBox="1"/>
          <p:nvPr/>
        </p:nvSpPr>
        <p:spPr>
          <a:xfrm>
            <a:off x="5487251" y="3158843"/>
            <a:ext cx="1991783" cy="461665"/>
          </a:xfrm>
          <a:prstGeom prst="rect">
            <a:avLst/>
          </a:prstGeom>
          <a:noFill/>
        </p:spPr>
        <p:txBody>
          <a:bodyPr wrap="square">
            <a:spAutoFit/>
          </a:bodyPr>
          <a:lstStyle/>
          <a:p>
            <a:r>
              <a:rPr lang="pl-PL" sz="2400" b="1" dirty="0" err="1"/>
              <a:t>Propert</a:t>
            </a:r>
            <a:r>
              <a:rPr lang="en-GB" sz="2400" b="1" dirty="0"/>
              <a:t>y</a:t>
            </a:r>
          </a:p>
        </p:txBody>
      </p:sp>
      <p:cxnSp>
        <p:nvCxnSpPr>
          <p:cNvPr id="17" name="Straight Arrow Connector 16">
            <a:extLst>
              <a:ext uri="{FF2B5EF4-FFF2-40B4-BE49-F238E27FC236}">
                <a16:creationId xmlns:a16="http://schemas.microsoft.com/office/drawing/2014/main" id="{C9483AEA-7CA4-C4A1-A1E9-9ED9FBDFE389}"/>
              </a:ext>
            </a:extLst>
          </p:cNvPr>
          <p:cNvCxnSpPr/>
          <p:nvPr/>
        </p:nvCxnSpPr>
        <p:spPr>
          <a:xfrm>
            <a:off x="6875816" y="3429000"/>
            <a:ext cx="790308" cy="0"/>
          </a:xfrm>
          <a:prstGeom prst="straightConnector1">
            <a:avLst/>
          </a:prstGeom>
          <a:ln w="38100">
            <a:solidFill>
              <a:schemeClr val="tx1"/>
            </a:solidFill>
            <a:tailEnd type="triangle"/>
          </a:ln>
        </p:spPr>
        <p:style>
          <a:lnRef idx="3">
            <a:schemeClr val="accent6"/>
          </a:lnRef>
          <a:fillRef idx="0">
            <a:schemeClr val="accent6"/>
          </a:fillRef>
          <a:effectRef idx="2">
            <a:schemeClr val="accent6"/>
          </a:effectRef>
          <a:fontRef idx="minor">
            <a:schemeClr val="tx1"/>
          </a:fontRef>
        </p:style>
      </p:cxnSp>
      <p:sp>
        <p:nvSpPr>
          <p:cNvPr id="18" name="TextBox 17">
            <a:extLst>
              <a:ext uri="{FF2B5EF4-FFF2-40B4-BE49-F238E27FC236}">
                <a16:creationId xmlns:a16="http://schemas.microsoft.com/office/drawing/2014/main" id="{17500B06-1E33-EBDA-8605-E74707359C6A}"/>
              </a:ext>
            </a:extLst>
          </p:cNvPr>
          <p:cNvSpPr txBox="1"/>
          <p:nvPr/>
        </p:nvSpPr>
        <p:spPr>
          <a:xfrm>
            <a:off x="6108573" y="5590993"/>
            <a:ext cx="1388910" cy="461665"/>
          </a:xfrm>
          <a:prstGeom prst="rect">
            <a:avLst/>
          </a:prstGeom>
          <a:noFill/>
        </p:spPr>
        <p:txBody>
          <a:bodyPr wrap="square">
            <a:spAutoFit/>
          </a:bodyPr>
          <a:lstStyle/>
          <a:p>
            <a:r>
              <a:rPr lang="en-GB" sz="2400" b="1" dirty="0"/>
              <a:t>Record</a:t>
            </a:r>
            <a:endParaRPr lang="en-GB" sz="3200" b="1" dirty="0"/>
          </a:p>
        </p:txBody>
      </p:sp>
      <p:cxnSp>
        <p:nvCxnSpPr>
          <p:cNvPr id="19" name="Straight Arrow Connector 18">
            <a:extLst>
              <a:ext uri="{FF2B5EF4-FFF2-40B4-BE49-F238E27FC236}">
                <a16:creationId xmlns:a16="http://schemas.microsoft.com/office/drawing/2014/main" id="{C1473435-BEA7-5FEA-75AF-27DD4E4D2DE0}"/>
              </a:ext>
            </a:extLst>
          </p:cNvPr>
          <p:cNvCxnSpPr>
            <a:cxnSpLocks/>
          </p:cNvCxnSpPr>
          <p:nvPr/>
        </p:nvCxnSpPr>
        <p:spPr>
          <a:xfrm>
            <a:off x="7147626" y="4655701"/>
            <a:ext cx="1036995" cy="212870"/>
          </a:xfrm>
          <a:prstGeom prst="straightConnector1">
            <a:avLst/>
          </a:prstGeom>
          <a:ln w="38100">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21" name="TextBox 20">
            <a:extLst>
              <a:ext uri="{FF2B5EF4-FFF2-40B4-BE49-F238E27FC236}">
                <a16:creationId xmlns:a16="http://schemas.microsoft.com/office/drawing/2014/main" id="{D7EED7F6-840C-0351-EAA0-FBBE5917F64A}"/>
              </a:ext>
            </a:extLst>
          </p:cNvPr>
          <p:cNvSpPr txBox="1"/>
          <p:nvPr/>
        </p:nvSpPr>
        <p:spPr>
          <a:xfrm>
            <a:off x="6122969" y="4382256"/>
            <a:ext cx="1218432" cy="461665"/>
          </a:xfrm>
          <a:prstGeom prst="rect">
            <a:avLst/>
          </a:prstGeom>
          <a:noFill/>
        </p:spPr>
        <p:txBody>
          <a:bodyPr wrap="square">
            <a:spAutoFit/>
          </a:bodyPr>
          <a:lstStyle/>
          <a:p>
            <a:r>
              <a:rPr lang="en-GB" sz="2400" b="1" dirty="0"/>
              <a:t>Table</a:t>
            </a:r>
            <a:endParaRPr lang="en-GB" sz="3200" b="1" dirty="0"/>
          </a:p>
        </p:txBody>
      </p:sp>
      <p:cxnSp>
        <p:nvCxnSpPr>
          <p:cNvPr id="24" name="Straight Arrow Connector 23">
            <a:extLst>
              <a:ext uri="{FF2B5EF4-FFF2-40B4-BE49-F238E27FC236}">
                <a16:creationId xmlns:a16="http://schemas.microsoft.com/office/drawing/2014/main" id="{088ECB34-4BEE-80FE-0C4E-03853F337774}"/>
              </a:ext>
            </a:extLst>
          </p:cNvPr>
          <p:cNvCxnSpPr>
            <a:cxnSpLocks/>
          </p:cNvCxnSpPr>
          <p:nvPr/>
        </p:nvCxnSpPr>
        <p:spPr>
          <a:xfrm>
            <a:off x="7313792" y="5821826"/>
            <a:ext cx="857839" cy="0"/>
          </a:xfrm>
          <a:prstGeom prst="straightConnector1">
            <a:avLst/>
          </a:prstGeom>
          <a:ln w="38100">
            <a:solidFill>
              <a:schemeClr val="tx1"/>
            </a:solidFill>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4857201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AE765-9B08-E93E-B27A-DE6E7AA50254}"/>
              </a:ext>
            </a:extLst>
          </p:cNvPr>
          <p:cNvSpPr>
            <a:spLocks noGrp="1"/>
          </p:cNvSpPr>
          <p:nvPr>
            <p:ph type="title"/>
          </p:nvPr>
        </p:nvSpPr>
        <p:spPr/>
        <p:txBody>
          <a:bodyPr/>
          <a:lstStyle/>
          <a:p>
            <a:r>
              <a:rPr lang="en-US" b="1" dirty="0"/>
              <a:t>Procedure</a:t>
            </a:r>
            <a:r>
              <a:rPr lang="uk-UA" b="1" dirty="0"/>
              <a:t> </a:t>
            </a:r>
            <a:endParaRPr lang="en-GB" b="1" dirty="0"/>
          </a:p>
        </p:txBody>
      </p:sp>
      <p:sp>
        <p:nvSpPr>
          <p:cNvPr id="3" name="Content Placeholder 2">
            <a:extLst>
              <a:ext uri="{FF2B5EF4-FFF2-40B4-BE49-F238E27FC236}">
                <a16:creationId xmlns:a16="http://schemas.microsoft.com/office/drawing/2014/main" id="{76C2F33A-AAFA-9CF3-0676-4A8B2AAC873A}"/>
              </a:ext>
            </a:extLst>
          </p:cNvPr>
          <p:cNvSpPr>
            <a:spLocks noGrp="1"/>
          </p:cNvSpPr>
          <p:nvPr>
            <p:ph idx="1"/>
          </p:nvPr>
        </p:nvSpPr>
        <p:spPr>
          <a:xfrm>
            <a:off x="680320" y="2344240"/>
            <a:ext cx="4049159" cy="4351338"/>
          </a:xfrm>
        </p:spPr>
        <p:txBody>
          <a:bodyPr>
            <a:normAutofit/>
          </a:bodyPr>
          <a:lstStyle/>
          <a:p>
            <a:pPr>
              <a:lnSpc>
                <a:spcPct val="100000"/>
              </a:lnSpc>
            </a:pPr>
            <a:r>
              <a:rPr lang="en-US" sz="2000" b="1" dirty="0"/>
              <a:t>Stored procedure</a:t>
            </a:r>
            <a:r>
              <a:rPr lang="en-US" sz="2000" dirty="0"/>
              <a:t> — is a pre-created SQL script that is stored inside the database itself. The program simply "calls" this procedure by name and passes the required parameters.</a:t>
            </a:r>
            <a:endParaRPr lang="en-GB" sz="2000" b="1" dirty="0"/>
          </a:p>
        </p:txBody>
      </p:sp>
      <p:pic>
        <p:nvPicPr>
          <p:cNvPr id="5" name="Picture 4">
            <a:extLst>
              <a:ext uri="{FF2B5EF4-FFF2-40B4-BE49-F238E27FC236}">
                <a16:creationId xmlns:a16="http://schemas.microsoft.com/office/drawing/2014/main" id="{DB6E5F67-6BD6-72AC-1200-730C2BFD2BCB}"/>
              </a:ext>
            </a:extLst>
          </p:cNvPr>
          <p:cNvPicPr>
            <a:picLocks noChangeAspect="1"/>
          </p:cNvPicPr>
          <p:nvPr/>
        </p:nvPicPr>
        <p:blipFill>
          <a:blip r:embed="rId2"/>
          <a:srcRect r="6575"/>
          <a:stretch>
            <a:fillRect/>
          </a:stretch>
        </p:blipFill>
        <p:spPr>
          <a:xfrm>
            <a:off x="6075612" y="1033257"/>
            <a:ext cx="4218570" cy="3000794"/>
          </a:xfrm>
          <a:prstGeom prst="rect">
            <a:avLst/>
          </a:prstGeom>
        </p:spPr>
      </p:pic>
      <p:pic>
        <p:nvPicPr>
          <p:cNvPr id="7" name="Picture 6">
            <a:extLst>
              <a:ext uri="{FF2B5EF4-FFF2-40B4-BE49-F238E27FC236}">
                <a16:creationId xmlns:a16="http://schemas.microsoft.com/office/drawing/2014/main" id="{5AE8116E-82B0-5A20-6CD5-3B0F1F21C7BB}"/>
              </a:ext>
            </a:extLst>
          </p:cNvPr>
          <p:cNvPicPr>
            <a:picLocks noChangeAspect="1"/>
          </p:cNvPicPr>
          <p:nvPr/>
        </p:nvPicPr>
        <p:blipFill>
          <a:blip r:embed="rId3"/>
          <a:stretch>
            <a:fillRect/>
          </a:stretch>
        </p:blipFill>
        <p:spPr>
          <a:xfrm>
            <a:off x="6096000" y="4261282"/>
            <a:ext cx="4369400" cy="2361508"/>
          </a:xfrm>
          <a:prstGeom prst="rect">
            <a:avLst/>
          </a:prstGeom>
        </p:spPr>
      </p:pic>
    </p:spTree>
    <p:extLst>
      <p:ext uri="{BB962C8B-B14F-4D97-AF65-F5344CB8AC3E}">
        <p14:creationId xmlns:p14="http://schemas.microsoft.com/office/powerpoint/2010/main" val="20723706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BC8EE-4661-FA96-9E89-EF40CD054D6A}"/>
              </a:ext>
            </a:extLst>
          </p:cNvPr>
          <p:cNvSpPr>
            <a:spLocks noGrp="1"/>
          </p:cNvSpPr>
          <p:nvPr>
            <p:ph type="title"/>
          </p:nvPr>
        </p:nvSpPr>
        <p:spPr/>
        <p:txBody>
          <a:bodyPr/>
          <a:lstStyle/>
          <a:p>
            <a:r>
              <a:rPr lang="en-GB" b="1" dirty="0"/>
              <a:t>Middleware</a:t>
            </a:r>
          </a:p>
        </p:txBody>
      </p:sp>
      <p:sp>
        <p:nvSpPr>
          <p:cNvPr id="3" name="Content Placeholder 2">
            <a:extLst>
              <a:ext uri="{FF2B5EF4-FFF2-40B4-BE49-F238E27FC236}">
                <a16:creationId xmlns:a16="http://schemas.microsoft.com/office/drawing/2014/main" id="{E36B58CF-0AB3-C3C8-A658-7F0F82D53ABA}"/>
              </a:ext>
            </a:extLst>
          </p:cNvPr>
          <p:cNvSpPr>
            <a:spLocks noGrp="1"/>
          </p:cNvSpPr>
          <p:nvPr>
            <p:ph idx="1"/>
          </p:nvPr>
        </p:nvSpPr>
        <p:spPr>
          <a:xfrm>
            <a:off x="637096" y="2362437"/>
            <a:ext cx="4307944" cy="4351338"/>
          </a:xfrm>
        </p:spPr>
        <p:txBody>
          <a:bodyPr>
            <a:normAutofit/>
          </a:bodyPr>
          <a:lstStyle/>
          <a:p>
            <a:r>
              <a:rPr lang="en-US" sz="2000" dirty="0"/>
              <a:t>Middleware is a central element of request and response processing in a web application.</a:t>
            </a:r>
            <a:endParaRPr lang="pl-PL" sz="2000" dirty="0"/>
          </a:p>
          <a:p>
            <a:endParaRPr lang="uk-UA" sz="1800" dirty="0"/>
          </a:p>
          <a:p>
            <a:r>
              <a:rPr lang="en-US" sz="2000" dirty="0"/>
              <a:t>In ASP.NET, middleware is configured in the </a:t>
            </a:r>
            <a:r>
              <a:rPr lang="en-US" sz="2000" i="1" dirty="0" err="1"/>
              <a:t>Program.cs</a:t>
            </a:r>
            <a:r>
              <a:rPr lang="en-US" sz="2000" dirty="0"/>
              <a:t> file (starting from .NET 6)</a:t>
            </a:r>
            <a:endParaRPr lang="uk-UA" sz="2000" dirty="0"/>
          </a:p>
        </p:txBody>
      </p:sp>
      <p:pic>
        <p:nvPicPr>
          <p:cNvPr id="7" name="Picture 6">
            <a:extLst>
              <a:ext uri="{FF2B5EF4-FFF2-40B4-BE49-F238E27FC236}">
                <a16:creationId xmlns:a16="http://schemas.microsoft.com/office/drawing/2014/main" id="{4B96C371-7A0C-BF05-5A4D-068556BD17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5040" y="-56194"/>
            <a:ext cx="8059251" cy="8059251"/>
          </a:xfrm>
          <a:prstGeom prst="rect">
            <a:avLst/>
          </a:prstGeom>
        </p:spPr>
      </p:pic>
      <p:sp>
        <p:nvSpPr>
          <p:cNvPr id="10" name="TextBox 9">
            <a:extLst>
              <a:ext uri="{FF2B5EF4-FFF2-40B4-BE49-F238E27FC236}">
                <a16:creationId xmlns:a16="http://schemas.microsoft.com/office/drawing/2014/main" id="{6A5DF551-4DB8-6513-9181-D0256A8D1B8E}"/>
              </a:ext>
            </a:extLst>
          </p:cNvPr>
          <p:cNvSpPr txBox="1"/>
          <p:nvPr/>
        </p:nvSpPr>
        <p:spPr>
          <a:xfrm>
            <a:off x="6058408" y="2690815"/>
            <a:ext cx="1363472" cy="461665"/>
          </a:xfrm>
          <a:prstGeom prst="rect">
            <a:avLst/>
          </a:prstGeom>
          <a:noFill/>
        </p:spPr>
        <p:txBody>
          <a:bodyPr wrap="square">
            <a:spAutoFit/>
          </a:bodyPr>
          <a:lstStyle/>
          <a:p>
            <a:r>
              <a:rPr lang="en-US" sz="2400" b="1" dirty="0"/>
              <a:t>Request</a:t>
            </a:r>
            <a:endParaRPr lang="en-US" b="1" dirty="0"/>
          </a:p>
        </p:txBody>
      </p:sp>
      <p:sp>
        <p:nvSpPr>
          <p:cNvPr id="11" name="TextBox 10">
            <a:extLst>
              <a:ext uri="{FF2B5EF4-FFF2-40B4-BE49-F238E27FC236}">
                <a16:creationId xmlns:a16="http://schemas.microsoft.com/office/drawing/2014/main" id="{E4B08431-2038-F7B6-29EE-7B443619E66E}"/>
              </a:ext>
            </a:extLst>
          </p:cNvPr>
          <p:cNvSpPr txBox="1"/>
          <p:nvPr/>
        </p:nvSpPr>
        <p:spPr>
          <a:xfrm>
            <a:off x="5886704" y="4843802"/>
            <a:ext cx="1560576" cy="461665"/>
          </a:xfrm>
          <a:prstGeom prst="rect">
            <a:avLst/>
          </a:prstGeom>
          <a:noFill/>
        </p:spPr>
        <p:txBody>
          <a:bodyPr wrap="square">
            <a:spAutoFit/>
          </a:bodyPr>
          <a:lstStyle/>
          <a:p>
            <a:r>
              <a:rPr lang="en-US" sz="2400" b="1" dirty="0"/>
              <a:t>Response</a:t>
            </a:r>
            <a:endParaRPr lang="en-US" sz="2000" b="1" dirty="0"/>
          </a:p>
        </p:txBody>
      </p:sp>
    </p:spTree>
    <p:extLst>
      <p:ext uri="{BB962C8B-B14F-4D97-AF65-F5344CB8AC3E}">
        <p14:creationId xmlns:p14="http://schemas.microsoft.com/office/powerpoint/2010/main" val="31792513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51DA2-D3B6-A94D-47A5-44149814C885}"/>
              </a:ext>
            </a:extLst>
          </p:cNvPr>
          <p:cNvSpPr>
            <a:spLocks noGrp="1"/>
          </p:cNvSpPr>
          <p:nvPr>
            <p:ph type="title"/>
          </p:nvPr>
        </p:nvSpPr>
        <p:spPr/>
        <p:txBody>
          <a:bodyPr/>
          <a:lstStyle/>
          <a:p>
            <a:r>
              <a:rPr lang="en-GB" b="1" dirty="0"/>
              <a:t>Middleware</a:t>
            </a:r>
            <a:endParaRPr lang="en-GB" dirty="0"/>
          </a:p>
        </p:txBody>
      </p:sp>
      <p:sp>
        <p:nvSpPr>
          <p:cNvPr id="3" name="Content Placeholder 2">
            <a:extLst>
              <a:ext uri="{FF2B5EF4-FFF2-40B4-BE49-F238E27FC236}">
                <a16:creationId xmlns:a16="http://schemas.microsoft.com/office/drawing/2014/main" id="{14B7D181-B170-9E61-60E2-DE114E544F93}"/>
              </a:ext>
            </a:extLst>
          </p:cNvPr>
          <p:cNvSpPr>
            <a:spLocks noGrp="1"/>
          </p:cNvSpPr>
          <p:nvPr>
            <p:ph idx="1"/>
          </p:nvPr>
        </p:nvSpPr>
        <p:spPr>
          <a:xfrm>
            <a:off x="964801" y="2551176"/>
            <a:ext cx="10079119" cy="3599316"/>
          </a:xfrm>
        </p:spPr>
        <p:txBody>
          <a:bodyPr/>
          <a:lstStyle/>
          <a:p>
            <a:pPr>
              <a:lnSpc>
                <a:spcPct val="100000"/>
              </a:lnSpc>
            </a:pPr>
            <a:r>
              <a:rPr lang="en-US" sz="2000" dirty="0"/>
              <a:t>Middleware formation happens only once — during server startup. (This is done by the </a:t>
            </a:r>
            <a:r>
              <a:rPr lang="en-US" sz="2000" b="1" dirty="0"/>
              <a:t>.Build()</a:t>
            </a:r>
            <a:r>
              <a:rPr lang="en-US" sz="2000" dirty="0"/>
              <a:t> method in </a:t>
            </a:r>
            <a:r>
              <a:rPr lang="en-US" sz="2000" i="1" dirty="0" err="1"/>
              <a:t>Program.cs</a:t>
            </a:r>
            <a:r>
              <a:rPr lang="en-US" sz="2000" dirty="0"/>
              <a:t>)</a:t>
            </a:r>
            <a:endParaRPr lang="uk-UA" sz="2000" dirty="0"/>
          </a:p>
          <a:p>
            <a:pPr>
              <a:lnSpc>
                <a:spcPct val="100000"/>
              </a:lnSpc>
            </a:pPr>
            <a:endParaRPr lang="en-GB" dirty="0"/>
          </a:p>
          <a:p>
            <a:pPr>
              <a:lnSpc>
                <a:spcPct val="100000"/>
              </a:lnSpc>
            </a:pPr>
            <a:r>
              <a:rPr lang="en-US" sz="2000" dirty="0"/>
              <a:t>The middleware pipeline execution happens every time an HTTP request arrives from the client. (This is executed by the </a:t>
            </a:r>
            <a:r>
              <a:rPr lang="en-US" sz="2000" b="1" dirty="0"/>
              <a:t>.</a:t>
            </a:r>
            <a:r>
              <a:rPr lang="en-US" sz="2000" b="1" dirty="0" err="1"/>
              <a:t>InvokeAsync</a:t>
            </a:r>
            <a:r>
              <a:rPr lang="en-US" sz="2000" b="1" dirty="0"/>
              <a:t>()</a:t>
            </a:r>
            <a:r>
              <a:rPr lang="en-US" sz="2000" dirty="0"/>
              <a:t> method)</a:t>
            </a:r>
            <a:endParaRPr lang="uk-UA" sz="2000" dirty="0"/>
          </a:p>
          <a:p>
            <a:pPr>
              <a:lnSpc>
                <a:spcPct val="100000"/>
              </a:lnSpc>
            </a:pPr>
            <a:endParaRPr lang="en-GB" sz="2000" dirty="0"/>
          </a:p>
          <a:p>
            <a:pPr marL="0" indent="0">
              <a:lnSpc>
                <a:spcPct val="100000"/>
              </a:lnSpc>
              <a:buNone/>
            </a:pPr>
            <a:r>
              <a:rPr lang="en-US" sz="2000" dirty="0"/>
              <a:t>So the pipeline is </a:t>
            </a:r>
            <a:r>
              <a:rPr lang="en-US" sz="2000" b="1" dirty="0"/>
              <a:t>built once</a:t>
            </a:r>
            <a:r>
              <a:rPr lang="en-US" sz="2000" dirty="0"/>
              <a:t>, but is </a:t>
            </a:r>
            <a:r>
              <a:rPr lang="en-US" sz="2000" b="1" dirty="0"/>
              <a:t>traversed (executed) on every request.</a:t>
            </a:r>
            <a:endParaRPr lang="en-GB" sz="2000" dirty="0"/>
          </a:p>
        </p:txBody>
      </p:sp>
    </p:spTree>
    <p:extLst>
      <p:ext uri="{BB962C8B-B14F-4D97-AF65-F5344CB8AC3E}">
        <p14:creationId xmlns:p14="http://schemas.microsoft.com/office/powerpoint/2010/main" val="10127975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8313B-A84C-B29D-07B4-4B0E2E452999}"/>
              </a:ext>
            </a:extLst>
          </p:cNvPr>
          <p:cNvSpPr>
            <a:spLocks noGrp="1"/>
          </p:cNvSpPr>
          <p:nvPr>
            <p:ph type="title"/>
          </p:nvPr>
        </p:nvSpPr>
        <p:spPr/>
        <p:txBody>
          <a:bodyPr/>
          <a:lstStyle/>
          <a:p>
            <a:r>
              <a:rPr lang="en-US" b="1" dirty="0"/>
              <a:t>Middleware Pipeline</a:t>
            </a:r>
            <a:endParaRPr lang="en-GB" b="1" dirty="0"/>
          </a:p>
        </p:txBody>
      </p:sp>
      <p:pic>
        <p:nvPicPr>
          <p:cNvPr id="7" name="Picture 6">
            <a:extLst>
              <a:ext uri="{FF2B5EF4-FFF2-40B4-BE49-F238E27FC236}">
                <a16:creationId xmlns:a16="http://schemas.microsoft.com/office/drawing/2014/main" id="{C9C3BDB0-3559-B151-2C02-8FCCD0A729E8}"/>
              </a:ext>
            </a:extLst>
          </p:cNvPr>
          <p:cNvPicPr>
            <a:picLocks noChangeAspect="1"/>
          </p:cNvPicPr>
          <p:nvPr/>
        </p:nvPicPr>
        <p:blipFill>
          <a:blip r:embed="rId2"/>
          <a:stretch>
            <a:fillRect/>
          </a:stretch>
        </p:blipFill>
        <p:spPr>
          <a:xfrm>
            <a:off x="2371173" y="2202987"/>
            <a:ext cx="7335274" cy="2695951"/>
          </a:xfrm>
          <a:prstGeom prst="rect">
            <a:avLst/>
          </a:prstGeom>
        </p:spPr>
      </p:pic>
      <p:pic>
        <p:nvPicPr>
          <p:cNvPr id="4" name="Picture 3">
            <a:extLst>
              <a:ext uri="{FF2B5EF4-FFF2-40B4-BE49-F238E27FC236}">
                <a16:creationId xmlns:a16="http://schemas.microsoft.com/office/drawing/2014/main" id="{50B47DB3-47BD-DBD0-6397-7F93E503B98C}"/>
              </a:ext>
            </a:extLst>
          </p:cNvPr>
          <p:cNvPicPr>
            <a:picLocks noChangeAspect="1"/>
          </p:cNvPicPr>
          <p:nvPr/>
        </p:nvPicPr>
        <p:blipFill>
          <a:blip r:embed="rId3"/>
          <a:stretch>
            <a:fillRect/>
          </a:stretch>
        </p:blipFill>
        <p:spPr>
          <a:xfrm>
            <a:off x="2371173" y="5089149"/>
            <a:ext cx="7335274" cy="1631857"/>
          </a:xfrm>
          <a:prstGeom prst="rect">
            <a:avLst/>
          </a:prstGeom>
        </p:spPr>
      </p:pic>
    </p:spTree>
    <p:extLst>
      <p:ext uri="{BB962C8B-B14F-4D97-AF65-F5344CB8AC3E}">
        <p14:creationId xmlns:p14="http://schemas.microsoft.com/office/powerpoint/2010/main" val="15941841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F4347-2447-97F5-DCD1-E98888638F63}"/>
              </a:ext>
            </a:extLst>
          </p:cNvPr>
          <p:cNvSpPr>
            <a:spLocks noGrp="1"/>
          </p:cNvSpPr>
          <p:nvPr>
            <p:ph type="title"/>
          </p:nvPr>
        </p:nvSpPr>
        <p:spPr/>
        <p:txBody>
          <a:bodyPr/>
          <a:lstStyle/>
          <a:p>
            <a:r>
              <a:rPr lang="en-US" b="1" dirty="0"/>
              <a:t>Req/</a:t>
            </a:r>
            <a:r>
              <a:rPr lang="pl-PL" b="1" dirty="0"/>
              <a:t>R</a:t>
            </a:r>
            <a:r>
              <a:rPr lang="en-US" b="1" dirty="0" err="1"/>
              <a:t>esp</a:t>
            </a:r>
            <a:r>
              <a:rPr lang="en-US" b="1" dirty="0"/>
              <a:t> HTTP lifecycle</a:t>
            </a:r>
            <a:r>
              <a:rPr lang="uk-UA" b="1" dirty="0"/>
              <a:t> –</a:t>
            </a:r>
            <a:r>
              <a:rPr lang="en-GB" b="1" dirty="0"/>
              <a:t> </a:t>
            </a:r>
            <a:r>
              <a:rPr lang="en-GB" b="1" dirty="0">
                <a:solidFill>
                  <a:srgbClr val="00B050"/>
                </a:solidFill>
              </a:rPr>
              <a:t>G</a:t>
            </a:r>
            <a:r>
              <a:rPr lang="en-US" b="1" dirty="0">
                <a:solidFill>
                  <a:srgbClr val="00B050"/>
                </a:solidFill>
              </a:rPr>
              <a:t>ET</a:t>
            </a:r>
            <a:r>
              <a:rPr lang="en-GB" b="1" dirty="0">
                <a:solidFill>
                  <a:srgbClr val="00B050"/>
                </a:solidFill>
              </a:rPr>
              <a:t> All</a:t>
            </a:r>
          </a:p>
        </p:txBody>
      </p:sp>
      <p:sp>
        <p:nvSpPr>
          <p:cNvPr id="3" name="Content Placeholder 2">
            <a:extLst>
              <a:ext uri="{FF2B5EF4-FFF2-40B4-BE49-F238E27FC236}">
                <a16:creationId xmlns:a16="http://schemas.microsoft.com/office/drawing/2014/main" id="{D52694B0-C3AC-9FE0-080C-7C14F25556CC}"/>
              </a:ext>
            </a:extLst>
          </p:cNvPr>
          <p:cNvSpPr>
            <a:spLocks noGrp="1"/>
          </p:cNvSpPr>
          <p:nvPr>
            <p:ph idx="1"/>
          </p:nvPr>
        </p:nvSpPr>
        <p:spPr>
          <a:xfrm>
            <a:off x="555397" y="2082799"/>
            <a:ext cx="5596483" cy="4410075"/>
          </a:xfrm>
        </p:spPr>
        <p:txBody>
          <a:bodyPr>
            <a:normAutofit/>
          </a:bodyPr>
          <a:lstStyle/>
          <a:p>
            <a:pPr marL="514350" indent="-514350">
              <a:buFont typeface="+mj-lt"/>
              <a:buAutoNum type="arabicPeriod"/>
            </a:pPr>
            <a:r>
              <a:rPr lang="en-US" sz="2000" dirty="0"/>
              <a:t>HTTP request, type GET</a:t>
            </a:r>
            <a:endParaRPr lang="uk-UA" sz="2000" b="1" dirty="0"/>
          </a:p>
          <a:p>
            <a:pPr marL="457200" lvl="1" indent="0">
              <a:buNone/>
            </a:pPr>
            <a:r>
              <a:rPr lang="en-GB" dirty="0">
                <a:solidFill>
                  <a:srgbClr val="6699FF"/>
                </a:solidFill>
                <a:hlinkClick r:id="rId2">
                  <a:extLst>
                    <a:ext uri="{A12FA001-AC4F-418D-AE19-62706E023703}">
                      <ahyp:hlinkClr xmlns:ahyp="http://schemas.microsoft.com/office/drawing/2018/hyperlinkcolor" val="tx"/>
                    </a:ext>
                  </a:extLst>
                </a:hlinkClick>
              </a:rPr>
              <a:t>https://localhost:7067/api/projects</a:t>
            </a:r>
            <a:endParaRPr lang="uk-UA" dirty="0">
              <a:solidFill>
                <a:srgbClr val="6699FF"/>
              </a:solidFill>
            </a:endParaRPr>
          </a:p>
          <a:p>
            <a:pPr marL="457200" lvl="1" indent="0">
              <a:buNone/>
            </a:pPr>
            <a:endParaRPr lang="en-GB" dirty="0"/>
          </a:p>
          <a:p>
            <a:pPr marL="457200" lvl="1" indent="0">
              <a:buNone/>
            </a:pPr>
            <a:endParaRPr lang="en-GB" dirty="0"/>
          </a:p>
          <a:p>
            <a:pPr marL="514350" indent="-514350">
              <a:buFont typeface="+mj-lt"/>
              <a:buAutoNum type="arabicPeriod"/>
            </a:pPr>
            <a:r>
              <a:rPr lang="en-GB" sz="2000" b="1" dirty="0"/>
              <a:t>Middleware( Routing )</a:t>
            </a:r>
            <a:endParaRPr lang="uk-UA" sz="2000" b="1" dirty="0"/>
          </a:p>
          <a:p>
            <a:pPr marL="514350" indent="-514350">
              <a:buFont typeface="+mj-lt"/>
              <a:buAutoNum type="arabicPeriod"/>
            </a:pPr>
            <a:endParaRPr lang="en-GB" sz="2400" b="1" dirty="0"/>
          </a:p>
          <a:p>
            <a:pPr marL="514350" indent="-514350">
              <a:buFont typeface="+mj-lt"/>
              <a:buAutoNum type="arabicPeriod"/>
            </a:pPr>
            <a:endParaRPr lang="uk-UA" sz="2400" b="1" dirty="0"/>
          </a:p>
          <a:p>
            <a:pPr marL="514350" indent="-514350">
              <a:buFont typeface="+mj-lt"/>
              <a:buAutoNum type="arabicPeriod"/>
            </a:pPr>
            <a:r>
              <a:rPr lang="en-GB" sz="2000" b="1" dirty="0" err="1"/>
              <a:t>ProjectsController</a:t>
            </a:r>
            <a:r>
              <a:rPr lang="en-GB" sz="2000" b="1" dirty="0"/>
              <a:t>( </a:t>
            </a:r>
            <a:r>
              <a:rPr lang="en-GB" sz="2000" b="1" dirty="0" err="1"/>
              <a:t>GetAll</a:t>
            </a:r>
            <a:r>
              <a:rPr lang="en-GB" sz="2000" dirty="0"/>
              <a:t> </a:t>
            </a:r>
            <a:r>
              <a:rPr lang="en-GB" sz="2000" b="1" dirty="0"/>
              <a:t>)</a:t>
            </a:r>
            <a:endParaRPr lang="uk-UA" sz="2000" b="1" dirty="0"/>
          </a:p>
          <a:p>
            <a:pPr marL="514350" indent="-514350">
              <a:buFont typeface="+mj-lt"/>
              <a:buAutoNum type="arabicPeriod"/>
            </a:pPr>
            <a:endParaRPr lang="en-GB" sz="2400" b="1" dirty="0"/>
          </a:p>
          <a:p>
            <a:pPr marL="514350" indent="-514350">
              <a:buFont typeface="+mj-lt"/>
              <a:buAutoNum type="arabicPeriod"/>
            </a:pPr>
            <a:endParaRPr lang="en-GB" sz="2400" b="1" dirty="0"/>
          </a:p>
          <a:p>
            <a:pPr marL="514350" indent="-514350">
              <a:buFont typeface="+mj-lt"/>
              <a:buAutoNum type="arabicPeriod"/>
            </a:pPr>
            <a:r>
              <a:rPr lang="en-GB" sz="2000" b="1" dirty="0"/>
              <a:t>Repository( </a:t>
            </a:r>
            <a:r>
              <a:rPr lang="en-GB" sz="2000" b="1" dirty="0" err="1"/>
              <a:t>GetAllAsync</a:t>
            </a:r>
            <a:r>
              <a:rPr lang="en-GB" sz="2000" b="1" dirty="0"/>
              <a:t> )</a:t>
            </a:r>
            <a:endParaRPr lang="en-GB" sz="2000" dirty="0"/>
          </a:p>
          <a:p>
            <a:pPr marL="514350" indent="-514350">
              <a:buFont typeface="+mj-lt"/>
              <a:buAutoNum type="arabicPeriod"/>
            </a:pPr>
            <a:endParaRPr lang="en-GB" dirty="0"/>
          </a:p>
          <a:p>
            <a:pPr marL="514350" indent="-514350">
              <a:buFont typeface="+mj-lt"/>
              <a:buAutoNum type="arabicPeriod"/>
            </a:pPr>
            <a:endParaRPr lang="en-GB" dirty="0"/>
          </a:p>
          <a:p>
            <a:pPr marL="514350" indent="-514350">
              <a:buFont typeface="+mj-lt"/>
              <a:buAutoNum type="arabicPeriod"/>
            </a:pPr>
            <a:endParaRPr lang="uk-UA" dirty="0"/>
          </a:p>
          <a:p>
            <a:pPr marL="514350" indent="-514350">
              <a:buFont typeface="+mj-lt"/>
              <a:buAutoNum type="arabicPeriod"/>
            </a:pPr>
            <a:endParaRPr lang="en-GB" dirty="0"/>
          </a:p>
          <a:p>
            <a:pPr marL="514350" indent="-514350">
              <a:buFont typeface="+mj-lt"/>
              <a:buAutoNum type="arabicPeriod"/>
            </a:pPr>
            <a:endParaRPr lang="uk-UA" dirty="0"/>
          </a:p>
          <a:p>
            <a:pPr marL="514350" indent="-514350">
              <a:buFont typeface="+mj-lt"/>
              <a:buAutoNum type="arabicPeriod"/>
            </a:pPr>
            <a:endParaRPr lang="en-GB" dirty="0"/>
          </a:p>
          <a:p>
            <a:pPr marL="514350" indent="-514350">
              <a:buFont typeface="+mj-lt"/>
              <a:buAutoNum type="arabicPeriod"/>
            </a:pPr>
            <a:endParaRPr lang="en-GB" dirty="0"/>
          </a:p>
        </p:txBody>
      </p:sp>
      <p:sp>
        <p:nvSpPr>
          <p:cNvPr id="9" name="Content Placeholder 2">
            <a:extLst>
              <a:ext uri="{FF2B5EF4-FFF2-40B4-BE49-F238E27FC236}">
                <a16:creationId xmlns:a16="http://schemas.microsoft.com/office/drawing/2014/main" id="{0235059C-9AA0-294F-6A89-5E193E7B193D}"/>
              </a:ext>
            </a:extLst>
          </p:cNvPr>
          <p:cNvSpPr txBox="1">
            <a:spLocks/>
          </p:cNvSpPr>
          <p:nvPr/>
        </p:nvSpPr>
        <p:spPr>
          <a:xfrm>
            <a:off x="6554941" y="2082799"/>
            <a:ext cx="5637059" cy="46672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000" b="1" dirty="0"/>
              <a:t>9. </a:t>
            </a:r>
            <a:r>
              <a:rPr lang="en-US" sz="2000" dirty="0"/>
              <a:t>HTTP response</a:t>
            </a:r>
            <a:r>
              <a:rPr lang="uk-UA" sz="2000" dirty="0"/>
              <a:t> </a:t>
            </a:r>
            <a:r>
              <a:rPr lang="en-GB" sz="2000" dirty="0"/>
              <a:t>(Ok + JSON)</a:t>
            </a:r>
            <a:r>
              <a:rPr lang="en-GB" sz="2000" b="1" dirty="0"/>
              <a:t> </a:t>
            </a:r>
          </a:p>
          <a:p>
            <a:pPr marL="0" indent="0">
              <a:buNone/>
            </a:pPr>
            <a:endParaRPr lang="en-GB" sz="2400" b="1" dirty="0"/>
          </a:p>
          <a:p>
            <a:pPr marL="0" indent="0">
              <a:buNone/>
            </a:pPr>
            <a:r>
              <a:rPr lang="en-GB" sz="2000" b="1" dirty="0"/>
              <a:t>8. </a:t>
            </a:r>
            <a:r>
              <a:rPr lang="en-US" sz="2000" dirty="0"/>
              <a:t>Serialization</a:t>
            </a:r>
            <a:r>
              <a:rPr lang="uk-UA" sz="2000" dirty="0"/>
              <a:t> </a:t>
            </a:r>
            <a:r>
              <a:rPr lang="en-GB" sz="2000" dirty="0"/>
              <a:t>DTO -&gt; JSON</a:t>
            </a:r>
            <a:endParaRPr lang="en-GB" sz="2000" b="1" dirty="0"/>
          </a:p>
          <a:p>
            <a:pPr marL="0" indent="0">
              <a:buNone/>
            </a:pPr>
            <a:endParaRPr lang="en-GB" sz="2400" b="1" dirty="0"/>
          </a:p>
          <a:p>
            <a:pPr marL="0" indent="0">
              <a:buNone/>
            </a:pPr>
            <a:r>
              <a:rPr lang="en-GB" sz="2000" b="1" dirty="0"/>
              <a:t>7. </a:t>
            </a:r>
            <a:r>
              <a:rPr lang="pl-PL" sz="2000" b="1" dirty="0"/>
              <a:t>  </a:t>
            </a:r>
            <a:r>
              <a:rPr lang="en-GB" sz="2000" b="1" dirty="0" err="1"/>
              <a:t>ProjectsController</a:t>
            </a:r>
            <a:r>
              <a:rPr lang="en-GB" sz="2000" b="1" dirty="0"/>
              <a:t>( </a:t>
            </a:r>
            <a:r>
              <a:rPr lang="en-GB" sz="2000" b="1" dirty="0" err="1"/>
              <a:t>GetAll</a:t>
            </a:r>
            <a:r>
              <a:rPr lang="en-GB" sz="2000" b="1" dirty="0"/>
              <a:t> )	</a:t>
            </a:r>
          </a:p>
          <a:p>
            <a:pPr marL="0" indent="0">
              <a:buNone/>
            </a:pPr>
            <a:endParaRPr lang="en-GB" sz="2400" b="1" dirty="0"/>
          </a:p>
          <a:p>
            <a:pPr marL="0" indent="0">
              <a:buNone/>
            </a:pPr>
            <a:r>
              <a:rPr lang="en-GB" sz="2000" b="1" dirty="0"/>
              <a:t>6.   Repository( </a:t>
            </a:r>
            <a:r>
              <a:rPr lang="en-GB" sz="2000" b="1" dirty="0" err="1"/>
              <a:t>GetAllAsync</a:t>
            </a:r>
            <a:r>
              <a:rPr lang="en-GB" sz="2000" b="1" dirty="0"/>
              <a:t> )</a:t>
            </a:r>
          </a:p>
          <a:p>
            <a:pPr marL="457200" lvl="1" indent="0">
              <a:buNone/>
            </a:pPr>
            <a:r>
              <a:rPr lang="en-GB" sz="2000" dirty="0"/>
              <a:t>	</a:t>
            </a:r>
            <a:r>
              <a:rPr lang="en-US" sz="2000" dirty="0"/>
              <a:t> Maps Entity</a:t>
            </a:r>
            <a:r>
              <a:rPr lang="en-GB" sz="2000" dirty="0"/>
              <a:t> -&gt; DTO</a:t>
            </a:r>
          </a:p>
          <a:p>
            <a:pPr marL="0" indent="0">
              <a:buNone/>
            </a:pPr>
            <a:endParaRPr lang="en-GB" sz="2400" b="1" dirty="0"/>
          </a:p>
          <a:p>
            <a:pPr marL="0" indent="0">
              <a:buNone/>
            </a:pPr>
            <a:r>
              <a:rPr lang="uk-UA" sz="2000" b="1" dirty="0"/>
              <a:t>5.</a:t>
            </a:r>
            <a:r>
              <a:rPr lang="en-GB" sz="2000" b="1" dirty="0"/>
              <a:t>   </a:t>
            </a:r>
            <a:r>
              <a:rPr lang="en-GB" sz="2000" b="1" dirty="0" err="1"/>
              <a:t>AppDbContext</a:t>
            </a:r>
            <a:endParaRPr lang="en-GB" sz="2000" b="1" dirty="0"/>
          </a:p>
        </p:txBody>
      </p:sp>
      <p:cxnSp>
        <p:nvCxnSpPr>
          <p:cNvPr id="13" name="Straight Arrow Connector 12">
            <a:extLst>
              <a:ext uri="{FF2B5EF4-FFF2-40B4-BE49-F238E27FC236}">
                <a16:creationId xmlns:a16="http://schemas.microsoft.com/office/drawing/2014/main" id="{CB8F8FA3-C153-8DE8-6C14-F7DE31D804B4}"/>
              </a:ext>
            </a:extLst>
          </p:cNvPr>
          <p:cNvCxnSpPr/>
          <p:nvPr/>
        </p:nvCxnSpPr>
        <p:spPr>
          <a:xfrm>
            <a:off x="2409978" y="2843064"/>
            <a:ext cx="0" cy="659757"/>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4" name="Straight Arrow Connector 13">
            <a:extLst>
              <a:ext uri="{FF2B5EF4-FFF2-40B4-BE49-F238E27FC236}">
                <a16:creationId xmlns:a16="http://schemas.microsoft.com/office/drawing/2014/main" id="{D3D38AA8-47DB-F4FC-4B08-672A3E7E6549}"/>
              </a:ext>
            </a:extLst>
          </p:cNvPr>
          <p:cNvCxnSpPr/>
          <p:nvPr/>
        </p:nvCxnSpPr>
        <p:spPr>
          <a:xfrm>
            <a:off x="2419109" y="3950504"/>
            <a:ext cx="0" cy="659757"/>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5" name="Straight Arrow Connector 14">
            <a:extLst>
              <a:ext uri="{FF2B5EF4-FFF2-40B4-BE49-F238E27FC236}">
                <a16:creationId xmlns:a16="http://schemas.microsoft.com/office/drawing/2014/main" id="{BFFACEF1-0051-BAD3-36E3-13B945C01028}"/>
              </a:ext>
            </a:extLst>
          </p:cNvPr>
          <p:cNvCxnSpPr/>
          <p:nvPr/>
        </p:nvCxnSpPr>
        <p:spPr>
          <a:xfrm>
            <a:off x="2419109" y="5266224"/>
            <a:ext cx="0" cy="659757"/>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6" name="Straight Arrow Connector 15">
            <a:extLst>
              <a:ext uri="{FF2B5EF4-FFF2-40B4-BE49-F238E27FC236}">
                <a16:creationId xmlns:a16="http://schemas.microsoft.com/office/drawing/2014/main" id="{5D45CD63-257C-310E-15AF-40BC90CD9CFC}"/>
              </a:ext>
            </a:extLst>
          </p:cNvPr>
          <p:cNvCxnSpPr>
            <a:cxnSpLocks/>
          </p:cNvCxnSpPr>
          <p:nvPr/>
        </p:nvCxnSpPr>
        <p:spPr>
          <a:xfrm flipV="1">
            <a:off x="4494663" y="6104772"/>
            <a:ext cx="1865497" cy="205043"/>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8" name="Straight Arrow Connector 17">
            <a:extLst>
              <a:ext uri="{FF2B5EF4-FFF2-40B4-BE49-F238E27FC236}">
                <a16:creationId xmlns:a16="http://schemas.microsoft.com/office/drawing/2014/main" id="{4E8D6553-8C17-623A-A30D-C5D88550FDE4}"/>
              </a:ext>
            </a:extLst>
          </p:cNvPr>
          <p:cNvCxnSpPr>
            <a:cxnSpLocks/>
          </p:cNvCxnSpPr>
          <p:nvPr/>
        </p:nvCxnSpPr>
        <p:spPr>
          <a:xfrm flipV="1">
            <a:off x="8253007" y="5384800"/>
            <a:ext cx="0" cy="54118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21" name="Straight Arrow Connector 20">
            <a:extLst>
              <a:ext uri="{FF2B5EF4-FFF2-40B4-BE49-F238E27FC236}">
                <a16:creationId xmlns:a16="http://schemas.microsoft.com/office/drawing/2014/main" id="{83D6A433-2534-194E-45C3-FE87E7C0BBC0}"/>
              </a:ext>
            </a:extLst>
          </p:cNvPr>
          <p:cNvCxnSpPr>
            <a:cxnSpLocks/>
          </p:cNvCxnSpPr>
          <p:nvPr/>
        </p:nvCxnSpPr>
        <p:spPr>
          <a:xfrm flipV="1">
            <a:off x="8265225" y="4145833"/>
            <a:ext cx="0" cy="54118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22" name="Straight Arrow Connector 21">
            <a:extLst>
              <a:ext uri="{FF2B5EF4-FFF2-40B4-BE49-F238E27FC236}">
                <a16:creationId xmlns:a16="http://schemas.microsoft.com/office/drawing/2014/main" id="{7CA625A7-FC3D-BBAD-F1B5-F1A6749FCCB6}"/>
              </a:ext>
            </a:extLst>
          </p:cNvPr>
          <p:cNvCxnSpPr>
            <a:cxnSpLocks/>
          </p:cNvCxnSpPr>
          <p:nvPr/>
        </p:nvCxnSpPr>
        <p:spPr>
          <a:xfrm flipV="1">
            <a:off x="8240789" y="3291840"/>
            <a:ext cx="0" cy="54118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23" name="Straight Arrow Connector 22">
            <a:extLst>
              <a:ext uri="{FF2B5EF4-FFF2-40B4-BE49-F238E27FC236}">
                <a16:creationId xmlns:a16="http://schemas.microsoft.com/office/drawing/2014/main" id="{9FF03A51-FCEB-A667-63D8-ED2FF927D1FB}"/>
              </a:ext>
            </a:extLst>
          </p:cNvPr>
          <p:cNvCxnSpPr>
            <a:cxnSpLocks/>
          </p:cNvCxnSpPr>
          <p:nvPr/>
        </p:nvCxnSpPr>
        <p:spPr>
          <a:xfrm flipV="1">
            <a:off x="8240789" y="2438400"/>
            <a:ext cx="0" cy="54118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pic>
        <p:nvPicPr>
          <p:cNvPr id="8" name="Picture 7" descr="A blue arrow pointing to a cloud&#10;&#10;AI-generated content may be incorrect.">
            <a:extLst>
              <a:ext uri="{FF2B5EF4-FFF2-40B4-BE49-F238E27FC236}">
                <a16:creationId xmlns:a16="http://schemas.microsoft.com/office/drawing/2014/main" id="{C18BD892-E7F3-535C-02EF-EA5591B004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0451" y="107951"/>
            <a:ext cx="2370161" cy="2370161"/>
          </a:xfrm>
          <a:prstGeom prst="rect">
            <a:avLst/>
          </a:prstGeom>
        </p:spPr>
      </p:pic>
    </p:spTree>
    <p:extLst>
      <p:ext uri="{BB962C8B-B14F-4D97-AF65-F5344CB8AC3E}">
        <p14:creationId xmlns:p14="http://schemas.microsoft.com/office/powerpoint/2010/main" val="30389293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58CF6-6DF3-31B1-B5BC-859C8E243B0C}"/>
              </a:ext>
            </a:extLst>
          </p:cNvPr>
          <p:cNvSpPr>
            <a:spLocks noGrp="1"/>
          </p:cNvSpPr>
          <p:nvPr>
            <p:ph type="title"/>
          </p:nvPr>
        </p:nvSpPr>
        <p:spPr/>
        <p:txBody>
          <a:bodyPr/>
          <a:lstStyle/>
          <a:p>
            <a:r>
              <a:rPr lang="en-US" b="1" dirty="0"/>
              <a:t>Code: Endpoint</a:t>
            </a:r>
            <a:r>
              <a:rPr lang="uk-UA" b="1" dirty="0"/>
              <a:t> </a:t>
            </a:r>
            <a:r>
              <a:rPr lang="en-GB" b="1" dirty="0">
                <a:solidFill>
                  <a:srgbClr val="00B050"/>
                </a:solidFill>
              </a:rPr>
              <a:t>Get All</a:t>
            </a:r>
          </a:p>
        </p:txBody>
      </p:sp>
      <p:pic>
        <p:nvPicPr>
          <p:cNvPr id="7" name="Picture 6">
            <a:extLst>
              <a:ext uri="{FF2B5EF4-FFF2-40B4-BE49-F238E27FC236}">
                <a16:creationId xmlns:a16="http://schemas.microsoft.com/office/drawing/2014/main" id="{897CDA6B-0465-4ACC-FB5E-EE2A8D016033}"/>
              </a:ext>
            </a:extLst>
          </p:cNvPr>
          <p:cNvPicPr>
            <a:picLocks noChangeAspect="1"/>
          </p:cNvPicPr>
          <p:nvPr/>
        </p:nvPicPr>
        <p:blipFill>
          <a:blip r:embed="rId2"/>
          <a:stretch>
            <a:fillRect/>
          </a:stretch>
        </p:blipFill>
        <p:spPr>
          <a:xfrm>
            <a:off x="1144571" y="2932576"/>
            <a:ext cx="10209229" cy="2574761"/>
          </a:xfrm>
          <a:prstGeom prst="rect">
            <a:avLst/>
          </a:prstGeom>
        </p:spPr>
      </p:pic>
      <p:pic>
        <p:nvPicPr>
          <p:cNvPr id="4" name="Picture 3" descr="A blue arrow pointing to a cloud&#10;&#10;AI-generated content may be incorrect.">
            <a:extLst>
              <a:ext uri="{FF2B5EF4-FFF2-40B4-BE49-F238E27FC236}">
                <a16:creationId xmlns:a16="http://schemas.microsoft.com/office/drawing/2014/main" id="{3C723D56-42A8-BC85-849E-FDF6CEF7D5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0451" y="107951"/>
            <a:ext cx="2370161" cy="2370161"/>
          </a:xfrm>
          <a:prstGeom prst="rect">
            <a:avLst/>
          </a:prstGeom>
        </p:spPr>
      </p:pic>
    </p:spTree>
    <p:extLst>
      <p:ext uri="{BB962C8B-B14F-4D97-AF65-F5344CB8AC3E}">
        <p14:creationId xmlns:p14="http://schemas.microsoft.com/office/powerpoint/2010/main" val="33938153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20B89-CA81-919C-ECE6-5C7216E8EA2A}"/>
              </a:ext>
            </a:extLst>
          </p:cNvPr>
          <p:cNvSpPr>
            <a:spLocks noGrp="1"/>
          </p:cNvSpPr>
          <p:nvPr>
            <p:ph type="title"/>
          </p:nvPr>
        </p:nvSpPr>
        <p:spPr>
          <a:xfrm>
            <a:off x="929639" y="615115"/>
            <a:ext cx="8098411" cy="1325563"/>
          </a:xfrm>
        </p:spPr>
        <p:txBody>
          <a:bodyPr>
            <a:normAutofit/>
          </a:bodyPr>
          <a:lstStyle/>
          <a:p>
            <a:r>
              <a:rPr lang="en-US" b="1" dirty="0"/>
              <a:t>Req/</a:t>
            </a:r>
            <a:r>
              <a:rPr lang="pl-PL" b="1" dirty="0"/>
              <a:t>R</a:t>
            </a:r>
            <a:r>
              <a:rPr lang="en-US" b="1" dirty="0" err="1"/>
              <a:t>esp</a:t>
            </a:r>
            <a:r>
              <a:rPr lang="en-US" b="1" dirty="0"/>
              <a:t> HTTP lifecycle</a:t>
            </a:r>
            <a:r>
              <a:rPr lang="en-GB" b="1" dirty="0"/>
              <a:t> </a:t>
            </a:r>
            <a:r>
              <a:rPr lang="uk-UA" b="1" dirty="0"/>
              <a:t>-</a:t>
            </a:r>
            <a:r>
              <a:rPr lang="en-GB" b="1" dirty="0"/>
              <a:t> </a:t>
            </a:r>
            <a:r>
              <a:rPr lang="en-GB" b="1" dirty="0">
                <a:solidFill>
                  <a:srgbClr val="00B050"/>
                </a:solidFill>
              </a:rPr>
              <a:t>Get</a:t>
            </a:r>
            <a:r>
              <a:rPr lang="uk-UA" b="1" dirty="0">
                <a:solidFill>
                  <a:srgbClr val="00B050"/>
                </a:solidFill>
              </a:rPr>
              <a:t> </a:t>
            </a:r>
            <a:r>
              <a:rPr lang="en-GB" b="1" dirty="0">
                <a:solidFill>
                  <a:srgbClr val="00B050"/>
                </a:solidFill>
              </a:rPr>
              <a:t>by ID </a:t>
            </a:r>
            <a:r>
              <a:rPr lang="en-GB" b="1" dirty="0"/>
              <a:t>with employees</a:t>
            </a:r>
          </a:p>
        </p:txBody>
      </p:sp>
      <p:sp>
        <p:nvSpPr>
          <p:cNvPr id="6" name="Content Placeholder 2">
            <a:extLst>
              <a:ext uri="{FF2B5EF4-FFF2-40B4-BE49-F238E27FC236}">
                <a16:creationId xmlns:a16="http://schemas.microsoft.com/office/drawing/2014/main" id="{FADACF43-9364-1D39-08F2-CF86E2A96240}"/>
              </a:ext>
            </a:extLst>
          </p:cNvPr>
          <p:cNvSpPr>
            <a:spLocks noGrp="1"/>
          </p:cNvSpPr>
          <p:nvPr>
            <p:ph idx="1"/>
          </p:nvPr>
        </p:nvSpPr>
        <p:spPr>
          <a:xfrm>
            <a:off x="534374" y="2069465"/>
            <a:ext cx="5637059" cy="4667250"/>
          </a:xfrm>
        </p:spPr>
        <p:txBody>
          <a:bodyPr>
            <a:normAutofit/>
          </a:bodyPr>
          <a:lstStyle/>
          <a:p>
            <a:pPr marL="514350" indent="-514350">
              <a:buFont typeface="+mj-lt"/>
              <a:buAutoNum type="arabicPeriod"/>
            </a:pPr>
            <a:r>
              <a:rPr lang="en-US" sz="2000" b="1" dirty="0"/>
              <a:t>HTTP request, type</a:t>
            </a:r>
            <a:r>
              <a:rPr lang="en-GB" sz="2000" b="1" dirty="0"/>
              <a:t> GET (by Id) </a:t>
            </a:r>
            <a:endParaRPr lang="uk-UA" sz="2000" b="1" dirty="0"/>
          </a:p>
          <a:p>
            <a:pPr marL="457200" lvl="1" indent="0">
              <a:buNone/>
            </a:pPr>
            <a:r>
              <a:rPr lang="en-GB" dirty="0">
                <a:solidFill>
                  <a:srgbClr val="6699FF"/>
                </a:solidFill>
                <a:hlinkClick r:id="rId2">
                  <a:extLst>
                    <a:ext uri="{A12FA001-AC4F-418D-AE19-62706E023703}">
                      <ahyp:hlinkClr xmlns:ahyp="http://schemas.microsoft.com/office/drawing/2018/hyperlinkcolor" val="tx"/>
                    </a:ext>
                  </a:extLst>
                </a:hlinkClick>
              </a:rPr>
              <a:t>https://localhost:7067/api/projects/1/with-employees</a:t>
            </a:r>
            <a:endParaRPr lang="en-GB" dirty="0">
              <a:solidFill>
                <a:srgbClr val="6699FF"/>
              </a:solidFill>
            </a:endParaRPr>
          </a:p>
          <a:p>
            <a:pPr marL="457200" lvl="1" indent="0">
              <a:buNone/>
            </a:pPr>
            <a:endParaRPr lang="en-GB" dirty="0"/>
          </a:p>
          <a:p>
            <a:pPr marL="514350" indent="-514350">
              <a:buFont typeface="+mj-lt"/>
              <a:buAutoNum type="arabicPeriod"/>
            </a:pPr>
            <a:r>
              <a:rPr lang="en-GB" sz="2000" b="1" dirty="0"/>
              <a:t>Middleware( Routing )</a:t>
            </a:r>
            <a:endParaRPr lang="uk-UA" sz="2000" b="1" dirty="0"/>
          </a:p>
          <a:p>
            <a:pPr marL="514350" indent="-514350">
              <a:buFont typeface="+mj-lt"/>
              <a:buAutoNum type="arabicPeriod"/>
            </a:pPr>
            <a:endParaRPr lang="en-GB" sz="2400" b="1" dirty="0"/>
          </a:p>
          <a:p>
            <a:pPr marL="514350" indent="-514350">
              <a:buFont typeface="+mj-lt"/>
              <a:buAutoNum type="arabicPeriod"/>
            </a:pPr>
            <a:endParaRPr lang="uk-UA" sz="2400" b="1" dirty="0"/>
          </a:p>
          <a:p>
            <a:pPr marL="514350" indent="-514350">
              <a:buFont typeface="+mj-lt"/>
              <a:buAutoNum type="arabicPeriod"/>
            </a:pPr>
            <a:r>
              <a:rPr lang="en-GB" sz="2000" b="1" dirty="0" err="1"/>
              <a:t>ProjectsController</a:t>
            </a:r>
            <a:r>
              <a:rPr lang="en-GB" sz="2000" b="1" dirty="0"/>
              <a:t>( </a:t>
            </a:r>
            <a:r>
              <a:rPr lang="en-GB" sz="2000" b="1" dirty="0" err="1"/>
              <a:t>GetWithEmployees</a:t>
            </a:r>
            <a:r>
              <a:rPr lang="en-GB" sz="2000" dirty="0"/>
              <a:t> </a:t>
            </a:r>
            <a:r>
              <a:rPr lang="en-GB" sz="2000" b="1" dirty="0"/>
              <a:t>)</a:t>
            </a:r>
            <a:endParaRPr lang="uk-UA" sz="2000" b="1" dirty="0"/>
          </a:p>
          <a:p>
            <a:pPr marL="514350" indent="-514350">
              <a:buFont typeface="+mj-lt"/>
              <a:buAutoNum type="arabicPeriod"/>
            </a:pPr>
            <a:endParaRPr lang="en-GB" sz="2400" b="1" dirty="0"/>
          </a:p>
          <a:p>
            <a:pPr marL="514350" indent="-514350">
              <a:buFont typeface="+mj-lt"/>
              <a:buAutoNum type="arabicPeriod"/>
            </a:pPr>
            <a:endParaRPr lang="en-GB" sz="2400" b="1" dirty="0"/>
          </a:p>
          <a:p>
            <a:pPr marL="514350" indent="-514350">
              <a:buFont typeface="+mj-lt"/>
              <a:buAutoNum type="arabicPeriod"/>
            </a:pPr>
            <a:r>
              <a:rPr lang="en-GB" sz="2000" b="1" dirty="0"/>
              <a:t>Repository( </a:t>
            </a:r>
            <a:r>
              <a:rPr lang="en-GB" sz="2000" b="1" dirty="0" err="1"/>
              <a:t>GetWithEmployeesAsync</a:t>
            </a:r>
            <a:r>
              <a:rPr lang="en-GB" sz="2000" b="1" dirty="0"/>
              <a:t> )</a:t>
            </a:r>
            <a:endParaRPr lang="en-GB" sz="2000" dirty="0"/>
          </a:p>
          <a:p>
            <a:pPr marL="514350" indent="-514350">
              <a:buFont typeface="+mj-lt"/>
              <a:buAutoNum type="arabicPeriod"/>
            </a:pPr>
            <a:endParaRPr lang="en-GB" dirty="0"/>
          </a:p>
          <a:p>
            <a:pPr marL="514350" indent="-514350">
              <a:buFont typeface="+mj-lt"/>
              <a:buAutoNum type="arabicPeriod"/>
            </a:pPr>
            <a:endParaRPr lang="en-GB" dirty="0"/>
          </a:p>
          <a:p>
            <a:pPr marL="514350" indent="-514350">
              <a:buFont typeface="+mj-lt"/>
              <a:buAutoNum type="arabicPeriod"/>
            </a:pPr>
            <a:endParaRPr lang="uk-UA" dirty="0"/>
          </a:p>
          <a:p>
            <a:pPr marL="514350" indent="-514350">
              <a:buFont typeface="+mj-lt"/>
              <a:buAutoNum type="arabicPeriod"/>
            </a:pPr>
            <a:endParaRPr lang="en-GB" dirty="0"/>
          </a:p>
          <a:p>
            <a:pPr marL="514350" indent="-514350">
              <a:buFont typeface="+mj-lt"/>
              <a:buAutoNum type="arabicPeriod"/>
            </a:pPr>
            <a:endParaRPr lang="uk-UA" dirty="0"/>
          </a:p>
          <a:p>
            <a:pPr marL="514350" indent="-514350">
              <a:buFont typeface="+mj-lt"/>
              <a:buAutoNum type="arabicPeriod"/>
            </a:pPr>
            <a:endParaRPr lang="en-GB" dirty="0"/>
          </a:p>
          <a:p>
            <a:pPr marL="514350" indent="-514350">
              <a:buFont typeface="+mj-lt"/>
              <a:buAutoNum type="arabicPeriod"/>
            </a:pPr>
            <a:endParaRPr lang="en-GB" dirty="0"/>
          </a:p>
        </p:txBody>
      </p:sp>
      <p:pic>
        <p:nvPicPr>
          <p:cNvPr id="7" name="Picture 6">
            <a:extLst>
              <a:ext uri="{FF2B5EF4-FFF2-40B4-BE49-F238E27FC236}">
                <a16:creationId xmlns:a16="http://schemas.microsoft.com/office/drawing/2014/main" id="{F1F23EE2-F42D-79E0-B9AA-733AA2D4A50A}"/>
              </a:ext>
            </a:extLst>
          </p:cNvPr>
          <p:cNvPicPr>
            <a:picLocks noChangeAspect="1"/>
          </p:cNvPicPr>
          <p:nvPr/>
        </p:nvPicPr>
        <p:blipFill>
          <a:blip r:embed="rId3"/>
          <a:stretch>
            <a:fillRect/>
          </a:stretch>
        </p:blipFill>
        <p:spPr>
          <a:xfrm>
            <a:off x="10416540" y="432075"/>
            <a:ext cx="1691641" cy="1691641"/>
          </a:xfrm>
          <a:prstGeom prst="rect">
            <a:avLst/>
          </a:prstGeom>
        </p:spPr>
      </p:pic>
      <p:sp>
        <p:nvSpPr>
          <p:cNvPr id="8" name="Content Placeholder 2">
            <a:extLst>
              <a:ext uri="{FF2B5EF4-FFF2-40B4-BE49-F238E27FC236}">
                <a16:creationId xmlns:a16="http://schemas.microsoft.com/office/drawing/2014/main" id="{203C0356-E978-9B94-21B5-C05604992EB8}"/>
              </a:ext>
            </a:extLst>
          </p:cNvPr>
          <p:cNvSpPr txBox="1">
            <a:spLocks/>
          </p:cNvSpPr>
          <p:nvPr/>
        </p:nvSpPr>
        <p:spPr>
          <a:xfrm>
            <a:off x="6554941" y="2069465"/>
            <a:ext cx="5637059" cy="46672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000" b="1" dirty="0"/>
              <a:t>9. </a:t>
            </a:r>
            <a:r>
              <a:rPr lang="en-US" sz="2000" dirty="0"/>
              <a:t>HTTP response</a:t>
            </a:r>
            <a:r>
              <a:rPr lang="en-GB" sz="2000" b="1" dirty="0"/>
              <a:t> </a:t>
            </a:r>
            <a:r>
              <a:rPr lang="en-GB" sz="2000" dirty="0"/>
              <a:t>(Ok + JSON)</a:t>
            </a:r>
            <a:r>
              <a:rPr lang="en-GB" sz="2000" b="1" dirty="0"/>
              <a:t> </a:t>
            </a:r>
          </a:p>
          <a:p>
            <a:pPr marL="0" indent="0">
              <a:buNone/>
            </a:pPr>
            <a:endParaRPr lang="en-GB" sz="2400" b="1" dirty="0"/>
          </a:p>
          <a:p>
            <a:pPr marL="0" indent="0">
              <a:buNone/>
            </a:pPr>
            <a:r>
              <a:rPr lang="en-GB" sz="2000" b="1" dirty="0"/>
              <a:t>8. </a:t>
            </a:r>
            <a:r>
              <a:rPr lang="pl-PL" sz="2000" b="1" dirty="0"/>
              <a:t> </a:t>
            </a:r>
            <a:r>
              <a:rPr lang="en-US" sz="2000" dirty="0"/>
              <a:t>Serialization</a:t>
            </a:r>
            <a:r>
              <a:rPr lang="uk-UA" sz="2000" dirty="0"/>
              <a:t> </a:t>
            </a:r>
            <a:r>
              <a:rPr lang="en-GB" sz="2000" dirty="0"/>
              <a:t>DTO -&gt; JSON</a:t>
            </a:r>
            <a:endParaRPr lang="en-GB" sz="2000" b="1" dirty="0"/>
          </a:p>
          <a:p>
            <a:pPr marL="0" indent="0">
              <a:buNone/>
            </a:pPr>
            <a:endParaRPr lang="en-GB" sz="2400" b="1" dirty="0"/>
          </a:p>
          <a:p>
            <a:pPr marL="0" indent="0">
              <a:buNone/>
            </a:pPr>
            <a:r>
              <a:rPr lang="en-GB" sz="2000" b="1" dirty="0"/>
              <a:t>7. </a:t>
            </a:r>
            <a:r>
              <a:rPr lang="pl-PL" sz="2000" b="1" dirty="0"/>
              <a:t>  </a:t>
            </a:r>
            <a:r>
              <a:rPr lang="en-GB" sz="2000" b="1" dirty="0" err="1"/>
              <a:t>ProjectsController</a:t>
            </a:r>
            <a:r>
              <a:rPr lang="en-GB" sz="2000" b="1" dirty="0"/>
              <a:t>( </a:t>
            </a:r>
            <a:r>
              <a:rPr lang="en-GB" sz="2000" b="1" dirty="0" err="1"/>
              <a:t>GetWithEmployees</a:t>
            </a:r>
            <a:r>
              <a:rPr lang="en-GB" sz="2000" b="1" dirty="0"/>
              <a:t> )	</a:t>
            </a:r>
          </a:p>
          <a:p>
            <a:pPr marL="0" indent="0">
              <a:buNone/>
            </a:pPr>
            <a:endParaRPr lang="en-GB" sz="2400" b="1" dirty="0"/>
          </a:p>
          <a:p>
            <a:pPr marL="0" indent="0">
              <a:buNone/>
            </a:pPr>
            <a:r>
              <a:rPr lang="en-GB" sz="2000" b="1" dirty="0"/>
              <a:t>6.   Repository( </a:t>
            </a:r>
            <a:r>
              <a:rPr lang="en-GB" sz="2000" b="1" dirty="0" err="1"/>
              <a:t>GetWithEmployeesAsync</a:t>
            </a:r>
            <a:r>
              <a:rPr lang="en-GB" sz="2000" b="1" dirty="0"/>
              <a:t> )</a:t>
            </a:r>
          </a:p>
          <a:p>
            <a:pPr marL="457200" lvl="1" indent="0">
              <a:buNone/>
            </a:pPr>
            <a:r>
              <a:rPr lang="en-GB" sz="2000" dirty="0"/>
              <a:t>	</a:t>
            </a:r>
            <a:r>
              <a:rPr lang="en-US" sz="2000" dirty="0"/>
              <a:t> Maps Entity</a:t>
            </a:r>
            <a:r>
              <a:rPr lang="en-GB" sz="2000" dirty="0"/>
              <a:t> -&gt; DTO</a:t>
            </a:r>
          </a:p>
          <a:p>
            <a:pPr marL="0" indent="0">
              <a:buNone/>
            </a:pPr>
            <a:endParaRPr lang="en-GB" sz="2400" b="1" dirty="0"/>
          </a:p>
          <a:p>
            <a:pPr marL="0" indent="0">
              <a:buNone/>
            </a:pPr>
            <a:r>
              <a:rPr lang="uk-UA" sz="2000" b="1" dirty="0"/>
              <a:t>5.</a:t>
            </a:r>
            <a:r>
              <a:rPr lang="en-GB" sz="2000" b="1" dirty="0"/>
              <a:t>   </a:t>
            </a:r>
            <a:r>
              <a:rPr lang="en-GB" sz="2000" b="1" dirty="0" err="1"/>
              <a:t>AppDbContext</a:t>
            </a:r>
            <a:endParaRPr lang="en-GB" sz="2000" b="1" dirty="0"/>
          </a:p>
        </p:txBody>
      </p:sp>
      <p:cxnSp>
        <p:nvCxnSpPr>
          <p:cNvPr id="9" name="Straight Arrow Connector 8">
            <a:extLst>
              <a:ext uri="{FF2B5EF4-FFF2-40B4-BE49-F238E27FC236}">
                <a16:creationId xmlns:a16="http://schemas.microsoft.com/office/drawing/2014/main" id="{F378F77A-065A-F82E-A525-6C9274A7434D}"/>
              </a:ext>
            </a:extLst>
          </p:cNvPr>
          <p:cNvCxnSpPr>
            <a:cxnSpLocks/>
          </p:cNvCxnSpPr>
          <p:nvPr/>
        </p:nvCxnSpPr>
        <p:spPr>
          <a:xfrm>
            <a:off x="2419109" y="3022599"/>
            <a:ext cx="0" cy="406400"/>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4" name="Straight Arrow Connector 13">
            <a:extLst>
              <a:ext uri="{FF2B5EF4-FFF2-40B4-BE49-F238E27FC236}">
                <a16:creationId xmlns:a16="http://schemas.microsoft.com/office/drawing/2014/main" id="{8AA670D9-89EE-3E58-46BC-9793C0913957}"/>
              </a:ext>
            </a:extLst>
          </p:cNvPr>
          <p:cNvCxnSpPr>
            <a:cxnSpLocks/>
          </p:cNvCxnSpPr>
          <p:nvPr/>
        </p:nvCxnSpPr>
        <p:spPr>
          <a:xfrm>
            <a:off x="2419109" y="3911600"/>
            <a:ext cx="0" cy="701040"/>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6" name="Straight Arrow Connector 15">
            <a:extLst>
              <a:ext uri="{FF2B5EF4-FFF2-40B4-BE49-F238E27FC236}">
                <a16:creationId xmlns:a16="http://schemas.microsoft.com/office/drawing/2014/main" id="{BAD2C496-65A4-BBAA-A2A6-1A2E263CC8B3}"/>
              </a:ext>
            </a:extLst>
          </p:cNvPr>
          <p:cNvCxnSpPr>
            <a:cxnSpLocks/>
          </p:cNvCxnSpPr>
          <p:nvPr/>
        </p:nvCxnSpPr>
        <p:spPr>
          <a:xfrm>
            <a:off x="2419109" y="5275741"/>
            <a:ext cx="0" cy="701040"/>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7" name="Straight Arrow Connector 16">
            <a:extLst>
              <a:ext uri="{FF2B5EF4-FFF2-40B4-BE49-F238E27FC236}">
                <a16:creationId xmlns:a16="http://schemas.microsoft.com/office/drawing/2014/main" id="{5668F6F4-4ACB-DA24-4D70-96660098DDCC}"/>
              </a:ext>
            </a:extLst>
          </p:cNvPr>
          <p:cNvCxnSpPr>
            <a:cxnSpLocks/>
          </p:cNvCxnSpPr>
          <p:nvPr/>
        </p:nvCxnSpPr>
        <p:spPr>
          <a:xfrm>
            <a:off x="5791200" y="6299200"/>
            <a:ext cx="726440" cy="0"/>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8" name="Straight Arrow Connector 17">
            <a:extLst>
              <a:ext uri="{FF2B5EF4-FFF2-40B4-BE49-F238E27FC236}">
                <a16:creationId xmlns:a16="http://schemas.microsoft.com/office/drawing/2014/main" id="{4E9CAEBE-C0DE-6100-8B37-FA84D15F6141}"/>
              </a:ext>
            </a:extLst>
          </p:cNvPr>
          <p:cNvCxnSpPr>
            <a:cxnSpLocks/>
          </p:cNvCxnSpPr>
          <p:nvPr/>
        </p:nvCxnSpPr>
        <p:spPr>
          <a:xfrm flipV="1">
            <a:off x="8282588" y="5558870"/>
            <a:ext cx="0" cy="54118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9" name="Straight Arrow Connector 18">
            <a:extLst>
              <a:ext uri="{FF2B5EF4-FFF2-40B4-BE49-F238E27FC236}">
                <a16:creationId xmlns:a16="http://schemas.microsoft.com/office/drawing/2014/main" id="{B082C917-B526-6C2D-3B90-5A93AFE6B775}"/>
              </a:ext>
            </a:extLst>
          </p:cNvPr>
          <p:cNvCxnSpPr>
            <a:cxnSpLocks/>
          </p:cNvCxnSpPr>
          <p:nvPr/>
        </p:nvCxnSpPr>
        <p:spPr>
          <a:xfrm flipV="1">
            <a:off x="8241818" y="4241800"/>
            <a:ext cx="0" cy="54118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20" name="Straight Arrow Connector 19">
            <a:extLst>
              <a:ext uri="{FF2B5EF4-FFF2-40B4-BE49-F238E27FC236}">
                <a16:creationId xmlns:a16="http://schemas.microsoft.com/office/drawing/2014/main" id="{73B7FDF1-FDD6-8C0C-59A8-B8E2F5C108AD}"/>
              </a:ext>
            </a:extLst>
          </p:cNvPr>
          <p:cNvCxnSpPr>
            <a:cxnSpLocks/>
          </p:cNvCxnSpPr>
          <p:nvPr/>
        </p:nvCxnSpPr>
        <p:spPr>
          <a:xfrm flipV="1">
            <a:off x="8235774" y="3280329"/>
            <a:ext cx="0" cy="54118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21" name="Straight Arrow Connector 20">
            <a:extLst>
              <a:ext uri="{FF2B5EF4-FFF2-40B4-BE49-F238E27FC236}">
                <a16:creationId xmlns:a16="http://schemas.microsoft.com/office/drawing/2014/main" id="{CAFFE5D4-C51B-6419-0F9E-EF83CC9E1E4D}"/>
              </a:ext>
            </a:extLst>
          </p:cNvPr>
          <p:cNvCxnSpPr>
            <a:cxnSpLocks/>
          </p:cNvCxnSpPr>
          <p:nvPr/>
        </p:nvCxnSpPr>
        <p:spPr>
          <a:xfrm flipV="1">
            <a:off x="8237832" y="2387600"/>
            <a:ext cx="0" cy="54118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2966473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64104-ECEE-D506-0844-C9669DC6362B}"/>
              </a:ext>
            </a:extLst>
          </p:cNvPr>
          <p:cNvSpPr>
            <a:spLocks noGrp="1"/>
          </p:cNvSpPr>
          <p:nvPr>
            <p:ph type="title"/>
          </p:nvPr>
        </p:nvSpPr>
        <p:spPr/>
        <p:txBody>
          <a:bodyPr/>
          <a:lstStyle/>
          <a:p>
            <a:r>
              <a:rPr lang="en-US" b="1" dirty="0"/>
              <a:t>Code: Endpoint</a:t>
            </a:r>
            <a:r>
              <a:rPr lang="uk-UA" b="1" dirty="0"/>
              <a:t> </a:t>
            </a:r>
            <a:r>
              <a:rPr lang="en-GB" b="1" dirty="0">
                <a:solidFill>
                  <a:srgbClr val="00B050"/>
                </a:solidFill>
              </a:rPr>
              <a:t>Get by Id</a:t>
            </a:r>
            <a:endParaRPr lang="en-GB" dirty="0">
              <a:solidFill>
                <a:srgbClr val="00B050"/>
              </a:solidFill>
            </a:endParaRPr>
          </a:p>
        </p:txBody>
      </p:sp>
      <p:pic>
        <p:nvPicPr>
          <p:cNvPr id="5" name="Picture 4">
            <a:extLst>
              <a:ext uri="{FF2B5EF4-FFF2-40B4-BE49-F238E27FC236}">
                <a16:creationId xmlns:a16="http://schemas.microsoft.com/office/drawing/2014/main" id="{85B7D4E2-805B-08BB-1187-BD22C64EA7E3}"/>
              </a:ext>
            </a:extLst>
          </p:cNvPr>
          <p:cNvPicPr>
            <a:picLocks noChangeAspect="1"/>
          </p:cNvPicPr>
          <p:nvPr/>
        </p:nvPicPr>
        <p:blipFill>
          <a:blip r:embed="rId2"/>
          <a:stretch>
            <a:fillRect/>
          </a:stretch>
        </p:blipFill>
        <p:spPr>
          <a:xfrm>
            <a:off x="1271596" y="3162716"/>
            <a:ext cx="9648807" cy="1868196"/>
          </a:xfrm>
          <a:prstGeom prst="rect">
            <a:avLst/>
          </a:prstGeom>
        </p:spPr>
      </p:pic>
      <p:pic>
        <p:nvPicPr>
          <p:cNvPr id="6" name="Picture 5">
            <a:extLst>
              <a:ext uri="{FF2B5EF4-FFF2-40B4-BE49-F238E27FC236}">
                <a16:creationId xmlns:a16="http://schemas.microsoft.com/office/drawing/2014/main" id="{A8B6C363-87E2-73E0-B844-A3727672CCD8}"/>
              </a:ext>
            </a:extLst>
          </p:cNvPr>
          <p:cNvPicPr>
            <a:picLocks noChangeAspect="1"/>
          </p:cNvPicPr>
          <p:nvPr/>
        </p:nvPicPr>
        <p:blipFill>
          <a:blip r:embed="rId3"/>
          <a:stretch>
            <a:fillRect/>
          </a:stretch>
        </p:blipFill>
        <p:spPr>
          <a:xfrm>
            <a:off x="10434694" y="424667"/>
            <a:ext cx="1667989" cy="1667989"/>
          </a:xfrm>
          <a:prstGeom prst="rect">
            <a:avLst/>
          </a:prstGeom>
        </p:spPr>
      </p:pic>
    </p:spTree>
    <p:extLst>
      <p:ext uri="{BB962C8B-B14F-4D97-AF65-F5344CB8AC3E}">
        <p14:creationId xmlns:p14="http://schemas.microsoft.com/office/powerpoint/2010/main" val="31411881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ABC29-6908-C30C-A0A7-8F71B1353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EDB957-94AC-7BF1-B355-B6CF69173EF7}"/>
              </a:ext>
            </a:extLst>
          </p:cNvPr>
          <p:cNvSpPr>
            <a:spLocks noGrp="1"/>
          </p:cNvSpPr>
          <p:nvPr>
            <p:ph type="title"/>
          </p:nvPr>
        </p:nvSpPr>
        <p:spPr>
          <a:xfrm>
            <a:off x="747214" y="655558"/>
            <a:ext cx="8098411" cy="1325563"/>
          </a:xfrm>
        </p:spPr>
        <p:txBody>
          <a:bodyPr>
            <a:normAutofit/>
          </a:bodyPr>
          <a:lstStyle/>
          <a:p>
            <a:r>
              <a:rPr lang="en-US" b="1" dirty="0"/>
              <a:t>Req/</a:t>
            </a:r>
            <a:r>
              <a:rPr lang="pl-PL" b="1" dirty="0"/>
              <a:t>R</a:t>
            </a:r>
            <a:r>
              <a:rPr lang="en-US" b="1" dirty="0" err="1"/>
              <a:t>esp</a:t>
            </a:r>
            <a:r>
              <a:rPr lang="en-US" b="1" dirty="0"/>
              <a:t> HTTP lifecycle</a:t>
            </a:r>
            <a:r>
              <a:rPr lang="en-GB" b="1" dirty="0"/>
              <a:t> </a:t>
            </a:r>
            <a:r>
              <a:rPr lang="uk-UA" b="1" dirty="0"/>
              <a:t>- </a:t>
            </a:r>
            <a:r>
              <a:rPr lang="en-GB" b="1" dirty="0">
                <a:solidFill>
                  <a:schemeClr val="accent4"/>
                </a:solidFill>
              </a:rPr>
              <a:t>POST</a:t>
            </a:r>
            <a:endParaRPr lang="en-GB" b="1" dirty="0"/>
          </a:p>
        </p:txBody>
      </p:sp>
      <p:sp>
        <p:nvSpPr>
          <p:cNvPr id="6" name="Content Placeholder 2">
            <a:extLst>
              <a:ext uri="{FF2B5EF4-FFF2-40B4-BE49-F238E27FC236}">
                <a16:creationId xmlns:a16="http://schemas.microsoft.com/office/drawing/2014/main" id="{F0537A8A-93C3-1C5A-97CA-EDE7203F9445}"/>
              </a:ext>
            </a:extLst>
          </p:cNvPr>
          <p:cNvSpPr>
            <a:spLocks noGrp="1"/>
          </p:cNvSpPr>
          <p:nvPr>
            <p:ph idx="1"/>
          </p:nvPr>
        </p:nvSpPr>
        <p:spPr>
          <a:xfrm>
            <a:off x="524917" y="2077165"/>
            <a:ext cx="5637059" cy="4667250"/>
          </a:xfrm>
        </p:spPr>
        <p:txBody>
          <a:bodyPr>
            <a:normAutofit/>
          </a:bodyPr>
          <a:lstStyle/>
          <a:p>
            <a:pPr marL="514350" indent="-514350">
              <a:buFont typeface="+mj-lt"/>
              <a:buAutoNum type="arabicPeriod"/>
            </a:pPr>
            <a:r>
              <a:rPr lang="en-US" sz="2000" dirty="0"/>
              <a:t>HTTP request, type </a:t>
            </a:r>
            <a:r>
              <a:rPr lang="en-GB" sz="2000" b="1" dirty="0"/>
              <a:t>POST </a:t>
            </a:r>
            <a:endParaRPr lang="uk-UA" sz="2000" b="1" dirty="0"/>
          </a:p>
          <a:p>
            <a:pPr marL="457200" lvl="1" indent="0">
              <a:buNone/>
            </a:pPr>
            <a:r>
              <a:rPr lang="en-GB" dirty="0">
                <a:solidFill>
                  <a:srgbClr val="6699FF"/>
                </a:solidFill>
                <a:hlinkClick r:id="rId2">
                  <a:extLst>
                    <a:ext uri="{A12FA001-AC4F-418D-AE19-62706E023703}">
                      <ahyp:hlinkClr xmlns:ahyp="http://schemas.microsoft.com/office/drawing/2018/hyperlinkcolor" val="tx"/>
                    </a:ext>
                  </a:extLst>
                </a:hlinkClick>
              </a:rPr>
              <a:t>https://localhost:7067/api/projects</a:t>
            </a:r>
            <a:endParaRPr lang="en-GB" dirty="0">
              <a:solidFill>
                <a:srgbClr val="6699FF"/>
              </a:solidFill>
            </a:endParaRPr>
          </a:p>
          <a:p>
            <a:pPr marL="457200" lvl="1" indent="0">
              <a:buNone/>
            </a:pPr>
            <a:endParaRPr lang="en-GB" dirty="0"/>
          </a:p>
          <a:p>
            <a:pPr marL="514350" indent="-514350">
              <a:buFont typeface="+mj-lt"/>
              <a:buAutoNum type="arabicPeriod"/>
            </a:pPr>
            <a:r>
              <a:rPr lang="en-GB" sz="2000" b="1" dirty="0"/>
              <a:t>Middleware( Routing )</a:t>
            </a:r>
          </a:p>
          <a:p>
            <a:pPr marL="514350" indent="-514350">
              <a:buFont typeface="+mj-lt"/>
              <a:buAutoNum type="arabicPeriod"/>
            </a:pPr>
            <a:endParaRPr lang="en-GB" sz="2400" b="1" dirty="0"/>
          </a:p>
          <a:p>
            <a:pPr marL="514350" indent="-514350">
              <a:buFont typeface="+mj-lt"/>
              <a:buAutoNum type="arabicPeriod"/>
            </a:pPr>
            <a:r>
              <a:rPr lang="en-US" sz="2000" dirty="0"/>
              <a:t>Deserialization</a:t>
            </a:r>
            <a:r>
              <a:rPr lang="uk-UA" sz="2000" b="1" dirty="0"/>
              <a:t> </a:t>
            </a:r>
            <a:r>
              <a:rPr lang="en-GB" sz="2000" dirty="0"/>
              <a:t>JSON -&gt; DTO</a:t>
            </a:r>
            <a:endParaRPr lang="en-GB" sz="2000" b="1" dirty="0"/>
          </a:p>
          <a:p>
            <a:pPr marL="514350" indent="-514350">
              <a:buFont typeface="+mj-lt"/>
              <a:buAutoNum type="arabicPeriod"/>
            </a:pPr>
            <a:endParaRPr lang="uk-UA" sz="2400" b="1" dirty="0"/>
          </a:p>
          <a:p>
            <a:pPr marL="514350" indent="-514350">
              <a:buFont typeface="+mj-lt"/>
              <a:buAutoNum type="arabicPeriod"/>
            </a:pPr>
            <a:r>
              <a:rPr lang="en-GB" sz="2000" b="1" dirty="0" err="1"/>
              <a:t>ProjectsController</a:t>
            </a:r>
            <a:r>
              <a:rPr lang="en-GB" sz="2000" b="1" dirty="0"/>
              <a:t>( Create</a:t>
            </a:r>
            <a:r>
              <a:rPr lang="en-GB" sz="2000" dirty="0"/>
              <a:t> </a:t>
            </a:r>
            <a:r>
              <a:rPr lang="en-GB" sz="2000" b="1" dirty="0"/>
              <a:t>)</a:t>
            </a:r>
          </a:p>
          <a:p>
            <a:pPr marL="457200" lvl="1" indent="0">
              <a:buNone/>
            </a:pPr>
            <a:r>
              <a:rPr lang="pl-PL" sz="2000" b="1" dirty="0"/>
              <a:t>	</a:t>
            </a:r>
            <a:r>
              <a:rPr lang="pl-PL" sz="2000" dirty="0"/>
              <a:t>Maps</a:t>
            </a:r>
            <a:r>
              <a:rPr lang="uk-UA" sz="2000" b="1" dirty="0"/>
              <a:t> </a:t>
            </a:r>
            <a:r>
              <a:rPr lang="en-GB" sz="2000" dirty="0"/>
              <a:t>DTO -&gt; Entity</a:t>
            </a:r>
            <a:r>
              <a:rPr lang="en-GB" sz="2000" b="1" dirty="0"/>
              <a:t> </a:t>
            </a:r>
          </a:p>
          <a:p>
            <a:pPr marL="514350" indent="-514350">
              <a:buFont typeface="+mj-lt"/>
              <a:buAutoNum type="arabicPeriod"/>
            </a:pPr>
            <a:endParaRPr lang="en-GB" sz="2400" b="1" dirty="0"/>
          </a:p>
          <a:p>
            <a:pPr marL="514350" indent="-514350">
              <a:buFont typeface="+mj-lt"/>
              <a:buAutoNum type="arabicPeriod"/>
            </a:pPr>
            <a:r>
              <a:rPr lang="en-GB" sz="2000" b="1" dirty="0"/>
              <a:t>Repository(</a:t>
            </a:r>
            <a:r>
              <a:rPr lang="en-GB" sz="2000" b="1" dirty="0" err="1"/>
              <a:t>AddAsync</a:t>
            </a:r>
            <a:r>
              <a:rPr lang="en-GB" sz="2000" b="1" dirty="0"/>
              <a:t>)</a:t>
            </a:r>
            <a:endParaRPr lang="en-GB" sz="2000" dirty="0"/>
          </a:p>
          <a:p>
            <a:pPr marL="514350" indent="-514350">
              <a:buFont typeface="+mj-lt"/>
              <a:buAutoNum type="arabicPeriod"/>
            </a:pPr>
            <a:endParaRPr lang="en-GB" dirty="0"/>
          </a:p>
          <a:p>
            <a:pPr marL="514350" indent="-514350">
              <a:buFont typeface="+mj-lt"/>
              <a:buAutoNum type="arabicPeriod"/>
            </a:pPr>
            <a:endParaRPr lang="en-GB" dirty="0"/>
          </a:p>
          <a:p>
            <a:pPr marL="514350" indent="-514350">
              <a:buFont typeface="+mj-lt"/>
              <a:buAutoNum type="arabicPeriod"/>
            </a:pPr>
            <a:endParaRPr lang="uk-UA" dirty="0"/>
          </a:p>
          <a:p>
            <a:pPr marL="514350" indent="-514350">
              <a:buFont typeface="+mj-lt"/>
              <a:buAutoNum type="arabicPeriod"/>
            </a:pPr>
            <a:endParaRPr lang="en-GB" dirty="0"/>
          </a:p>
          <a:p>
            <a:pPr marL="514350" indent="-514350">
              <a:buFont typeface="+mj-lt"/>
              <a:buAutoNum type="arabicPeriod"/>
            </a:pPr>
            <a:endParaRPr lang="uk-UA" dirty="0"/>
          </a:p>
          <a:p>
            <a:pPr marL="514350" indent="-514350">
              <a:buFont typeface="+mj-lt"/>
              <a:buAutoNum type="arabicPeriod"/>
            </a:pPr>
            <a:endParaRPr lang="en-GB" dirty="0"/>
          </a:p>
          <a:p>
            <a:pPr marL="514350" indent="-514350">
              <a:buFont typeface="+mj-lt"/>
              <a:buAutoNum type="arabicPeriod"/>
            </a:pPr>
            <a:endParaRPr lang="en-GB" dirty="0"/>
          </a:p>
        </p:txBody>
      </p:sp>
      <p:sp>
        <p:nvSpPr>
          <p:cNvPr id="8" name="Content Placeholder 2">
            <a:extLst>
              <a:ext uri="{FF2B5EF4-FFF2-40B4-BE49-F238E27FC236}">
                <a16:creationId xmlns:a16="http://schemas.microsoft.com/office/drawing/2014/main" id="{BABA505E-23EC-4116-65C7-1220A4E51675}"/>
              </a:ext>
            </a:extLst>
          </p:cNvPr>
          <p:cNvSpPr txBox="1">
            <a:spLocks/>
          </p:cNvSpPr>
          <p:nvPr/>
        </p:nvSpPr>
        <p:spPr>
          <a:xfrm>
            <a:off x="6636221" y="2077165"/>
            <a:ext cx="5637059" cy="46672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000" b="1" dirty="0"/>
              <a:t>10. </a:t>
            </a:r>
            <a:r>
              <a:rPr lang="en-US" sz="2000" dirty="0"/>
              <a:t>HTTP response</a:t>
            </a:r>
            <a:r>
              <a:rPr lang="en-GB" sz="2000" dirty="0"/>
              <a:t>(Created + JSON)</a:t>
            </a:r>
            <a:r>
              <a:rPr lang="en-GB" sz="2000" b="1" dirty="0"/>
              <a:t> </a:t>
            </a:r>
          </a:p>
          <a:p>
            <a:pPr marL="0" indent="0">
              <a:buNone/>
            </a:pPr>
            <a:endParaRPr lang="en-GB" sz="2400" b="1" dirty="0"/>
          </a:p>
          <a:p>
            <a:pPr marL="0" indent="0">
              <a:buNone/>
            </a:pPr>
            <a:r>
              <a:rPr lang="en-GB" sz="2000" b="1" dirty="0"/>
              <a:t>9. </a:t>
            </a:r>
            <a:r>
              <a:rPr lang="en-US" sz="2000" b="1" dirty="0"/>
              <a:t>Serialization</a:t>
            </a:r>
            <a:r>
              <a:rPr lang="uk-UA" sz="2000" dirty="0"/>
              <a:t> </a:t>
            </a:r>
            <a:r>
              <a:rPr lang="en-GB" sz="2000" dirty="0"/>
              <a:t>DTO -&gt; JSON</a:t>
            </a:r>
            <a:endParaRPr lang="en-GB" sz="2000" b="1" dirty="0"/>
          </a:p>
          <a:p>
            <a:pPr marL="0" indent="0">
              <a:buNone/>
            </a:pPr>
            <a:endParaRPr lang="en-GB" sz="2400" b="1" dirty="0"/>
          </a:p>
          <a:p>
            <a:pPr marL="0" indent="0">
              <a:buNone/>
            </a:pPr>
            <a:r>
              <a:rPr lang="en-GB" sz="2000" b="1" dirty="0"/>
              <a:t>8.   </a:t>
            </a:r>
            <a:r>
              <a:rPr lang="en-GB" sz="2000" b="1" dirty="0" err="1"/>
              <a:t>ProjectsController</a:t>
            </a:r>
            <a:r>
              <a:rPr lang="en-GB" sz="2000" b="1" dirty="0"/>
              <a:t>( Create )</a:t>
            </a:r>
          </a:p>
          <a:p>
            <a:pPr marL="457200" lvl="1" indent="0">
              <a:buNone/>
            </a:pPr>
            <a:r>
              <a:rPr lang="en-GB" sz="2000" dirty="0"/>
              <a:t>	</a:t>
            </a:r>
            <a:r>
              <a:rPr lang="en-US" sz="2000" dirty="0"/>
              <a:t> Maps Entity</a:t>
            </a:r>
            <a:r>
              <a:rPr lang="en-GB" sz="2000" dirty="0"/>
              <a:t> -&gt; DTO</a:t>
            </a:r>
          </a:p>
          <a:p>
            <a:pPr marL="457200" lvl="1" indent="0">
              <a:buNone/>
            </a:pPr>
            <a:r>
              <a:rPr lang="en-GB" sz="2000" b="1" dirty="0"/>
              <a:t>	</a:t>
            </a:r>
            <a:endParaRPr lang="en-GB" sz="2400" b="1" dirty="0"/>
          </a:p>
          <a:p>
            <a:pPr marL="0" indent="0">
              <a:buNone/>
            </a:pPr>
            <a:r>
              <a:rPr lang="en-GB" sz="2000" b="1" dirty="0"/>
              <a:t>7.   Repository( </a:t>
            </a:r>
            <a:r>
              <a:rPr lang="en-GB" sz="2000" b="1" dirty="0" err="1"/>
              <a:t>SaveChangesAsync</a:t>
            </a:r>
            <a:r>
              <a:rPr lang="en-GB" sz="2000" b="1" dirty="0"/>
              <a:t> )</a:t>
            </a:r>
          </a:p>
          <a:p>
            <a:pPr marL="457200" lvl="1" indent="0">
              <a:buNone/>
            </a:pPr>
            <a:r>
              <a:rPr lang="en-GB" dirty="0"/>
              <a:t>	</a:t>
            </a:r>
            <a:endParaRPr lang="en-GB" sz="2400" b="1" dirty="0"/>
          </a:p>
          <a:p>
            <a:pPr marL="0" indent="0">
              <a:buNone/>
            </a:pPr>
            <a:r>
              <a:rPr lang="en-GB" sz="2000" b="1" dirty="0"/>
              <a:t>6</a:t>
            </a:r>
            <a:r>
              <a:rPr lang="uk-UA" sz="2000" b="1" dirty="0"/>
              <a:t>.</a:t>
            </a:r>
            <a:r>
              <a:rPr lang="en-GB" sz="2000" b="1" dirty="0"/>
              <a:t>   </a:t>
            </a:r>
            <a:r>
              <a:rPr lang="en-GB" sz="2000" b="1" dirty="0" err="1"/>
              <a:t>AppDbContext</a:t>
            </a:r>
            <a:endParaRPr lang="en-GB" sz="2000" b="1" dirty="0"/>
          </a:p>
        </p:txBody>
      </p:sp>
      <p:cxnSp>
        <p:nvCxnSpPr>
          <p:cNvPr id="9" name="Straight Arrow Connector 8">
            <a:extLst>
              <a:ext uri="{FF2B5EF4-FFF2-40B4-BE49-F238E27FC236}">
                <a16:creationId xmlns:a16="http://schemas.microsoft.com/office/drawing/2014/main" id="{6D7E2737-ADFB-D866-77C4-14B719691A53}"/>
              </a:ext>
            </a:extLst>
          </p:cNvPr>
          <p:cNvCxnSpPr>
            <a:cxnSpLocks/>
          </p:cNvCxnSpPr>
          <p:nvPr/>
        </p:nvCxnSpPr>
        <p:spPr>
          <a:xfrm>
            <a:off x="2592858" y="2748601"/>
            <a:ext cx="0" cy="424019"/>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4" name="Straight Arrow Connector 13">
            <a:extLst>
              <a:ext uri="{FF2B5EF4-FFF2-40B4-BE49-F238E27FC236}">
                <a16:creationId xmlns:a16="http://schemas.microsoft.com/office/drawing/2014/main" id="{1B60AD06-1B3B-0639-A073-4FCA59ED831D}"/>
              </a:ext>
            </a:extLst>
          </p:cNvPr>
          <p:cNvCxnSpPr>
            <a:cxnSpLocks/>
          </p:cNvCxnSpPr>
          <p:nvPr/>
        </p:nvCxnSpPr>
        <p:spPr>
          <a:xfrm>
            <a:off x="2605076" y="4394126"/>
            <a:ext cx="0" cy="51070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7" name="Straight Arrow Connector 16">
            <a:extLst>
              <a:ext uri="{FF2B5EF4-FFF2-40B4-BE49-F238E27FC236}">
                <a16:creationId xmlns:a16="http://schemas.microsoft.com/office/drawing/2014/main" id="{7091AFB0-D7E9-FE22-2115-7D9A9367EA4A}"/>
              </a:ext>
            </a:extLst>
          </p:cNvPr>
          <p:cNvCxnSpPr>
            <a:cxnSpLocks/>
          </p:cNvCxnSpPr>
          <p:nvPr/>
        </p:nvCxnSpPr>
        <p:spPr>
          <a:xfrm flipV="1">
            <a:off x="4094328" y="5900382"/>
            <a:ext cx="2579427" cy="350293"/>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8" name="Straight Arrow Connector 17">
            <a:extLst>
              <a:ext uri="{FF2B5EF4-FFF2-40B4-BE49-F238E27FC236}">
                <a16:creationId xmlns:a16="http://schemas.microsoft.com/office/drawing/2014/main" id="{87DAEFD6-B599-F69B-95B9-9033A3B09962}"/>
              </a:ext>
            </a:extLst>
          </p:cNvPr>
          <p:cNvCxnSpPr>
            <a:cxnSpLocks/>
          </p:cNvCxnSpPr>
          <p:nvPr/>
        </p:nvCxnSpPr>
        <p:spPr>
          <a:xfrm flipV="1">
            <a:off x="8309082" y="5240908"/>
            <a:ext cx="0" cy="50054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9" name="Straight Arrow Connector 18">
            <a:extLst>
              <a:ext uri="{FF2B5EF4-FFF2-40B4-BE49-F238E27FC236}">
                <a16:creationId xmlns:a16="http://schemas.microsoft.com/office/drawing/2014/main" id="{5092CD4B-26AC-3DBD-849E-67B849CDBDE0}"/>
              </a:ext>
            </a:extLst>
          </p:cNvPr>
          <p:cNvCxnSpPr>
            <a:cxnSpLocks/>
          </p:cNvCxnSpPr>
          <p:nvPr/>
        </p:nvCxnSpPr>
        <p:spPr>
          <a:xfrm flipV="1">
            <a:off x="8309082" y="4508265"/>
            <a:ext cx="0" cy="396562"/>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20" name="Straight Arrow Connector 19">
            <a:extLst>
              <a:ext uri="{FF2B5EF4-FFF2-40B4-BE49-F238E27FC236}">
                <a16:creationId xmlns:a16="http://schemas.microsoft.com/office/drawing/2014/main" id="{CD9B6FD7-300F-5191-9CBE-9C1932D9A60D}"/>
              </a:ext>
            </a:extLst>
          </p:cNvPr>
          <p:cNvCxnSpPr>
            <a:cxnSpLocks/>
          </p:cNvCxnSpPr>
          <p:nvPr/>
        </p:nvCxnSpPr>
        <p:spPr>
          <a:xfrm flipV="1">
            <a:off x="8309082" y="3271518"/>
            <a:ext cx="0" cy="54118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21" name="Straight Arrow Connector 20">
            <a:extLst>
              <a:ext uri="{FF2B5EF4-FFF2-40B4-BE49-F238E27FC236}">
                <a16:creationId xmlns:a16="http://schemas.microsoft.com/office/drawing/2014/main" id="{3FB1A09B-42EE-1A77-C91D-DF5A868FBD2F}"/>
              </a:ext>
            </a:extLst>
          </p:cNvPr>
          <p:cNvCxnSpPr>
            <a:cxnSpLocks/>
          </p:cNvCxnSpPr>
          <p:nvPr/>
        </p:nvCxnSpPr>
        <p:spPr>
          <a:xfrm flipV="1">
            <a:off x="8309082" y="2419429"/>
            <a:ext cx="0" cy="54118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2" name="Straight Arrow Connector 11">
            <a:extLst>
              <a:ext uri="{FF2B5EF4-FFF2-40B4-BE49-F238E27FC236}">
                <a16:creationId xmlns:a16="http://schemas.microsoft.com/office/drawing/2014/main" id="{E22B0090-3AEC-C33B-DD07-1206DE3F5E22}"/>
              </a:ext>
            </a:extLst>
          </p:cNvPr>
          <p:cNvCxnSpPr>
            <a:cxnSpLocks/>
          </p:cNvCxnSpPr>
          <p:nvPr/>
        </p:nvCxnSpPr>
        <p:spPr>
          <a:xfrm>
            <a:off x="2605076" y="5579190"/>
            <a:ext cx="0" cy="406400"/>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3" name="Straight Arrow Connector 12">
            <a:extLst>
              <a:ext uri="{FF2B5EF4-FFF2-40B4-BE49-F238E27FC236}">
                <a16:creationId xmlns:a16="http://schemas.microsoft.com/office/drawing/2014/main" id="{3B497571-8F9E-F80B-3B86-DFB61A9ACC13}"/>
              </a:ext>
            </a:extLst>
          </p:cNvPr>
          <p:cNvCxnSpPr>
            <a:cxnSpLocks/>
          </p:cNvCxnSpPr>
          <p:nvPr/>
        </p:nvCxnSpPr>
        <p:spPr>
          <a:xfrm>
            <a:off x="2594916" y="3557349"/>
            <a:ext cx="0" cy="51070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pic>
        <p:nvPicPr>
          <p:cNvPr id="4" name="Picture 3" descr="A blue arrow pointing up&#10;&#10;AI-generated content may be incorrect.">
            <a:extLst>
              <a:ext uri="{FF2B5EF4-FFF2-40B4-BE49-F238E27FC236}">
                <a16:creationId xmlns:a16="http://schemas.microsoft.com/office/drawing/2014/main" id="{51A3F1C0-D6C1-3F21-4C65-BBE0D228C0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122" y="0"/>
            <a:ext cx="2541327" cy="2541327"/>
          </a:xfrm>
          <a:prstGeom prst="rect">
            <a:avLst/>
          </a:prstGeom>
        </p:spPr>
      </p:pic>
    </p:spTree>
    <p:extLst>
      <p:ext uri="{BB962C8B-B14F-4D97-AF65-F5344CB8AC3E}">
        <p14:creationId xmlns:p14="http://schemas.microsoft.com/office/powerpoint/2010/main" val="20607675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98A63-9AB9-9FCB-26EE-494719C1A203}"/>
              </a:ext>
            </a:extLst>
          </p:cNvPr>
          <p:cNvSpPr>
            <a:spLocks noGrp="1"/>
          </p:cNvSpPr>
          <p:nvPr>
            <p:ph type="title"/>
          </p:nvPr>
        </p:nvSpPr>
        <p:spPr/>
        <p:txBody>
          <a:bodyPr/>
          <a:lstStyle/>
          <a:p>
            <a:r>
              <a:rPr lang="en-US" b="1" dirty="0"/>
              <a:t>Code: Endpoint</a:t>
            </a:r>
            <a:r>
              <a:rPr lang="uk-UA" b="1" dirty="0"/>
              <a:t> </a:t>
            </a:r>
            <a:r>
              <a:rPr lang="pl-PL" b="1" dirty="0">
                <a:solidFill>
                  <a:schemeClr val="accent4"/>
                </a:solidFill>
              </a:rPr>
              <a:t>Post</a:t>
            </a:r>
            <a:endParaRPr lang="en-GB" dirty="0">
              <a:solidFill>
                <a:schemeClr val="accent4"/>
              </a:solidFill>
            </a:endParaRPr>
          </a:p>
        </p:txBody>
      </p:sp>
      <p:pic>
        <p:nvPicPr>
          <p:cNvPr id="5" name="Picture 4">
            <a:extLst>
              <a:ext uri="{FF2B5EF4-FFF2-40B4-BE49-F238E27FC236}">
                <a16:creationId xmlns:a16="http://schemas.microsoft.com/office/drawing/2014/main" id="{E163BF77-7094-FDE1-FF9A-CBDABD5B51BF}"/>
              </a:ext>
            </a:extLst>
          </p:cNvPr>
          <p:cNvPicPr>
            <a:picLocks noChangeAspect="1"/>
          </p:cNvPicPr>
          <p:nvPr/>
        </p:nvPicPr>
        <p:blipFill>
          <a:blip r:embed="rId2"/>
          <a:stretch>
            <a:fillRect/>
          </a:stretch>
        </p:blipFill>
        <p:spPr>
          <a:xfrm>
            <a:off x="1370940" y="2938521"/>
            <a:ext cx="9450119" cy="2514951"/>
          </a:xfrm>
          <a:prstGeom prst="rect">
            <a:avLst/>
          </a:prstGeom>
        </p:spPr>
      </p:pic>
      <p:pic>
        <p:nvPicPr>
          <p:cNvPr id="3" name="Picture 2" descr="A blue arrow pointing up&#10;&#10;AI-generated content may be incorrect.">
            <a:extLst>
              <a:ext uri="{FF2B5EF4-FFF2-40B4-BE49-F238E27FC236}">
                <a16:creationId xmlns:a16="http://schemas.microsoft.com/office/drawing/2014/main" id="{4DB10EB8-8D4A-E7DE-4B8E-E231B1702B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122" y="0"/>
            <a:ext cx="2541327" cy="2541327"/>
          </a:xfrm>
          <a:prstGeom prst="rect">
            <a:avLst/>
          </a:prstGeom>
        </p:spPr>
      </p:pic>
    </p:spTree>
    <p:extLst>
      <p:ext uri="{BB962C8B-B14F-4D97-AF65-F5344CB8AC3E}">
        <p14:creationId xmlns:p14="http://schemas.microsoft.com/office/powerpoint/2010/main" val="14462667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EBC15-266F-A47F-5CE7-5C36FBAD6660}"/>
              </a:ext>
            </a:extLst>
          </p:cNvPr>
          <p:cNvSpPr>
            <a:spLocks noGrp="1"/>
          </p:cNvSpPr>
          <p:nvPr>
            <p:ph type="title"/>
          </p:nvPr>
        </p:nvSpPr>
        <p:spPr/>
        <p:txBody>
          <a:bodyPr/>
          <a:lstStyle/>
          <a:p>
            <a:r>
              <a:rPr lang="en-US" b="1" dirty="0"/>
              <a:t>Req/</a:t>
            </a:r>
            <a:r>
              <a:rPr lang="pl-PL" b="1" dirty="0"/>
              <a:t>R</a:t>
            </a:r>
            <a:r>
              <a:rPr lang="en-US" b="1" dirty="0" err="1"/>
              <a:t>esp</a:t>
            </a:r>
            <a:r>
              <a:rPr lang="en-US" b="1" dirty="0"/>
              <a:t> HTTP lifecycle</a:t>
            </a:r>
            <a:r>
              <a:rPr lang="uk-UA" b="1" dirty="0"/>
              <a:t>–</a:t>
            </a:r>
            <a:r>
              <a:rPr lang="en-GB" b="1" dirty="0"/>
              <a:t> </a:t>
            </a:r>
            <a:r>
              <a:rPr lang="en-GB" b="1" dirty="0">
                <a:solidFill>
                  <a:schemeClr val="accent1"/>
                </a:solidFill>
              </a:rPr>
              <a:t>PUT</a:t>
            </a:r>
            <a:endParaRPr lang="en-GB" dirty="0">
              <a:solidFill>
                <a:schemeClr val="accent1"/>
              </a:solidFill>
            </a:endParaRPr>
          </a:p>
        </p:txBody>
      </p:sp>
      <p:sp>
        <p:nvSpPr>
          <p:cNvPr id="7" name="Content Placeholder 2">
            <a:extLst>
              <a:ext uri="{FF2B5EF4-FFF2-40B4-BE49-F238E27FC236}">
                <a16:creationId xmlns:a16="http://schemas.microsoft.com/office/drawing/2014/main" id="{5BC36805-2D11-CCC2-5BBD-31AE46D145F4}"/>
              </a:ext>
            </a:extLst>
          </p:cNvPr>
          <p:cNvSpPr>
            <a:spLocks noGrp="1"/>
          </p:cNvSpPr>
          <p:nvPr>
            <p:ph idx="1"/>
          </p:nvPr>
        </p:nvSpPr>
        <p:spPr>
          <a:xfrm>
            <a:off x="551251" y="2099864"/>
            <a:ext cx="5637059" cy="4667250"/>
          </a:xfrm>
        </p:spPr>
        <p:txBody>
          <a:bodyPr>
            <a:normAutofit/>
          </a:bodyPr>
          <a:lstStyle/>
          <a:p>
            <a:pPr marL="514350" indent="-514350">
              <a:buFont typeface="+mj-lt"/>
              <a:buAutoNum type="arabicPeriod"/>
            </a:pPr>
            <a:r>
              <a:rPr lang="en-US" sz="2000" b="1" dirty="0"/>
              <a:t>HTTP request, type </a:t>
            </a:r>
            <a:r>
              <a:rPr lang="en-GB" sz="2000" b="1" dirty="0"/>
              <a:t>PUT </a:t>
            </a:r>
            <a:endParaRPr lang="uk-UA" sz="2000" b="1" dirty="0"/>
          </a:p>
          <a:p>
            <a:pPr marL="457200" lvl="1" indent="0">
              <a:buNone/>
            </a:pPr>
            <a:r>
              <a:rPr lang="en-GB" dirty="0">
                <a:solidFill>
                  <a:srgbClr val="3399FF"/>
                </a:solidFill>
                <a:hlinkClick r:id="rId2">
                  <a:extLst>
                    <a:ext uri="{A12FA001-AC4F-418D-AE19-62706E023703}">
                      <ahyp:hlinkClr xmlns:ahyp="http://schemas.microsoft.com/office/drawing/2018/hyperlinkcolor" val="tx"/>
                    </a:ext>
                  </a:extLst>
                </a:hlinkClick>
              </a:rPr>
              <a:t>https://localhost:7067/api/projects/6</a:t>
            </a:r>
            <a:endParaRPr lang="en-GB" dirty="0">
              <a:solidFill>
                <a:srgbClr val="3399FF"/>
              </a:solidFill>
            </a:endParaRPr>
          </a:p>
          <a:p>
            <a:pPr marL="457200" lvl="1" indent="0">
              <a:buNone/>
            </a:pPr>
            <a:endParaRPr lang="en-GB" dirty="0"/>
          </a:p>
          <a:p>
            <a:pPr marL="514350" indent="-514350">
              <a:buFont typeface="+mj-lt"/>
              <a:buAutoNum type="arabicPeriod"/>
            </a:pPr>
            <a:r>
              <a:rPr lang="en-GB" sz="2000" b="1" dirty="0"/>
              <a:t>Middleware( Routing )</a:t>
            </a:r>
          </a:p>
          <a:p>
            <a:pPr marL="514350" indent="-514350">
              <a:buFont typeface="+mj-lt"/>
              <a:buAutoNum type="arabicPeriod"/>
            </a:pPr>
            <a:endParaRPr lang="en-GB" sz="2400" b="1" dirty="0"/>
          </a:p>
          <a:p>
            <a:pPr marL="514350" indent="-514350">
              <a:buFont typeface="+mj-lt"/>
              <a:buAutoNum type="arabicPeriod"/>
            </a:pPr>
            <a:r>
              <a:rPr lang="en-US" sz="2000" b="1" dirty="0"/>
              <a:t>Deserialization</a:t>
            </a:r>
            <a:r>
              <a:rPr lang="uk-UA" sz="2000" b="1" dirty="0"/>
              <a:t> </a:t>
            </a:r>
            <a:r>
              <a:rPr lang="en-GB" sz="2000" dirty="0"/>
              <a:t>JSON -&gt; DTO</a:t>
            </a:r>
            <a:endParaRPr lang="en-GB" sz="2000" b="1" dirty="0"/>
          </a:p>
          <a:p>
            <a:pPr marL="514350" indent="-514350">
              <a:buFont typeface="+mj-lt"/>
              <a:buAutoNum type="arabicPeriod"/>
            </a:pPr>
            <a:endParaRPr lang="uk-UA" sz="2400" b="1" dirty="0"/>
          </a:p>
          <a:p>
            <a:pPr marL="514350" indent="-514350">
              <a:buFont typeface="+mj-lt"/>
              <a:buAutoNum type="arabicPeriod"/>
            </a:pPr>
            <a:r>
              <a:rPr lang="en-GB" sz="2000" b="1" dirty="0" err="1"/>
              <a:t>ProjectsController</a:t>
            </a:r>
            <a:r>
              <a:rPr lang="en-GB" sz="2000" b="1" dirty="0"/>
              <a:t>( Update</a:t>
            </a:r>
            <a:r>
              <a:rPr lang="en-GB" sz="2000" dirty="0"/>
              <a:t> </a:t>
            </a:r>
            <a:r>
              <a:rPr lang="en-GB" sz="2000" b="1" dirty="0"/>
              <a:t>)</a:t>
            </a:r>
          </a:p>
          <a:p>
            <a:pPr marL="514350" indent="-514350">
              <a:buFont typeface="+mj-lt"/>
              <a:buAutoNum type="arabicPeriod"/>
            </a:pPr>
            <a:endParaRPr lang="en-GB" sz="2400" b="1" dirty="0"/>
          </a:p>
          <a:p>
            <a:pPr marL="514350" indent="-514350">
              <a:buFont typeface="+mj-lt"/>
              <a:buAutoNum type="arabicPeriod"/>
            </a:pPr>
            <a:r>
              <a:rPr lang="en-GB" sz="2000" b="1" dirty="0"/>
              <a:t>Repository( </a:t>
            </a:r>
            <a:r>
              <a:rPr lang="en-GB" sz="2000" b="1" dirty="0" err="1"/>
              <a:t>GetEntityByIdAsync</a:t>
            </a:r>
            <a:r>
              <a:rPr lang="en-GB" sz="2000" b="1" dirty="0"/>
              <a:t>, </a:t>
            </a:r>
            <a:r>
              <a:rPr lang="en-GB" sz="2000" b="1" dirty="0" err="1"/>
              <a:t>EditUsingProcedureAsync</a:t>
            </a:r>
            <a:r>
              <a:rPr lang="en-GB" sz="2000" b="1" dirty="0"/>
              <a:t>, </a:t>
            </a:r>
            <a:r>
              <a:rPr lang="en-GB" sz="2000" b="1" dirty="0" err="1"/>
              <a:t>GetByIdAsync</a:t>
            </a:r>
            <a:r>
              <a:rPr lang="en-GB" sz="2000" b="1" dirty="0"/>
              <a:t>)</a:t>
            </a:r>
          </a:p>
          <a:p>
            <a:pPr marL="457200" lvl="1" indent="0">
              <a:buNone/>
            </a:pPr>
            <a:r>
              <a:rPr lang="en-GB" sz="2000" dirty="0"/>
              <a:t>	</a:t>
            </a:r>
            <a:r>
              <a:rPr lang="pl-PL" sz="2000" dirty="0"/>
              <a:t>Maps</a:t>
            </a:r>
            <a:r>
              <a:rPr lang="en-GB" sz="2000" dirty="0"/>
              <a:t> Entity -&gt; DTO</a:t>
            </a:r>
          </a:p>
          <a:p>
            <a:pPr marL="514350" indent="-514350">
              <a:buFont typeface="+mj-lt"/>
              <a:buAutoNum type="arabicPeriod"/>
            </a:pPr>
            <a:endParaRPr lang="en-GB" dirty="0"/>
          </a:p>
          <a:p>
            <a:pPr marL="514350" indent="-514350">
              <a:buFont typeface="+mj-lt"/>
              <a:buAutoNum type="arabicPeriod"/>
            </a:pPr>
            <a:endParaRPr lang="en-GB" dirty="0"/>
          </a:p>
          <a:p>
            <a:pPr marL="514350" indent="-514350">
              <a:buFont typeface="+mj-lt"/>
              <a:buAutoNum type="arabicPeriod"/>
            </a:pPr>
            <a:endParaRPr lang="uk-UA" dirty="0"/>
          </a:p>
          <a:p>
            <a:pPr marL="514350" indent="-514350">
              <a:buFont typeface="+mj-lt"/>
              <a:buAutoNum type="arabicPeriod"/>
            </a:pPr>
            <a:endParaRPr lang="en-GB" dirty="0"/>
          </a:p>
          <a:p>
            <a:pPr marL="514350" indent="-514350">
              <a:buFont typeface="+mj-lt"/>
              <a:buAutoNum type="arabicPeriod"/>
            </a:pPr>
            <a:endParaRPr lang="uk-UA" dirty="0"/>
          </a:p>
          <a:p>
            <a:pPr marL="514350" indent="-514350">
              <a:buFont typeface="+mj-lt"/>
              <a:buAutoNum type="arabicPeriod"/>
            </a:pPr>
            <a:endParaRPr lang="en-GB" dirty="0"/>
          </a:p>
          <a:p>
            <a:pPr marL="514350" indent="-514350">
              <a:buFont typeface="+mj-lt"/>
              <a:buAutoNum type="arabicPeriod"/>
            </a:pPr>
            <a:endParaRPr lang="en-GB" dirty="0"/>
          </a:p>
        </p:txBody>
      </p:sp>
      <p:sp>
        <p:nvSpPr>
          <p:cNvPr id="8" name="Content Placeholder 2">
            <a:extLst>
              <a:ext uri="{FF2B5EF4-FFF2-40B4-BE49-F238E27FC236}">
                <a16:creationId xmlns:a16="http://schemas.microsoft.com/office/drawing/2014/main" id="{A2A51EFA-1597-9D78-9A8C-94DA4298853E}"/>
              </a:ext>
            </a:extLst>
          </p:cNvPr>
          <p:cNvSpPr txBox="1">
            <a:spLocks/>
          </p:cNvSpPr>
          <p:nvPr/>
        </p:nvSpPr>
        <p:spPr>
          <a:xfrm>
            <a:off x="6739972" y="2521503"/>
            <a:ext cx="5637059" cy="46672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2400" b="1" dirty="0"/>
          </a:p>
          <a:p>
            <a:pPr marL="0" indent="0">
              <a:buNone/>
            </a:pPr>
            <a:r>
              <a:rPr lang="en-GB" sz="2000" b="1" dirty="0"/>
              <a:t>9. </a:t>
            </a:r>
            <a:r>
              <a:rPr lang="en-US" sz="2000" b="1" dirty="0"/>
              <a:t>HTTP response</a:t>
            </a:r>
            <a:r>
              <a:rPr lang="pl-PL" sz="2000" b="1" dirty="0"/>
              <a:t> </a:t>
            </a:r>
            <a:r>
              <a:rPr lang="en-GB" sz="2000" dirty="0"/>
              <a:t>(Ok + JSON)</a:t>
            </a:r>
            <a:r>
              <a:rPr lang="en-GB" sz="2000" b="1" dirty="0"/>
              <a:t> </a:t>
            </a:r>
          </a:p>
          <a:p>
            <a:pPr marL="0" indent="0">
              <a:buNone/>
            </a:pPr>
            <a:endParaRPr lang="en-GB" sz="2400" b="1" dirty="0"/>
          </a:p>
          <a:p>
            <a:pPr marL="0" indent="0">
              <a:buNone/>
            </a:pPr>
            <a:r>
              <a:rPr lang="en-GB" sz="2000" b="1" dirty="0"/>
              <a:t>8. </a:t>
            </a:r>
            <a:r>
              <a:rPr lang="en-US" sz="2000" b="1" dirty="0"/>
              <a:t>Serialization</a:t>
            </a:r>
            <a:r>
              <a:rPr lang="uk-UA" sz="2000" dirty="0"/>
              <a:t> </a:t>
            </a:r>
            <a:r>
              <a:rPr lang="en-GB" sz="2000" dirty="0"/>
              <a:t>DTO -&gt; JSON</a:t>
            </a:r>
            <a:endParaRPr lang="en-GB" sz="2000" b="1" dirty="0"/>
          </a:p>
          <a:p>
            <a:pPr marL="0" indent="0">
              <a:buNone/>
            </a:pPr>
            <a:endParaRPr lang="en-GB" sz="2400" b="1" dirty="0"/>
          </a:p>
          <a:p>
            <a:pPr marL="0" indent="0">
              <a:buNone/>
            </a:pPr>
            <a:r>
              <a:rPr lang="en-GB" sz="2000" b="1" dirty="0"/>
              <a:t>7.   </a:t>
            </a:r>
            <a:r>
              <a:rPr lang="en-GB" sz="2000" b="1" dirty="0" err="1"/>
              <a:t>ProjectsController</a:t>
            </a:r>
            <a:r>
              <a:rPr lang="en-GB" sz="2000" b="1" dirty="0"/>
              <a:t>( Update )</a:t>
            </a:r>
          </a:p>
          <a:p>
            <a:pPr marL="457200" lvl="1" indent="0">
              <a:buNone/>
            </a:pPr>
            <a:r>
              <a:rPr lang="en-GB" dirty="0"/>
              <a:t>	</a:t>
            </a:r>
            <a:endParaRPr lang="en-GB" sz="2400" b="1" dirty="0"/>
          </a:p>
          <a:p>
            <a:pPr marL="0" indent="0">
              <a:buNone/>
            </a:pPr>
            <a:r>
              <a:rPr lang="en-GB" sz="2000" b="1" dirty="0"/>
              <a:t>6</a:t>
            </a:r>
            <a:r>
              <a:rPr lang="uk-UA" sz="2000" b="1" dirty="0"/>
              <a:t>.</a:t>
            </a:r>
            <a:r>
              <a:rPr lang="en-GB" sz="2000" b="1" dirty="0"/>
              <a:t>   </a:t>
            </a:r>
            <a:r>
              <a:rPr lang="en-GB" sz="2000" b="1" dirty="0" err="1"/>
              <a:t>AppDbContext</a:t>
            </a:r>
            <a:endParaRPr lang="en-GB" sz="2000" b="1" dirty="0"/>
          </a:p>
        </p:txBody>
      </p:sp>
      <p:cxnSp>
        <p:nvCxnSpPr>
          <p:cNvPr id="9" name="Straight Arrow Connector 8">
            <a:extLst>
              <a:ext uri="{FF2B5EF4-FFF2-40B4-BE49-F238E27FC236}">
                <a16:creationId xmlns:a16="http://schemas.microsoft.com/office/drawing/2014/main" id="{27FFB1E3-707D-B203-8191-92CFD655E3A9}"/>
              </a:ext>
            </a:extLst>
          </p:cNvPr>
          <p:cNvCxnSpPr>
            <a:cxnSpLocks/>
          </p:cNvCxnSpPr>
          <p:nvPr/>
        </p:nvCxnSpPr>
        <p:spPr>
          <a:xfrm>
            <a:off x="2650796" y="2797791"/>
            <a:ext cx="0" cy="376692"/>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0" name="Straight Arrow Connector 9">
            <a:extLst>
              <a:ext uri="{FF2B5EF4-FFF2-40B4-BE49-F238E27FC236}">
                <a16:creationId xmlns:a16="http://schemas.microsoft.com/office/drawing/2014/main" id="{7E6CB6B2-3AD6-979D-478C-EF5B18EA1A0A}"/>
              </a:ext>
            </a:extLst>
          </p:cNvPr>
          <p:cNvCxnSpPr>
            <a:cxnSpLocks/>
          </p:cNvCxnSpPr>
          <p:nvPr/>
        </p:nvCxnSpPr>
        <p:spPr>
          <a:xfrm>
            <a:off x="2633498" y="3577669"/>
            <a:ext cx="0" cy="424019"/>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1" name="Straight Arrow Connector 10">
            <a:extLst>
              <a:ext uri="{FF2B5EF4-FFF2-40B4-BE49-F238E27FC236}">
                <a16:creationId xmlns:a16="http://schemas.microsoft.com/office/drawing/2014/main" id="{679A5FC1-4FCB-D73E-313B-030A9619A3BC}"/>
              </a:ext>
            </a:extLst>
          </p:cNvPr>
          <p:cNvCxnSpPr>
            <a:cxnSpLocks/>
          </p:cNvCxnSpPr>
          <p:nvPr/>
        </p:nvCxnSpPr>
        <p:spPr>
          <a:xfrm>
            <a:off x="2633498" y="4431109"/>
            <a:ext cx="0" cy="424019"/>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2" name="Straight Arrow Connector 11">
            <a:extLst>
              <a:ext uri="{FF2B5EF4-FFF2-40B4-BE49-F238E27FC236}">
                <a16:creationId xmlns:a16="http://schemas.microsoft.com/office/drawing/2014/main" id="{0597255C-FC36-455A-397C-AD51F3BCC4C5}"/>
              </a:ext>
            </a:extLst>
          </p:cNvPr>
          <p:cNvCxnSpPr>
            <a:cxnSpLocks/>
          </p:cNvCxnSpPr>
          <p:nvPr/>
        </p:nvCxnSpPr>
        <p:spPr>
          <a:xfrm>
            <a:off x="2654912" y="5267445"/>
            <a:ext cx="0" cy="424019"/>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3" name="Straight Arrow Connector 12">
            <a:extLst>
              <a:ext uri="{FF2B5EF4-FFF2-40B4-BE49-F238E27FC236}">
                <a16:creationId xmlns:a16="http://schemas.microsoft.com/office/drawing/2014/main" id="{555C1A35-A031-14E3-348A-D20623314F47}"/>
              </a:ext>
            </a:extLst>
          </p:cNvPr>
          <p:cNvCxnSpPr>
            <a:cxnSpLocks/>
          </p:cNvCxnSpPr>
          <p:nvPr/>
        </p:nvCxnSpPr>
        <p:spPr>
          <a:xfrm flipV="1">
            <a:off x="6232478" y="5919792"/>
            <a:ext cx="1254153" cy="362727"/>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6" name="Straight Arrow Connector 15">
            <a:extLst>
              <a:ext uri="{FF2B5EF4-FFF2-40B4-BE49-F238E27FC236}">
                <a16:creationId xmlns:a16="http://schemas.microsoft.com/office/drawing/2014/main" id="{31C2A761-1A7F-A82F-D57D-50DA4BD2C4DF}"/>
              </a:ext>
            </a:extLst>
          </p:cNvPr>
          <p:cNvCxnSpPr>
            <a:cxnSpLocks/>
          </p:cNvCxnSpPr>
          <p:nvPr/>
        </p:nvCxnSpPr>
        <p:spPr>
          <a:xfrm flipV="1">
            <a:off x="8266254" y="5042574"/>
            <a:ext cx="0" cy="44974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8" name="Straight Arrow Connector 17">
            <a:extLst>
              <a:ext uri="{FF2B5EF4-FFF2-40B4-BE49-F238E27FC236}">
                <a16:creationId xmlns:a16="http://schemas.microsoft.com/office/drawing/2014/main" id="{DCEF4DA2-90F5-4869-3698-E49DE0012090}"/>
              </a:ext>
            </a:extLst>
          </p:cNvPr>
          <p:cNvCxnSpPr>
            <a:cxnSpLocks/>
          </p:cNvCxnSpPr>
          <p:nvPr/>
        </p:nvCxnSpPr>
        <p:spPr>
          <a:xfrm flipV="1">
            <a:off x="8262268" y="4206238"/>
            <a:ext cx="0" cy="44974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9" name="Straight Arrow Connector 18">
            <a:extLst>
              <a:ext uri="{FF2B5EF4-FFF2-40B4-BE49-F238E27FC236}">
                <a16:creationId xmlns:a16="http://schemas.microsoft.com/office/drawing/2014/main" id="{6D521030-7074-F84E-69FF-CA2FFF47841F}"/>
              </a:ext>
            </a:extLst>
          </p:cNvPr>
          <p:cNvCxnSpPr>
            <a:cxnSpLocks/>
          </p:cNvCxnSpPr>
          <p:nvPr/>
        </p:nvCxnSpPr>
        <p:spPr>
          <a:xfrm flipV="1">
            <a:off x="8262268" y="3352798"/>
            <a:ext cx="0" cy="44974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pic>
        <p:nvPicPr>
          <p:cNvPr id="14" name="Picture 13" descr="A blue circle with arrows and a black background&#10;&#10;AI-generated content may be incorrect.">
            <a:extLst>
              <a:ext uri="{FF2B5EF4-FFF2-40B4-BE49-F238E27FC236}">
                <a16:creationId xmlns:a16="http://schemas.microsoft.com/office/drawing/2014/main" id="{B950DC70-D3BC-50C8-7B1E-F713D9DA59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99176" y="-280917"/>
            <a:ext cx="3078708" cy="3078708"/>
          </a:xfrm>
          <a:prstGeom prst="rect">
            <a:avLst/>
          </a:prstGeom>
        </p:spPr>
      </p:pic>
    </p:spTree>
    <p:extLst>
      <p:ext uri="{BB962C8B-B14F-4D97-AF65-F5344CB8AC3E}">
        <p14:creationId xmlns:p14="http://schemas.microsoft.com/office/powerpoint/2010/main" val="5545958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3C12-1A6F-C762-2753-CA9B9BEB5E1B}"/>
              </a:ext>
            </a:extLst>
          </p:cNvPr>
          <p:cNvSpPr>
            <a:spLocks noGrp="1"/>
          </p:cNvSpPr>
          <p:nvPr>
            <p:ph type="title"/>
          </p:nvPr>
        </p:nvSpPr>
        <p:spPr/>
        <p:txBody>
          <a:bodyPr/>
          <a:lstStyle/>
          <a:p>
            <a:r>
              <a:rPr lang="en-US" b="1" dirty="0"/>
              <a:t>Code:</a:t>
            </a:r>
            <a:r>
              <a:rPr lang="uk-UA" b="1" dirty="0"/>
              <a:t> </a:t>
            </a:r>
            <a:r>
              <a:rPr lang="en-US" b="1" dirty="0"/>
              <a:t>Endpoint</a:t>
            </a:r>
            <a:r>
              <a:rPr lang="uk-UA" b="1" dirty="0"/>
              <a:t> </a:t>
            </a:r>
            <a:r>
              <a:rPr lang="pl-PL" b="1" dirty="0" err="1">
                <a:solidFill>
                  <a:schemeClr val="accent1"/>
                </a:solidFill>
              </a:rPr>
              <a:t>Put</a:t>
            </a:r>
            <a:endParaRPr lang="en-GB" dirty="0">
              <a:solidFill>
                <a:schemeClr val="accent1"/>
              </a:solidFill>
            </a:endParaRPr>
          </a:p>
        </p:txBody>
      </p:sp>
      <p:pic>
        <p:nvPicPr>
          <p:cNvPr id="5" name="Picture 4">
            <a:extLst>
              <a:ext uri="{FF2B5EF4-FFF2-40B4-BE49-F238E27FC236}">
                <a16:creationId xmlns:a16="http://schemas.microsoft.com/office/drawing/2014/main" id="{534012E7-4BFA-5E4D-C08C-877DDC7B9A1B}"/>
              </a:ext>
            </a:extLst>
          </p:cNvPr>
          <p:cNvPicPr>
            <a:picLocks noChangeAspect="1"/>
          </p:cNvPicPr>
          <p:nvPr/>
        </p:nvPicPr>
        <p:blipFill>
          <a:blip r:embed="rId2"/>
          <a:stretch>
            <a:fillRect/>
          </a:stretch>
        </p:blipFill>
        <p:spPr>
          <a:xfrm>
            <a:off x="1539473" y="3088577"/>
            <a:ext cx="9459645" cy="2448267"/>
          </a:xfrm>
          <a:prstGeom prst="rect">
            <a:avLst/>
          </a:prstGeom>
        </p:spPr>
      </p:pic>
      <p:pic>
        <p:nvPicPr>
          <p:cNvPr id="3" name="Picture 2" descr="A blue circle with arrows and a black background&#10;&#10;AI-generated content may be incorrect.">
            <a:extLst>
              <a:ext uri="{FF2B5EF4-FFF2-40B4-BE49-F238E27FC236}">
                <a16:creationId xmlns:a16="http://schemas.microsoft.com/office/drawing/2014/main" id="{FA23DACD-2C83-63BE-B887-FE1A1CB69D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99176" y="-280917"/>
            <a:ext cx="3078708" cy="3078708"/>
          </a:xfrm>
          <a:prstGeom prst="rect">
            <a:avLst/>
          </a:prstGeom>
        </p:spPr>
      </p:pic>
    </p:spTree>
    <p:extLst>
      <p:ext uri="{BB962C8B-B14F-4D97-AF65-F5344CB8AC3E}">
        <p14:creationId xmlns:p14="http://schemas.microsoft.com/office/powerpoint/2010/main" val="20588406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B09A5-5284-357F-CE64-3AD84040FF92}"/>
              </a:ext>
            </a:extLst>
          </p:cNvPr>
          <p:cNvSpPr>
            <a:spLocks noGrp="1"/>
          </p:cNvSpPr>
          <p:nvPr>
            <p:ph type="title"/>
          </p:nvPr>
        </p:nvSpPr>
        <p:spPr/>
        <p:txBody>
          <a:bodyPr/>
          <a:lstStyle/>
          <a:p>
            <a:r>
              <a:rPr lang="en-US" b="1" dirty="0"/>
              <a:t>Req/</a:t>
            </a:r>
            <a:r>
              <a:rPr lang="pl-PL" b="1" dirty="0"/>
              <a:t>R</a:t>
            </a:r>
            <a:r>
              <a:rPr lang="en-US" b="1" dirty="0" err="1"/>
              <a:t>esp</a:t>
            </a:r>
            <a:r>
              <a:rPr lang="en-US" b="1" dirty="0"/>
              <a:t> HTTP lifecycle</a:t>
            </a:r>
            <a:r>
              <a:rPr lang="en-GB" b="1" dirty="0"/>
              <a:t> </a:t>
            </a:r>
            <a:r>
              <a:rPr lang="uk-UA" b="1" dirty="0"/>
              <a:t>- </a:t>
            </a:r>
            <a:r>
              <a:rPr lang="en-GB" b="1" dirty="0">
                <a:solidFill>
                  <a:srgbClr val="C00000"/>
                </a:solidFill>
              </a:rPr>
              <a:t>DELETE</a:t>
            </a:r>
          </a:p>
        </p:txBody>
      </p:sp>
      <p:sp>
        <p:nvSpPr>
          <p:cNvPr id="7" name="Content Placeholder 2">
            <a:extLst>
              <a:ext uri="{FF2B5EF4-FFF2-40B4-BE49-F238E27FC236}">
                <a16:creationId xmlns:a16="http://schemas.microsoft.com/office/drawing/2014/main" id="{4AD4B0B2-6C75-8DBA-B356-004A96B56593}"/>
              </a:ext>
            </a:extLst>
          </p:cNvPr>
          <p:cNvSpPr>
            <a:spLocks noGrp="1"/>
          </p:cNvSpPr>
          <p:nvPr>
            <p:ph idx="1"/>
          </p:nvPr>
        </p:nvSpPr>
        <p:spPr>
          <a:xfrm>
            <a:off x="607532" y="2502232"/>
            <a:ext cx="5637059" cy="4667250"/>
          </a:xfrm>
        </p:spPr>
        <p:txBody>
          <a:bodyPr>
            <a:normAutofit/>
          </a:bodyPr>
          <a:lstStyle/>
          <a:p>
            <a:pPr marL="514350" indent="-514350">
              <a:buFont typeface="+mj-lt"/>
              <a:buAutoNum type="arabicPeriod"/>
            </a:pPr>
            <a:r>
              <a:rPr lang="en-US" sz="2000" b="1" dirty="0"/>
              <a:t>HTTP request, type</a:t>
            </a:r>
            <a:r>
              <a:rPr lang="en-GB" sz="2000" b="1" dirty="0"/>
              <a:t> DELETE </a:t>
            </a:r>
            <a:endParaRPr lang="uk-UA" sz="2000" b="1" dirty="0"/>
          </a:p>
          <a:p>
            <a:pPr marL="457200" lvl="1" indent="0">
              <a:buNone/>
            </a:pPr>
            <a:r>
              <a:rPr lang="en-GB" dirty="0">
                <a:solidFill>
                  <a:srgbClr val="6699FF"/>
                </a:solidFill>
                <a:hlinkClick r:id="rId2">
                  <a:extLst>
                    <a:ext uri="{A12FA001-AC4F-418D-AE19-62706E023703}">
                      <ahyp:hlinkClr xmlns:ahyp="http://schemas.microsoft.com/office/drawing/2018/hyperlinkcolor" val="tx"/>
                    </a:ext>
                  </a:extLst>
                </a:hlinkClick>
              </a:rPr>
              <a:t>https://localhost:7067/api/projects/6</a:t>
            </a:r>
            <a:endParaRPr lang="en-GB" dirty="0">
              <a:solidFill>
                <a:srgbClr val="6699FF"/>
              </a:solidFill>
            </a:endParaRPr>
          </a:p>
          <a:p>
            <a:pPr marL="457200" lvl="1" indent="0">
              <a:buNone/>
            </a:pPr>
            <a:endParaRPr lang="en-GB" dirty="0"/>
          </a:p>
          <a:p>
            <a:pPr marL="514350" indent="-514350">
              <a:buFont typeface="+mj-lt"/>
              <a:buAutoNum type="arabicPeriod"/>
            </a:pPr>
            <a:r>
              <a:rPr lang="en-GB" sz="2000" b="1" dirty="0"/>
              <a:t>Middleware( Routing )</a:t>
            </a:r>
          </a:p>
          <a:p>
            <a:pPr marL="514350" indent="-514350">
              <a:buFont typeface="+mj-lt"/>
              <a:buAutoNum type="arabicPeriod"/>
            </a:pPr>
            <a:endParaRPr lang="en-GB" sz="2400" b="1" dirty="0"/>
          </a:p>
          <a:p>
            <a:pPr marL="514350" indent="-514350">
              <a:buFont typeface="+mj-lt"/>
              <a:buAutoNum type="arabicPeriod"/>
            </a:pPr>
            <a:r>
              <a:rPr lang="en-GB" sz="2000" b="1" dirty="0" err="1"/>
              <a:t>ProjectsController</a:t>
            </a:r>
            <a:r>
              <a:rPr lang="en-GB" sz="2000" b="1" dirty="0"/>
              <a:t>( Delete</a:t>
            </a:r>
            <a:r>
              <a:rPr lang="en-GB" sz="2000" dirty="0"/>
              <a:t> </a:t>
            </a:r>
            <a:r>
              <a:rPr lang="en-GB" sz="2000" b="1" dirty="0"/>
              <a:t>)</a:t>
            </a:r>
          </a:p>
          <a:p>
            <a:pPr marL="514350" indent="-514350">
              <a:buFont typeface="+mj-lt"/>
              <a:buAutoNum type="arabicPeriod"/>
            </a:pPr>
            <a:endParaRPr lang="en-GB" sz="2400" b="1" dirty="0"/>
          </a:p>
          <a:p>
            <a:pPr marL="514350" indent="-514350">
              <a:buFont typeface="+mj-lt"/>
              <a:buAutoNum type="arabicPeriod"/>
            </a:pPr>
            <a:r>
              <a:rPr lang="en-GB" sz="2000" b="1" dirty="0"/>
              <a:t>Repository( </a:t>
            </a:r>
            <a:r>
              <a:rPr lang="en-GB" sz="2000" b="1" dirty="0" err="1"/>
              <a:t>GetEntityByIdAsync</a:t>
            </a:r>
            <a:r>
              <a:rPr lang="en-GB" sz="2000" b="1" dirty="0"/>
              <a:t>, Delete, </a:t>
            </a:r>
            <a:r>
              <a:rPr lang="en-GB" sz="2000" b="1" dirty="0" err="1"/>
              <a:t>SaveChangesAsync</a:t>
            </a:r>
            <a:r>
              <a:rPr lang="en-GB" sz="2000" b="1" dirty="0"/>
              <a:t> )</a:t>
            </a:r>
            <a:endParaRPr lang="uk-UA" sz="2000" dirty="0"/>
          </a:p>
          <a:p>
            <a:pPr marL="514350" indent="-514350">
              <a:buFont typeface="+mj-lt"/>
              <a:buAutoNum type="arabicPeriod"/>
            </a:pPr>
            <a:endParaRPr lang="en-GB" dirty="0"/>
          </a:p>
          <a:p>
            <a:pPr marL="514350" indent="-514350">
              <a:buFont typeface="+mj-lt"/>
              <a:buAutoNum type="arabicPeriod"/>
            </a:pPr>
            <a:endParaRPr lang="en-GB" dirty="0"/>
          </a:p>
        </p:txBody>
      </p:sp>
      <p:sp>
        <p:nvSpPr>
          <p:cNvPr id="8" name="Content Placeholder 2">
            <a:extLst>
              <a:ext uri="{FF2B5EF4-FFF2-40B4-BE49-F238E27FC236}">
                <a16:creationId xmlns:a16="http://schemas.microsoft.com/office/drawing/2014/main" id="{E7541269-666F-1D0E-ECBC-6D3B21C54789}"/>
              </a:ext>
            </a:extLst>
          </p:cNvPr>
          <p:cNvSpPr txBox="1">
            <a:spLocks/>
          </p:cNvSpPr>
          <p:nvPr/>
        </p:nvSpPr>
        <p:spPr>
          <a:xfrm>
            <a:off x="7233644" y="2645768"/>
            <a:ext cx="5118899" cy="45237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2400" b="1" dirty="0"/>
          </a:p>
          <a:p>
            <a:pPr marL="0" indent="0">
              <a:buNone/>
            </a:pPr>
            <a:r>
              <a:rPr lang="en-GB" sz="2000" b="1" dirty="0"/>
              <a:t>7. </a:t>
            </a:r>
            <a:r>
              <a:rPr lang="en-US" sz="2000" b="1" dirty="0"/>
              <a:t>HTTP response</a:t>
            </a:r>
            <a:r>
              <a:rPr lang="pl-PL" sz="2000" b="1" dirty="0"/>
              <a:t> </a:t>
            </a:r>
            <a:r>
              <a:rPr lang="en-GB" sz="2000" b="1" dirty="0"/>
              <a:t>( </a:t>
            </a:r>
            <a:r>
              <a:rPr lang="en-GB" sz="2000" b="1" dirty="0" err="1"/>
              <a:t>NoContent</a:t>
            </a:r>
            <a:r>
              <a:rPr lang="en-GB" sz="2000" b="1" dirty="0"/>
              <a:t> ) </a:t>
            </a:r>
          </a:p>
          <a:p>
            <a:pPr marL="0" indent="0">
              <a:buNone/>
            </a:pPr>
            <a:endParaRPr lang="en-GB" sz="2400" b="1" dirty="0"/>
          </a:p>
          <a:p>
            <a:pPr marL="0" indent="0">
              <a:buNone/>
            </a:pPr>
            <a:r>
              <a:rPr lang="en-GB" sz="2000" b="1" dirty="0"/>
              <a:t>6.   </a:t>
            </a:r>
            <a:r>
              <a:rPr lang="en-GB" sz="2000" b="1" dirty="0" err="1"/>
              <a:t>ProjectsController</a:t>
            </a:r>
            <a:r>
              <a:rPr lang="en-GB" sz="2000" b="1" dirty="0"/>
              <a:t>( Delete )</a:t>
            </a:r>
          </a:p>
          <a:p>
            <a:pPr marL="457200" lvl="1" indent="0">
              <a:buNone/>
            </a:pPr>
            <a:r>
              <a:rPr lang="en-GB" dirty="0"/>
              <a:t>	</a:t>
            </a:r>
            <a:endParaRPr lang="en-GB" sz="2400" b="1" dirty="0"/>
          </a:p>
          <a:p>
            <a:pPr marL="0" indent="0">
              <a:buNone/>
            </a:pPr>
            <a:r>
              <a:rPr lang="en-GB" sz="2000" b="1" dirty="0"/>
              <a:t>5</a:t>
            </a:r>
            <a:r>
              <a:rPr lang="uk-UA" sz="2000" b="1" dirty="0"/>
              <a:t>.</a:t>
            </a:r>
            <a:r>
              <a:rPr lang="en-GB" sz="2000" b="1" dirty="0"/>
              <a:t>   </a:t>
            </a:r>
            <a:r>
              <a:rPr lang="en-GB" sz="2000" b="1" dirty="0" err="1"/>
              <a:t>AppDbContext</a:t>
            </a:r>
            <a:endParaRPr lang="en-GB" sz="2000" b="1" dirty="0"/>
          </a:p>
        </p:txBody>
      </p:sp>
      <p:cxnSp>
        <p:nvCxnSpPr>
          <p:cNvPr id="9" name="Straight Arrow Connector 8">
            <a:extLst>
              <a:ext uri="{FF2B5EF4-FFF2-40B4-BE49-F238E27FC236}">
                <a16:creationId xmlns:a16="http://schemas.microsoft.com/office/drawing/2014/main" id="{4C9C07D0-C97C-3EEF-565A-65B473C26E14}"/>
              </a:ext>
            </a:extLst>
          </p:cNvPr>
          <p:cNvCxnSpPr>
            <a:cxnSpLocks/>
          </p:cNvCxnSpPr>
          <p:nvPr/>
        </p:nvCxnSpPr>
        <p:spPr>
          <a:xfrm>
            <a:off x="2653320" y="3222952"/>
            <a:ext cx="0" cy="35076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1" name="Straight Arrow Connector 10">
            <a:extLst>
              <a:ext uri="{FF2B5EF4-FFF2-40B4-BE49-F238E27FC236}">
                <a16:creationId xmlns:a16="http://schemas.microsoft.com/office/drawing/2014/main" id="{CE467769-B4FC-E780-0E3C-FA115B3F9DB7}"/>
              </a:ext>
            </a:extLst>
          </p:cNvPr>
          <p:cNvCxnSpPr>
            <a:cxnSpLocks/>
          </p:cNvCxnSpPr>
          <p:nvPr/>
        </p:nvCxnSpPr>
        <p:spPr>
          <a:xfrm>
            <a:off x="2630942" y="3956064"/>
            <a:ext cx="0" cy="511729"/>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2" name="Straight Arrow Connector 11">
            <a:extLst>
              <a:ext uri="{FF2B5EF4-FFF2-40B4-BE49-F238E27FC236}">
                <a16:creationId xmlns:a16="http://schemas.microsoft.com/office/drawing/2014/main" id="{5111D5E3-267F-1E04-91DA-4F2F81B4B731}"/>
              </a:ext>
            </a:extLst>
          </p:cNvPr>
          <p:cNvCxnSpPr>
            <a:cxnSpLocks/>
          </p:cNvCxnSpPr>
          <p:nvPr/>
        </p:nvCxnSpPr>
        <p:spPr>
          <a:xfrm>
            <a:off x="2606636" y="4835857"/>
            <a:ext cx="0" cy="511729"/>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3" name="Straight Arrow Connector 12">
            <a:extLst>
              <a:ext uri="{FF2B5EF4-FFF2-40B4-BE49-F238E27FC236}">
                <a16:creationId xmlns:a16="http://schemas.microsoft.com/office/drawing/2014/main" id="{0779E72E-C6F5-BD15-2E1F-2A8C9494D5C2}"/>
              </a:ext>
            </a:extLst>
          </p:cNvPr>
          <p:cNvCxnSpPr>
            <a:cxnSpLocks/>
          </p:cNvCxnSpPr>
          <p:nvPr/>
        </p:nvCxnSpPr>
        <p:spPr>
          <a:xfrm flipV="1">
            <a:off x="8660477" y="4321360"/>
            <a:ext cx="0" cy="44974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4" name="Straight Arrow Connector 13">
            <a:extLst>
              <a:ext uri="{FF2B5EF4-FFF2-40B4-BE49-F238E27FC236}">
                <a16:creationId xmlns:a16="http://schemas.microsoft.com/office/drawing/2014/main" id="{5587F85E-ECB1-5F2D-7859-682217133E6F}"/>
              </a:ext>
            </a:extLst>
          </p:cNvPr>
          <p:cNvCxnSpPr>
            <a:cxnSpLocks/>
          </p:cNvCxnSpPr>
          <p:nvPr/>
        </p:nvCxnSpPr>
        <p:spPr>
          <a:xfrm flipV="1">
            <a:off x="8660477" y="3500371"/>
            <a:ext cx="0" cy="44974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5" name="Straight Arrow Connector 14">
            <a:extLst>
              <a:ext uri="{FF2B5EF4-FFF2-40B4-BE49-F238E27FC236}">
                <a16:creationId xmlns:a16="http://schemas.microsoft.com/office/drawing/2014/main" id="{F0C71BC5-697D-963A-9F06-A964FB166759}"/>
              </a:ext>
            </a:extLst>
          </p:cNvPr>
          <p:cNvCxnSpPr>
            <a:cxnSpLocks/>
          </p:cNvCxnSpPr>
          <p:nvPr/>
        </p:nvCxnSpPr>
        <p:spPr>
          <a:xfrm flipV="1">
            <a:off x="6155140" y="5245290"/>
            <a:ext cx="1155510" cy="300250"/>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pic>
        <p:nvPicPr>
          <p:cNvPr id="10" name="Picture 9" descr="A red and blue recycle bin with a x mark&#10;&#10;AI-generated content may be incorrect.">
            <a:extLst>
              <a:ext uri="{FF2B5EF4-FFF2-40B4-BE49-F238E27FC236}">
                <a16:creationId xmlns:a16="http://schemas.microsoft.com/office/drawing/2014/main" id="{A7B15876-D9FB-4EF5-019D-BBB9335A56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1252" y="-93714"/>
            <a:ext cx="2595946" cy="2595946"/>
          </a:xfrm>
          <a:prstGeom prst="rect">
            <a:avLst/>
          </a:prstGeom>
        </p:spPr>
      </p:pic>
    </p:spTree>
    <p:extLst>
      <p:ext uri="{BB962C8B-B14F-4D97-AF65-F5344CB8AC3E}">
        <p14:creationId xmlns:p14="http://schemas.microsoft.com/office/powerpoint/2010/main" val="10229912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0D15C-A6BA-A23C-A9A2-698CED55E308}"/>
              </a:ext>
            </a:extLst>
          </p:cNvPr>
          <p:cNvSpPr>
            <a:spLocks noGrp="1"/>
          </p:cNvSpPr>
          <p:nvPr>
            <p:ph type="title"/>
          </p:nvPr>
        </p:nvSpPr>
        <p:spPr/>
        <p:txBody>
          <a:bodyPr/>
          <a:lstStyle/>
          <a:p>
            <a:r>
              <a:rPr lang="en-US" b="1" dirty="0"/>
              <a:t>Code: Endpoint</a:t>
            </a:r>
            <a:r>
              <a:rPr lang="uk-UA" b="1" dirty="0"/>
              <a:t> </a:t>
            </a:r>
            <a:r>
              <a:rPr lang="pl-PL" b="1" dirty="0" err="1">
                <a:solidFill>
                  <a:srgbClr val="C00000"/>
                </a:solidFill>
              </a:rPr>
              <a:t>Delete</a:t>
            </a:r>
            <a:endParaRPr lang="en-GB" dirty="0">
              <a:solidFill>
                <a:srgbClr val="C00000"/>
              </a:solidFill>
            </a:endParaRPr>
          </a:p>
        </p:txBody>
      </p:sp>
      <p:pic>
        <p:nvPicPr>
          <p:cNvPr id="5" name="Picture 4">
            <a:extLst>
              <a:ext uri="{FF2B5EF4-FFF2-40B4-BE49-F238E27FC236}">
                <a16:creationId xmlns:a16="http://schemas.microsoft.com/office/drawing/2014/main" id="{8ED80EAF-C9CB-60B2-9AD7-91A10BCD29EE}"/>
              </a:ext>
            </a:extLst>
          </p:cNvPr>
          <p:cNvPicPr>
            <a:picLocks noChangeAspect="1"/>
          </p:cNvPicPr>
          <p:nvPr/>
        </p:nvPicPr>
        <p:blipFill>
          <a:blip r:embed="rId2"/>
          <a:stretch>
            <a:fillRect/>
          </a:stretch>
        </p:blipFill>
        <p:spPr>
          <a:xfrm>
            <a:off x="2411924" y="2661652"/>
            <a:ext cx="7093831" cy="2839568"/>
          </a:xfrm>
          <a:prstGeom prst="rect">
            <a:avLst/>
          </a:prstGeom>
        </p:spPr>
      </p:pic>
      <p:pic>
        <p:nvPicPr>
          <p:cNvPr id="3" name="Picture 2" descr="A red and blue recycle bin with a x mark&#10;&#10;AI-generated content may be incorrect.">
            <a:extLst>
              <a:ext uri="{FF2B5EF4-FFF2-40B4-BE49-F238E27FC236}">
                <a16:creationId xmlns:a16="http://schemas.microsoft.com/office/drawing/2014/main" id="{8B795247-2108-D39B-8420-4DC25E345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1252" y="-93714"/>
            <a:ext cx="2595946" cy="2595946"/>
          </a:xfrm>
          <a:prstGeom prst="rect">
            <a:avLst/>
          </a:prstGeom>
        </p:spPr>
      </p:pic>
    </p:spTree>
    <p:extLst>
      <p:ext uri="{BB962C8B-B14F-4D97-AF65-F5344CB8AC3E}">
        <p14:creationId xmlns:p14="http://schemas.microsoft.com/office/powerpoint/2010/main" val="38055097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EA7B6-40AE-D890-4F31-962BD5EF62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622F2-920C-AFF5-166B-59F4A7EEA06D}"/>
              </a:ext>
            </a:extLst>
          </p:cNvPr>
          <p:cNvSpPr>
            <a:spLocks noGrp="1"/>
          </p:cNvSpPr>
          <p:nvPr>
            <p:ph type="title"/>
          </p:nvPr>
        </p:nvSpPr>
        <p:spPr/>
        <p:txBody>
          <a:bodyPr/>
          <a:lstStyle/>
          <a:p>
            <a:r>
              <a:rPr lang="en-US" b="1" dirty="0"/>
              <a:t>Contents</a:t>
            </a:r>
            <a:endParaRPr lang="en-US" dirty="0"/>
          </a:p>
        </p:txBody>
      </p:sp>
      <p:sp>
        <p:nvSpPr>
          <p:cNvPr id="3" name="Content Placeholder 2">
            <a:extLst>
              <a:ext uri="{FF2B5EF4-FFF2-40B4-BE49-F238E27FC236}">
                <a16:creationId xmlns:a16="http://schemas.microsoft.com/office/drawing/2014/main" id="{2B0C419C-D718-AEDB-DED8-9CF527519A7D}"/>
              </a:ext>
            </a:extLst>
          </p:cNvPr>
          <p:cNvSpPr>
            <a:spLocks noGrp="1"/>
          </p:cNvSpPr>
          <p:nvPr>
            <p:ph idx="1"/>
          </p:nvPr>
        </p:nvSpPr>
        <p:spPr>
          <a:xfrm>
            <a:off x="680321" y="2336873"/>
            <a:ext cx="10542688" cy="4218602"/>
          </a:xfrm>
        </p:spPr>
        <p:txBody>
          <a:bodyPr>
            <a:normAutofit/>
          </a:bodyPr>
          <a:lstStyle/>
          <a:p>
            <a:pPr>
              <a:lnSpc>
                <a:spcPct val="100000"/>
              </a:lnSpc>
            </a:pPr>
            <a:r>
              <a:rPr lang="en-US" b="1" dirty="0"/>
              <a:t>Backend</a:t>
            </a:r>
          </a:p>
          <a:p>
            <a:pPr lvl="1">
              <a:lnSpc>
                <a:spcPct val="100000"/>
              </a:lnSpc>
            </a:pPr>
            <a:r>
              <a:rPr lang="en-US" dirty="0"/>
              <a:t>Req/resp HTTP lifecycle with status 400 and 404</a:t>
            </a:r>
            <a:endParaRPr lang="pl-PL" b="1" dirty="0"/>
          </a:p>
          <a:p>
            <a:pPr lvl="1">
              <a:lnSpc>
                <a:spcPct val="100000"/>
              </a:lnSpc>
            </a:pPr>
            <a:r>
              <a:rPr lang="en-GB" dirty="0"/>
              <a:t>Unit Tests vs Integration Tests</a:t>
            </a:r>
            <a:endParaRPr lang="uk-UA" dirty="0"/>
          </a:p>
          <a:p>
            <a:pPr lvl="1">
              <a:lnSpc>
                <a:spcPct val="100000"/>
              </a:lnSpc>
            </a:pPr>
            <a:r>
              <a:rPr lang="en-US" dirty="0"/>
              <a:t>Pattern: AAA</a:t>
            </a:r>
            <a:endParaRPr lang="en-GB" dirty="0"/>
          </a:p>
          <a:p>
            <a:pPr lvl="1">
              <a:lnSpc>
                <a:spcPct val="100000"/>
              </a:lnSpc>
            </a:pPr>
            <a:r>
              <a:rPr lang="en-GB" dirty="0"/>
              <a:t>Unit Tests</a:t>
            </a:r>
          </a:p>
          <a:p>
            <a:pPr lvl="1">
              <a:lnSpc>
                <a:spcPct val="100000"/>
              </a:lnSpc>
            </a:pPr>
            <a:r>
              <a:rPr lang="en-GB" dirty="0"/>
              <a:t>Integration Tests</a:t>
            </a:r>
            <a:endParaRPr lang="en-US" b="1" dirty="0"/>
          </a:p>
          <a:p>
            <a:r>
              <a:rPr lang="en-US" b="1" dirty="0"/>
              <a:t>Database</a:t>
            </a:r>
          </a:p>
          <a:p>
            <a:pPr lvl="1">
              <a:lnSpc>
                <a:spcPct val="110000"/>
              </a:lnSpc>
            </a:pPr>
            <a:r>
              <a:rPr lang="en-GB" dirty="0"/>
              <a:t>SQL &amp; NoSQL</a:t>
            </a:r>
          </a:p>
          <a:p>
            <a:pPr lvl="1">
              <a:lnSpc>
                <a:spcPct val="110000"/>
              </a:lnSpc>
            </a:pPr>
            <a:r>
              <a:rPr lang="en-GB" dirty="0"/>
              <a:t>INSERT INTO</a:t>
            </a:r>
          </a:p>
        </p:txBody>
      </p:sp>
    </p:spTree>
    <p:extLst>
      <p:ext uri="{BB962C8B-B14F-4D97-AF65-F5344CB8AC3E}">
        <p14:creationId xmlns:p14="http://schemas.microsoft.com/office/powerpoint/2010/main" val="3853449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7815D-C173-7590-B15B-12C033542FB2}"/>
              </a:ext>
            </a:extLst>
          </p:cNvPr>
          <p:cNvSpPr>
            <a:spLocks noGrp="1"/>
          </p:cNvSpPr>
          <p:nvPr>
            <p:ph type="title"/>
          </p:nvPr>
        </p:nvSpPr>
        <p:spPr/>
        <p:txBody>
          <a:bodyPr/>
          <a:lstStyle/>
          <a:p>
            <a:r>
              <a:rPr lang="pl-PL" b="1" dirty="0"/>
              <a:t>Error</a:t>
            </a:r>
            <a:r>
              <a:rPr lang="en-GB" b="1" dirty="0"/>
              <a:t> -</a:t>
            </a:r>
            <a:r>
              <a:rPr lang="uk-UA" b="1" dirty="0"/>
              <a:t> </a:t>
            </a:r>
            <a:r>
              <a:rPr lang="uk-UA" b="1" dirty="0">
                <a:solidFill>
                  <a:srgbClr val="C00000"/>
                </a:solidFill>
              </a:rPr>
              <a:t>404 </a:t>
            </a:r>
            <a:r>
              <a:rPr lang="en-GB" b="1" dirty="0">
                <a:solidFill>
                  <a:srgbClr val="C00000"/>
                </a:solidFill>
              </a:rPr>
              <a:t>Not found</a:t>
            </a:r>
            <a:r>
              <a:rPr lang="uk-UA" b="1" dirty="0">
                <a:solidFill>
                  <a:srgbClr val="C00000"/>
                </a:solidFill>
              </a:rPr>
              <a:t> </a:t>
            </a:r>
            <a:endParaRPr lang="en-GB" dirty="0">
              <a:solidFill>
                <a:srgbClr val="C00000"/>
              </a:solidFill>
            </a:endParaRPr>
          </a:p>
        </p:txBody>
      </p:sp>
      <p:sp>
        <p:nvSpPr>
          <p:cNvPr id="4" name="Content Placeholder 2">
            <a:extLst>
              <a:ext uri="{FF2B5EF4-FFF2-40B4-BE49-F238E27FC236}">
                <a16:creationId xmlns:a16="http://schemas.microsoft.com/office/drawing/2014/main" id="{3419DA44-90A6-F1F0-1E4B-E044B77F603F}"/>
              </a:ext>
            </a:extLst>
          </p:cNvPr>
          <p:cNvSpPr>
            <a:spLocks noGrp="1"/>
          </p:cNvSpPr>
          <p:nvPr>
            <p:ph idx="1"/>
          </p:nvPr>
        </p:nvSpPr>
        <p:spPr>
          <a:xfrm>
            <a:off x="458941" y="2115104"/>
            <a:ext cx="5637059" cy="4667250"/>
          </a:xfrm>
        </p:spPr>
        <p:txBody>
          <a:bodyPr>
            <a:normAutofit/>
          </a:bodyPr>
          <a:lstStyle/>
          <a:p>
            <a:pPr marL="514350" indent="-514350">
              <a:buFont typeface="+mj-lt"/>
              <a:buAutoNum type="arabicPeriod"/>
            </a:pPr>
            <a:r>
              <a:rPr lang="en-US" sz="2000" b="1" dirty="0"/>
              <a:t>HTTP request, type</a:t>
            </a:r>
            <a:r>
              <a:rPr lang="en-GB" sz="2000" b="1" dirty="0"/>
              <a:t> PUT </a:t>
            </a:r>
            <a:endParaRPr lang="uk-UA" sz="2000" b="1" dirty="0"/>
          </a:p>
          <a:p>
            <a:pPr marL="457200" lvl="1" indent="0">
              <a:buNone/>
            </a:pPr>
            <a:r>
              <a:rPr lang="en-GB" u="sng" dirty="0">
                <a:solidFill>
                  <a:srgbClr val="6699FF"/>
                </a:solidFill>
                <a:hlinkClick r:id="rId2">
                  <a:extLst>
                    <a:ext uri="{A12FA001-AC4F-418D-AE19-62706E023703}">
                      <ahyp:hlinkClr xmlns:ahyp="http://schemas.microsoft.com/office/drawing/2018/hyperlinkcolor" val="tx"/>
                    </a:ext>
                  </a:extLst>
                </a:hlinkClick>
              </a:rPr>
              <a:t>https://localhost:7067/api/projects</a:t>
            </a:r>
            <a:r>
              <a:rPr lang="en-US" u="sng" dirty="0">
                <a:solidFill>
                  <a:srgbClr val="6699FF"/>
                </a:solidFill>
                <a:hlinkClick r:id="rId2">
                  <a:extLst>
                    <a:ext uri="{A12FA001-AC4F-418D-AE19-62706E023703}">
                      <ahyp:hlinkClr xmlns:ahyp="http://schemas.microsoft.com/office/drawing/2018/hyperlinkcolor" val="tx"/>
                    </a:ext>
                  </a:extLst>
                </a:hlinkClick>
              </a:rPr>
              <a:t>/</a:t>
            </a:r>
            <a:r>
              <a:rPr lang="en-US" u="sng" dirty="0">
                <a:solidFill>
                  <a:srgbClr val="6699FF"/>
                </a:solidFill>
              </a:rPr>
              <a:t>simulate-not-found-project</a:t>
            </a:r>
            <a:r>
              <a:rPr lang="en-GB" u="sng" dirty="0">
                <a:solidFill>
                  <a:srgbClr val="6699FF"/>
                </a:solidFill>
                <a:hlinkClick r:id="rId3">
                  <a:extLst>
                    <a:ext uri="{A12FA001-AC4F-418D-AE19-62706E023703}">
                      <ahyp:hlinkClr xmlns:ahyp="http://schemas.microsoft.com/office/drawing/2018/hyperlinkcolor" val="tx"/>
                    </a:ext>
                  </a:extLst>
                </a:hlinkClick>
              </a:rPr>
              <a:t>/6</a:t>
            </a:r>
            <a:endParaRPr lang="en-GB" u="sng" dirty="0">
              <a:solidFill>
                <a:srgbClr val="6699FF"/>
              </a:solidFill>
            </a:endParaRPr>
          </a:p>
          <a:p>
            <a:pPr marL="457200" lvl="1" indent="0">
              <a:buNone/>
            </a:pPr>
            <a:endParaRPr lang="en-GB" dirty="0"/>
          </a:p>
          <a:p>
            <a:pPr marL="514350" indent="-514350">
              <a:buFont typeface="+mj-lt"/>
              <a:buAutoNum type="arabicPeriod"/>
            </a:pPr>
            <a:r>
              <a:rPr lang="en-GB" sz="2000" b="1" dirty="0"/>
              <a:t>Middleware( Routing )</a:t>
            </a:r>
          </a:p>
          <a:p>
            <a:pPr marL="514350" indent="-514350">
              <a:buFont typeface="+mj-lt"/>
              <a:buAutoNum type="arabicPeriod"/>
            </a:pPr>
            <a:endParaRPr lang="en-GB" sz="2400" b="1" dirty="0"/>
          </a:p>
          <a:p>
            <a:pPr marL="514350" indent="-514350">
              <a:buFont typeface="+mj-lt"/>
              <a:buAutoNum type="arabicPeriod"/>
            </a:pPr>
            <a:r>
              <a:rPr lang="en-US" sz="2000" b="1" dirty="0"/>
              <a:t>Deserialization</a:t>
            </a:r>
            <a:r>
              <a:rPr lang="uk-UA" sz="2000" b="1" dirty="0"/>
              <a:t> </a:t>
            </a:r>
            <a:r>
              <a:rPr lang="en-GB" sz="2000" dirty="0"/>
              <a:t>JSON -&gt; DTO</a:t>
            </a:r>
            <a:endParaRPr lang="en-GB" sz="2000" b="1" dirty="0"/>
          </a:p>
          <a:p>
            <a:pPr marL="514350" indent="-514350">
              <a:buFont typeface="+mj-lt"/>
              <a:buAutoNum type="arabicPeriod"/>
            </a:pPr>
            <a:endParaRPr lang="uk-UA" sz="2400" b="1" dirty="0"/>
          </a:p>
          <a:p>
            <a:pPr marL="514350" indent="-514350">
              <a:buFont typeface="+mj-lt"/>
              <a:buAutoNum type="arabicPeriod"/>
            </a:pPr>
            <a:r>
              <a:rPr lang="en-GB" sz="2000" b="1" dirty="0" err="1"/>
              <a:t>ProjectsController</a:t>
            </a:r>
            <a:r>
              <a:rPr lang="en-GB" sz="2000" b="1" dirty="0"/>
              <a:t>( Update</a:t>
            </a:r>
            <a:r>
              <a:rPr lang="en-GB" sz="2000" dirty="0"/>
              <a:t> </a:t>
            </a:r>
            <a:r>
              <a:rPr lang="en-GB" sz="2000" b="1" dirty="0"/>
              <a:t>)</a:t>
            </a:r>
          </a:p>
          <a:p>
            <a:pPr marL="514350" indent="-514350">
              <a:buFont typeface="+mj-lt"/>
              <a:buAutoNum type="arabicPeriod"/>
            </a:pPr>
            <a:endParaRPr lang="en-GB" sz="2400" b="1" dirty="0"/>
          </a:p>
          <a:p>
            <a:pPr marL="514350" indent="-514350">
              <a:buFont typeface="+mj-lt"/>
              <a:buAutoNum type="arabicPeriod"/>
            </a:pPr>
            <a:r>
              <a:rPr lang="en-GB" sz="2000" b="1" dirty="0"/>
              <a:t>Repository( </a:t>
            </a:r>
            <a:r>
              <a:rPr lang="en-GB" sz="2000" b="1" dirty="0" err="1"/>
              <a:t>GetEntityByIdAsync</a:t>
            </a:r>
            <a:r>
              <a:rPr lang="en-GB" sz="2000" b="1" dirty="0"/>
              <a:t> )</a:t>
            </a:r>
          </a:p>
          <a:p>
            <a:pPr marL="514350" indent="-514350">
              <a:buFont typeface="+mj-lt"/>
              <a:buAutoNum type="arabicPeriod"/>
            </a:pPr>
            <a:endParaRPr lang="en-GB" dirty="0"/>
          </a:p>
          <a:p>
            <a:pPr marL="514350" indent="-514350">
              <a:buFont typeface="+mj-lt"/>
              <a:buAutoNum type="arabicPeriod"/>
            </a:pPr>
            <a:endParaRPr lang="en-GB" dirty="0"/>
          </a:p>
          <a:p>
            <a:pPr marL="514350" indent="-514350">
              <a:buFont typeface="+mj-lt"/>
              <a:buAutoNum type="arabicPeriod"/>
            </a:pPr>
            <a:endParaRPr lang="uk-UA" dirty="0"/>
          </a:p>
          <a:p>
            <a:pPr marL="514350" indent="-514350">
              <a:buFont typeface="+mj-lt"/>
              <a:buAutoNum type="arabicPeriod"/>
            </a:pPr>
            <a:endParaRPr lang="en-GB" dirty="0"/>
          </a:p>
          <a:p>
            <a:pPr marL="514350" indent="-514350">
              <a:buFont typeface="+mj-lt"/>
              <a:buAutoNum type="arabicPeriod"/>
            </a:pPr>
            <a:endParaRPr lang="uk-UA" dirty="0"/>
          </a:p>
          <a:p>
            <a:pPr marL="514350" indent="-514350">
              <a:buFont typeface="+mj-lt"/>
              <a:buAutoNum type="arabicPeriod"/>
            </a:pPr>
            <a:endParaRPr lang="en-GB" dirty="0"/>
          </a:p>
          <a:p>
            <a:pPr marL="514350" indent="-514350">
              <a:buFont typeface="+mj-lt"/>
              <a:buAutoNum type="arabicPeriod"/>
            </a:pPr>
            <a:endParaRPr lang="en-GB" dirty="0"/>
          </a:p>
        </p:txBody>
      </p:sp>
      <p:sp>
        <p:nvSpPr>
          <p:cNvPr id="5" name="Content Placeholder 2">
            <a:extLst>
              <a:ext uri="{FF2B5EF4-FFF2-40B4-BE49-F238E27FC236}">
                <a16:creationId xmlns:a16="http://schemas.microsoft.com/office/drawing/2014/main" id="{F7494443-3BEC-61D2-6841-6FDB6A517B9F}"/>
              </a:ext>
            </a:extLst>
          </p:cNvPr>
          <p:cNvSpPr txBox="1">
            <a:spLocks/>
          </p:cNvSpPr>
          <p:nvPr/>
        </p:nvSpPr>
        <p:spPr>
          <a:xfrm>
            <a:off x="6776720" y="2928443"/>
            <a:ext cx="5504979" cy="45543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2400" b="1" dirty="0"/>
          </a:p>
          <a:p>
            <a:pPr marL="0" indent="0">
              <a:buNone/>
            </a:pPr>
            <a:r>
              <a:rPr lang="en-GB" sz="2000" b="1" dirty="0"/>
              <a:t>8. </a:t>
            </a:r>
            <a:r>
              <a:rPr lang="en-US" sz="2000" dirty="0"/>
              <a:t>HTTP response</a:t>
            </a:r>
            <a:r>
              <a:rPr lang="en-GB" sz="2000" b="1" dirty="0"/>
              <a:t> </a:t>
            </a:r>
            <a:r>
              <a:rPr lang="en-GB" sz="2000" dirty="0"/>
              <a:t>( </a:t>
            </a:r>
            <a:r>
              <a:rPr lang="en-GB" sz="2000" dirty="0" err="1"/>
              <a:t>NotFound</a:t>
            </a:r>
            <a:r>
              <a:rPr lang="en-GB" sz="2000" dirty="0"/>
              <a:t> )</a:t>
            </a:r>
            <a:r>
              <a:rPr lang="en-GB" sz="2000" b="1" dirty="0"/>
              <a:t> </a:t>
            </a:r>
          </a:p>
          <a:p>
            <a:pPr marL="0" indent="0">
              <a:buNone/>
            </a:pPr>
            <a:endParaRPr lang="en-GB" sz="2400" b="1" dirty="0"/>
          </a:p>
          <a:p>
            <a:pPr marL="457200" indent="-457200">
              <a:buAutoNum type="arabicPeriod" startAt="7"/>
            </a:pPr>
            <a:r>
              <a:rPr lang="en-GB" sz="2000" b="1" dirty="0" err="1"/>
              <a:t>ProjectsController</a:t>
            </a:r>
            <a:r>
              <a:rPr lang="en-GB" sz="2000" b="1" dirty="0"/>
              <a:t>( Update )</a:t>
            </a:r>
          </a:p>
          <a:p>
            <a:pPr marL="457200" lvl="1" indent="0">
              <a:buNone/>
            </a:pPr>
            <a:r>
              <a:rPr lang="en-GB" sz="2000" b="1" dirty="0"/>
              <a:t>	</a:t>
            </a:r>
            <a:r>
              <a:rPr lang="en-GB" sz="2000" b="1" dirty="0" err="1"/>
              <a:t>NotFound</a:t>
            </a:r>
            <a:r>
              <a:rPr lang="en-GB" sz="2000" b="1" dirty="0"/>
              <a:t>()</a:t>
            </a:r>
          </a:p>
          <a:p>
            <a:pPr marL="457200" lvl="1" indent="0">
              <a:buNone/>
            </a:pPr>
            <a:r>
              <a:rPr lang="en-GB" dirty="0"/>
              <a:t>	</a:t>
            </a:r>
            <a:endParaRPr lang="en-GB" sz="2400" b="1" dirty="0"/>
          </a:p>
          <a:p>
            <a:pPr marL="0" indent="0">
              <a:buNone/>
            </a:pPr>
            <a:r>
              <a:rPr lang="en-GB" sz="2000" b="1" dirty="0"/>
              <a:t>6</a:t>
            </a:r>
            <a:r>
              <a:rPr lang="uk-UA" sz="2000" b="1" dirty="0"/>
              <a:t>.</a:t>
            </a:r>
            <a:r>
              <a:rPr lang="en-GB" sz="2000" b="1" dirty="0"/>
              <a:t>   </a:t>
            </a:r>
            <a:r>
              <a:rPr lang="en-GB" sz="2000" b="1" dirty="0" err="1"/>
              <a:t>AppDbContext</a:t>
            </a:r>
            <a:endParaRPr lang="en-GB" sz="2000" b="1" dirty="0"/>
          </a:p>
        </p:txBody>
      </p:sp>
      <p:cxnSp>
        <p:nvCxnSpPr>
          <p:cNvPr id="6" name="Straight Arrow Connector 5">
            <a:extLst>
              <a:ext uri="{FF2B5EF4-FFF2-40B4-BE49-F238E27FC236}">
                <a16:creationId xmlns:a16="http://schemas.microsoft.com/office/drawing/2014/main" id="{FD250F34-DA75-CED5-7FD5-24FDA1654A97}"/>
              </a:ext>
            </a:extLst>
          </p:cNvPr>
          <p:cNvCxnSpPr>
            <a:cxnSpLocks/>
          </p:cNvCxnSpPr>
          <p:nvPr/>
        </p:nvCxnSpPr>
        <p:spPr>
          <a:xfrm>
            <a:off x="2647774" y="3089623"/>
            <a:ext cx="8102" cy="323769"/>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7" name="Straight Arrow Connector 6">
            <a:extLst>
              <a:ext uri="{FF2B5EF4-FFF2-40B4-BE49-F238E27FC236}">
                <a16:creationId xmlns:a16="http://schemas.microsoft.com/office/drawing/2014/main" id="{1AD78A46-7994-14CE-917F-DDD832099D98}"/>
              </a:ext>
            </a:extLst>
          </p:cNvPr>
          <p:cNvCxnSpPr>
            <a:cxnSpLocks/>
          </p:cNvCxnSpPr>
          <p:nvPr/>
        </p:nvCxnSpPr>
        <p:spPr>
          <a:xfrm>
            <a:off x="2652854" y="3817433"/>
            <a:ext cx="0" cy="511729"/>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8" name="Straight Arrow Connector 7">
            <a:extLst>
              <a:ext uri="{FF2B5EF4-FFF2-40B4-BE49-F238E27FC236}">
                <a16:creationId xmlns:a16="http://schemas.microsoft.com/office/drawing/2014/main" id="{4EF6E12F-FF2C-939B-2C7D-ED6D4DE9A294}"/>
              </a:ext>
            </a:extLst>
          </p:cNvPr>
          <p:cNvCxnSpPr>
            <a:cxnSpLocks/>
          </p:cNvCxnSpPr>
          <p:nvPr/>
        </p:nvCxnSpPr>
        <p:spPr>
          <a:xfrm>
            <a:off x="2647774" y="4653441"/>
            <a:ext cx="0" cy="511729"/>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9" name="Straight Arrow Connector 8">
            <a:extLst>
              <a:ext uri="{FF2B5EF4-FFF2-40B4-BE49-F238E27FC236}">
                <a16:creationId xmlns:a16="http://schemas.microsoft.com/office/drawing/2014/main" id="{44011101-7661-9734-3D2B-31280BA82C80}"/>
              </a:ext>
            </a:extLst>
          </p:cNvPr>
          <p:cNvCxnSpPr>
            <a:cxnSpLocks/>
          </p:cNvCxnSpPr>
          <p:nvPr/>
        </p:nvCxnSpPr>
        <p:spPr>
          <a:xfrm>
            <a:off x="2634592" y="5528282"/>
            <a:ext cx="0" cy="511729"/>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0" name="Straight Arrow Connector 9">
            <a:extLst>
              <a:ext uri="{FF2B5EF4-FFF2-40B4-BE49-F238E27FC236}">
                <a16:creationId xmlns:a16="http://schemas.microsoft.com/office/drawing/2014/main" id="{84747AD8-3562-58D2-E2E8-DAF4FBC73452}"/>
              </a:ext>
            </a:extLst>
          </p:cNvPr>
          <p:cNvCxnSpPr>
            <a:cxnSpLocks/>
          </p:cNvCxnSpPr>
          <p:nvPr/>
        </p:nvCxnSpPr>
        <p:spPr>
          <a:xfrm flipV="1">
            <a:off x="5142701" y="5754806"/>
            <a:ext cx="1794911" cy="485374"/>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2" name="Straight Arrow Connector 11">
            <a:extLst>
              <a:ext uri="{FF2B5EF4-FFF2-40B4-BE49-F238E27FC236}">
                <a16:creationId xmlns:a16="http://schemas.microsoft.com/office/drawing/2014/main" id="{786164D8-2453-0A94-7F6D-DFCE54E48495}"/>
              </a:ext>
            </a:extLst>
          </p:cNvPr>
          <p:cNvCxnSpPr>
            <a:cxnSpLocks/>
          </p:cNvCxnSpPr>
          <p:nvPr/>
        </p:nvCxnSpPr>
        <p:spPr>
          <a:xfrm flipV="1">
            <a:off x="8216548" y="4960458"/>
            <a:ext cx="0" cy="44974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3" name="Straight Arrow Connector 12">
            <a:extLst>
              <a:ext uri="{FF2B5EF4-FFF2-40B4-BE49-F238E27FC236}">
                <a16:creationId xmlns:a16="http://schemas.microsoft.com/office/drawing/2014/main" id="{9469D811-95DD-B586-E649-5BB6A4EA0F0F}"/>
              </a:ext>
            </a:extLst>
          </p:cNvPr>
          <p:cNvCxnSpPr>
            <a:cxnSpLocks/>
          </p:cNvCxnSpPr>
          <p:nvPr/>
        </p:nvCxnSpPr>
        <p:spPr>
          <a:xfrm flipV="1">
            <a:off x="8195134" y="3832184"/>
            <a:ext cx="0" cy="44974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2926751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511AE-346F-06B9-67A3-4BC811D0DB84}"/>
              </a:ext>
            </a:extLst>
          </p:cNvPr>
          <p:cNvSpPr>
            <a:spLocks noGrp="1"/>
          </p:cNvSpPr>
          <p:nvPr>
            <p:ph type="title"/>
          </p:nvPr>
        </p:nvSpPr>
        <p:spPr/>
        <p:txBody>
          <a:bodyPr/>
          <a:lstStyle/>
          <a:p>
            <a:r>
              <a:rPr lang="en-US" b="1" dirty="0"/>
              <a:t>Code: </a:t>
            </a:r>
            <a:r>
              <a:rPr lang="pl-PL" b="1" dirty="0"/>
              <a:t>Error</a:t>
            </a:r>
            <a:r>
              <a:rPr lang="en-GB" b="1" dirty="0"/>
              <a:t> -</a:t>
            </a:r>
            <a:r>
              <a:rPr lang="uk-UA" b="1" dirty="0"/>
              <a:t> </a:t>
            </a:r>
            <a:r>
              <a:rPr lang="uk-UA" b="1" dirty="0">
                <a:solidFill>
                  <a:srgbClr val="C00000"/>
                </a:solidFill>
              </a:rPr>
              <a:t>404 </a:t>
            </a:r>
            <a:r>
              <a:rPr lang="en-GB" b="1" dirty="0">
                <a:solidFill>
                  <a:srgbClr val="C00000"/>
                </a:solidFill>
              </a:rPr>
              <a:t>Not found</a:t>
            </a:r>
            <a:r>
              <a:rPr lang="uk-UA" b="1" dirty="0">
                <a:solidFill>
                  <a:srgbClr val="C00000"/>
                </a:solidFill>
              </a:rPr>
              <a:t> </a:t>
            </a:r>
            <a:endParaRPr lang="en-GB" b="1" dirty="0">
              <a:solidFill>
                <a:srgbClr val="C00000"/>
              </a:solidFill>
            </a:endParaRPr>
          </a:p>
        </p:txBody>
      </p:sp>
      <p:pic>
        <p:nvPicPr>
          <p:cNvPr id="11" name="Content Placeholder 10">
            <a:extLst>
              <a:ext uri="{FF2B5EF4-FFF2-40B4-BE49-F238E27FC236}">
                <a16:creationId xmlns:a16="http://schemas.microsoft.com/office/drawing/2014/main" id="{D6DD0720-09D4-FE37-4134-D036017C9AFD}"/>
              </a:ext>
            </a:extLst>
          </p:cNvPr>
          <p:cNvPicPr>
            <a:picLocks noGrp="1" noChangeAspect="1"/>
          </p:cNvPicPr>
          <p:nvPr>
            <p:ph idx="1"/>
          </p:nvPr>
        </p:nvPicPr>
        <p:blipFill>
          <a:blip r:embed="rId2"/>
          <a:stretch>
            <a:fillRect/>
          </a:stretch>
        </p:blipFill>
        <p:spPr>
          <a:xfrm>
            <a:off x="681038" y="3104732"/>
            <a:ext cx="9613900" cy="2062999"/>
          </a:xfrm>
        </p:spPr>
      </p:pic>
    </p:spTree>
    <p:extLst>
      <p:ext uri="{BB962C8B-B14F-4D97-AF65-F5344CB8AC3E}">
        <p14:creationId xmlns:p14="http://schemas.microsoft.com/office/powerpoint/2010/main" val="40722567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BEAB4-C417-BEDA-C025-1D2F602C4D06}"/>
              </a:ext>
            </a:extLst>
          </p:cNvPr>
          <p:cNvSpPr>
            <a:spLocks noGrp="1"/>
          </p:cNvSpPr>
          <p:nvPr>
            <p:ph type="title"/>
          </p:nvPr>
        </p:nvSpPr>
        <p:spPr/>
        <p:txBody>
          <a:bodyPr/>
          <a:lstStyle/>
          <a:p>
            <a:r>
              <a:rPr lang="pl-PL" b="1" dirty="0"/>
              <a:t>Error</a:t>
            </a:r>
            <a:r>
              <a:rPr lang="en-GB" b="1" dirty="0"/>
              <a:t> – </a:t>
            </a:r>
            <a:r>
              <a:rPr lang="en-GB" b="1" dirty="0">
                <a:solidFill>
                  <a:srgbClr val="C00000"/>
                </a:solidFill>
              </a:rPr>
              <a:t>400 Bad request</a:t>
            </a:r>
            <a:endParaRPr lang="en-GB" dirty="0">
              <a:solidFill>
                <a:srgbClr val="C00000"/>
              </a:solidFill>
            </a:endParaRPr>
          </a:p>
        </p:txBody>
      </p:sp>
      <p:sp>
        <p:nvSpPr>
          <p:cNvPr id="4" name="Content Placeholder 2">
            <a:extLst>
              <a:ext uri="{FF2B5EF4-FFF2-40B4-BE49-F238E27FC236}">
                <a16:creationId xmlns:a16="http://schemas.microsoft.com/office/drawing/2014/main" id="{7B0D41AC-745C-FCC7-33BE-275107FAFC58}"/>
              </a:ext>
            </a:extLst>
          </p:cNvPr>
          <p:cNvSpPr>
            <a:spLocks noGrp="1"/>
          </p:cNvSpPr>
          <p:nvPr>
            <p:ph idx="1"/>
          </p:nvPr>
        </p:nvSpPr>
        <p:spPr>
          <a:xfrm>
            <a:off x="524917" y="2080895"/>
            <a:ext cx="5637059" cy="4667250"/>
          </a:xfrm>
        </p:spPr>
        <p:txBody>
          <a:bodyPr>
            <a:normAutofit/>
          </a:bodyPr>
          <a:lstStyle/>
          <a:p>
            <a:pPr marL="514350" indent="-514350">
              <a:buFont typeface="+mj-lt"/>
              <a:buAutoNum type="arabicPeriod"/>
            </a:pPr>
            <a:r>
              <a:rPr lang="en-US" sz="2000" b="1" dirty="0"/>
              <a:t>HTTP request, type</a:t>
            </a:r>
            <a:r>
              <a:rPr lang="en-GB" sz="2000" b="1" dirty="0"/>
              <a:t> POST </a:t>
            </a:r>
            <a:endParaRPr lang="uk-UA" sz="2000" b="1" dirty="0"/>
          </a:p>
          <a:p>
            <a:pPr marL="457200" lvl="1" indent="0">
              <a:buNone/>
            </a:pPr>
            <a:r>
              <a:rPr lang="en-GB" u="sng" dirty="0">
                <a:solidFill>
                  <a:srgbClr val="6699FF"/>
                </a:solidFill>
                <a:hlinkClick r:id="rId2">
                  <a:extLst>
                    <a:ext uri="{A12FA001-AC4F-418D-AE19-62706E023703}">
                      <ahyp:hlinkClr xmlns:ahyp="http://schemas.microsoft.com/office/drawing/2018/hyperlinkcolor" val="tx"/>
                    </a:ext>
                  </a:extLst>
                </a:hlinkClick>
              </a:rPr>
              <a:t>https://localhost:7067/api/projects</a:t>
            </a:r>
            <a:r>
              <a:rPr lang="en-GB" u="sng" dirty="0">
                <a:solidFill>
                  <a:srgbClr val="6699FF"/>
                </a:solidFill>
              </a:rPr>
              <a:t>/</a:t>
            </a:r>
            <a:r>
              <a:rPr lang="en-US" u="sng" dirty="0">
                <a:solidFill>
                  <a:srgbClr val="6699FF"/>
                </a:solidFill>
              </a:rPr>
              <a:t>simulate-bad-request-create-project</a:t>
            </a:r>
            <a:endParaRPr lang="en-GB" u="sng" dirty="0">
              <a:solidFill>
                <a:srgbClr val="6699FF"/>
              </a:solidFill>
            </a:endParaRPr>
          </a:p>
          <a:p>
            <a:pPr marL="457200" lvl="1" indent="0">
              <a:buNone/>
            </a:pPr>
            <a:endParaRPr lang="en-GB" dirty="0"/>
          </a:p>
          <a:p>
            <a:pPr marL="514350" indent="-514350">
              <a:buFont typeface="+mj-lt"/>
              <a:buAutoNum type="arabicPeriod"/>
            </a:pPr>
            <a:r>
              <a:rPr lang="en-GB" sz="2000" b="1" dirty="0"/>
              <a:t>Middleware( Routing )</a:t>
            </a:r>
          </a:p>
          <a:p>
            <a:pPr marL="514350" indent="-514350">
              <a:buFont typeface="+mj-lt"/>
              <a:buAutoNum type="arabicPeriod"/>
            </a:pPr>
            <a:endParaRPr lang="en-GB" sz="2400" b="1" dirty="0"/>
          </a:p>
          <a:p>
            <a:pPr marL="514350" indent="-514350">
              <a:buFont typeface="+mj-lt"/>
              <a:buAutoNum type="arabicPeriod"/>
            </a:pPr>
            <a:r>
              <a:rPr lang="en-US" sz="2000" b="1" dirty="0"/>
              <a:t>Deserialization</a:t>
            </a:r>
            <a:r>
              <a:rPr lang="uk-UA" sz="2000" b="1" dirty="0"/>
              <a:t> </a:t>
            </a:r>
            <a:r>
              <a:rPr lang="en-GB" sz="2000" dirty="0"/>
              <a:t>JSON -&gt; DTO</a:t>
            </a:r>
            <a:endParaRPr lang="en-GB" sz="2000" b="1" dirty="0"/>
          </a:p>
          <a:p>
            <a:pPr marL="514350" indent="-514350">
              <a:buFont typeface="+mj-lt"/>
              <a:buAutoNum type="arabicPeriod"/>
            </a:pPr>
            <a:endParaRPr lang="uk-UA" sz="2400" b="1" dirty="0"/>
          </a:p>
          <a:p>
            <a:pPr marL="514350" indent="-514350">
              <a:buFont typeface="+mj-lt"/>
              <a:buAutoNum type="arabicPeriod"/>
            </a:pPr>
            <a:r>
              <a:rPr lang="en-GB" sz="2000" b="1" dirty="0" err="1"/>
              <a:t>ProjectsController</a:t>
            </a:r>
            <a:r>
              <a:rPr lang="en-GB" sz="2000" b="1" dirty="0"/>
              <a:t>( Create</a:t>
            </a:r>
            <a:r>
              <a:rPr lang="en-GB" sz="2000" dirty="0"/>
              <a:t> </a:t>
            </a:r>
            <a:r>
              <a:rPr lang="en-GB" sz="2000" b="1" dirty="0"/>
              <a:t>)</a:t>
            </a:r>
          </a:p>
          <a:p>
            <a:pPr marL="457200" lvl="1" indent="0">
              <a:buNone/>
            </a:pPr>
            <a:r>
              <a:rPr lang="pl-PL" sz="2000" b="1" dirty="0"/>
              <a:t>	</a:t>
            </a:r>
            <a:r>
              <a:rPr lang="pl-PL" sz="2000" dirty="0"/>
              <a:t>Maps</a:t>
            </a:r>
            <a:r>
              <a:rPr lang="uk-UA" sz="2000" b="1" dirty="0"/>
              <a:t> </a:t>
            </a:r>
            <a:r>
              <a:rPr lang="en-GB" sz="2000" dirty="0"/>
              <a:t>DTO -&gt; Entity</a:t>
            </a:r>
            <a:r>
              <a:rPr lang="en-GB" sz="2000" b="1" dirty="0"/>
              <a:t> </a:t>
            </a:r>
          </a:p>
          <a:p>
            <a:pPr marL="514350" indent="-514350">
              <a:buFont typeface="+mj-lt"/>
              <a:buAutoNum type="arabicPeriod"/>
            </a:pPr>
            <a:endParaRPr lang="en-GB" sz="2400" b="1" dirty="0"/>
          </a:p>
          <a:p>
            <a:pPr marL="514350" indent="-514350">
              <a:buFont typeface="+mj-lt"/>
              <a:buAutoNum type="arabicPeriod"/>
            </a:pPr>
            <a:r>
              <a:rPr lang="en-GB" sz="2000" b="1" dirty="0"/>
              <a:t>Repository(</a:t>
            </a:r>
            <a:r>
              <a:rPr lang="en-GB" sz="2000" b="1" dirty="0" err="1"/>
              <a:t>AddAsync</a:t>
            </a:r>
            <a:r>
              <a:rPr lang="en-GB" sz="2000" b="1" dirty="0"/>
              <a:t>)</a:t>
            </a:r>
            <a:endParaRPr lang="en-GB" sz="2000" dirty="0"/>
          </a:p>
          <a:p>
            <a:pPr marL="514350" indent="-514350">
              <a:buFont typeface="+mj-lt"/>
              <a:buAutoNum type="arabicPeriod"/>
            </a:pPr>
            <a:endParaRPr lang="en-GB" dirty="0"/>
          </a:p>
          <a:p>
            <a:pPr marL="514350" indent="-514350">
              <a:buFont typeface="+mj-lt"/>
              <a:buAutoNum type="arabicPeriod"/>
            </a:pPr>
            <a:endParaRPr lang="en-GB" dirty="0"/>
          </a:p>
          <a:p>
            <a:pPr marL="514350" indent="-514350">
              <a:buFont typeface="+mj-lt"/>
              <a:buAutoNum type="arabicPeriod"/>
            </a:pPr>
            <a:endParaRPr lang="uk-UA" dirty="0"/>
          </a:p>
          <a:p>
            <a:pPr marL="514350" indent="-514350">
              <a:buFont typeface="+mj-lt"/>
              <a:buAutoNum type="arabicPeriod"/>
            </a:pPr>
            <a:endParaRPr lang="en-GB" dirty="0"/>
          </a:p>
          <a:p>
            <a:pPr marL="514350" indent="-514350">
              <a:buFont typeface="+mj-lt"/>
              <a:buAutoNum type="arabicPeriod"/>
            </a:pPr>
            <a:endParaRPr lang="uk-UA" dirty="0"/>
          </a:p>
          <a:p>
            <a:pPr marL="514350" indent="-514350">
              <a:buFont typeface="+mj-lt"/>
              <a:buAutoNum type="arabicPeriod"/>
            </a:pPr>
            <a:endParaRPr lang="en-GB" dirty="0"/>
          </a:p>
          <a:p>
            <a:pPr marL="514350" indent="-514350">
              <a:buFont typeface="+mj-lt"/>
              <a:buAutoNum type="arabicPeriod"/>
            </a:pPr>
            <a:endParaRPr lang="en-GB" dirty="0"/>
          </a:p>
        </p:txBody>
      </p:sp>
      <p:sp>
        <p:nvSpPr>
          <p:cNvPr id="5" name="Content Placeholder 2">
            <a:extLst>
              <a:ext uri="{FF2B5EF4-FFF2-40B4-BE49-F238E27FC236}">
                <a16:creationId xmlns:a16="http://schemas.microsoft.com/office/drawing/2014/main" id="{C8C3CB40-86FF-68EE-7872-BF3B5005D227}"/>
              </a:ext>
            </a:extLst>
          </p:cNvPr>
          <p:cNvSpPr txBox="1">
            <a:spLocks/>
          </p:cNvSpPr>
          <p:nvPr/>
        </p:nvSpPr>
        <p:spPr>
          <a:xfrm>
            <a:off x="6605741" y="2752083"/>
            <a:ext cx="5637059" cy="46672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000" b="1" dirty="0"/>
              <a:t>9. </a:t>
            </a:r>
            <a:r>
              <a:rPr lang="en-US" sz="2000" b="1" dirty="0"/>
              <a:t>HTTP response</a:t>
            </a:r>
            <a:r>
              <a:rPr lang="en-GB" sz="2000" b="1" dirty="0"/>
              <a:t> </a:t>
            </a:r>
            <a:r>
              <a:rPr lang="en-GB" sz="2000" dirty="0"/>
              <a:t>( </a:t>
            </a:r>
            <a:r>
              <a:rPr lang="en-GB" sz="2000" b="1" dirty="0" err="1"/>
              <a:t>BadRequest</a:t>
            </a:r>
            <a:r>
              <a:rPr lang="en-GB" sz="2000" dirty="0"/>
              <a:t> )</a:t>
            </a:r>
            <a:r>
              <a:rPr lang="en-GB" sz="2000" b="1" dirty="0"/>
              <a:t> </a:t>
            </a:r>
          </a:p>
          <a:p>
            <a:pPr marL="0" indent="0">
              <a:buNone/>
            </a:pPr>
            <a:endParaRPr lang="en-GB" sz="2400" b="1" dirty="0"/>
          </a:p>
          <a:p>
            <a:pPr marL="0" indent="0">
              <a:buNone/>
            </a:pPr>
            <a:r>
              <a:rPr lang="en-GB" sz="2000" b="1" dirty="0"/>
              <a:t>8.   </a:t>
            </a:r>
            <a:r>
              <a:rPr lang="en-GB" sz="2000" b="1" dirty="0" err="1"/>
              <a:t>ProjectsController</a:t>
            </a:r>
            <a:r>
              <a:rPr lang="en-GB" sz="2000" b="1" dirty="0"/>
              <a:t>( Create )</a:t>
            </a:r>
          </a:p>
          <a:p>
            <a:pPr marL="457200" lvl="1" indent="0">
              <a:buNone/>
            </a:pPr>
            <a:r>
              <a:rPr lang="en-GB" sz="2000" dirty="0"/>
              <a:t>	</a:t>
            </a:r>
            <a:r>
              <a:rPr lang="en-GB" sz="2000" dirty="0" err="1"/>
              <a:t>BadRequest</a:t>
            </a:r>
            <a:r>
              <a:rPr lang="en-GB" sz="2000" dirty="0"/>
              <a:t>()</a:t>
            </a:r>
          </a:p>
          <a:p>
            <a:pPr marL="457200" lvl="1" indent="0">
              <a:buNone/>
            </a:pPr>
            <a:r>
              <a:rPr lang="en-GB" sz="2000" b="1" dirty="0"/>
              <a:t>	</a:t>
            </a:r>
            <a:endParaRPr lang="en-GB" sz="2400" b="1" dirty="0"/>
          </a:p>
          <a:p>
            <a:pPr marL="0" indent="0">
              <a:buNone/>
            </a:pPr>
            <a:r>
              <a:rPr lang="en-GB" sz="2000" b="1" dirty="0"/>
              <a:t>7.   Repository( </a:t>
            </a:r>
            <a:r>
              <a:rPr lang="en-GB" sz="2000" b="1" dirty="0" err="1"/>
              <a:t>SaveChangesAsync</a:t>
            </a:r>
            <a:r>
              <a:rPr lang="en-GB" sz="2000" b="1" dirty="0"/>
              <a:t> )</a:t>
            </a:r>
          </a:p>
          <a:p>
            <a:pPr marL="457200" lvl="1" indent="0">
              <a:buNone/>
            </a:pPr>
            <a:r>
              <a:rPr lang="en-GB" dirty="0"/>
              <a:t>	</a:t>
            </a:r>
            <a:endParaRPr lang="en-GB" sz="2400" b="1" dirty="0"/>
          </a:p>
          <a:p>
            <a:pPr marL="0" indent="0">
              <a:buNone/>
            </a:pPr>
            <a:r>
              <a:rPr lang="en-GB" sz="2000" b="1" dirty="0"/>
              <a:t>6</a:t>
            </a:r>
            <a:r>
              <a:rPr lang="uk-UA" sz="2000" b="1" dirty="0"/>
              <a:t>.</a:t>
            </a:r>
            <a:r>
              <a:rPr lang="en-GB" sz="2000" b="1" dirty="0"/>
              <a:t>   </a:t>
            </a:r>
            <a:r>
              <a:rPr lang="en-GB" sz="2000" b="1" dirty="0" err="1"/>
              <a:t>AppDbContext</a:t>
            </a:r>
            <a:endParaRPr lang="en-GB" sz="2000" b="1" dirty="0"/>
          </a:p>
        </p:txBody>
      </p:sp>
      <p:cxnSp>
        <p:nvCxnSpPr>
          <p:cNvPr id="6" name="Straight Arrow Connector 5">
            <a:extLst>
              <a:ext uri="{FF2B5EF4-FFF2-40B4-BE49-F238E27FC236}">
                <a16:creationId xmlns:a16="http://schemas.microsoft.com/office/drawing/2014/main" id="{3B8A1A70-2FE5-77DC-C00F-28FF5C692E54}"/>
              </a:ext>
            </a:extLst>
          </p:cNvPr>
          <p:cNvCxnSpPr>
            <a:cxnSpLocks/>
          </p:cNvCxnSpPr>
          <p:nvPr/>
        </p:nvCxnSpPr>
        <p:spPr>
          <a:xfrm>
            <a:off x="2635556" y="3062510"/>
            <a:ext cx="0" cy="420289"/>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8" name="Straight Arrow Connector 7">
            <a:extLst>
              <a:ext uri="{FF2B5EF4-FFF2-40B4-BE49-F238E27FC236}">
                <a16:creationId xmlns:a16="http://schemas.microsoft.com/office/drawing/2014/main" id="{5D76CFA4-E6AE-4088-02A5-4E4D8DA8637B}"/>
              </a:ext>
            </a:extLst>
          </p:cNvPr>
          <p:cNvCxnSpPr>
            <a:cxnSpLocks/>
          </p:cNvCxnSpPr>
          <p:nvPr/>
        </p:nvCxnSpPr>
        <p:spPr>
          <a:xfrm>
            <a:off x="2614814" y="3861405"/>
            <a:ext cx="0" cy="457200"/>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0" name="Straight Arrow Connector 9">
            <a:extLst>
              <a:ext uri="{FF2B5EF4-FFF2-40B4-BE49-F238E27FC236}">
                <a16:creationId xmlns:a16="http://schemas.microsoft.com/office/drawing/2014/main" id="{52367204-7B38-D70C-E3AC-0B5BB0551567}"/>
              </a:ext>
            </a:extLst>
          </p:cNvPr>
          <p:cNvCxnSpPr>
            <a:cxnSpLocks/>
          </p:cNvCxnSpPr>
          <p:nvPr/>
        </p:nvCxnSpPr>
        <p:spPr>
          <a:xfrm>
            <a:off x="2607719" y="4655659"/>
            <a:ext cx="0" cy="457200"/>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1" name="Straight Arrow Connector 10">
            <a:extLst>
              <a:ext uri="{FF2B5EF4-FFF2-40B4-BE49-F238E27FC236}">
                <a16:creationId xmlns:a16="http://schemas.microsoft.com/office/drawing/2014/main" id="{3FEACD8C-063A-A798-0C23-39C4D4684CD4}"/>
              </a:ext>
            </a:extLst>
          </p:cNvPr>
          <p:cNvCxnSpPr>
            <a:cxnSpLocks/>
          </p:cNvCxnSpPr>
          <p:nvPr/>
        </p:nvCxnSpPr>
        <p:spPr>
          <a:xfrm>
            <a:off x="2607719" y="5842000"/>
            <a:ext cx="0" cy="457200"/>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2" name="Straight Arrow Connector 11">
            <a:extLst>
              <a:ext uri="{FF2B5EF4-FFF2-40B4-BE49-F238E27FC236}">
                <a16:creationId xmlns:a16="http://schemas.microsoft.com/office/drawing/2014/main" id="{30ABA6EE-FA3D-8F95-86CB-FBEA745980E2}"/>
              </a:ext>
            </a:extLst>
          </p:cNvPr>
          <p:cNvCxnSpPr>
            <a:cxnSpLocks/>
          </p:cNvCxnSpPr>
          <p:nvPr/>
        </p:nvCxnSpPr>
        <p:spPr>
          <a:xfrm flipV="1">
            <a:off x="3973167" y="5914030"/>
            <a:ext cx="2564111" cy="664570"/>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4" name="Straight Arrow Connector 13">
            <a:extLst>
              <a:ext uri="{FF2B5EF4-FFF2-40B4-BE49-F238E27FC236}">
                <a16:creationId xmlns:a16="http://schemas.microsoft.com/office/drawing/2014/main" id="{0C5092B9-471E-FEB4-5F21-CD2DE092DB68}"/>
              </a:ext>
            </a:extLst>
          </p:cNvPr>
          <p:cNvCxnSpPr>
            <a:cxnSpLocks/>
          </p:cNvCxnSpPr>
          <p:nvPr/>
        </p:nvCxnSpPr>
        <p:spPr>
          <a:xfrm flipV="1">
            <a:off x="8261954" y="5053718"/>
            <a:ext cx="0" cy="44974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5" name="Straight Arrow Connector 14">
            <a:extLst>
              <a:ext uri="{FF2B5EF4-FFF2-40B4-BE49-F238E27FC236}">
                <a16:creationId xmlns:a16="http://schemas.microsoft.com/office/drawing/2014/main" id="{3D3FF26F-78E6-194B-524F-982C091E9422}"/>
              </a:ext>
            </a:extLst>
          </p:cNvPr>
          <p:cNvCxnSpPr>
            <a:cxnSpLocks/>
          </p:cNvCxnSpPr>
          <p:nvPr/>
        </p:nvCxnSpPr>
        <p:spPr>
          <a:xfrm flipV="1">
            <a:off x="8249216" y="4314783"/>
            <a:ext cx="7268" cy="375498"/>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cxnSp>
        <p:nvCxnSpPr>
          <p:cNvPr id="16" name="Straight Arrow Connector 15">
            <a:extLst>
              <a:ext uri="{FF2B5EF4-FFF2-40B4-BE49-F238E27FC236}">
                <a16:creationId xmlns:a16="http://schemas.microsoft.com/office/drawing/2014/main" id="{F10C28CF-B34F-FF91-92CC-DDEB71F4D3FD}"/>
              </a:ext>
            </a:extLst>
          </p:cNvPr>
          <p:cNvCxnSpPr>
            <a:cxnSpLocks/>
          </p:cNvCxnSpPr>
          <p:nvPr/>
        </p:nvCxnSpPr>
        <p:spPr>
          <a:xfrm flipV="1">
            <a:off x="8249216" y="3140439"/>
            <a:ext cx="0" cy="449741"/>
          </a:xfrm>
          <a:prstGeom prst="straightConnector1">
            <a:avLst/>
          </a:prstGeom>
          <a:ln w="38100">
            <a:solidFill>
              <a:srgbClr val="7030A0"/>
            </a:solidFill>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6211975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9F843-CAA0-1F5A-ACAB-4E5008582940}"/>
              </a:ext>
            </a:extLst>
          </p:cNvPr>
          <p:cNvSpPr>
            <a:spLocks noGrp="1"/>
          </p:cNvSpPr>
          <p:nvPr>
            <p:ph type="title"/>
          </p:nvPr>
        </p:nvSpPr>
        <p:spPr/>
        <p:txBody>
          <a:bodyPr/>
          <a:lstStyle/>
          <a:p>
            <a:r>
              <a:rPr lang="en-US" b="1" dirty="0"/>
              <a:t>Code: </a:t>
            </a:r>
            <a:r>
              <a:rPr lang="pl-PL" b="1" dirty="0"/>
              <a:t>Error</a:t>
            </a:r>
            <a:r>
              <a:rPr lang="en-GB" b="1" dirty="0"/>
              <a:t> – </a:t>
            </a:r>
            <a:r>
              <a:rPr lang="en-GB" b="1" dirty="0">
                <a:solidFill>
                  <a:srgbClr val="C00000"/>
                </a:solidFill>
              </a:rPr>
              <a:t>400 Bad request</a:t>
            </a:r>
            <a:endParaRPr lang="en-GB" dirty="0">
              <a:solidFill>
                <a:srgbClr val="C00000"/>
              </a:solidFill>
            </a:endParaRPr>
          </a:p>
        </p:txBody>
      </p:sp>
      <p:pic>
        <p:nvPicPr>
          <p:cNvPr id="7" name="Content Placeholder 6">
            <a:extLst>
              <a:ext uri="{FF2B5EF4-FFF2-40B4-BE49-F238E27FC236}">
                <a16:creationId xmlns:a16="http://schemas.microsoft.com/office/drawing/2014/main" id="{995FC3B5-CF4D-6749-CFA6-0368E7D3A7C9}"/>
              </a:ext>
            </a:extLst>
          </p:cNvPr>
          <p:cNvPicPr>
            <a:picLocks noGrp="1" noChangeAspect="1"/>
          </p:cNvPicPr>
          <p:nvPr>
            <p:ph idx="1"/>
          </p:nvPr>
        </p:nvPicPr>
        <p:blipFill>
          <a:blip r:embed="rId2"/>
          <a:stretch>
            <a:fillRect/>
          </a:stretch>
        </p:blipFill>
        <p:spPr>
          <a:xfrm>
            <a:off x="1289050" y="3251384"/>
            <a:ext cx="9613900" cy="2135454"/>
          </a:xfrm>
        </p:spPr>
      </p:pic>
    </p:spTree>
    <p:extLst>
      <p:ext uri="{BB962C8B-B14F-4D97-AF65-F5344CB8AC3E}">
        <p14:creationId xmlns:p14="http://schemas.microsoft.com/office/powerpoint/2010/main" val="15240967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3BC15-830A-050E-7860-ACD3E79B0474}"/>
              </a:ext>
            </a:extLst>
          </p:cNvPr>
          <p:cNvSpPr>
            <a:spLocks noGrp="1"/>
          </p:cNvSpPr>
          <p:nvPr>
            <p:ph type="title"/>
          </p:nvPr>
        </p:nvSpPr>
        <p:spPr/>
        <p:txBody>
          <a:bodyPr/>
          <a:lstStyle/>
          <a:p>
            <a:r>
              <a:rPr lang="en-GB" b="1" dirty="0"/>
              <a:t>Unit Tests vs Integration Tests</a:t>
            </a:r>
          </a:p>
        </p:txBody>
      </p:sp>
      <p:graphicFrame>
        <p:nvGraphicFramePr>
          <p:cNvPr id="4" name="Content Placeholder 3">
            <a:extLst>
              <a:ext uri="{FF2B5EF4-FFF2-40B4-BE49-F238E27FC236}">
                <a16:creationId xmlns:a16="http://schemas.microsoft.com/office/drawing/2014/main" id="{313CC29B-F066-ADC2-5908-27BDE44ECEF2}"/>
              </a:ext>
            </a:extLst>
          </p:cNvPr>
          <p:cNvGraphicFramePr>
            <a:graphicFrameLocks noGrp="1"/>
          </p:cNvGraphicFramePr>
          <p:nvPr>
            <p:ph idx="1"/>
            <p:extLst>
              <p:ext uri="{D42A27DB-BD31-4B8C-83A1-F6EECF244321}">
                <p14:modId xmlns:p14="http://schemas.microsoft.com/office/powerpoint/2010/main" val="1356631142"/>
              </p:ext>
            </p:extLst>
          </p:nvPr>
        </p:nvGraphicFramePr>
        <p:xfrm>
          <a:off x="1025801" y="2273705"/>
          <a:ext cx="10333686" cy="4376468"/>
        </p:xfrm>
        <a:graphic>
          <a:graphicData uri="http://schemas.openxmlformats.org/drawingml/2006/table">
            <a:tbl>
              <a:tblPr firstRow="1" bandRow="1">
                <a:tableStyleId>{5C22544A-7EE6-4342-B048-85BDC9FD1C3A}</a:tableStyleId>
              </a:tblPr>
              <a:tblGrid>
                <a:gridCol w="3444562">
                  <a:extLst>
                    <a:ext uri="{9D8B030D-6E8A-4147-A177-3AD203B41FA5}">
                      <a16:colId xmlns:a16="http://schemas.microsoft.com/office/drawing/2014/main" val="1928214409"/>
                    </a:ext>
                  </a:extLst>
                </a:gridCol>
                <a:gridCol w="3444562">
                  <a:extLst>
                    <a:ext uri="{9D8B030D-6E8A-4147-A177-3AD203B41FA5}">
                      <a16:colId xmlns:a16="http://schemas.microsoft.com/office/drawing/2014/main" val="102563888"/>
                    </a:ext>
                  </a:extLst>
                </a:gridCol>
                <a:gridCol w="3444562">
                  <a:extLst>
                    <a:ext uri="{9D8B030D-6E8A-4147-A177-3AD203B41FA5}">
                      <a16:colId xmlns:a16="http://schemas.microsoft.com/office/drawing/2014/main" val="1171852089"/>
                    </a:ext>
                  </a:extLst>
                </a:gridCol>
              </a:tblGrid>
              <a:tr h="1380514">
                <a:tc>
                  <a:txBody>
                    <a:bodyPr/>
                    <a:lstStyle/>
                    <a:p>
                      <a:endParaRPr lang="en-GB" dirty="0"/>
                    </a:p>
                  </a:txBody>
                  <a:tcPr>
                    <a:solidFill>
                      <a:srgbClr val="9966FF"/>
                    </a:solidFill>
                  </a:tcPr>
                </a:tc>
                <a:tc>
                  <a:txBody>
                    <a:bodyPr/>
                    <a:lstStyle/>
                    <a:p>
                      <a:pPr algn="ctr">
                        <a:lnSpc>
                          <a:spcPct val="200000"/>
                        </a:lnSpc>
                      </a:pPr>
                      <a:r>
                        <a:rPr lang="en-GB" sz="2800" dirty="0"/>
                        <a:t>Unit test</a:t>
                      </a:r>
                    </a:p>
                  </a:txBody>
                  <a:tcPr>
                    <a:solidFill>
                      <a:srgbClr val="9966FF"/>
                    </a:solidFill>
                  </a:tcPr>
                </a:tc>
                <a:tc>
                  <a:txBody>
                    <a:bodyPr/>
                    <a:lstStyle/>
                    <a:p>
                      <a:pPr lvl="1">
                        <a:lnSpc>
                          <a:spcPct val="200000"/>
                        </a:lnSpc>
                      </a:pPr>
                      <a:r>
                        <a:rPr lang="en-GB" sz="2800" dirty="0"/>
                        <a:t>Integration test</a:t>
                      </a:r>
                    </a:p>
                  </a:txBody>
                  <a:tcPr>
                    <a:solidFill>
                      <a:srgbClr val="9966FF"/>
                    </a:solidFill>
                  </a:tcPr>
                </a:tc>
                <a:extLst>
                  <a:ext uri="{0D108BD9-81ED-4DB2-BD59-A6C34878D82A}">
                    <a16:rowId xmlns:a16="http://schemas.microsoft.com/office/drawing/2014/main" val="1602682624"/>
                  </a:ext>
                </a:extLst>
              </a:tr>
              <a:tr h="1519918">
                <a:tc>
                  <a:txBody>
                    <a:bodyPr/>
                    <a:lstStyle/>
                    <a:p>
                      <a:pPr algn="ctr">
                        <a:lnSpc>
                          <a:spcPct val="200000"/>
                        </a:lnSpc>
                      </a:pPr>
                      <a:r>
                        <a:rPr lang="en-US" sz="2400" b="1" dirty="0"/>
                        <a:t>Definition</a:t>
                      </a:r>
                      <a:endParaRPr lang="en-GB" sz="2400" b="1" dirty="0"/>
                    </a:p>
                  </a:txBody>
                  <a:tcPr>
                    <a:solidFill>
                      <a:srgbClr val="FF7C8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Test individual functions, methods, or classes in isolation, without dependencies on other parts of the system.</a:t>
                      </a:r>
                      <a:endParaRPr lang="en-GB" dirty="0"/>
                    </a:p>
                  </a:txBody>
                  <a:tcPr/>
                </a:tc>
                <a:tc>
                  <a:txBody>
                    <a:bodyPr/>
                    <a:lstStyle/>
                    <a:p>
                      <a:r>
                        <a:rPr lang="en-US" sz="2000" dirty="0"/>
                        <a:t>Test the interaction between different components of the system to ensure they work correctly together.</a:t>
                      </a:r>
                      <a:endParaRPr lang="en-GB" sz="2000" dirty="0"/>
                    </a:p>
                  </a:txBody>
                  <a:tcPr/>
                </a:tc>
                <a:extLst>
                  <a:ext uri="{0D108BD9-81ED-4DB2-BD59-A6C34878D82A}">
                    <a16:rowId xmlns:a16="http://schemas.microsoft.com/office/drawing/2014/main" val="1295799501"/>
                  </a:ext>
                </a:extLst>
              </a:tr>
              <a:tr h="1380514">
                <a:tc>
                  <a:txBody>
                    <a:bodyPr/>
                    <a:lstStyle/>
                    <a:p>
                      <a:pPr algn="ctr">
                        <a:lnSpc>
                          <a:spcPct val="200000"/>
                        </a:lnSpc>
                      </a:pPr>
                      <a:r>
                        <a:rPr lang="en-US" sz="2400" b="1" dirty="0"/>
                        <a:t>Libraries</a:t>
                      </a:r>
                      <a:endParaRPr lang="en-GB" sz="2400" b="1" dirty="0"/>
                    </a:p>
                  </a:txBody>
                  <a:tcPr>
                    <a:solidFill>
                      <a:srgbClr val="FF7C80"/>
                    </a:solidFill>
                  </a:tcPr>
                </a:tc>
                <a:tc>
                  <a:txBody>
                    <a:bodyPr/>
                    <a:lstStyle/>
                    <a:p>
                      <a:pPr marL="914400" lvl="2" indent="0" algn="l">
                        <a:lnSpc>
                          <a:spcPct val="200000"/>
                        </a:lnSpc>
                        <a:buFont typeface="Arial" panose="020B0604020202020204" pitchFamily="34" charset="0"/>
                        <a:buNone/>
                      </a:pPr>
                      <a:r>
                        <a:rPr lang="en-GB" sz="1800" b="0" i="0" kern="1200" dirty="0">
                          <a:solidFill>
                            <a:schemeClr val="dk1"/>
                          </a:solidFill>
                          <a:effectLst/>
                          <a:latin typeface="+mn-lt"/>
                          <a:ea typeface="+mn-ea"/>
                          <a:cs typeface="+mn-cs"/>
                        </a:rPr>
                        <a:t>    </a:t>
                      </a:r>
                      <a:r>
                        <a:rPr lang="en-GB" sz="2000" b="0" i="0" kern="1200" dirty="0" err="1">
                          <a:solidFill>
                            <a:schemeClr val="dk1"/>
                          </a:solidFill>
                          <a:effectLst/>
                          <a:latin typeface="+mn-lt"/>
                          <a:ea typeface="+mn-ea"/>
                          <a:cs typeface="+mn-cs"/>
                        </a:rPr>
                        <a:t>xUnit</a:t>
                      </a:r>
                      <a:endParaRPr lang="uk-UA" sz="1800" b="0" i="0" kern="1200" dirty="0">
                        <a:solidFill>
                          <a:schemeClr val="dk1"/>
                        </a:solidFill>
                        <a:effectLst/>
                        <a:latin typeface="+mn-lt"/>
                        <a:ea typeface="+mn-ea"/>
                        <a:cs typeface="+mn-cs"/>
                      </a:endParaRPr>
                    </a:p>
                    <a:p>
                      <a:pPr marL="914400" lvl="2" indent="0" algn="l">
                        <a:lnSpc>
                          <a:spcPct val="200000"/>
                        </a:lnSpc>
                        <a:buFont typeface="Arial" panose="020B0604020202020204" pitchFamily="34" charset="0"/>
                        <a:buNone/>
                      </a:pPr>
                      <a:r>
                        <a:rPr lang="en-GB" sz="1800" b="0" i="0" kern="1200" dirty="0">
                          <a:solidFill>
                            <a:schemeClr val="dk1"/>
                          </a:solidFill>
                          <a:effectLst/>
                          <a:latin typeface="+mn-lt"/>
                          <a:ea typeface="+mn-ea"/>
                          <a:cs typeface="+mn-cs"/>
                        </a:rPr>
                        <a:t>    </a:t>
                      </a:r>
                      <a:r>
                        <a:rPr lang="en-GB" sz="2000" b="0" i="0" kern="1200" dirty="0" err="1">
                          <a:solidFill>
                            <a:schemeClr val="dk1"/>
                          </a:solidFill>
                          <a:effectLst/>
                          <a:latin typeface="+mn-lt"/>
                          <a:ea typeface="+mn-ea"/>
                          <a:cs typeface="+mn-cs"/>
                        </a:rPr>
                        <a:t>MSTest</a:t>
                      </a:r>
                      <a:endParaRPr lang="en-GB" dirty="0"/>
                    </a:p>
                  </a:txBody>
                  <a:tcPr/>
                </a:tc>
                <a:tc>
                  <a:txBody>
                    <a:bodyPr/>
                    <a:lstStyle/>
                    <a:p>
                      <a:pPr marL="914400" lvl="2" indent="0" algn="l">
                        <a:lnSpc>
                          <a:spcPct val="200000"/>
                        </a:lnSpc>
                        <a:buFont typeface="Arial" panose="020B0604020202020204" pitchFamily="34" charset="0"/>
                        <a:buNone/>
                      </a:pPr>
                      <a:r>
                        <a:rPr lang="en-GB" sz="2000" b="0" i="0" kern="1200" dirty="0">
                          <a:solidFill>
                            <a:schemeClr val="dk1"/>
                          </a:solidFill>
                          <a:effectLst/>
                          <a:latin typeface="+mn-lt"/>
                          <a:ea typeface="+mn-ea"/>
                          <a:cs typeface="+mn-cs"/>
                        </a:rPr>
                        <a:t>  </a:t>
                      </a:r>
                      <a:r>
                        <a:rPr lang="en-GB" sz="2000" b="0" i="0" kern="1200" dirty="0" err="1">
                          <a:solidFill>
                            <a:schemeClr val="dk1"/>
                          </a:solidFill>
                          <a:effectLst/>
                          <a:latin typeface="+mn-lt"/>
                          <a:ea typeface="+mn-ea"/>
                          <a:cs typeface="+mn-cs"/>
                        </a:rPr>
                        <a:t>xUnit</a:t>
                      </a:r>
                      <a:endParaRPr lang="uk-UA" sz="2000" b="0" i="0" kern="1200" dirty="0">
                        <a:solidFill>
                          <a:schemeClr val="dk1"/>
                        </a:solidFill>
                        <a:effectLst/>
                        <a:latin typeface="+mn-lt"/>
                        <a:ea typeface="+mn-ea"/>
                        <a:cs typeface="+mn-cs"/>
                      </a:endParaRPr>
                    </a:p>
                    <a:p>
                      <a:pPr marL="914400" lvl="2" indent="0" algn="l">
                        <a:lnSpc>
                          <a:spcPct val="200000"/>
                        </a:lnSpc>
                        <a:buFont typeface="Arial" panose="020B0604020202020204" pitchFamily="34" charset="0"/>
                        <a:buNone/>
                      </a:pPr>
                      <a:r>
                        <a:rPr lang="en-GB" sz="2000" b="0" i="0" kern="1200" dirty="0">
                          <a:solidFill>
                            <a:schemeClr val="dk1"/>
                          </a:solidFill>
                          <a:effectLst/>
                          <a:latin typeface="+mn-lt"/>
                          <a:ea typeface="+mn-ea"/>
                          <a:cs typeface="+mn-cs"/>
                        </a:rPr>
                        <a:t>  </a:t>
                      </a:r>
                      <a:r>
                        <a:rPr lang="en-GB" sz="2000" b="0" i="0" kern="1200" dirty="0" err="1">
                          <a:solidFill>
                            <a:schemeClr val="dk1"/>
                          </a:solidFill>
                          <a:effectLst/>
                          <a:latin typeface="+mn-lt"/>
                          <a:ea typeface="+mn-ea"/>
                          <a:cs typeface="+mn-cs"/>
                        </a:rPr>
                        <a:t>MSTest</a:t>
                      </a:r>
                      <a:endParaRPr lang="en-GB" sz="2000" dirty="0"/>
                    </a:p>
                  </a:txBody>
                  <a:tcPr/>
                </a:tc>
                <a:extLst>
                  <a:ext uri="{0D108BD9-81ED-4DB2-BD59-A6C34878D82A}">
                    <a16:rowId xmlns:a16="http://schemas.microsoft.com/office/drawing/2014/main" val="2173866419"/>
                  </a:ext>
                </a:extLst>
              </a:tr>
            </a:tbl>
          </a:graphicData>
        </a:graphic>
      </p:graphicFrame>
      <p:pic>
        <p:nvPicPr>
          <p:cNvPr id="5" name="Picture 4">
            <a:extLst>
              <a:ext uri="{FF2B5EF4-FFF2-40B4-BE49-F238E27FC236}">
                <a16:creationId xmlns:a16="http://schemas.microsoft.com/office/drawing/2014/main" id="{5F4D794D-2999-DBFF-255A-B6B1D2563251}"/>
              </a:ext>
            </a:extLst>
          </p:cNvPr>
          <p:cNvPicPr>
            <a:picLocks noChangeAspect="1"/>
          </p:cNvPicPr>
          <p:nvPr/>
        </p:nvPicPr>
        <p:blipFill>
          <a:blip r:embed="rId2">
            <a:extLst>
              <a:ext uri="{28A0092B-C50C-407E-A947-70E740481C1C}">
                <a14:useLocalDpi xmlns:a14="http://schemas.microsoft.com/office/drawing/2010/main" val="0"/>
              </a:ext>
            </a:extLst>
          </a:blip>
          <a:srcRect l="18782" t="9803" r="19238"/>
          <a:stretch>
            <a:fillRect/>
          </a:stretch>
        </p:blipFill>
        <p:spPr>
          <a:xfrm>
            <a:off x="10578425" y="1156498"/>
            <a:ext cx="933254" cy="952722"/>
          </a:xfrm>
          <a:prstGeom prst="rect">
            <a:avLst/>
          </a:prstGeom>
        </p:spPr>
      </p:pic>
      <p:pic>
        <p:nvPicPr>
          <p:cNvPr id="7" name="Picture 6">
            <a:extLst>
              <a:ext uri="{FF2B5EF4-FFF2-40B4-BE49-F238E27FC236}">
                <a16:creationId xmlns:a16="http://schemas.microsoft.com/office/drawing/2014/main" id="{E901D775-4996-3A90-F810-D838B15448F4}"/>
              </a:ext>
            </a:extLst>
          </p:cNvPr>
          <p:cNvPicPr>
            <a:picLocks noChangeAspect="1"/>
          </p:cNvPicPr>
          <p:nvPr/>
        </p:nvPicPr>
        <p:blipFill>
          <a:blip r:embed="rId3">
            <a:extLst>
              <a:ext uri="{28A0092B-C50C-407E-A947-70E740481C1C}">
                <a14:useLocalDpi xmlns:a14="http://schemas.microsoft.com/office/drawing/2010/main" val="0"/>
              </a:ext>
            </a:extLst>
          </a:blip>
          <a:srcRect l="1" t="18515" r="7242" b="14973"/>
          <a:stretch>
            <a:fillRect/>
          </a:stretch>
        </p:blipFill>
        <p:spPr>
          <a:xfrm>
            <a:off x="9173531" y="434155"/>
            <a:ext cx="2338148" cy="565608"/>
          </a:xfrm>
          <a:prstGeom prst="rect">
            <a:avLst/>
          </a:prstGeom>
        </p:spPr>
      </p:pic>
    </p:spTree>
    <p:extLst>
      <p:ext uri="{BB962C8B-B14F-4D97-AF65-F5344CB8AC3E}">
        <p14:creationId xmlns:p14="http://schemas.microsoft.com/office/powerpoint/2010/main" val="34590412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15F54-5024-C0EB-2798-676ACEF9963A}"/>
              </a:ext>
            </a:extLst>
          </p:cNvPr>
          <p:cNvSpPr>
            <a:spLocks noGrp="1"/>
          </p:cNvSpPr>
          <p:nvPr>
            <p:ph type="title"/>
          </p:nvPr>
        </p:nvSpPr>
        <p:spPr/>
        <p:txBody>
          <a:bodyPr>
            <a:noAutofit/>
          </a:bodyPr>
          <a:lstStyle/>
          <a:p>
            <a:br>
              <a:rPr lang="uk-UA" b="1" dirty="0"/>
            </a:br>
            <a:r>
              <a:rPr lang="en-GB" b="1" dirty="0"/>
              <a:t>Testing and the Arrange, Act and Assert (AAA) Pattern</a:t>
            </a:r>
            <a:br>
              <a:rPr lang="en-GB" b="1" dirty="0"/>
            </a:br>
            <a:r>
              <a:rPr lang="uk-UA" b="1" dirty="0"/>
              <a:t> </a:t>
            </a:r>
            <a:endParaRPr lang="en-GB" b="1" dirty="0"/>
          </a:p>
        </p:txBody>
      </p:sp>
      <p:sp>
        <p:nvSpPr>
          <p:cNvPr id="3" name="Content Placeholder 2">
            <a:extLst>
              <a:ext uri="{FF2B5EF4-FFF2-40B4-BE49-F238E27FC236}">
                <a16:creationId xmlns:a16="http://schemas.microsoft.com/office/drawing/2014/main" id="{CF070EDD-CAF3-B586-BEA2-9936052CA810}"/>
              </a:ext>
            </a:extLst>
          </p:cNvPr>
          <p:cNvSpPr>
            <a:spLocks noGrp="1"/>
          </p:cNvSpPr>
          <p:nvPr>
            <p:ph idx="1"/>
          </p:nvPr>
        </p:nvSpPr>
        <p:spPr>
          <a:xfrm>
            <a:off x="779060" y="2518850"/>
            <a:ext cx="4233421" cy="3612008"/>
          </a:xfrm>
        </p:spPr>
        <p:txBody>
          <a:bodyPr>
            <a:normAutofit/>
          </a:bodyPr>
          <a:lstStyle/>
          <a:p>
            <a:pPr>
              <a:lnSpc>
                <a:spcPct val="100000"/>
              </a:lnSpc>
            </a:pPr>
            <a:r>
              <a:rPr lang="en-US" sz="2000" dirty="0"/>
              <a:t>The </a:t>
            </a:r>
            <a:r>
              <a:rPr lang="en-US" sz="2000" b="1" dirty="0"/>
              <a:t>AAA testing pattern </a:t>
            </a:r>
            <a:r>
              <a:rPr lang="en-US" sz="2000" dirty="0"/>
              <a:t>is an approach that involves dividing a test method into three parts:</a:t>
            </a:r>
            <a:endParaRPr lang="pl-PL" sz="2000" dirty="0"/>
          </a:p>
          <a:p>
            <a:pPr>
              <a:lnSpc>
                <a:spcPct val="100000"/>
              </a:lnSpc>
            </a:pPr>
            <a:endParaRPr lang="uk-UA" sz="2000" dirty="0"/>
          </a:p>
          <a:p>
            <a:pPr>
              <a:lnSpc>
                <a:spcPct val="100000"/>
              </a:lnSpc>
            </a:pPr>
            <a:r>
              <a:rPr lang="en-GB" sz="2000" b="1" dirty="0"/>
              <a:t>Arrange</a:t>
            </a:r>
            <a:r>
              <a:rPr lang="en-GB" sz="2000" dirty="0"/>
              <a:t> (</a:t>
            </a:r>
            <a:r>
              <a:rPr lang="en-US" sz="2000" dirty="0"/>
              <a:t>setup</a:t>
            </a:r>
            <a:r>
              <a:rPr lang="uk-UA" sz="2000" dirty="0"/>
              <a:t>), </a:t>
            </a:r>
          </a:p>
          <a:p>
            <a:pPr>
              <a:lnSpc>
                <a:spcPct val="100000"/>
              </a:lnSpc>
            </a:pPr>
            <a:r>
              <a:rPr lang="en-GB" sz="2000" b="1" dirty="0"/>
              <a:t>Act</a:t>
            </a:r>
            <a:r>
              <a:rPr lang="en-GB" sz="2000" dirty="0"/>
              <a:t> (</a:t>
            </a:r>
            <a:r>
              <a:rPr lang="en-US" sz="2000" dirty="0"/>
              <a:t>execution of the action</a:t>
            </a:r>
            <a:r>
              <a:rPr lang="uk-UA" sz="2000" dirty="0"/>
              <a:t>)</a:t>
            </a:r>
            <a:r>
              <a:rPr lang="en-GB" sz="2000" dirty="0"/>
              <a:t>,</a:t>
            </a:r>
          </a:p>
          <a:p>
            <a:pPr>
              <a:lnSpc>
                <a:spcPct val="100000"/>
              </a:lnSpc>
            </a:pPr>
            <a:r>
              <a:rPr lang="en-GB" sz="2000" b="1" dirty="0"/>
              <a:t>Assert</a:t>
            </a:r>
            <a:r>
              <a:rPr lang="en-GB" sz="2000" dirty="0"/>
              <a:t> (</a:t>
            </a:r>
            <a:r>
              <a:rPr lang="en-US" sz="2000" dirty="0"/>
              <a:t>verification of the result</a:t>
            </a:r>
            <a:r>
              <a:rPr lang="uk-UA" sz="2000" dirty="0"/>
              <a:t>)</a:t>
            </a:r>
          </a:p>
        </p:txBody>
      </p:sp>
      <p:pic>
        <p:nvPicPr>
          <p:cNvPr id="7" name="Picture 6">
            <a:extLst>
              <a:ext uri="{FF2B5EF4-FFF2-40B4-BE49-F238E27FC236}">
                <a16:creationId xmlns:a16="http://schemas.microsoft.com/office/drawing/2014/main" id="{6ABBBC24-BE58-5FB3-8799-125C9DD6F53E}"/>
              </a:ext>
            </a:extLst>
          </p:cNvPr>
          <p:cNvPicPr>
            <a:picLocks noChangeAspect="1"/>
          </p:cNvPicPr>
          <p:nvPr/>
        </p:nvPicPr>
        <p:blipFill>
          <a:blip r:embed="rId2"/>
          <a:stretch>
            <a:fillRect/>
          </a:stretch>
        </p:blipFill>
        <p:spPr>
          <a:xfrm>
            <a:off x="5573294" y="2518850"/>
            <a:ext cx="5780506" cy="3473896"/>
          </a:xfrm>
          <a:prstGeom prst="rect">
            <a:avLst/>
          </a:prstGeom>
        </p:spPr>
      </p:pic>
    </p:spTree>
    <p:extLst>
      <p:ext uri="{BB962C8B-B14F-4D97-AF65-F5344CB8AC3E}">
        <p14:creationId xmlns:p14="http://schemas.microsoft.com/office/powerpoint/2010/main" val="7431372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B7CB6-5ADF-11EE-48AD-FEAF83842F4D}"/>
              </a:ext>
            </a:extLst>
          </p:cNvPr>
          <p:cNvSpPr>
            <a:spLocks noGrp="1"/>
          </p:cNvSpPr>
          <p:nvPr>
            <p:ph type="title"/>
          </p:nvPr>
        </p:nvSpPr>
        <p:spPr/>
        <p:txBody>
          <a:bodyPr/>
          <a:lstStyle/>
          <a:p>
            <a:r>
              <a:rPr lang="pl-PL" b="1" dirty="0" err="1"/>
              <a:t>Arrange</a:t>
            </a:r>
            <a:endParaRPr lang="en-GB" dirty="0"/>
          </a:p>
        </p:txBody>
      </p:sp>
      <p:sp>
        <p:nvSpPr>
          <p:cNvPr id="4" name="Content Placeholder 3">
            <a:extLst>
              <a:ext uri="{FF2B5EF4-FFF2-40B4-BE49-F238E27FC236}">
                <a16:creationId xmlns:a16="http://schemas.microsoft.com/office/drawing/2014/main" id="{8935D3F3-2F24-88F0-3BEF-0763F3F5177F}"/>
              </a:ext>
            </a:extLst>
          </p:cNvPr>
          <p:cNvSpPr txBox="1">
            <a:spLocks noGrp="1"/>
          </p:cNvSpPr>
          <p:nvPr>
            <p:ph idx="1"/>
          </p:nvPr>
        </p:nvSpPr>
        <p:spPr>
          <a:xfrm>
            <a:off x="738117" y="2571703"/>
            <a:ext cx="3588224" cy="3170099"/>
          </a:xfrm>
          <a:prstGeom prst="rect">
            <a:avLst/>
          </a:prstGeom>
          <a:noFill/>
        </p:spPr>
        <p:txBody>
          <a:bodyPr wrap="square">
            <a:spAutoFit/>
          </a:bodyPr>
          <a:lstStyle/>
          <a:p>
            <a:pPr>
              <a:lnSpc>
                <a:spcPct val="100000"/>
              </a:lnSpc>
            </a:pPr>
            <a:r>
              <a:rPr lang="en-GB" sz="2000" b="1" dirty="0"/>
              <a:t>Arrange</a:t>
            </a:r>
            <a:r>
              <a:rPr lang="en-GB" sz="2000" dirty="0"/>
              <a:t> – </a:t>
            </a:r>
            <a:r>
              <a:rPr lang="en-US" sz="2000" dirty="0"/>
              <a:t>this stage prepares everything needed to execute the test, to ensure it produces accurate results. This includes initializing objects, setting up dependencies, and the environment required for the test scenario.</a:t>
            </a:r>
            <a:endParaRPr lang="ru-RU" sz="2000" dirty="0"/>
          </a:p>
        </p:txBody>
      </p:sp>
      <p:pic>
        <p:nvPicPr>
          <p:cNvPr id="6" name="Picture 5">
            <a:extLst>
              <a:ext uri="{FF2B5EF4-FFF2-40B4-BE49-F238E27FC236}">
                <a16:creationId xmlns:a16="http://schemas.microsoft.com/office/drawing/2014/main" id="{A8FE21EA-A6A1-3C55-4605-2B52A737A0CC}"/>
              </a:ext>
            </a:extLst>
          </p:cNvPr>
          <p:cNvPicPr>
            <a:picLocks noChangeAspect="1"/>
          </p:cNvPicPr>
          <p:nvPr/>
        </p:nvPicPr>
        <p:blipFill>
          <a:blip r:embed="rId2"/>
          <a:stretch>
            <a:fillRect/>
          </a:stretch>
        </p:blipFill>
        <p:spPr>
          <a:xfrm>
            <a:off x="5536364" y="2909708"/>
            <a:ext cx="6212180" cy="1441501"/>
          </a:xfrm>
          <a:prstGeom prst="rect">
            <a:avLst/>
          </a:prstGeom>
        </p:spPr>
      </p:pic>
    </p:spTree>
    <p:extLst>
      <p:ext uri="{BB962C8B-B14F-4D97-AF65-F5344CB8AC3E}">
        <p14:creationId xmlns:p14="http://schemas.microsoft.com/office/powerpoint/2010/main" val="28373654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24E85-4527-5108-23DD-F8FA91AA5ACC}"/>
              </a:ext>
            </a:extLst>
          </p:cNvPr>
          <p:cNvSpPr>
            <a:spLocks noGrp="1"/>
          </p:cNvSpPr>
          <p:nvPr>
            <p:ph type="title"/>
          </p:nvPr>
        </p:nvSpPr>
        <p:spPr/>
        <p:txBody>
          <a:bodyPr/>
          <a:lstStyle/>
          <a:p>
            <a:r>
              <a:rPr lang="en-GB" b="1" dirty="0"/>
              <a:t>Act</a:t>
            </a:r>
          </a:p>
        </p:txBody>
      </p:sp>
      <p:sp>
        <p:nvSpPr>
          <p:cNvPr id="3" name="Content Placeholder 2">
            <a:extLst>
              <a:ext uri="{FF2B5EF4-FFF2-40B4-BE49-F238E27FC236}">
                <a16:creationId xmlns:a16="http://schemas.microsoft.com/office/drawing/2014/main" id="{BEBCD9D9-43C0-6083-9025-223C8F17A676}"/>
              </a:ext>
            </a:extLst>
          </p:cNvPr>
          <p:cNvSpPr>
            <a:spLocks noGrp="1"/>
          </p:cNvSpPr>
          <p:nvPr>
            <p:ph idx="1"/>
          </p:nvPr>
        </p:nvSpPr>
        <p:spPr>
          <a:xfrm>
            <a:off x="806354" y="2162270"/>
            <a:ext cx="11086708" cy="4351338"/>
          </a:xfrm>
        </p:spPr>
        <p:txBody>
          <a:bodyPr>
            <a:normAutofit/>
          </a:bodyPr>
          <a:lstStyle/>
          <a:p>
            <a:r>
              <a:rPr lang="en-GB" sz="2000" b="1" dirty="0"/>
              <a:t>Act</a:t>
            </a:r>
            <a:r>
              <a:rPr lang="en-GB" sz="2000" dirty="0"/>
              <a:t> – </a:t>
            </a:r>
            <a:r>
              <a:rPr lang="en-US" sz="2000" dirty="0"/>
              <a:t>this is the stage where you execute the specific functionality you want to test. It involves interacting with the SUT (</a:t>
            </a:r>
            <a:r>
              <a:rPr lang="en-US" sz="2000" b="1" dirty="0"/>
              <a:t>System Under Test</a:t>
            </a:r>
            <a:r>
              <a:rPr lang="en-US" sz="2000" dirty="0"/>
              <a:t> — the system being tested) by calling a method or executing a function that you prepared in the previous stage.</a:t>
            </a:r>
            <a:endParaRPr lang="en-GB" sz="2000" dirty="0"/>
          </a:p>
        </p:txBody>
      </p:sp>
      <p:pic>
        <p:nvPicPr>
          <p:cNvPr id="5" name="Picture 4">
            <a:extLst>
              <a:ext uri="{FF2B5EF4-FFF2-40B4-BE49-F238E27FC236}">
                <a16:creationId xmlns:a16="http://schemas.microsoft.com/office/drawing/2014/main" id="{F3E385B1-3BAA-14C2-42AA-93C383DB77CF}"/>
              </a:ext>
            </a:extLst>
          </p:cNvPr>
          <p:cNvPicPr>
            <a:picLocks noChangeAspect="1"/>
          </p:cNvPicPr>
          <p:nvPr/>
        </p:nvPicPr>
        <p:blipFill>
          <a:blip r:embed="rId2"/>
          <a:srcRect r="8222" b="-7787"/>
          <a:stretch>
            <a:fillRect/>
          </a:stretch>
        </p:blipFill>
        <p:spPr>
          <a:xfrm>
            <a:off x="1334909" y="4097668"/>
            <a:ext cx="9522182" cy="566068"/>
          </a:xfrm>
          <a:prstGeom prst="rect">
            <a:avLst/>
          </a:prstGeom>
        </p:spPr>
      </p:pic>
    </p:spTree>
    <p:extLst>
      <p:ext uri="{BB962C8B-B14F-4D97-AF65-F5344CB8AC3E}">
        <p14:creationId xmlns:p14="http://schemas.microsoft.com/office/powerpoint/2010/main" val="13481057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37F94-EFC7-03F8-B286-CF7EF165FFDA}"/>
              </a:ext>
            </a:extLst>
          </p:cNvPr>
          <p:cNvSpPr>
            <a:spLocks noGrp="1"/>
          </p:cNvSpPr>
          <p:nvPr>
            <p:ph type="title"/>
          </p:nvPr>
        </p:nvSpPr>
        <p:spPr/>
        <p:txBody>
          <a:bodyPr/>
          <a:lstStyle/>
          <a:p>
            <a:r>
              <a:rPr lang="en-GB" b="1" dirty="0"/>
              <a:t>Assert</a:t>
            </a:r>
          </a:p>
        </p:txBody>
      </p:sp>
      <p:sp>
        <p:nvSpPr>
          <p:cNvPr id="3" name="Content Placeholder 2">
            <a:extLst>
              <a:ext uri="{FF2B5EF4-FFF2-40B4-BE49-F238E27FC236}">
                <a16:creationId xmlns:a16="http://schemas.microsoft.com/office/drawing/2014/main" id="{83FE155A-2247-1CD4-0DC4-506AD00597D9}"/>
              </a:ext>
            </a:extLst>
          </p:cNvPr>
          <p:cNvSpPr>
            <a:spLocks noGrp="1"/>
          </p:cNvSpPr>
          <p:nvPr>
            <p:ph idx="1"/>
          </p:nvPr>
        </p:nvSpPr>
        <p:spPr>
          <a:xfrm>
            <a:off x="980572" y="2291381"/>
            <a:ext cx="9613861" cy="3599316"/>
          </a:xfrm>
        </p:spPr>
        <p:txBody>
          <a:bodyPr>
            <a:normAutofit/>
          </a:bodyPr>
          <a:lstStyle/>
          <a:p>
            <a:pPr>
              <a:lnSpc>
                <a:spcPct val="100000"/>
              </a:lnSpc>
            </a:pPr>
            <a:r>
              <a:rPr lang="en-GB" sz="2000" b="1" dirty="0"/>
              <a:t>Assert</a:t>
            </a:r>
            <a:r>
              <a:rPr lang="en-GB" sz="2000" dirty="0"/>
              <a:t> – </a:t>
            </a:r>
            <a:r>
              <a:rPr lang="en-US" sz="2000" dirty="0"/>
              <a:t>at this stage, a verification is performed to check whether the result of the unit test matches your expectations. It involves checking the results obtained at the Act stage against expected values, to confirm that the SUT (System Under Test) works properly.</a:t>
            </a:r>
            <a:endParaRPr lang="en-GB" sz="2000" dirty="0"/>
          </a:p>
        </p:txBody>
      </p:sp>
      <p:pic>
        <p:nvPicPr>
          <p:cNvPr id="5" name="Picture 4">
            <a:extLst>
              <a:ext uri="{FF2B5EF4-FFF2-40B4-BE49-F238E27FC236}">
                <a16:creationId xmlns:a16="http://schemas.microsoft.com/office/drawing/2014/main" id="{06D3F662-79E7-06F8-D71B-F7EA1AAED3F5}"/>
              </a:ext>
            </a:extLst>
          </p:cNvPr>
          <p:cNvPicPr>
            <a:picLocks noChangeAspect="1"/>
          </p:cNvPicPr>
          <p:nvPr/>
        </p:nvPicPr>
        <p:blipFill>
          <a:blip r:embed="rId2"/>
          <a:stretch>
            <a:fillRect/>
          </a:stretch>
        </p:blipFill>
        <p:spPr>
          <a:xfrm>
            <a:off x="2668292" y="3824950"/>
            <a:ext cx="6855416" cy="1827517"/>
          </a:xfrm>
          <a:prstGeom prst="rect">
            <a:avLst/>
          </a:prstGeom>
        </p:spPr>
      </p:pic>
      <p:sp>
        <p:nvSpPr>
          <p:cNvPr id="7" name="TextBox 6">
            <a:extLst>
              <a:ext uri="{FF2B5EF4-FFF2-40B4-BE49-F238E27FC236}">
                <a16:creationId xmlns:a16="http://schemas.microsoft.com/office/drawing/2014/main" id="{8B95B22A-FFE9-7ABD-0599-1120A3DE25D2}"/>
              </a:ext>
            </a:extLst>
          </p:cNvPr>
          <p:cNvSpPr txBox="1"/>
          <p:nvPr/>
        </p:nvSpPr>
        <p:spPr>
          <a:xfrm>
            <a:off x="741179" y="5846544"/>
            <a:ext cx="11067855" cy="646331"/>
          </a:xfrm>
          <a:prstGeom prst="rect">
            <a:avLst/>
          </a:prstGeom>
          <a:noFill/>
        </p:spPr>
        <p:txBody>
          <a:bodyPr wrap="square">
            <a:spAutoFit/>
          </a:bodyPr>
          <a:lstStyle/>
          <a:p>
            <a:pPr algn="ctr"/>
            <a:r>
              <a:rPr lang="en-US" b="1" dirty="0"/>
              <a:t>List of Assert methods</a:t>
            </a:r>
            <a:r>
              <a:rPr lang="en-US" dirty="0"/>
              <a:t> </a:t>
            </a:r>
            <a:r>
              <a:rPr lang="en-GB" dirty="0"/>
              <a:t>- </a:t>
            </a:r>
            <a:r>
              <a:rPr lang="en-GB" dirty="0">
                <a:hlinkClick r:id="rId3"/>
              </a:rPr>
              <a:t>https://learn.microsoft.com/en-us/dotnet/api/microsoft.visualstudio.testtools.unittesting.assert?view=mstest-net-3.9</a:t>
            </a:r>
            <a:endParaRPr lang="en-GB" dirty="0"/>
          </a:p>
        </p:txBody>
      </p:sp>
    </p:spTree>
    <p:extLst>
      <p:ext uri="{BB962C8B-B14F-4D97-AF65-F5344CB8AC3E}">
        <p14:creationId xmlns:p14="http://schemas.microsoft.com/office/powerpoint/2010/main" val="26520252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0D553-8585-7C24-BEA6-9336CD7B8943}"/>
              </a:ext>
            </a:extLst>
          </p:cNvPr>
          <p:cNvSpPr>
            <a:spLocks noGrp="1"/>
          </p:cNvSpPr>
          <p:nvPr>
            <p:ph type="title"/>
          </p:nvPr>
        </p:nvSpPr>
        <p:spPr/>
        <p:txBody>
          <a:bodyPr/>
          <a:lstStyle/>
          <a:p>
            <a:r>
              <a:rPr lang="en-US" b="1" dirty="0"/>
              <a:t>Code:</a:t>
            </a:r>
            <a:r>
              <a:rPr lang="uk-UA" b="1" dirty="0"/>
              <a:t> </a:t>
            </a:r>
            <a:r>
              <a:rPr lang="en-GB" b="1" dirty="0"/>
              <a:t>Unit test</a:t>
            </a:r>
          </a:p>
        </p:txBody>
      </p:sp>
      <p:pic>
        <p:nvPicPr>
          <p:cNvPr id="7" name="Picture 6">
            <a:extLst>
              <a:ext uri="{FF2B5EF4-FFF2-40B4-BE49-F238E27FC236}">
                <a16:creationId xmlns:a16="http://schemas.microsoft.com/office/drawing/2014/main" id="{AEE60D5E-715E-297A-383C-69DA88B93A53}"/>
              </a:ext>
            </a:extLst>
          </p:cNvPr>
          <p:cNvPicPr>
            <a:picLocks noChangeAspect="1"/>
          </p:cNvPicPr>
          <p:nvPr/>
        </p:nvPicPr>
        <p:blipFill>
          <a:blip r:embed="rId2"/>
          <a:stretch>
            <a:fillRect/>
          </a:stretch>
        </p:blipFill>
        <p:spPr>
          <a:xfrm>
            <a:off x="1414816" y="2189008"/>
            <a:ext cx="9656929" cy="4441963"/>
          </a:xfrm>
          <a:prstGeom prst="rect">
            <a:avLst/>
          </a:prstGeom>
        </p:spPr>
      </p:pic>
    </p:spTree>
    <p:extLst>
      <p:ext uri="{BB962C8B-B14F-4D97-AF65-F5344CB8AC3E}">
        <p14:creationId xmlns:p14="http://schemas.microsoft.com/office/powerpoint/2010/main" val="38396462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BB127-F13F-BA45-4F85-B928A493E6A3}"/>
              </a:ext>
            </a:extLst>
          </p:cNvPr>
          <p:cNvSpPr>
            <a:spLocks noGrp="1"/>
          </p:cNvSpPr>
          <p:nvPr>
            <p:ph type="title"/>
          </p:nvPr>
        </p:nvSpPr>
        <p:spPr/>
        <p:txBody>
          <a:bodyPr/>
          <a:lstStyle/>
          <a:p>
            <a:r>
              <a:rPr lang="en-US" b="1" dirty="0"/>
              <a:t>Code: I</a:t>
            </a:r>
            <a:r>
              <a:rPr lang="en-GB" b="1" dirty="0" err="1"/>
              <a:t>ntegration</a:t>
            </a:r>
            <a:r>
              <a:rPr lang="en-GB" b="1" dirty="0"/>
              <a:t> test</a:t>
            </a:r>
            <a:endParaRPr lang="en-GB" dirty="0"/>
          </a:p>
        </p:txBody>
      </p:sp>
      <p:pic>
        <p:nvPicPr>
          <p:cNvPr id="5" name="Picture 4">
            <a:extLst>
              <a:ext uri="{FF2B5EF4-FFF2-40B4-BE49-F238E27FC236}">
                <a16:creationId xmlns:a16="http://schemas.microsoft.com/office/drawing/2014/main" id="{4440D28A-FD17-1F16-5F97-C6DD19132326}"/>
              </a:ext>
            </a:extLst>
          </p:cNvPr>
          <p:cNvPicPr>
            <a:picLocks noChangeAspect="1"/>
          </p:cNvPicPr>
          <p:nvPr/>
        </p:nvPicPr>
        <p:blipFill>
          <a:blip r:embed="rId2"/>
          <a:stretch>
            <a:fillRect/>
          </a:stretch>
        </p:blipFill>
        <p:spPr>
          <a:xfrm>
            <a:off x="1078172" y="2259033"/>
            <a:ext cx="10179319" cy="4134242"/>
          </a:xfrm>
          <a:prstGeom prst="rect">
            <a:avLst/>
          </a:prstGeom>
        </p:spPr>
      </p:pic>
    </p:spTree>
    <p:extLst>
      <p:ext uri="{BB962C8B-B14F-4D97-AF65-F5344CB8AC3E}">
        <p14:creationId xmlns:p14="http://schemas.microsoft.com/office/powerpoint/2010/main" val="33823771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B47C9-DF72-1081-306C-31D0B85AF6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24663-B656-5704-6BD3-341F31596812}"/>
              </a:ext>
            </a:extLst>
          </p:cNvPr>
          <p:cNvSpPr>
            <a:spLocks noGrp="1"/>
          </p:cNvSpPr>
          <p:nvPr>
            <p:ph type="title"/>
          </p:nvPr>
        </p:nvSpPr>
        <p:spPr/>
        <p:txBody>
          <a:bodyPr/>
          <a:lstStyle/>
          <a:p>
            <a:r>
              <a:rPr lang="en-US" b="1" dirty="0"/>
              <a:t>Code: I</a:t>
            </a:r>
            <a:r>
              <a:rPr lang="en-GB" b="1" dirty="0" err="1"/>
              <a:t>ntegration</a:t>
            </a:r>
            <a:r>
              <a:rPr lang="en-GB" b="1" dirty="0"/>
              <a:t> test</a:t>
            </a:r>
            <a:endParaRPr lang="en-GB" dirty="0"/>
          </a:p>
        </p:txBody>
      </p:sp>
      <p:pic>
        <p:nvPicPr>
          <p:cNvPr id="4" name="Picture 3">
            <a:extLst>
              <a:ext uri="{FF2B5EF4-FFF2-40B4-BE49-F238E27FC236}">
                <a16:creationId xmlns:a16="http://schemas.microsoft.com/office/drawing/2014/main" id="{E906B499-0D34-460D-2057-229895BF9168}"/>
              </a:ext>
            </a:extLst>
          </p:cNvPr>
          <p:cNvPicPr>
            <a:picLocks noChangeAspect="1"/>
          </p:cNvPicPr>
          <p:nvPr/>
        </p:nvPicPr>
        <p:blipFill>
          <a:blip r:embed="rId2"/>
          <a:stretch>
            <a:fillRect/>
          </a:stretch>
        </p:blipFill>
        <p:spPr>
          <a:xfrm>
            <a:off x="1556582" y="2231144"/>
            <a:ext cx="8737600" cy="4323644"/>
          </a:xfrm>
          <a:prstGeom prst="rect">
            <a:avLst/>
          </a:prstGeom>
        </p:spPr>
      </p:pic>
    </p:spTree>
    <p:extLst>
      <p:ext uri="{BB962C8B-B14F-4D97-AF65-F5344CB8AC3E}">
        <p14:creationId xmlns:p14="http://schemas.microsoft.com/office/powerpoint/2010/main" val="41710766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a:extLst>
            <a:ext uri="{FF2B5EF4-FFF2-40B4-BE49-F238E27FC236}">
              <a16:creationId xmlns:a16="http://schemas.microsoft.com/office/drawing/2014/main" id="{6C2AB43F-B17D-F511-010E-E4EE9E70B2E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C3E6C53-102E-4ACA-BCBB-3CC973B9948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Picture 10">
            <a:extLst>
              <a:ext uri="{FF2B5EF4-FFF2-40B4-BE49-F238E27FC236}">
                <a16:creationId xmlns:a16="http://schemas.microsoft.com/office/drawing/2014/main" id="{17B2B42C-0777-4D6E-9432-535281803A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13" name="Picture 12">
            <a:extLst>
              <a:ext uri="{FF2B5EF4-FFF2-40B4-BE49-F238E27FC236}">
                <a16:creationId xmlns:a16="http://schemas.microsoft.com/office/drawing/2014/main" id="{EFEAAB60-93E2-4DC6-99AC-939637BCE8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15" name="Rectangle 14">
            <a:extLst>
              <a:ext uri="{FF2B5EF4-FFF2-40B4-BE49-F238E27FC236}">
                <a16:creationId xmlns:a16="http://schemas.microsoft.com/office/drawing/2014/main" id="{7EF5ECB8-D49C-48FB-A93E-88EB2FFDF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uk-UA"/>
          </a:p>
        </p:txBody>
      </p:sp>
      <p:sp>
        <p:nvSpPr>
          <p:cNvPr id="17" name="Rectangle 16">
            <a:extLst>
              <a:ext uri="{FF2B5EF4-FFF2-40B4-BE49-F238E27FC236}">
                <a16:creationId xmlns:a16="http://schemas.microsoft.com/office/drawing/2014/main" id="{411B77A2-BD5C-432D-B52E-C12612C74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uk-UA"/>
          </a:p>
        </p:txBody>
      </p:sp>
      <p:sp useBgFill="1">
        <p:nvSpPr>
          <p:cNvPr id="19" name="Rectangle 18">
            <a:extLst>
              <a:ext uri="{FF2B5EF4-FFF2-40B4-BE49-F238E27FC236}">
                <a16:creationId xmlns:a16="http://schemas.microsoft.com/office/drawing/2014/main" id="{87C031CB-DEB3-405F-9996-5322C24A6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92031F0E-C3FA-4DAF-BD13-4AC665CFF0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3" name="Picture 22">
            <a:extLst>
              <a:ext uri="{FF2B5EF4-FFF2-40B4-BE49-F238E27FC236}">
                <a16:creationId xmlns:a16="http://schemas.microsoft.com/office/drawing/2014/main" id="{BE685C68-BF28-4330-A4FE-33ABD88511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5349629"/>
            <a:ext cx="11525954" cy="275942"/>
          </a:xfrm>
          <a:prstGeom prst="rect">
            <a:avLst/>
          </a:prstGeom>
        </p:spPr>
      </p:pic>
      <p:sp>
        <p:nvSpPr>
          <p:cNvPr id="25" name="Rectangle 24">
            <a:extLst>
              <a:ext uri="{FF2B5EF4-FFF2-40B4-BE49-F238E27FC236}">
                <a16:creationId xmlns:a16="http://schemas.microsoft.com/office/drawing/2014/main" id="{273350E1-40B5-47D9-8DDD-3C2A17B4B6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1525954" cy="5379499"/>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1">
            <a:extLst>
              <a:ext uri="{FF2B5EF4-FFF2-40B4-BE49-F238E27FC236}">
                <a16:creationId xmlns:a16="http://schemas.microsoft.com/office/drawing/2014/main" id="{D31ED269-6744-5F65-6D92-8A4B1FF5DF7A}"/>
              </a:ext>
            </a:extLst>
          </p:cNvPr>
          <p:cNvSpPr txBox="1">
            <a:spLocks/>
          </p:cNvSpPr>
          <p:nvPr/>
        </p:nvSpPr>
        <p:spPr>
          <a:xfrm>
            <a:off x="4063113" y="1997765"/>
            <a:ext cx="5872891" cy="269663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spcAft>
                <a:spcPts val="600"/>
              </a:spcAft>
            </a:pPr>
            <a:r>
              <a:rPr lang="en-US" sz="6000" b="1">
                <a:solidFill>
                  <a:srgbClr val="FFFFFF"/>
                </a:solidFill>
              </a:rPr>
              <a:t>Database</a:t>
            </a:r>
          </a:p>
        </p:txBody>
      </p:sp>
      <p:pic>
        <p:nvPicPr>
          <p:cNvPr id="27" name="Picture 26">
            <a:extLst>
              <a:ext uri="{FF2B5EF4-FFF2-40B4-BE49-F238E27FC236}">
                <a16:creationId xmlns:a16="http://schemas.microsoft.com/office/drawing/2014/main" id="{A1500D0A-0DCA-4E06-8B25-618E6299CC9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print">
            <a:extLst>
              <a:ext uri="{28A0092B-C50C-407E-A947-70E740481C1C}">
                <a14:useLocalDpi xmlns:a14="http://schemas.microsoft.com/office/drawing/2010/main" val="0"/>
              </a:ext>
            </a:extLst>
          </a:blip>
          <a:stretch>
            <a:fillRect/>
          </a:stretch>
        </p:blipFill>
        <p:spPr>
          <a:xfrm>
            <a:off x="10585826" y="4686838"/>
            <a:ext cx="1602997" cy="144270"/>
          </a:xfrm>
          <a:prstGeom prst="rect">
            <a:avLst/>
          </a:prstGeom>
        </p:spPr>
      </p:pic>
      <p:sp>
        <p:nvSpPr>
          <p:cNvPr id="29" name="Rectangle 28">
            <a:extLst>
              <a:ext uri="{FF2B5EF4-FFF2-40B4-BE49-F238E27FC236}">
                <a16:creationId xmlns:a16="http://schemas.microsoft.com/office/drawing/2014/main" id="{108AC4DC-69B5-4DD1-84BC-850C5A2861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3034068"/>
            <a:ext cx="1602997"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uk-UA"/>
          </a:p>
        </p:txBody>
      </p:sp>
    </p:spTree>
    <p:extLst>
      <p:ext uri="{BB962C8B-B14F-4D97-AF65-F5344CB8AC3E}">
        <p14:creationId xmlns:p14="http://schemas.microsoft.com/office/powerpoint/2010/main" val="15524382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DABA6-D4A9-828F-26C3-3756E3236EB1}"/>
              </a:ext>
            </a:extLst>
          </p:cNvPr>
          <p:cNvSpPr>
            <a:spLocks noGrp="1"/>
          </p:cNvSpPr>
          <p:nvPr>
            <p:ph type="title"/>
          </p:nvPr>
        </p:nvSpPr>
        <p:spPr/>
        <p:txBody>
          <a:bodyPr/>
          <a:lstStyle/>
          <a:p>
            <a:r>
              <a:rPr lang="en-GB" b="1" dirty="0"/>
              <a:t>SQL &amp; NoSQL</a:t>
            </a:r>
          </a:p>
        </p:txBody>
      </p:sp>
      <p:sp>
        <p:nvSpPr>
          <p:cNvPr id="3" name="Content Placeholder 2">
            <a:extLst>
              <a:ext uri="{FF2B5EF4-FFF2-40B4-BE49-F238E27FC236}">
                <a16:creationId xmlns:a16="http://schemas.microsoft.com/office/drawing/2014/main" id="{52D41150-50A5-6948-F935-F8EBD6ED1B0A}"/>
              </a:ext>
            </a:extLst>
          </p:cNvPr>
          <p:cNvSpPr>
            <a:spLocks noGrp="1"/>
          </p:cNvSpPr>
          <p:nvPr>
            <p:ph idx="1"/>
          </p:nvPr>
        </p:nvSpPr>
        <p:spPr>
          <a:xfrm>
            <a:off x="680321" y="2183655"/>
            <a:ext cx="4623063" cy="4351338"/>
          </a:xfrm>
        </p:spPr>
        <p:txBody>
          <a:bodyPr>
            <a:normAutofit/>
          </a:bodyPr>
          <a:lstStyle/>
          <a:p>
            <a:pPr marL="0" indent="0">
              <a:buNone/>
            </a:pPr>
            <a:r>
              <a:rPr lang="en-US" sz="2000" b="1" dirty="0"/>
              <a:t>SQL</a:t>
            </a:r>
            <a:r>
              <a:rPr lang="en-US" sz="2000" dirty="0"/>
              <a:t> and </a:t>
            </a:r>
            <a:r>
              <a:rPr lang="en-US" sz="2000" b="1" dirty="0"/>
              <a:t>NoSQL</a:t>
            </a:r>
            <a:r>
              <a:rPr lang="en-US" sz="2000" dirty="0"/>
              <a:t> are two different database technologies.</a:t>
            </a:r>
            <a:endParaRPr lang="pl-PL" sz="2000" dirty="0"/>
          </a:p>
          <a:p>
            <a:pPr marL="0" indent="0">
              <a:buNone/>
            </a:pPr>
            <a:endParaRPr lang="en-GB" sz="2000" dirty="0"/>
          </a:p>
          <a:p>
            <a:r>
              <a:rPr lang="en-US" sz="2000" dirty="0"/>
              <a:t>SQL databases emphasize </a:t>
            </a:r>
            <a:r>
              <a:rPr lang="en-US" sz="2000" b="1" dirty="0"/>
              <a:t>structured relational models</a:t>
            </a:r>
            <a:r>
              <a:rPr lang="en-US" sz="2000" dirty="0"/>
              <a:t>.</a:t>
            </a:r>
            <a:endParaRPr lang="pl-PL" sz="2000" dirty="0"/>
          </a:p>
          <a:p>
            <a:endParaRPr lang="uk-UA" sz="2000" dirty="0"/>
          </a:p>
          <a:p>
            <a:r>
              <a:rPr lang="en-US" sz="2000" b="1" dirty="0"/>
              <a:t>NoSQL</a:t>
            </a:r>
            <a:r>
              <a:rPr lang="en-US" sz="2000" dirty="0"/>
              <a:t> databases use a </a:t>
            </a:r>
            <a:r>
              <a:rPr lang="en-US" sz="2000" b="1" dirty="0"/>
              <a:t>flexible, schema-less approach</a:t>
            </a:r>
            <a:r>
              <a:rPr lang="en-US" sz="2000" dirty="0"/>
              <a:t> to handle diverse and dynamic data, with a focus on </a:t>
            </a:r>
            <a:r>
              <a:rPr lang="en-US" sz="2000" b="1" dirty="0"/>
              <a:t>scalability and speed</a:t>
            </a:r>
            <a:r>
              <a:rPr lang="en-US" sz="2000" dirty="0"/>
              <a:t>.</a:t>
            </a:r>
            <a:endParaRPr lang="en-GB" sz="2000" dirty="0"/>
          </a:p>
        </p:txBody>
      </p:sp>
      <p:pic>
        <p:nvPicPr>
          <p:cNvPr id="5" name="Picture 4">
            <a:extLst>
              <a:ext uri="{FF2B5EF4-FFF2-40B4-BE49-F238E27FC236}">
                <a16:creationId xmlns:a16="http://schemas.microsoft.com/office/drawing/2014/main" id="{90BA9E0C-0BF1-1D70-5CC0-07AF785FBC0F}"/>
              </a:ext>
            </a:extLst>
          </p:cNvPr>
          <p:cNvPicPr>
            <a:picLocks noChangeAspect="1"/>
          </p:cNvPicPr>
          <p:nvPr/>
        </p:nvPicPr>
        <p:blipFill>
          <a:blip r:embed="rId2"/>
          <a:stretch>
            <a:fillRect/>
          </a:stretch>
        </p:blipFill>
        <p:spPr>
          <a:xfrm>
            <a:off x="5776854" y="2615834"/>
            <a:ext cx="6055183" cy="3384632"/>
          </a:xfrm>
          <a:prstGeom prst="rect">
            <a:avLst/>
          </a:prstGeom>
        </p:spPr>
      </p:pic>
    </p:spTree>
    <p:extLst>
      <p:ext uri="{BB962C8B-B14F-4D97-AF65-F5344CB8AC3E}">
        <p14:creationId xmlns:p14="http://schemas.microsoft.com/office/powerpoint/2010/main" val="19459619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64C6-A584-E485-F28F-27200C0B3BE5}"/>
              </a:ext>
            </a:extLst>
          </p:cNvPr>
          <p:cNvSpPr>
            <a:spLocks noGrp="1"/>
          </p:cNvSpPr>
          <p:nvPr>
            <p:ph type="title"/>
          </p:nvPr>
        </p:nvSpPr>
        <p:spPr/>
        <p:txBody>
          <a:bodyPr/>
          <a:lstStyle/>
          <a:p>
            <a:r>
              <a:rPr lang="en-US" b="1" dirty="0"/>
              <a:t>SQL Database Characteristics</a:t>
            </a:r>
            <a:endParaRPr lang="en-GB" b="1" dirty="0"/>
          </a:p>
        </p:txBody>
      </p:sp>
      <p:sp>
        <p:nvSpPr>
          <p:cNvPr id="3" name="Content Placeholder 2">
            <a:extLst>
              <a:ext uri="{FF2B5EF4-FFF2-40B4-BE49-F238E27FC236}">
                <a16:creationId xmlns:a16="http://schemas.microsoft.com/office/drawing/2014/main" id="{A21E20EE-B08C-FFDC-65E4-33ABC6466E79}"/>
              </a:ext>
            </a:extLst>
          </p:cNvPr>
          <p:cNvSpPr>
            <a:spLocks noGrp="1"/>
          </p:cNvSpPr>
          <p:nvPr>
            <p:ph idx="1"/>
          </p:nvPr>
        </p:nvSpPr>
        <p:spPr>
          <a:xfrm>
            <a:off x="455630" y="2335141"/>
            <a:ext cx="6448720" cy="4351338"/>
          </a:xfrm>
        </p:spPr>
        <p:txBody>
          <a:bodyPr>
            <a:normAutofit/>
          </a:bodyPr>
          <a:lstStyle/>
          <a:p>
            <a:r>
              <a:rPr lang="en-US" sz="2000" b="1" dirty="0"/>
              <a:t>Schema</a:t>
            </a:r>
            <a:r>
              <a:rPr lang="en-US" sz="2000" dirty="0"/>
              <a:t>: describes the database structure — tables, fields, data types, allowed values, and relationships between tables.</a:t>
            </a:r>
          </a:p>
          <a:p>
            <a:endParaRPr lang="uk-UA" dirty="0"/>
          </a:p>
          <a:p>
            <a:r>
              <a:rPr lang="en-US" sz="2000" b="1" dirty="0"/>
              <a:t>Tables</a:t>
            </a:r>
            <a:r>
              <a:rPr lang="en-US" sz="2000" dirty="0"/>
              <a:t>: the main elements of the database that represent entities (for example, clients or transactions). Rows contain individual records, and columns contain attributes (for example, name, email)</a:t>
            </a:r>
            <a:r>
              <a:rPr lang="pl-PL" sz="2000" dirty="0"/>
              <a:t>.</a:t>
            </a:r>
            <a:endParaRPr lang="en-US" sz="2000" dirty="0"/>
          </a:p>
        </p:txBody>
      </p:sp>
      <p:pic>
        <p:nvPicPr>
          <p:cNvPr id="5" name="Picture 4">
            <a:extLst>
              <a:ext uri="{FF2B5EF4-FFF2-40B4-BE49-F238E27FC236}">
                <a16:creationId xmlns:a16="http://schemas.microsoft.com/office/drawing/2014/main" id="{7837F311-40AD-F4C4-3145-EC03896643CD}"/>
              </a:ext>
            </a:extLst>
          </p:cNvPr>
          <p:cNvPicPr>
            <a:picLocks noChangeAspect="1"/>
          </p:cNvPicPr>
          <p:nvPr/>
        </p:nvPicPr>
        <p:blipFill>
          <a:blip r:embed="rId2"/>
          <a:stretch>
            <a:fillRect/>
          </a:stretch>
        </p:blipFill>
        <p:spPr>
          <a:xfrm>
            <a:off x="7346495" y="4738273"/>
            <a:ext cx="4185159" cy="1503270"/>
          </a:xfrm>
          <a:prstGeom prst="rect">
            <a:avLst/>
          </a:prstGeom>
        </p:spPr>
      </p:pic>
      <p:pic>
        <p:nvPicPr>
          <p:cNvPr id="7" name="Picture 6">
            <a:extLst>
              <a:ext uri="{FF2B5EF4-FFF2-40B4-BE49-F238E27FC236}">
                <a16:creationId xmlns:a16="http://schemas.microsoft.com/office/drawing/2014/main" id="{68621FEA-DA54-BEE2-E318-8EB1E80CD3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79329" y="2119727"/>
            <a:ext cx="2519489" cy="2320713"/>
          </a:xfrm>
          <a:prstGeom prst="rect">
            <a:avLst/>
          </a:prstGeom>
        </p:spPr>
      </p:pic>
    </p:spTree>
    <p:extLst>
      <p:ext uri="{BB962C8B-B14F-4D97-AF65-F5344CB8AC3E}">
        <p14:creationId xmlns:p14="http://schemas.microsoft.com/office/powerpoint/2010/main" val="30046888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071C9-FC38-7353-FA32-816CB8351E5A}"/>
              </a:ext>
            </a:extLst>
          </p:cNvPr>
          <p:cNvSpPr>
            <a:spLocks noGrp="1"/>
          </p:cNvSpPr>
          <p:nvPr>
            <p:ph type="title"/>
          </p:nvPr>
        </p:nvSpPr>
        <p:spPr/>
        <p:txBody>
          <a:bodyPr/>
          <a:lstStyle/>
          <a:p>
            <a:r>
              <a:rPr lang="en-US" b="1" dirty="0"/>
              <a:t>Breakdown of a Table Structure in SQL</a:t>
            </a:r>
            <a:endParaRPr lang="en-GB" b="1" dirty="0"/>
          </a:p>
        </p:txBody>
      </p:sp>
      <p:sp>
        <p:nvSpPr>
          <p:cNvPr id="3" name="Content Placeholder 2">
            <a:extLst>
              <a:ext uri="{FF2B5EF4-FFF2-40B4-BE49-F238E27FC236}">
                <a16:creationId xmlns:a16="http://schemas.microsoft.com/office/drawing/2014/main" id="{560D2D9F-29B8-7903-5C1D-B5A75D91B7B1}"/>
              </a:ext>
            </a:extLst>
          </p:cNvPr>
          <p:cNvSpPr>
            <a:spLocks noGrp="1"/>
          </p:cNvSpPr>
          <p:nvPr>
            <p:ph idx="1"/>
          </p:nvPr>
        </p:nvSpPr>
        <p:spPr>
          <a:xfrm>
            <a:off x="345111" y="2226636"/>
            <a:ext cx="5068501" cy="4351338"/>
          </a:xfrm>
        </p:spPr>
        <p:txBody>
          <a:bodyPr>
            <a:normAutofit/>
          </a:bodyPr>
          <a:lstStyle/>
          <a:p>
            <a:pPr marL="342900" indent="-342900"/>
            <a:r>
              <a:rPr lang="en-US" sz="2000" dirty="0"/>
              <a:t>A traditional database is organized in the form of </a:t>
            </a:r>
            <a:r>
              <a:rPr lang="en-US" sz="2000" b="1" dirty="0"/>
              <a:t>tables</a:t>
            </a:r>
            <a:r>
              <a:rPr lang="en-US" sz="2000" dirty="0"/>
              <a:t>, where:</a:t>
            </a:r>
          </a:p>
          <a:p>
            <a:pPr marL="342900" indent="-342900"/>
            <a:endParaRPr lang="uk-UA" sz="2000" dirty="0"/>
          </a:p>
          <a:p>
            <a:pPr marL="800100" lvl="1" indent="-342900"/>
            <a:r>
              <a:rPr lang="en-US" dirty="0"/>
              <a:t>Inside the </a:t>
            </a:r>
            <a:r>
              <a:rPr lang="en-US" b="1" dirty="0"/>
              <a:t>table</a:t>
            </a:r>
            <a:r>
              <a:rPr lang="en-US" dirty="0"/>
              <a:t> there are rows and columns</a:t>
            </a:r>
            <a:endParaRPr lang="en-US" sz="2000" dirty="0"/>
          </a:p>
          <a:p>
            <a:pPr marL="800100" lvl="1" indent="-342900"/>
            <a:endParaRPr lang="uk-UA" sz="2000" dirty="0"/>
          </a:p>
          <a:p>
            <a:pPr marL="800100" lvl="1" indent="-342900"/>
            <a:r>
              <a:rPr lang="en-US" b="1" dirty="0"/>
              <a:t>Rows</a:t>
            </a:r>
            <a:r>
              <a:rPr lang="en-US" dirty="0"/>
              <a:t> are records or tuples (for example, one project)</a:t>
            </a:r>
            <a:endParaRPr lang="en-US" sz="2000" dirty="0"/>
          </a:p>
          <a:p>
            <a:pPr marL="800100" lvl="1" indent="-342900"/>
            <a:endParaRPr lang="ru-RU" sz="2000" dirty="0"/>
          </a:p>
          <a:p>
            <a:pPr marL="800100" lvl="1" indent="-342900"/>
            <a:r>
              <a:rPr lang="en-US" b="1" dirty="0"/>
              <a:t>Columns</a:t>
            </a:r>
            <a:r>
              <a:rPr lang="en-US" dirty="0"/>
              <a:t> are fields or </a:t>
            </a:r>
            <a:r>
              <a:rPr lang="en-US" b="1" dirty="0"/>
              <a:t>attributes</a:t>
            </a:r>
            <a:r>
              <a:rPr lang="en-US" dirty="0"/>
              <a:t> (for example, name or status of a project)</a:t>
            </a:r>
            <a:endParaRPr lang="ru-RU" sz="2000" dirty="0"/>
          </a:p>
          <a:p>
            <a:pPr marL="0" indent="0">
              <a:buNone/>
            </a:pPr>
            <a:endParaRPr lang="en-GB" sz="2400" dirty="0"/>
          </a:p>
        </p:txBody>
      </p:sp>
      <p:cxnSp>
        <p:nvCxnSpPr>
          <p:cNvPr id="13" name="Straight Arrow Connector 12">
            <a:extLst>
              <a:ext uri="{FF2B5EF4-FFF2-40B4-BE49-F238E27FC236}">
                <a16:creationId xmlns:a16="http://schemas.microsoft.com/office/drawing/2014/main" id="{251FD172-87A4-927E-CB70-1873916C4D4F}"/>
              </a:ext>
            </a:extLst>
          </p:cNvPr>
          <p:cNvCxnSpPr>
            <a:cxnSpLocks/>
          </p:cNvCxnSpPr>
          <p:nvPr/>
        </p:nvCxnSpPr>
        <p:spPr>
          <a:xfrm>
            <a:off x="6846627" y="3061648"/>
            <a:ext cx="403167" cy="519535"/>
          </a:xfrm>
          <a:prstGeom prst="straightConnector1">
            <a:avLst/>
          </a:prstGeom>
          <a:ln w="38100">
            <a:solidFill>
              <a:srgbClr val="309070"/>
            </a:solidFill>
            <a:tailEnd type="triangle"/>
          </a:ln>
        </p:spPr>
        <p:style>
          <a:lnRef idx="3">
            <a:schemeClr val="accent2"/>
          </a:lnRef>
          <a:fillRef idx="0">
            <a:schemeClr val="accent2"/>
          </a:fillRef>
          <a:effectRef idx="2">
            <a:schemeClr val="accent2"/>
          </a:effectRef>
          <a:fontRef idx="minor">
            <a:schemeClr val="tx1"/>
          </a:fontRef>
        </p:style>
      </p:cxnSp>
      <p:sp>
        <p:nvSpPr>
          <p:cNvPr id="15" name="TextBox 14">
            <a:extLst>
              <a:ext uri="{FF2B5EF4-FFF2-40B4-BE49-F238E27FC236}">
                <a16:creationId xmlns:a16="http://schemas.microsoft.com/office/drawing/2014/main" id="{4385A567-5EF8-538B-5F3F-EB49FCA49258}"/>
              </a:ext>
            </a:extLst>
          </p:cNvPr>
          <p:cNvSpPr txBox="1"/>
          <p:nvPr/>
        </p:nvSpPr>
        <p:spPr>
          <a:xfrm>
            <a:off x="5705570" y="2661538"/>
            <a:ext cx="1342640" cy="369332"/>
          </a:xfrm>
          <a:prstGeom prst="rect">
            <a:avLst/>
          </a:prstGeom>
          <a:noFill/>
        </p:spPr>
        <p:txBody>
          <a:bodyPr wrap="square">
            <a:spAutoFit/>
          </a:bodyPr>
          <a:lstStyle/>
          <a:p>
            <a:r>
              <a:rPr lang="ru-RU" b="1" dirty="0">
                <a:solidFill>
                  <a:srgbClr val="309070"/>
                </a:solidFill>
              </a:rPr>
              <a:t>Т</a:t>
            </a:r>
            <a:r>
              <a:rPr lang="pl-PL" b="1" dirty="0">
                <a:solidFill>
                  <a:srgbClr val="309070"/>
                </a:solidFill>
              </a:rPr>
              <a:t>able</a:t>
            </a:r>
            <a:endParaRPr lang="en-GB" sz="2000" b="1" dirty="0">
              <a:solidFill>
                <a:srgbClr val="309070"/>
              </a:solidFill>
            </a:endParaRPr>
          </a:p>
        </p:txBody>
      </p:sp>
      <p:sp>
        <p:nvSpPr>
          <p:cNvPr id="19" name="TextBox 18">
            <a:extLst>
              <a:ext uri="{FF2B5EF4-FFF2-40B4-BE49-F238E27FC236}">
                <a16:creationId xmlns:a16="http://schemas.microsoft.com/office/drawing/2014/main" id="{9CC91FEE-8C4B-EBBF-9B63-E0A33F148918}"/>
              </a:ext>
            </a:extLst>
          </p:cNvPr>
          <p:cNvSpPr txBox="1"/>
          <p:nvPr/>
        </p:nvSpPr>
        <p:spPr>
          <a:xfrm>
            <a:off x="5541913" y="4735992"/>
            <a:ext cx="1187519" cy="923330"/>
          </a:xfrm>
          <a:prstGeom prst="rect">
            <a:avLst/>
          </a:prstGeom>
          <a:noFill/>
        </p:spPr>
        <p:txBody>
          <a:bodyPr wrap="square">
            <a:spAutoFit/>
          </a:bodyPr>
          <a:lstStyle/>
          <a:p>
            <a:r>
              <a:rPr lang="pl-PL" b="1" dirty="0">
                <a:solidFill>
                  <a:srgbClr val="FFCC66"/>
                </a:solidFill>
              </a:rPr>
              <a:t>Record, Row, Tuple</a:t>
            </a:r>
            <a:endParaRPr lang="en-GB" dirty="0">
              <a:solidFill>
                <a:srgbClr val="FFCC66"/>
              </a:solidFill>
            </a:endParaRPr>
          </a:p>
        </p:txBody>
      </p:sp>
      <p:sp>
        <p:nvSpPr>
          <p:cNvPr id="26" name="TextBox 25">
            <a:extLst>
              <a:ext uri="{FF2B5EF4-FFF2-40B4-BE49-F238E27FC236}">
                <a16:creationId xmlns:a16="http://schemas.microsoft.com/office/drawing/2014/main" id="{51608283-684D-D467-7785-14F1AB7A43D2}"/>
              </a:ext>
            </a:extLst>
          </p:cNvPr>
          <p:cNvSpPr txBox="1"/>
          <p:nvPr/>
        </p:nvSpPr>
        <p:spPr>
          <a:xfrm>
            <a:off x="5590871" y="3738298"/>
            <a:ext cx="1318797" cy="923330"/>
          </a:xfrm>
          <a:prstGeom prst="rect">
            <a:avLst/>
          </a:prstGeom>
          <a:noFill/>
        </p:spPr>
        <p:txBody>
          <a:bodyPr wrap="square">
            <a:spAutoFit/>
          </a:bodyPr>
          <a:lstStyle/>
          <a:p>
            <a:r>
              <a:rPr lang="pl-PL" b="1" dirty="0">
                <a:solidFill>
                  <a:srgbClr val="6699FF"/>
                </a:solidFill>
              </a:rPr>
              <a:t>Field, Column, Attribute</a:t>
            </a:r>
            <a:endParaRPr lang="en-GB" b="1" dirty="0">
              <a:solidFill>
                <a:srgbClr val="6699FF"/>
              </a:solidFill>
            </a:endParaRPr>
          </a:p>
        </p:txBody>
      </p:sp>
      <p:pic>
        <p:nvPicPr>
          <p:cNvPr id="4" name="Picture 3">
            <a:extLst>
              <a:ext uri="{FF2B5EF4-FFF2-40B4-BE49-F238E27FC236}">
                <a16:creationId xmlns:a16="http://schemas.microsoft.com/office/drawing/2014/main" id="{17732E0C-90BC-17C8-D761-AA6B8AF34D55}"/>
              </a:ext>
            </a:extLst>
          </p:cNvPr>
          <p:cNvPicPr>
            <a:picLocks noChangeAspect="1"/>
          </p:cNvPicPr>
          <p:nvPr/>
        </p:nvPicPr>
        <p:blipFill>
          <a:blip r:embed="rId2"/>
          <a:srcRect r="31071"/>
          <a:stretch>
            <a:fillRect/>
          </a:stretch>
        </p:blipFill>
        <p:spPr>
          <a:xfrm>
            <a:off x="7333810" y="3650669"/>
            <a:ext cx="4622753" cy="2408937"/>
          </a:xfrm>
          <a:prstGeom prst="rect">
            <a:avLst/>
          </a:prstGeom>
        </p:spPr>
      </p:pic>
      <p:sp>
        <p:nvSpPr>
          <p:cNvPr id="5" name="Frame 4">
            <a:extLst>
              <a:ext uri="{FF2B5EF4-FFF2-40B4-BE49-F238E27FC236}">
                <a16:creationId xmlns:a16="http://schemas.microsoft.com/office/drawing/2014/main" id="{E9D17091-8134-92BF-3078-E78F0D374B13}"/>
              </a:ext>
            </a:extLst>
          </p:cNvPr>
          <p:cNvSpPr/>
          <p:nvPr/>
        </p:nvSpPr>
        <p:spPr>
          <a:xfrm>
            <a:off x="7333811" y="3650669"/>
            <a:ext cx="4622754" cy="2408937"/>
          </a:xfrm>
          <a:prstGeom prst="frame">
            <a:avLst>
              <a:gd name="adj1" fmla="val 1435"/>
            </a:avLst>
          </a:prstGeom>
          <a:solidFill>
            <a:srgbClr val="309070"/>
          </a:solidFill>
          <a:ln>
            <a:solidFill>
              <a:srgbClr val="3090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 name="Frame 5">
            <a:extLst>
              <a:ext uri="{FF2B5EF4-FFF2-40B4-BE49-F238E27FC236}">
                <a16:creationId xmlns:a16="http://schemas.microsoft.com/office/drawing/2014/main" id="{EBBE620D-9B82-2925-3F5C-B66D43AFD2BD}"/>
              </a:ext>
            </a:extLst>
          </p:cNvPr>
          <p:cNvSpPr/>
          <p:nvPr/>
        </p:nvSpPr>
        <p:spPr>
          <a:xfrm>
            <a:off x="8108909" y="4276299"/>
            <a:ext cx="903163" cy="1745447"/>
          </a:xfrm>
          <a:prstGeom prst="frame">
            <a:avLst>
              <a:gd name="adj1" fmla="val 4863"/>
            </a:avLst>
          </a:prstGeom>
          <a:solidFill>
            <a:srgbClr val="6699FF"/>
          </a:solidFill>
          <a:ln>
            <a:solidFill>
              <a:srgbClr val="66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 name="Frame 6">
            <a:extLst>
              <a:ext uri="{FF2B5EF4-FFF2-40B4-BE49-F238E27FC236}">
                <a16:creationId xmlns:a16="http://schemas.microsoft.com/office/drawing/2014/main" id="{89B24D45-4D5F-0C7E-BEC4-2F9ED71C9334}"/>
              </a:ext>
            </a:extLst>
          </p:cNvPr>
          <p:cNvSpPr/>
          <p:nvPr/>
        </p:nvSpPr>
        <p:spPr>
          <a:xfrm>
            <a:off x="7651576" y="4699380"/>
            <a:ext cx="4304987" cy="292590"/>
          </a:xfrm>
          <a:prstGeom prst="frame">
            <a:avLst>
              <a:gd name="adj1" fmla="val 4863"/>
            </a:avLst>
          </a:prstGeom>
          <a:solidFill>
            <a:srgbClr val="FFCC66"/>
          </a:solidFill>
          <a:ln>
            <a:solidFill>
              <a:srgbClr val="FFCC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10" name="Straight Arrow Connector 9">
            <a:extLst>
              <a:ext uri="{FF2B5EF4-FFF2-40B4-BE49-F238E27FC236}">
                <a16:creationId xmlns:a16="http://schemas.microsoft.com/office/drawing/2014/main" id="{7711AF99-D57D-B392-931A-30CD5AE700FA}"/>
              </a:ext>
            </a:extLst>
          </p:cNvPr>
          <p:cNvCxnSpPr>
            <a:cxnSpLocks/>
          </p:cNvCxnSpPr>
          <p:nvPr/>
        </p:nvCxnSpPr>
        <p:spPr>
          <a:xfrm>
            <a:off x="6450842" y="4900327"/>
            <a:ext cx="1053688" cy="0"/>
          </a:xfrm>
          <a:prstGeom prst="straightConnector1">
            <a:avLst/>
          </a:prstGeom>
          <a:ln w="38100">
            <a:solidFill>
              <a:srgbClr val="FFCC66"/>
            </a:solidFill>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a:extLst>
              <a:ext uri="{FF2B5EF4-FFF2-40B4-BE49-F238E27FC236}">
                <a16:creationId xmlns:a16="http://schemas.microsoft.com/office/drawing/2014/main" id="{D28EF4B7-4E84-3615-2612-E823689A7F7F}"/>
              </a:ext>
            </a:extLst>
          </p:cNvPr>
          <p:cNvCxnSpPr>
            <a:cxnSpLocks/>
          </p:cNvCxnSpPr>
          <p:nvPr/>
        </p:nvCxnSpPr>
        <p:spPr>
          <a:xfrm>
            <a:off x="6782469" y="4380495"/>
            <a:ext cx="1216389" cy="0"/>
          </a:xfrm>
          <a:prstGeom prst="straightConnector1">
            <a:avLst/>
          </a:prstGeom>
          <a:ln w="38100">
            <a:solidFill>
              <a:srgbClr val="6699FF"/>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0454178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C834-EE49-2C49-1170-E3AA5F756DD9}"/>
              </a:ext>
            </a:extLst>
          </p:cNvPr>
          <p:cNvSpPr>
            <a:spLocks noGrp="1"/>
          </p:cNvSpPr>
          <p:nvPr>
            <p:ph type="title"/>
          </p:nvPr>
        </p:nvSpPr>
        <p:spPr/>
        <p:txBody>
          <a:bodyPr/>
          <a:lstStyle/>
          <a:p>
            <a:r>
              <a:rPr lang="en-US" b="1" dirty="0"/>
              <a:t>Popular SQL Database Systems</a:t>
            </a:r>
            <a:endParaRPr lang="en-GB" b="1" dirty="0"/>
          </a:p>
        </p:txBody>
      </p:sp>
      <p:sp>
        <p:nvSpPr>
          <p:cNvPr id="3" name="Content Placeholder 2">
            <a:extLst>
              <a:ext uri="{FF2B5EF4-FFF2-40B4-BE49-F238E27FC236}">
                <a16:creationId xmlns:a16="http://schemas.microsoft.com/office/drawing/2014/main" id="{F488645B-7A12-A44B-3C3C-7F81794B83ED}"/>
              </a:ext>
            </a:extLst>
          </p:cNvPr>
          <p:cNvSpPr>
            <a:spLocks noGrp="1"/>
          </p:cNvSpPr>
          <p:nvPr>
            <p:ph idx="1"/>
          </p:nvPr>
        </p:nvSpPr>
        <p:spPr/>
        <p:txBody>
          <a:bodyPr>
            <a:normAutofit/>
          </a:bodyPr>
          <a:lstStyle/>
          <a:p>
            <a:r>
              <a:rPr lang="en-GB" b="1" dirty="0"/>
              <a:t>PostgreSQL</a:t>
            </a:r>
          </a:p>
          <a:p>
            <a:r>
              <a:rPr lang="en-GB" b="1" dirty="0"/>
              <a:t>Microsoft SQL Server  (MSSQL)</a:t>
            </a:r>
          </a:p>
          <a:p>
            <a:r>
              <a:rPr lang="en-GB" b="1" dirty="0"/>
              <a:t>MySQL</a:t>
            </a:r>
          </a:p>
          <a:p>
            <a:r>
              <a:rPr lang="en-GB" b="1" dirty="0"/>
              <a:t>Oracle</a:t>
            </a:r>
          </a:p>
          <a:p>
            <a:r>
              <a:rPr lang="en-GB" b="1" dirty="0"/>
              <a:t>SQLite</a:t>
            </a:r>
          </a:p>
        </p:txBody>
      </p:sp>
      <p:pic>
        <p:nvPicPr>
          <p:cNvPr id="12" name="Picture 11" descr="A blue elephant head on a black background&#10;&#10;AI-generated content may be incorrect.">
            <a:extLst>
              <a:ext uri="{FF2B5EF4-FFF2-40B4-BE49-F238E27FC236}">
                <a16:creationId xmlns:a16="http://schemas.microsoft.com/office/drawing/2014/main" id="{673EBAE6-93D0-8D10-DFBA-102BF8F0AB02}"/>
              </a:ext>
            </a:extLst>
          </p:cNvPr>
          <p:cNvPicPr>
            <a:picLocks noChangeAspect="1"/>
          </p:cNvPicPr>
          <p:nvPr/>
        </p:nvPicPr>
        <p:blipFill>
          <a:blip r:embed="rId2">
            <a:extLst>
              <a:ext uri="{28A0092B-C50C-407E-A947-70E740481C1C}">
                <a14:useLocalDpi xmlns:a14="http://schemas.microsoft.com/office/drawing/2010/main" val="0"/>
              </a:ext>
            </a:extLst>
          </a:blip>
          <a:srcRect l="25192" t="37479" r="24858" b="39482"/>
          <a:stretch>
            <a:fillRect/>
          </a:stretch>
        </p:blipFill>
        <p:spPr>
          <a:xfrm>
            <a:off x="8409388" y="2779997"/>
            <a:ext cx="3425589" cy="1580059"/>
          </a:xfrm>
          <a:prstGeom prst="rect">
            <a:avLst/>
          </a:prstGeom>
        </p:spPr>
      </p:pic>
      <p:pic>
        <p:nvPicPr>
          <p:cNvPr id="14" name="Picture 13" descr="A logo of a dolphin&#10;&#10;AI-generated content may be incorrect.">
            <a:extLst>
              <a:ext uri="{FF2B5EF4-FFF2-40B4-BE49-F238E27FC236}">
                <a16:creationId xmlns:a16="http://schemas.microsoft.com/office/drawing/2014/main" id="{49BCEF1D-505D-D7FC-9A6C-A2F51671EF84}"/>
              </a:ext>
            </a:extLst>
          </p:cNvPr>
          <p:cNvPicPr>
            <a:picLocks noChangeAspect="1"/>
          </p:cNvPicPr>
          <p:nvPr/>
        </p:nvPicPr>
        <p:blipFill>
          <a:blip r:embed="rId3">
            <a:extLst>
              <a:ext uri="{28A0092B-C50C-407E-A947-70E740481C1C}">
                <a14:useLocalDpi xmlns:a14="http://schemas.microsoft.com/office/drawing/2010/main" val="0"/>
              </a:ext>
            </a:extLst>
          </a:blip>
          <a:srcRect l="21477" t="31912" r="22759" b="31756"/>
          <a:stretch>
            <a:fillRect/>
          </a:stretch>
        </p:blipFill>
        <p:spPr>
          <a:xfrm>
            <a:off x="5487251" y="2808055"/>
            <a:ext cx="2339050" cy="1523944"/>
          </a:xfrm>
          <a:prstGeom prst="rect">
            <a:avLst/>
          </a:prstGeom>
        </p:spPr>
      </p:pic>
      <p:pic>
        <p:nvPicPr>
          <p:cNvPr id="16" name="Picture 15" descr="A blue square with a feather in it&#10;&#10;AI-generated content may be incorrect.">
            <a:extLst>
              <a:ext uri="{FF2B5EF4-FFF2-40B4-BE49-F238E27FC236}">
                <a16:creationId xmlns:a16="http://schemas.microsoft.com/office/drawing/2014/main" id="{A04DFDD5-B300-313A-C803-1A2CE972674E}"/>
              </a:ext>
            </a:extLst>
          </p:cNvPr>
          <p:cNvPicPr>
            <a:picLocks noChangeAspect="1"/>
          </p:cNvPicPr>
          <p:nvPr/>
        </p:nvPicPr>
        <p:blipFill>
          <a:blip r:embed="rId4">
            <a:extLst>
              <a:ext uri="{28A0092B-C50C-407E-A947-70E740481C1C}">
                <a14:useLocalDpi xmlns:a14="http://schemas.microsoft.com/office/drawing/2010/main" val="0"/>
              </a:ext>
            </a:extLst>
          </a:blip>
          <a:srcRect l="21015" t="36591" r="23131" b="36940"/>
          <a:stretch>
            <a:fillRect/>
          </a:stretch>
        </p:blipFill>
        <p:spPr>
          <a:xfrm>
            <a:off x="7265525" y="4694447"/>
            <a:ext cx="3830471" cy="1815209"/>
          </a:xfrm>
          <a:prstGeom prst="rect">
            <a:avLst/>
          </a:prstGeom>
        </p:spPr>
      </p:pic>
    </p:spTree>
    <p:extLst>
      <p:ext uri="{BB962C8B-B14F-4D97-AF65-F5344CB8AC3E}">
        <p14:creationId xmlns:p14="http://schemas.microsoft.com/office/powerpoint/2010/main" val="33313563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93E36-1648-E5CB-F908-2D4FF7AE9C3D}"/>
              </a:ext>
            </a:extLst>
          </p:cNvPr>
          <p:cNvSpPr>
            <a:spLocks noGrp="1"/>
          </p:cNvSpPr>
          <p:nvPr>
            <p:ph type="title"/>
          </p:nvPr>
        </p:nvSpPr>
        <p:spPr/>
        <p:txBody>
          <a:bodyPr/>
          <a:lstStyle/>
          <a:p>
            <a:r>
              <a:rPr lang="en-US" b="1" dirty="0"/>
              <a:t>NoSQL Database Characteristics</a:t>
            </a:r>
            <a:endParaRPr lang="en-GB" b="1" dirty="0"/>
          </a:p>
        </p:txBody>
      </p:sp>
      <p:pic>
        <p:nvPicPr>
          <p:cNvPr id="5" name="Content Placeholder 4">
            <a:extLst>
              <a:ext uri="{FF2B5EF4-FFF2-40B4-BE49-F238E27FC236}">
                <a16:creationId xmlns:a16="http://schemas.microsoft.com/office/drawing/2014/main" id="{12BDBFA9-0509-795F-256D-10A758F5210D}"/>
              </a:ext>
            </a:extLst>
          </p:cNvPr>
          <p:cNvPicPr>
            <a:picLocks noGrp="1" noChangeAspect="1"/>
          </p:cNvPicPr>
          <p:nvPr>
            <p:ph idx="1"/>
          </p:nvPr>
        </p:nvPicPr>
        <p:blipFill>
          <a:blip r:embed="rId2"/>
          <a:srcRect l="4761" t="7649" r="19455" b="6679"/>
          <a:stretch>
            <a:fillRect/>
          </a:stretch>
        </p:blipFill>
        <p:spPr>
          <a:xfrm>
            <a:off x="7394215" y="2302496"/>
            <a:ext cx="3157979" cy="2253007"/>
          </a:xfrm>
        </p:spPr>
      </p:pic>
      <p:pic>
        <p:nvPicPr>
          <p:cNvPr id="7" name="Picture 6">
            <a:extLst>
              <a:ext uri="{FF2B5EF4-FFF2-40B4-BE49-F238E27FC236}">
                <a16:creationId xmlns:a16="http://schemas.microsoft.com/office/drawing/2014/main" id="{B6B07A16-F1BD-8A0F-8F1C-ECF34E57FC79}"/>
              </a:ext>
            </a:extLst>
          </p:cNvPr>
          <p:cNvPicPr>
            <a:picLocks noChangeAspect="1"/>
          </p:cNvPicPr>
          <p:nvPr/>
        </p:nvPicPr>
        <p:blipFill>
          <a:blip r:embed="rId3"/>
          <a:stretch>
            <a:fillRect/>
          </a:stretch>
        </p:blipFill>
        <p:spPr>
          <a:xfrm>
            <a:off x="7098656" y="4839780"/>
            <a:ext cx="4077211" cy="1816028"/>
          </a:xfrm>
          <a:prstGeom prst="rect">
            <a:avLst/>
          </a:prstGeom>
        </p:spPr>
      </p:pic>
      <p:sp>
        <p:nvSpPr>
          <p:cNvPr id="12" name="Content Placeholder 2">
            <a:extLst>
              <a:ext uri="{FF2B5EF4-FFF2-40B4-BE49-F238E27FC236}">
                <a16:creationId xmlns:a16="http://schemas.microsoft.com/office/drawing/2014/main" id="{E4541E86-A5CA-B9E3-D879-91A68AECE858}"/>
              </a:ext>
            </a:extLst>
          </p:cNvPr>
          <p:cNvSpPr txBox="1">
            <a:spLocks/>
          </p:cNvSpPr>
          <p:nvPr/>
        </p:nvSpPr>
        <p:spPr>
          <a:xfrm>
            <a:off x="463407" y="2304470"/>
            <a:ext cx="53687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b="1" dirty="0"/>
              <a:t>Dynamic schema:</a:t>
            </a:r>
            <a:r>
              <a:rPr lang="en-US" sz="2000" dirty="0"/>
              <a:t> Unlike the predefined, fixed schemas of relational databases, non-relational databases provide flexibility. Different records in the same database can have different fields. For example, in a customer database, one client may have a name and age field, while another may have a name and email field.</a:t>
            </a:r>
            <a:endParaRPr lang="en-GB" sz="2000" b="1" dirty="0">
              <a:latin typeface="Trebuchet MS (Body)"/>
            </a:endParaRPr>
          </a:p>
        </p:txBody>
      </p:sp>
    </p:spTree>
    <p:extLst>
      <p:ext uri="{BB962C8B-B14F-4D97-AF65-F5344CB8AC3E}">
        <p14:creationId xmlns:p14="http://schemas.microsoft.com/office/powerpoint/2010/main" val="23030559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CC75C-C35C-DF20-7546-FA57E19F2D6C}"/>
              </a:ext>
            </a:extLst>
          </p:cNvPr>
          <p:cNvSpPr>
            <a:spLocks noGrp="1"/>
          </p:cNvSpPr>
          <p:nvPr>
            <p:ph type="title"/>
          </p:nvPr>
        </p:nvSpPr>
        <p:spPr/>
        <p:txBody>
          <a:bodyPr/>
          <a:lstStyle/>
          <a:p>
            <a:r>
              <a:rPr lang="en-US" b="1" dirty="0"/>
              <a:t>Popular NoSQL Database Systems</a:t>
            </a:r>
            <a:endParaRPr lang="en-GB" b="1" dirty="0"/>
          </a:p>
        </p:txBody>
      </p:sp>
      <p:sp>
        <p:nvSpPr>
          <p:cNvPr id="3" name="Content Placeholder 2">
            <a:extLst>
              <a:ext uri="{FF2B5EF4-FFF2-40B4-BE49-F238E27FC236}">
                <a16:creationId xmlns:a16="http://schemas.microsoft.com/office/drawing/2014/main" id="{6AB86E18-3AA8-5CBC-C1EB-4B88A037B09F}"/>
              </a:ext>
            </a:extLst>
          </p:cNvPr>
          <p:cNvSpPr>
            <a:spLocks noGrp="1"/>
          </p:cNvSpPr>
          <p:nvPr>
            <p:ph idx="1"/>
          </p:nvPr>
        </p:nvSpPr>
        <p:spPr/>
        <p:txBody>
          <a:bodyPr>
            <a:normAutofit/>
          </a:bodyPr>
          <a:lstStyle/>
          <a:p>
            <a:r>
              <a:rPr lang="en-GB" b="1" dirty="0" err="1"/>
              <a:t>MongoDb</a:t>
            </a:r>
            <a:endParaRPr lang="en-GB" b="1" dirty="0"/>
          </a:p>
          <a:p>
            <a:r>
              <a:rPr lang="en-GB" b="1" dirty="0"/>
              <a:t>Neo4J</a:t>
            </a:r>
          </a:p>
          <a:p>
            <a:r>
              <a:rPr lang="en-GB" b="1" dirty="0"/>
              <a:t>Cassandra</a:t>
            </a:r>
            <a:r>
              <a:rPr lang="en-GB" dirty="0"/>
              <a:t> </a:t>
            </a:r>
          </a:p>
          <a:p>
            <a:r>
              <a:rPr lang="en-GB" b="1" dirty="0"/>
              <a:t>Redis</a:t>
            </a:r>
            <a:r>
              <a:rPr lang="en-GB" dirty="0"/>
              <a:t> </a:t>
            </a:r>
            <a:endParaRPr lang="en-GB" b="1" dirty="0"/>
          </a:p>
        </p:txBody>
      </p:sp>
      <p:pic>
        <p:nvPicPr>
          <p:cNvPr id="6" name="Picture 5" descr="A black background with green text&#10;&#10;AI-generated content may be incorrect.">
            <a:extLst>
              <a:ext uri="{FF2B5EF4-FFF2-40B4-BE49-F238E27FC236}">
                <a16:creationId xmlns:a16="http://schemas.microsoft.com/office/drawing/2014/main" id="{5EF0F545-BAD7-66C0-38E1-3C0ADD41729C}"/>
              </a:ext>
            </a:extLst>
          </p:cNvPr>
          <p:cNvPicPr>
            <a:picLocks noChangeAspect="1"/>
          </p:cNvPicPr>
          <p:nvPr/>
        </p:nvPicPr>
        <p:blipFill>
          <a:blip r:embed="rId2">
            <a:extLst>
              <a:ext uri="{28A0092B-C50C-407E-A947-70E740481C1C}">
                <a14:useLocalDpi xmlns:a14="http://schemas.microsoft.com/office/drawing/2010/main" val="0"/>
              </a:ext>
            </a:extLst>
          </a:blip>
          <a:srcRect l="22405" t="40531" r="21277" b="41559"/>
          <a:stretch>
            <a:fillRect/>
          </a:stretch>
        </p:blipFill>
        <p:spPr>
          <a:xfrm>
            <a:off x="6714698" y="2151796"/>
            <a:ext cx="3862317" cy="1228300"/>
          </a:xfrm>
          <a:prstGeom prst="rect">
            <a:avLst/>
          </a:prstGeom>
        </p:spPr>
      </p:pic>
      <p:pic>
        <p:nvPicPr>
          <p:cNvPr id="10" name="Picture 9" descr="A black background with blue dots and a black text&#10;&#10;AI-generated content may be incorrect.">
            <a:extLst>
              <a:ext uri="{FF2B5EF4-FFF2-40B4-BE49-F238E27FC236}">
                <a16:creationId xmlns:a16="http://schemas.microsoft.com/office/drawing/2014/main" id="{B141B340-1F37-20A9-1597-6CA195441D35}"/>
              </a:ext>
            </a:extLst>
          </p:cNvPr>
          <p:cNvPicPr>
            <a:picLocks noChangeAspect="1"/>
          </p:cNvPicPr>
          <p:nvPr/>
        </p:nvPicPr>
        <p:blipFill>
          <a:blip r:embed="rId3">
            <a:extLst>
              <a:ext uri="{28A0092B-C50C-407E-A947-70E740481C1C}">
                <a14:useLocalDpi xmlns:a14="http://schemas.microsoft.com/office/drawing/2010/main" val="0"/>
              </a:ext>
            </a:extLst>
          </a:blip>
          <a:srcRect l="23731" t="42123" r="27181" b="39304"/>
          <a:stretch>
            <a:fillRect/>
          </a:stretch>
        </p:blipFill>
        <p:spPr>
          <a:xfrm>
            <a:off x="4995081" y="3499635"/>
            <a:ext cx="3366447" cy="1273791"/>
          </a:xfrm>
          <a:prstGeom prst="rect">
            <a:avLst/>
          </a:prstGeom>
        </p:spPr>
      </p:pic>
      <p:pic>
        <p:nvPicPr>
          <p:cNvPr id="13" name="Picture 12" descr="A blue eye with a white and black logo&#10;&#10;AI-generated content may be incorrect.">
            <a:extLst>
              <a:ext uri="{FF2B5EF4-FFF2-40B4-BE49-F238E27FC236}">
                <a16:creationId xmlns:a16="http://schemas.microsoft.com/office/drawing/2014/main" id="{27FD792B-F178-15FA-F3D8-16ABE6BF2088}"/>
              </a:ext>
            </a:extLst>
          </p:cNvPr>
          <p:cNvPicPr>
            <a:picLocks noChangeAspect="1"/>
          </p:cNvPicPr>
          <p:nvPr/>
        </p:nvPicPr>
        <p:blipFill>
          <a:blip r:embed="rId4">
            <a:extLst>
              <a:ext uri="{28A0092B-C50C-407E-A947-70E740481C1C}">
                <a14:useLocalDpi xmlns:a14="http://schemas.microsoft.com/office/drawing/2010/main" val="0"/>
              </a:ext>
            </a:extLst>
          </a:blip>
          <a:srcRect l="30033" t="36750" r="26982" b="34527"/>
          <a:stretch>
            <a:fillRect/>
          </a:stretch>
        </p:blipFill>
        <p:spPr>
          <a:xfrm>
            <a:off x="8411570" y="4289945"/>
            <a:ext cx="2947917" cy="1969827"/>
          </a:xfrm>
          <a:prstGeom prst="rect">
            <a:avLst/>
          </a:prstGeom>
        </p:spPr>
      </p:pic>
    </p:spTree>
    <p:extLst>
      <p:ext uri="{BB962C8B-B14F-4D97-AF65-F5344CB8AC3E}">
        <p14:creationId xmlns:p14="http://schemas.microsoft.com/office/powerpoint/2010/main" val="41712997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57EB6-F037-46EC-E91D-3275FC8F912D}"/>
              </a:ext>
            </a:extLst>
          </p:cNvPr>
          <p:cNvSpPr>
            <a:spLocks noGrp="1"/>
          </p:cNvSpPr>
          <p:nvPr>
            <p:ph type="title"/>
          </p:nvPr>
        </p:nvSpPr>
        <p:spPr/>
        <p:txBody>
          <a:bodyPr/>
          <a:lstStyle/>
          <a:p>
            <a:r>
              <a:rPr lang="en-US" b="1" dirty="0"/>
              <a:t>Relational Database Management System</a:t>
            </a:r>
            <a:endParaRPr lang="en-GB" b="1" dirty="0"/>
          </a:p>
        </p:txBody>
      </p:sp>
      <p:sp>
        <p:nvSpPr>
          <p:cNvPr id="3" name="Content Placeholder 2">
            <a:extLst>
              <a:ext uri="{FF2B5EF4-FFF2-40B4-BE49-F238E27FC236}">
                <a16:creationId xmlns:a16="http://schemas.microsoft.com/office/drawing/2014/main" id="{CBD9EF0B-77DB-B569-C2F2-FE8F3E429933}"/>
              </a:ext>
            </a:extLst>
          </p:cNvPr>
          <p:cNvSpPr>
            <a:spLocks noGrp="1"/>
          </p:cNvSpPr>
          <p:nvPr>
            <p:ph idx="1"/>
          </p:nvPr>
        </p:nvSpPr>
        <p:spPr>
          <a:xfrm>
            <a:off x="478642" y="2412479"/>
            <a:ext cx="7259426" cy="4351338"/>
          </a:xfrm>
        </p:spPr>
        <p:txBody>
          <a:bodyPr>
            <a:normAutofit/>
          </a:bodyPr>
          <a:lstStyle/>
          <a:p>
            <a:r>
              <a:rPr lang="en-US" sz="2000" b="1" dirty="0"/>
              <a:t>Relational database management system</a:t>
            </a:r>
            <a:r>
              <a:rPr lang="en-US" sz="2000" dirty="0"/>
              <a:t> — relational database management system (RDBMS) is a set of programs that allow you to store, edit, organize, and search data in relational databases.</a:t>
            </a:r>
            <a:endParaRPr lang="pl-PL" sz="2000" dirty="0"/>
          </a:p>
          <a:p>
            <a:endParaRPr lang="en-GB" sz="2000" dirty="0"/>
          </a:p>
          <a:p>
            <a:r>
              <a:rPr lang="pl-PL" sz="2000" dirty="0"/>
              <a:t>F</a:t>
            </a:r>
            <a:r>
              <a:rPr lang="en-US" sz="2000" dirty="0"/>
              <a:t>or example:</a:t>
            </a:r>
            <a:r>
              <a:rPr lang="uk-UA" sz="2000" dirty="0"/>
              <a:t> </a:t>
            </a:r>
            <a:endParaRPr lang="en-GB" sz="2000" dirty="0"/>
          </a:p>
          <a:p>
            <a:pPr lvl="1"/>
            <a:r>
              <a:rPr lang="en-GB" dirty="0"/>
              <a:t>PostgreSQL, </a:t>
            </a:r>
          </a:p>
          <a:p>
            <a:pPr lvl="1"/>
            <a:r>
              <a:rPr lang="en-GB" dirty="0"/>
              <a:t>Microsoft SQL Server</a:t>
            </a:r>
            <a:endParaRPr lang="uk-UA" dirty="0"/>
          </a:p>
          <a:p>
            <a:endParaRPr lang="en-GB" sz="2000" dirty="0"/>
          </a:p>
        </p:txBody>
      </p:sp>
      <p:pic>
        <p:nvPicPr>
          <p:cNvPr id="4" name="Picture 3" descr="A blue elephant head on a black background&#10;&#10;AI-generated content may be incorrect.">
            <a:extLst>
              <a:ext uri="{FF2B5EF4-FFF2-40B4-BE49-F238E27FC236}">
                <a16:creationId xmlns:a16="http://schemas.microsoft.com/office/drawing/2014/main" id="{9DFF5645-8971-DA4E-E2F6-C69319045788}"/>
              </a:ext>
            </a:extLst>
          </p:cNvPr>
          <p:cNvPicPr>
            <a:picLocks noChangeAspect="1"/>
          </p:cNvPicPr>
          <p:nvPr/>
        </p:nvPicPr>
        <p:blipFill>
          <a:blip r:embed="rId2">
            <a:extLst>
              <a:ext uri="{28A0092B-C50C-407E-A947-70E740481C1C}">
                <a14:useLocalDpi xmlns:a14="http://schemas.microsoft.com/office/drawing/2010/main" val="0"/>
              </a:ext>
            </a:extLst>
          </a:blip>
          <a:srcRect l="25192" t="37479" r="24858" b="39482"/>
          <a:stretch>
            <a:fillRect/>
          </a:stretch>
        </p:blipFill>
        <p:spPr>
          <a:xfrm>
            <a:off x="5738975" y="3921604"/>
            <a:ext cx="3425589" cy="1580059"/>
          </a:xfrm>
          <a:prstGeom prst="rect">
            <a:avLst/>
          </a:prstGeom>
        </p:spPr>
      </p:pic>
      <p:pic>
        <p:nvPicPr>
          <p:cNvPr id="6" name="Picture 5" descr="A logo of a dolphin&#10;&#10;AI-generated content may be incorrect.">
            <a:extLst>
              <a:ext uri="{FF2B5EF4-FFF2-40B4-BE49-F238E27FC236}">
                <a16:creationId xmlns:a16="http://schemas.microsoft.com/office/drawing/2014/main" id="{C0498A51-A51A-EFF5-BDE2-2584C9E4BEBD}"/>
              </a:ext>
            </a:extLst>
          </p:cNvPr>
          <p:cNvPicPr>
            <a:picLocks noChangeAspect="1"/>
          </p:cNvPicPr>
          <p:nvPr/>
        </p:nvPicPr>
        <p:blipFill>
          <a:blip r:embed="rId3">
            <a:extLst>
              <a:ext uri="{28A0092B-C50C-407E-A947-70E740481C1C}">
                <a14:useLocalDpi xmlns:a14="http://schemas.microsoft.com/office/drawing/2010/main" val="0"/>
              </a:ext>
            </a:extLst>
          </a:blip>
          <a:srcRect l="21477" t="31912" r="22759" b="31756"/>
          <a:stretch>
            <a:fillRect/>
          </a:stretch>
        </p:blipFill>
        <p:spPr>
          <a:xfrm>
            <a:off x="8753615" y="4655052"/>
            <a:ext cx="2339050" cy="1523944"/>
          </a:xfrm>
          <a:prstGeom prst="rect">
            <a:avLst/>
          </a:prstGeom>
        </p:spPr>
      </p:pic>
      <p:pic>
        <p:nvPicPr>
          <p:cNvPr id="8" name="Picture 7" descr="A blue square with a feather in it&#10;&#10;AI-generated content may be incorrect.">
            <a:extLst>
              <a:ext uri="{FF2B5EF4-FFF2-40B4-BE49-F238E27FC236}">
                <a16:creationId xmlns:a16="http://schemas.microsoft.com/office/drawing/2014/main" id="{38A7FE12-C9D3-5E18-C4BD-E2C063DFB2FA}"/>
              </a:ext>
            </a:extLst>
          </p:cNvPr>
          <p:cNvPicPr>
            <a:picLocks noChangeAspect="1"/>
          </p:cNvPicPr>
          <p:nvPr/>
        </p:nvPicPr>
        <p:blipFill>
          <a:blip r:embed="rId4">
            <a:extLst>
              <a:ext uri="{28A0092B-C50C-407E-A947-70E740481C1C}">
                <a14:useLocalDpi xmlns:a14="http://schemas.microsoft.com/office/drawing/2010/main" val="0"/>
              </a:ext>
            </a:extLst>
          </a:blip>
          <a:srcRect l="21015" t="36591" r="23131" b="36940"/>
          <a:stretch>
            <a:fillRect/>
          </a:stretch>
        </p:blipFill>
        <p:spPr>
          <a:xfrm>
            <a:off x="7794090" y="2318112"/>
            <a:ext cx="3830471" cy="1815209"/>
          </a:xfrm>
          <a:prstGeom prst="rect">
            <a:avLst/>
          </a:prstGeom>
        </p:spPr>
      </p:pic>
    </p:spTree>
    <p:extLst>
      <p:ext uri="{BB962C8B-B14F-4D97-AF65-F5344CB8AC3E}">
        <p14:creationId xmlns:p14="http://schemas.microsoft.com/office/powerpoint/2010/main" val="20971366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10F37-80C5-AC12-FA43-B339EF346AB7}"/>
              </a:ext>
            </a:extLst>
          </p:cNvPr>
          <p:cNvSpPr>
            <a:spLocks noGrp="1"/>
          </p:cNvSpPr>
          <p:nvPr>
            <p:ph type="title"/>
          </p:nvPr>
        </p:nvSpPr>
        <p:spPr/>
        <p:txBody>
          <a:bodyPr/>
          <a:lstStyle/>
          <a:p>
            <a:r>
              <a:rPr lang="en-US" b="1" dirty="0"/>
              <a:t>Database Server</a:t>
            </a:r>
            <a:endParaRPr lang="en-GB" b="1" dirty="0"/>
          </a:p>
        </p:txBody>
      </p:sp>
      <p:sp>
        <p:nvSpPr>
          <p:cNvPr id="3" name="Content Placeholder 2">
            <a:extLst>
              <a:ext uri="{FF2B5EF4-FFF2-40B4-BE49-F238E27FC236}">
                <a16:creationId xmlns:a16="http://schemas.microsoft.com/office/drawing/2014/main" id="{D4A5325D-D3AD-8398-E391-9C174DC16B2D}"/>
              </a:ext>
            </a:extLst>
          </p:cNvPr>
          <p:cNvSpPr>
            <a:spLocks noGrp="1"/>
          </p:cNvSpPr>
          <p:nvPr>
            <p:ph idx="1"/>
          </p:nvPr>
        </p:nvSpPr>
        <p:spPr>
          <a:xfrm>
            <a:off x="551597" y="2506662"/>
            <a:ext cx="5883111" cy="4351338"/>
          </a:xfrm>
        </p:spPr>
        <p:txBody>
          <a:bodyPr>
            <a:normAutofit/>
          </a:bodyPr>
          <a:lstStyle/>
          <a:p>
            <a:r>
              <a:rPr lang="en-US" sz="2000" b="1" dirty="0"/>
              <a:t>Database server</a:t>
            </a:r>
            <a:r>
              <a:rPr lang="en-US" sz="2000" dirty="0"/>
              <a:t> (</a:t>
            </a:r>
            <a:r>
              <a:rPr lang="en-US" sz="2000" i="1" dirty="0"/>
              <a:t>Database Server</a:t>
            </a:r>
            <a:r>
              <a:rPr lang="en-US" sz="2000" dirty="0"/>
              <a:t>) — is a server (physical or virtual) that stores databases and provides access to them.</a:t>
            </a:r>
            <a:endParaRPr lang="pl-PL" sz="2000" dirty="0"/>
          </a:p>
          <a:p>
            <a:endParaRPr lang="en-GB" dirty="0"/>
          </a:p>
          <a:p>
            <a:r>
              <a:rPr lang="en-US" sz="2000" dirty="0"/>
              <a:t>Each database server contains a </a:t>
            </a:r>
            <a:r>
              <a:rPr lang="en-US" sz="2000" b="1" dirty="0"/>
              <a:t>database management system</a:t>
            </a:r>
            <a:r>
              <a:rPr lang="en-US" sz="2000" dirty="0"/>
              <a:t> — software for storing, searching, updating, and deleting data.</a:t>
            </a:r>
            <a:endParaRPr lang="uk-UA" sz="2000" dirty="0"/>
          </a:p>
        </p:txBody>
      </p:sp>
      <p:sp>
        <p:nvSpPr>
          <p:cNvPr id="13" name="TextBox 12">
            <a:extLst>
              <a:ext uri="{FF2B5EF4-FFF2-40B4-BE49-F238E27FC236}">
                <a16:creationId xmlns:a16="http://schemas.microsoft.com/office/drawing/2014/main" id="{40E1EAB5-99C7-82AB-CF3A-A206F5E771C0}"/>
              </a:ext>
            </a:extLst>
          </p:cNvPr>
          <p:cNvSpPr txBox="1"/>
          <p:nvPr/>
        </p:nvSpPr>
        <p:spPr>
          <a:xfrm>
            <a:off x="6606295" y="2109219"/>
            <a:ext cx="1575537" cy="1015663"/>
          </a:xfrm>
          <a:prstGeom prst="rect">
            <a:avLst/>
          </a:prstGeom>
          <a:noFill/>
        </p:spPr>
        <p:txBody>
          <a:bodyPr wrap="square">
            <a:spAutoFit/>
          </a:bodyPr>
          <a:lstStyle/>
          <a:p>
            <a:r>
              <a:rPr lang="en-GB" sz="2000" b="1" dirty="0">
                <a:solidFill>
                  <a:srgbClr val="6699FF"/>
                </a:solidFill>
              </a:rPr>
              <a:t>Virtual Database Server</a:t>
            </a:r>
            <a:endParaRPr lang="en-GB" sz="2800" b="1" dirty="0">
              <a:solidFill>
                <a:srgbClr val="6699FF"/>
              </a:solidFill>
            </a:endParaRPr>
          </a:p>
        </p:txBody>
      </p:sp>
      <p:pic>
        <p:nvPicPr>
          <p:cNvPr id="15" name="Picture 14">
            <a:extLst>
              <a:ext uri="{FF2B5EF4-FFF2-40B4-BE49-F238E27FC236}">
                <a16:creationId xmlns:a16="http://schemas.microsoft.com/office/drawing/2014/main" id="{DDA1D59E-C457-1E2E-8793-B9A3359E2AB5}"/>
              </a:ext>
            </a:extLst>
          </p:cNvPr>
          <p:cNvPicPr>
            <a:picLocks noChangeAspect="1"/>
          </p:cNvPicPr>
          <p:nvPr/>
        </p:nvPicPr>
        <p:blipFill>
          <a:blip r:embed="rId2"/>
          <a:stretch>
            <a:fillRect/>
          </a:stretch>
        </p:blipFill>
        <p:spPr>
          <a:xfrm>
            <a:off x="8127968" y="3207572"/>
            <a:ext cx="3672341" cy="2233336"/>
          </a:xfrm>
          <a:prstGeom prst="rect">
            <a:avLst/>
          </a:prstGeom>
        </p:spPr>
      </p:pic>
      <p:cxnSp>
        <p:nvCxnSpPr>
          <p:cNvPr id="19" name="Straight Arrow Connector 18">
            <a:extLst>
              <a:ext uri="{FF2B5EF4-FFF2-40B4-BE49-F238E27FC236}">
                <a16:creationId xmlns:a16="http://schemas.microsoft.com/office/drawing/2014/main" id="{45271B30-E145-C4F9-50FF-A80D743A2D72}"/>
              </a:ext>
            </a:extLst>
          </p:cNvPr>
          <p:cNvCxnSpPr>
            <a:cxnSpLocks/>
          </p:cNvCxnSpPr>
          <p:nvPr/>
        </p:nvCxnSpPr>
        <p:spPr>
          <a:xfrm flipV="1">
            <a:off x="7679139" y="4640239"/>
            <a:ext cx="1005385" cy="727880"/>
          </a:xfrm>
          <a:prstGeom prst="straightConnector1">
            <a:avLst/>
          </a:prstGeom>
          <a:ln w="38100">
            <a:solidFill>
              <a:srgbClr val="309070"/>
            </a:solidFill>
            <a:tailEnd type="triangle"/>
          </a:ln>
        </p:spPr>
        <p:style>
          <a:lnRef idx="3">
            <a:schemeClr val="accent6"/>
          </a:lnRef>
          <a:fillRef idx="0">
            <a:schemeClr val="accent6"/>
          </a:fillRef>
          <a:effectRef idx="2">
            <a:schemeClr val="accent6"/>
          </a:effectRef>
          <a:fontRef idx="minor">
            <a:schemeClr val="tx1"/>
          </a:fontRef>
        </p:style>
      </p:cxnSp>
      <p:sp>
        <p:nvSpPr>
          <p:cNvPr id="21" name="TextBox 20">
            <a:extLst>
              <a:ext uri="{FF2B5EF4-FFF2-40B4-BE49-F238E27FC236}">
                <a16:creationId xmlns:a16="http://schemas.microsoft.com/office/drawing/2014/main" id="{117FA152-9C9F-EB99-92D0-3312A440DBB3}"/>
              </a:ext>
            </a:extLst>
          </p:cNvPr>
          <p:cNvSpPr txBox="1"/>
          <p:nvPr/>
        </p:nvSpPr>
        <p:spPr>
          <a:xfrm>
            <a:off x="6528830" y="5240853"/>
            <a:ext cx="1463769" cy="400110"/>
          </a:xfrm>
          <a:prstGeom prst="rect">
            <a:avLst/>
          </a:prstGeom>
          <a:noFill/>
        </p:spPr>
        <p:txBody>
          <a:bodyPr wrap="square">
            <a:spAutoFit/>
          </a:bodyPr>
          <a:lstStyle/>
          <a:p>
            <a:r>
              <a:rPr lang="en-GB" sz="2000" b="1" dirty="0">
                <a:solidFill>
                  <a:srgbClr val="309070"/>
                </a:solidFill>
              </a:rPr>
              <a:t>Database</a:t>
            </a:r>
          </a:p>
        </p:txBody>
      </p:sp>
      <p:cxnSp>
        <p:nvCxnSpPr>
          <p:cNvPr id="6" name="Straight Arrow Connector 5">
            <a:extLst>
              <a:ext uri="{FF2B5EF4-FFF2-40B4-BE49-F238E27FC236}">
                <a16:creationId xmlns:a16="http://schemas.microsoft.com/office/drawing/2014/main" id="{13A2D8CE-C85A-D3EC-9FC3-33F17F3EC3DB}"/>
              </a:ext>
            </a:extLst>
          </p:cNvPr>
          <p:cNvCxnSpPr>
            <a:cxnSpLocks/>
          </p:cNvCxnSpPr>
          <p:nvPr/>
        </p:nvCxnSpPr>
        <p:spPr>
          <a:xfrm>
            <a:off x="7550182" y="2850541"/>
            <a:ext cx="631649" cy="310735"/>
          </a:xfrm>
          <a:prstGeom prst="straightConnector1">
            <a:avLst/>
          </a:prstGeom>
          <a:ln w="38100">
            <a:solidFill>
              <a:srgbClr val="6699FF"/>
            </a:solidFill>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7253665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D001-AF8B-1CBD-9729-C72C186BF221}"/>
              </a:ext>
            </a:extLst>
          </p:cNvPr>
          <p:cNvSpPr>
            <a:spLocks noGrp="1"/>
          </p:cNvSpPr>
          <p:nvPr>
            <p:ph type="title"/>
          </p:nvPr>
        </p:nvSpPr>
        <p:spPr/>
        <p:txBody>
          <a:bodyPr/>
          <a:lstStyle/>
          <a:p>
            <a:r>
              <a:rPr lang="en-US" b="1" dirty="0"/>
              <a:t>SQL and Its Syntax</a:t>
            </a:r>
            <a:endParaRPr lang="en-GB" b="1" dirty="0"/>
          </a:p>
        </p:txBody>
      </p:sp>
      <p:sp>
        <p:nvSpPr>
          <p:cNvPr id="3" name="Content Placeholder 2">
            <a:extLst>
              <a:ext uri="{FF2B5EF4-FFF2-40B4-BE49-F238E27FC236}">
                <a16:creationId xmlns:a16="http://schemas.microsoft.com/office/drawing/2014/main" id="{B5ABC1A0-8A54-EBB3-22CA-AF4DB0AADCAC}"/>
              </a:ext>
            </a:extLst>
          </p:cNvPr>
          <p:cNvSpPr>
            <a:spLocks noGrp="1"/>
          </p:cNvSpPr>
          <p:nvPr>
            <p:ph idx="1"/>
          </p:nvPr>
        </p:nvSpPr>
        <p:spPr>
          <a:xfrm>
            <a:off x="929185" y="2225960"/>
            <a:ext cx="10417404" cy="4351338"/>
          </a:xfrm>
        </p:spPr>
        <p:txBody>
          <a:bodyPr>
            <a:normAutofit/>
          </a:bodyPr>
          <a:lstStyle/>
          <a:p>
            <a:r>
              <a:rPr lang="pl-PL" sz="2000" b="1" dirty="0"/>
              <a:t>SQL</a:t>
            </a:r>
            <a:r>
              <a:rPr lang="pl-PL" sz="2000" dirty="0"/>
              <a:t> – </a:t>
            </a:r>
            <a:r>
              <a:rPr lang="en-US" sz="2000" dirty="0"/>
              <a:t>Structured Query Language) is a special language used for creating, editing, and retrieving data from databases.</a:t>
            </a:r>
            <a:endParaRPr lang="en-GB" sz="2000" dirty="0"/>
          </a:p>
        </p:txBody>
      </p:sp>
      <p:pic>
        <p:nvPicPr>
          <p:cNvPr id="5" name="Picture 4">
            <a:extLst>
              <a:ext uri="{FF2B5EF4-FFF2-40B4-BE49-F238E27FC236}">
                <a16:creationId xmlns:a16="http://schemas.microsoft.com/office/drawing/2014/main" id="{112E4D30-AA34-A0A7-5324-FE605BEE187A}"/>
              </a:ext>
            </a:extLst>
          </p:cNvPr>
          <p:cNvPicPr>
            <a:picLocks noChangeAspect="1"/>
          </p:cNvPicPr>
          <p:nvPr/>
        </p:nvPicPr>
        <p:blipFill>
          <a:blip r:embed="rId2"/>
          <a:srcRect b="45263"/>
          <a:stretch>
            <a:fillRect/>
          </a:stretch>
        </p:blipFill>
        <p:spPr>
          <a:xfrm>
            <a:off x="1175182" y="3502812"/>
            <a:ext cx="9743440" cy="2486487"/>
          </a:xfrm>
          <a:prstGeom prst="rect">
            <a:avLst/>
          </a:prstGeom>
        </p:spPr>
      </p:pic>
    </p:spTree>
    <p:extLst>
      <p:ext uri="{BB962C8B-B14F-4D97-AF65-F5344CB8AC3E}">
        <p14:creationId xmlns:p14="http://schemas.microsoft.com/office/powerpoint/2010/main" val="4677253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5823F-B9D3-58B0-3092-23D1E80AAB70}"/>
              </a:ext>
            </a:extLst>
          </p:cNvPr>
          <p:cNvSpPr>
            <a:spLocks noGrp="1"/>
          </p:cNvSpPr>
          <p:nvPr>
            <p:ph type="title"/>
          </p:nvPr>
        </p:nvSpPr>
        <p:spPr/>
        <p:txBody>
          <a:bodyPr/>
          <a:lstStyle/>
          <a:p>
            <a:r>
              <a:rPr lang="en-US" b="1" dirty="0"/>
              <a:t>INSERT INTO</a:t>
            </a:r>
          </a:p>
        </p:txBody>
      </p:sp>
      <p:sp>
        <p:nvSpPr>
          <p:cNvPr id="3" name="Content Placeholder 2">
            <a:extLst>
              <a:ext uri="{FF2B5EF4-FFF2-40B4-BE49-F238E27FC236}">
                <a16:creationId xmlns:a16="http://schemas.microsoft.com/office/drawing/2014/main" id="{607859CA-5741-E4F7-E341-13BDC6BEEFA4}"/>
              </a:ext>
            </a:extLst>
          </p:cNvPr>
          <p:cNvSpPr>
            <a:spLocks noGrp="1"/>
          </p:cNvSpPr>
          <p:nvPr>
            <p:ph idx="1"/>
          </p:nvPr>
        </p:nvSpPr>
        <p:spPr/>
        <p:txBody>
          <a:bodyPr>
            <a:normAutofit/>
          </a:bodyPr>
          <a:lstStyle/>
          <a:p>
            <a:pPr marL="0" indent="0">
              <a:buNone/>
            </a:pPr>
            <a:r>
              <a:rPr lang="en-US" sz="2000" dirty="0"/>
              <a:t>Populates an existing table with data (seed table)</a:t>
            </a:r>
          </a:p>
        </p:txBody>
      </p:sp>
      <p:pic>
        <p:nvPicPr>
          <p:cNvPr id="7" name="Picture 6">
            <a:extLst>
              <a:ext uri="{FF2B5EF4-FFF2-40B4-BE49-F238E27FC236}">
                <a16:creationId xmlns:a16="http://schemas.microsoft.com/office/drawing/2014/main" id="{9EFFDDCA-A209-4358-F202-E0C38F3214F4}"/>
              </a:ext>
            </a:extLst>
          </p:cNvPr>
          <p:cNvPicPr>
            <a:picLocks noChangeAspect="1"/>
          </p:cNvPicPr>
          <p:nvPr/>
        </p:nvPicPr>
        <p:blipFill>
          <a:blip r:embed="rId2"/>
          <a:stretch>
            <a:fillRect/>
          </a:stretch>
        </p:blipFill>
        <p:spPr>
          <a:xfrm>
            <a:off x="6684210" y="2536314"/>
            <a:ext cx="5292618" cy="1715677"/>
          </a:xfrm>
          <a:prstGeom prst="rect">
            <a:avLst/>
          </a:prstGeom>
        </p:spPr>
      </p:pic>
      <p:sp>
        <p:nvSpPr>
          <p:cNvPr id="8" name="Content Placeholder 2">
            <a:extLst>
              <a:ext uri="{FF2B5EF4-FFF2-40B4-BE49-F238E27FC236}">
                <a16:creationId xmlns:a16="http://schemas.microsoft.com/office/drawing/2014/main" id="{B0EF0BD7-D564-362F-432B-4EA9B51471FB}"/>
              </a:ext>
            </a:extLst>
          </p:cNvPr>
          <p:cNvSpPr txBox="1">
            <a:spLocks/>
          </p:cNvSpPr>
          <p:nvPr/>
        </p:nvSpPr>
        <p:spPr>
          <a:xfrm>
            <a:off x="779059" y="3898307"/>
            <a:ext cx="8833513" cy="25405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sz="2000" dirty="0"/>
              <a:t>SQL query template:</a:t>
            </a:r>
            <a:endParaRPr lang="pl-PL" sz="2000" dirty="0"/>
          </a:p>
          <a:p>
            <a:pPr marL="0" indent="0">
              <a:buNone/>
            </a:pPr>
            <a:endParaRPr lang="uk-UA" b="1" dirty="0"/>
          </a:p>
          <a:p>
            <a:pPr marL="0" indent="0">
              <a:buNone/>
            </a:pPr>
            <a:r>
              <a:rPr lang="en-GB" b="1" dirty="0">
                <a:solidFill>
                  <a:srgbClr val="309070"/>
                </a:solidFill>
                <a:highlight>
                  <a:srgbClr val="FFCC66"/>
                </a:highlight>
              </a:rPr>
              <a:t>INSERT INTO “</a:t>
            </a:r>
            <a:r>
              <a:rPr lang="en-GB" b="1" dirty="0" err="1">
                <a:solidFill>
                  <a:srgbClr val="309070"/>
                </a:solidFill>
                <a:highlight>
                  <a:srgbClr val="FFCC66"/>
                </a:highlight>
              </a:rPr>
              <a:t>Table_name</a:t>
            </a:r>
            <a:r>
              <a:rPr lang="en-GB" b="1" dirty="0">
                <a:solidFill>
                  <a:srgbClr val="309070"/>
                </a:solidFill>
                <a:highlight>
                  <a:srgbClr val="FFCC66"/>
                </a:highlight>
              </a:rPr>
              <a:t>”(“Field_1”, “Field_2”) VALUES </a:t>
            </a:r>
          </a:p>
          <a:p>
            <a:pPr marL="0" indent="0">
              <a:buFont typeface="Arial" panose="020B0604020202020204" pitchFamily="34" charset="0"/>
              <a:buNone/>
            </a:pPr>
            <a:r>
              <a:rPr lang="en-GB" b="1" dirty="0">
                <a:solidFill>
                  <a:srgbClr val="309070"/>
                </a:solidFill>
                <a:highlight>
                  <a:srgbClr val="FFCC66"/>
                </a:highlight>
              </a:rPr>
              <a:t>(“ABC”, 123),</a:t>
            </a:r>
          </a:p>
          <a:p>
            <a:pPr marL="0" indent="0">
              <a:buFont typeface="Arial" panose="020B0604020202020204" pitchFamily="34" charset="0"/>
              <a:buNone/>
            </a:pPr>
            <a:r>
              <a:rPr lang="en-GB" b="1" dirty="0">
                <a:solidFill>
                  <a:srgbClr val="309070"/>
                </a:solidFill>
                <a:highlight>
                  <a:srgbClr val="FFCC66"/>
                </a:highlight>
              </a:rPr>
              <a:t>(“</a:t>
            </a:r>
            <a:r>
              <a:rPr lang="en-GB" b="1" dirty="0" err="1">
                <a:solidFill>
                  <a:srgbClr val="309070"/>
                </a:solidFill>
                <a:highlight>
                  <a:srgbClr val="FFCC66"/>
                </a:highlight>
              </a:rPr>
              <a:t>xyz</a:t>
            </a:r>
            <a:r>
              <a:rPr lang="en-GB" b="1" dirty="0">
                <a:solidFill>
                  <a:srgbClr val="309070"/>
                </a:solidFill>
                <a:highlight>
                  <a:srgbClr val="FFCC66"/>
                </a:highlight>
              </a:rPr>
              <a:t>”, 098);</a:t>
            </a:r>
          </a:p>
        </p:txBody>
      </p:sp>
      <p:cxnSp>
        <p:nvCxnSpPr>
          <p:cNvPr id="9" name="Straight Arrow Connector 8">
            <a:extLst>
              <a:ext uri="{FF2B5EF4-FFF2-40B4-BE49-F238E27FC236}">
                <a16:creationId xmlns:a16="http://schemas.microsoft.com/office/drawing/2014/main" id="{ED564BB9-32C3-E4B1-A442-F93A984D421C}"/>
              </a:ext>
            </a:extLst>
          </p:cNvPr>
          <p:cNvCxnSpPr>
            <a:cxnSpLocks/>
          </p:cNvCxnSpPr>
          <p:nvPr/>
        </p:nvCxnSpPr>
        <p:spPr>
          <a:xfrm flipV="1">
            <a:off x="3703093" y="2961140"/>
            <a:ext cx="2920620" cy="1665451"/>
          </a:xfrm>
          <a:prstGeom prst="straightConnector1">
            <a:avLst/>
          </a:prstGeom>
          <a:ln w="38100">
            <a:solidFill>
              <a:srgbClr val="309070"/>
            </a:solidFill>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78405694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6A7B4-8FE5-8683-51A9-DDC9AC030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3CBEF6-57CB-402D-B514-EE3A96EA2413}"/>
              </a:ext>
            </a:extLst>
          </p:cNvPr>
          <p:cNvSpPr>
            <a:spLocks noGrp="1"/>
          </p:cNvSpPr>
          <p:nvPr>
            <p:ph type="title"/>
          </p:nvPr>
        </p:nvSpPr>
        <p:spPr/>
        <p:txBody>
          <a:bodyPr/>
          <a:lstStyle/>
          <a:p>
            <a:r>
              <a:rPr lang="en-US" b="1" dirty="0"/>
              <a:t>Contents</a:t>
            </a:r>
            <a:endParaRPr lang="en-US" dirty="0"/>
          </a:p>
        </p:txBody>
      </p:sp>
      <p:sp>
        <p:nvSpPr>
          <p:cNvPr id="3" name="Content Placeholder 2">
            <a:extLst>
              <a:ext uri="{FF2B5EF4-FFF2-40B4-BE49-F238E27FC236}">
                <a16:creationId xmlns:a16="http://schemas.microsoft.com/office/drawing/2014/main" id="{D5EFBB09-C258-AADE-CC6E-4173AA64923B}"/>
              </a:ext>
            </a:extLst>
          </p:cNvPr>
          <p:cNvSpPr>
            <a:spLocks noGrp="1"/>
          </p:cNvSpPr>
          <p:nvPr>
            <p:ph idx="1"/>
          </p:nvPr>
        </p:nvSpPr>
        <p:spPr>
          <a:xfrm>
            <a:off x="680321" y="2336873"/>
            <a:ext cx="10542688" cy="4218602"/>
          </a:xfrm>
        </p:spPr>
        <p:txBody>
          <a:bodyPr>
            <a:normAutofit/>
          </a:bodyPr>
          <a:lstStyle/>
          <a:p>
            <a:r>
              <a:rPr lang="en-US" b="1" dirty="0"/>
              <a:t>Database</a:t>
            </a:r>
          </a:p>
          <a:p>
            <a:pPr lvl="1">
              <a:lnSpc>
                <a:spcPct val="110000"/>
              </a:lnSpc>
            </a:pPr>
            <a:r>
              <a:rPr lang="en-GB" dirty="0"/>
              <a:t>SELECT</a:t>
            </a:r>
          </a:p>
          <a:p>
            <a:pPr lvl="1">
              <a:lnSpc>
                <a:spcPct val="110000"/>
              </a:lnSpc>
            </a:pPr>
            <a:r>
              <a:rPr lang="en-GB" dirty="0"/>
              <a:t>WHERE</a:t>
            </a:r>
            <a:endParaRPr lang="en-US" b="1" dirty="0"/>
          </a:p>
          <a:p>
            <a:pPr lvl="1">
              <a:lnSpc>
                <a:spcPct val="110000"/>
              </a:lnSpc>
            </a:pPr>
            <a:r>
              <a:rPr lang="en-GB" dirty="0"/>
              <a:t>ORDER BY</a:t>
            </a:r>
          </a:p>
          <a:p>
            <a:pPr lvl="1">
              <a:lnSpc>
                <a:spcPct val="110000"/>
              </a:lnSpc>
            </a:pPr>
            <a:r>
              <a:rPr lang="en-GB" dirty="0"/>
              <a:t>GROUP BY</a:t>
            </a:r>
          </a:p>
          <a:p>
            <a:pPr lvl="1">
              <a:lnSpc>
                <a:spcPct val="110000"/>
              </a:lnSpc>
            </a:pPr>
            <a:r>
              <a:rPr lang="en-GB" dirty="0"/>
              <a:t>JOINs</a:t>
            </a:r>
          </a:p>
          <a:p>
            <a:pPr lvl="1">
              <a:lnSpc>
                <a:spcPct val="110000"/>
              </a:lnSpc>
            </a:pPr>
            <a:r>
              <a:rPr lang="en-GB" dirty="0"/>
              <a:t>PROCEURE</a:t>
            </a:r>
          </a:p>
          <a:p>
            <a:pPr lvl="1">
              <a:lnSpc>
                <a:spcPct val="110000"/>
              </a:lnSpc>
            </a:pPr>
            <a:r>
              <a:rPr lang="en-GB" dirty="0"/>
              <a:t>CTE</a:t>
            </a:r>
          </a:p>
          <a:p>
            <a:pPr lvl="1">
              <a:lnSpc>
                <a:spcPct val="110000"/>
              </a:lnSpc>
            </a:pPr>
            <a:r>
              <a:rPr lang="en-US" dirty="0"/>
              <a:t>Normalization(NF1-3)/Denormalization</a:t>
            </a:r>
            <a:endParaRPr lang="en-GB" b="1" dirty="0"/>
          </a:p>
          <a:p>
            <a:pPr lvl="1"/>
            <a:endParaRPr lang="en-GB" b="1" dirty="0"/>
          </a:p>
          <a:p>
            <a:pPr lvl="1"/>
            <a:endParaRPr lang="en-GB" b="1" dirty="0"/>
          </a:p>
          <a:p>
            <a:pPr lvl="1"/>
            <a:endParaRPr lang="uk-UA" dirty="0"/>
          </a:p>
          <a:p>
            <a:pPr lvl="1"/>
            <a:endParaRPr lang="uk-UA" dirty="0"/>
          </a:p>
          <a:p>
            <a:pPr lvl="1"/>
            <a:endParaRPr lang="uk-UA" dirty="0"/>
          </a:p>
          <a:p>
            <a:pPr lvl="1"/>
            <a:endParaRPr lang="en-US" b="1" dirty="0"/>
          </a:p>
          <a:p>
            <a:pPr lvl="1"/>
            <a:endParaRPr lang="en-US" b="1"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10622223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F257A-E694-FC61-86DD-67345FDF71FA}"/>
              </a:ext>
            </a:extLst>
          </p:cNvPr>
          <p:cNvSpPr>
            <a:spLocks noGrp="1"/>
          </p:cNvSpPr>
          <p:nvPr>
            <p:ph type="title"/>
          </p:nvPr>
        </p:nvSpPr>
        <p:spPr>
          <a:xfrm>
            <a:off x="142439" y="726334"/>
            <a:ext cx="10462808" cy="1080938"/>
          </a:xfrm>
        </p:spPr>
        <p:txBody>
          <a:bodyPr/>
          <a:lstStyle/>
          <a:p>
            <a:r>
              <a:rPr lang="en-US" b="1" dirty="0"/>
              <a:t>Logical and Physical Execution of SQL Statements</a:t>
            </a:r>
            <a:endParaRPr lang="en-GB" b="1" dirty="0"/>
          </a:p>
        </p:txBody>
      </p:sp>
      <p:sp>
        <p:nvSpPr>
          <p:cNvPr id="3" name="Content Placeholder 2">
            <a:extLst>
              <a:ext uri="{FF2B5EF4-FFF2-40B4-BE49-F238E27FC236}">
                <a16:creationId xmlns:a16="http://schemas.microsoft.com/office/drawing/2014/main" id="{56DFE9FB-829B-B83F-B027-BCD7ED5719F3}"/>
              </a:ext>
            </a:extLst>
          </p:cNvPr>
          <p:cNvSpPr>
            <a:spLocks noGrp="1"/>
          </p:cNvSpPr>
          <p:nvPr>
            <p:ph idx="1"/>
          </p:nvPr>
        </p:nvSpPr>
        <p:spPr>
          <a:xfrm>
            <a:off x="2033992" y="3429000"/>
            <a:ext cx="2170455" cy="3599316"/>
          </a:xfrm>
        </p:spPr>
        <p:txBody>
          <a:bodyPr>
            <a:normAutofit/>
          </a:bodyPr>
          <a:lstStyle/>
          <a:p>
            <a:pPr marL="0" indent="0">
              <a:buNone/>
            </a:pPr>
            <a:r>
              <a:rPr lang="en-GB" b="1" u="sng" dirty="0">
                <a:solidFill>
                  <a:schemeClr val="bg1"/>
                </a:solidFill>
              </a:rPr>
              <a:t>SELECT</a:t>
            </a:r>
          </a:p>
          <a:p>
            <a:pPr marL="0" indent="0">
              <a:buNone/>
            </a:pPr>
            <a:r>
              <a:rPr lang="en-GB" b="1" dirty="0">
                <a:solidFill>
                  <a:schemeClr val="bg1"/>
                </a:solidFill>
              </a:rPr>
              <a:t>FROM / JOIN</a:t>
            </a:r>
          </a:p>
          <a:p>
            <a:pPr marL="0" indent="0">
              <a:buNone/>
            </a:pPr>
            <a:r>
              <a:rPr lang="en-GB" b="1" dirty="0">
                <a:solidFill>
                  <a:schemeClr val="bg1"/>
                </a:solidFill>
              </a:rPr>
              <a:t>WHERE</a:t>
            </a:r>
          </a:p>
          <a:p>
            <a:pPr marL="0" indent="0">
              <a:buNone/>
            </a:pPr>
            <a:r>
              <a:rPr lang="en-GB" b="1" dirty="0">
                <a:solidFill>
                  <a:schemeClr val="bg1"/>
                </a:solidFill>
              </a:rPr>
              <a:t>GROUP BY</a:t>
            </a:r>
          </a:p>
          <a:p>
            <a:pPr marL="0" indent="0">
              <a:buNone/>
            </a:pPr>
            <a:r>
              <a:rPr lang="en-GB" b="1" dirty="0">
                <a:solidFill>
                  <a:schemeClr val="bg1"/>
                </a:solidFill>
              </a:rPr>
              <a:t>HAVING</a:t>
            </a:r>
          </a:p>
          <a:p>
            <a:pPr marL="0" indent="0">
              <a:buNone/>
            </a:pPr>
            <a:r>
              <a:rPr lang="en-GB" b="1" dirty="0">
                <a:solidFill>
                  <a:schemeClr val="bg1"/>
                </a:solidFill>
              </a:rPr>
              <a:t>ORDER BY</a:t>
            </a:r>
          </a:p>
          <a:p>
            <a:pPr marL="0" indent="0">
              <a:buNone/>
            </a:pPr>
            <a:r>
              <a:rPr lang="en-GB" b="1" dirty="0">
                <a:solidFill>
                  <a:schemeClr val="bg1"/>
                </a:solidFill>
              </a:rPr>
              <a:t>LIMIT</a:t>
            </a:r>
          </a:p>
        </p:txBody>
      </p:sp>
      <p:sp>
        <p:nvSpPr>
          <p:cNvPr id="4" name="Content Placeholder 2">
            <a:extLst>
              <a:ext uri="{FF2B5EF4-FFF2-40B4-BE49-F238E27FC236}">
                <a16:creationId xmlns:a16="http://schemas.microsoft.com/office/drawing/2014/main" id="{65829849-B129-9340-9A53-C5C13BFA7FD8}"/>
              </a:ext>
            </a:extLst>
          </p:cNvPr>
          <p:cNvSpPr txBox="1">
            <a:spLocks/>
          </p:cNvSpPr>
          <p:nvPr/>
        </p:nvSpPr>
        <p:spPr>
          <a:xfrm>
            <a:off x="411381" y="2181556"/>
            <a:ext cx="5415679" cy="12474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a:lnSpc>
                <a:spcPct val="110000"/>
              </a:lnSpc>
            </a:pPr>
            <a:r>
              <a:rPr lang="en-US" dirty="0"/>
              <a:t>The user writes a query according to the syntax in this order (logical):</a:t>
            </a:r>
            <a:endParaRPr lang="en-GB" dirty="0"/>
          </a:p>
        </p:txBody>
      </p:sp>
      <p:sp>
        <p:nvSpPr>
          <p:cNvPr id="5" name="Content Placeholder 2">
            <a:extLst>
              <a:ext uri="{FF2B5EF4-FFF2-40B4-BE49-F238E27FC236}">
                <a16:creationId xmlns:a16="http://schemas.microsoft.com/office/drawing/2014/main" id="{4AAD2A68-8B4E-114A-FA63-0201FF460D9A}"/>
              </a:ext>
            </a:extLst>
          </p:cNvPr>
          <p:cNvSpPr txBox="1">
            <a:spLocks/>
          </p:cNvSpPr>
          <p:nvPr/>
        </p:nvSpPr>
        <p:spPr>
          <a:xfrm>
            <a:off x="6096000" y="2181555"/>
            <a:ext cx="5415679" cy="9262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a:lnSpc>
                <a:spcPct val="110000"/>
              </a:lnSpc>
            </a:pPr>
            <a:r>
              <a:rPr lang="en-US" dirty="0"/>
              <a:t>However, SQL interprets it in a different order (physical):</a:t>
            </a:r>
            <a:endParaRPr lang="en-GB" dirty="0"/>
          </a:p>
        </p:txBody>
      </p:sp>
      <p:sp>
        <p:nvSpPr>
          <p:cNvPr id="6" name="Content Placeholder 2">
            <a:extLst>
              <a:ext uri="{FF2B5EF4-FFF2-40B4-BE49-F238E27FC236}">
                <a16:creationId xmlns:a16="http://schemas.microsoft.com/office/drawing/2014/main" id="{545C2D37-78E8-DF10-6170-C6FDB279079C}"/>
              </a:ext>
            </a:extLst>
          </p:cNvPr>
          <p:cNvSpPr txBox="1">
            <a:spLocks/>
          </p:cNvSpPr>
          <p:nvPr/>
        </p:nvSpPr>
        <p:spPr>
          <a:xfrm>
            <a:off x="7449671" y="3348318"/>
            <a:ext cx="2170455" cy="35993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GB" b="1" dirty="0">
                <a:solidFill>
                  <a:schemeClr val="bg1"/>
                </a:solidFill>
              </a:rPr>
              <a:t>FROM / JOIN</a:t>
            </a:r>
          </a:p>
          <a:p>
            <a:pPr marL="0" indent="0">
              <a:buFont typeface="Arial" panose="020B0604020202020204" pitchFamily="34" charset="0"/>
              <a:buNone/>
            </a:pPr>
            <a:r>
              <a:rPr lang="en-GB" b="1" dirty="0">
                <a:solidFill>
                  <a:schemeClr val="bg1"/>
                </a:solidFill>
              </a:rPr>
              <a:t>WHERE</a:t>
            </a:r>
          </a:p>
          <a:p>
            <a:pPr marL="0" indent="0">
              <a:buFont typeface="Arial" panose="020B0604020202020204" pitchFamily="34" charset="0"/>
              <a:buNone/>
            </a:pPr>
            <a:r>
              <a:rPr lang="en-GB" b="1" dirty="0">
                <a:solidFill>
                  <a:schemeClr val="bg1"/>
                </a:solidFill>
              </a:rPr>
              <a:t>GROUP BY</a:t>
            </a:r>
          </a:p>
          <a:p>
            <a:pPr marL="0" indent="0">
              <a:buFont typeface="Arial" panose="020B0604020202020204" pitchFamily="34" charset="0"/>
              <a:buNone/>
            </a:pPr>
            <a:r>
              <a:rPr lang="en-GB" b="1" dirty="0">
                <a:solidFill>
                  <a:schemeClr val="bg1"/>
                </a:solidFill>
              </a:rPr>
              <a:t>HAVING</a:t>
            </a:r>
          </a:p>
          <a:p>
            <a:pPr marL="0" indent="0">
              <a:buNone/>
            </a:pPr>
            <a:r>
              <a:rPr lang="en-GB" b="1" u="sng" dirty="0">
                <a:solidFill>
                  <a:schemeClr val="bg1"/>
                </a:solidFill>
              </a:rPr>
              <a:t>SELECT</a:t>
            </a:r>
          </a:p>
          <a:p>
            <a:pPr marL="0" indent="0">
              <a:buFont typeface="Arial" panose="020B0604020202020204" pitchFamily="34" charset="0"/>
              <a:buNone/>
            </a:pPr>
            <a:r>
              <a:rPr lang="en-GB" b="1" dirty="0">
                <a:solidFill>
                  <a:schemeClr val="bg1"/>
                </a:solidFill>
              </a:rPr>
              <a:t>ORDER BY</a:t>
            </a:r>
          </a:p>
          <a:p>
            <a:pPr marL="0" indent="0">
              <a:buFont typeface="Arial" panose="020B0604020202020204" pitchFamily="34" charset="0"/>
              <a:buNone/>
            </a:pPr>
            <a:r>
              <a:rPr lang="en-GB" b="1" dirty="0">
                <a:solidFill>
                  <a:schemeClr val="bg1"/>
                </a:solidFill>
              </a:rPr>
              <a:t>LIMIT</a:t>
            </a:r>
          </a:p>
        </p:txBody>
      </p:sp>
    </p:spTree>
    <p:extLst>
      <p:ext uri="{BB962C8B-B14F-4D97-AF65-F5344CB8AC3E}">
        <p14:creationId xmlns:p14="http://schemas.microsoft.com/office/powerpoint/2010/main" val="32891754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6DE72-41F3-85D5-CD22-01BEFBC672E7}"/>
              </a:ext>
            </a:extLst>
          </p:cNvPr>
          <p:cNvSpPr>
            <a:spLocks noGrp="1"/>
          </p:cNvSpPr>
          <p:nvPr>
            <p:ph type="title"/>
          </p:nvPr>
        </p:nvSpPr>
        <p:spPr/>
        <p:txBody>
          <a:bodyPr/>
          <a:lstStyle/>
          <a:p>
            <a:r>
              <a:rPr lang="uk-UA" b="1" dirty="0"/>
              <a:t>1. </a:t>
            </a:r>
            <a:r>
              <a:rPr lang="en-GB" b="1" dirty="0"/>
              <a:t>SELECT </a:t>
            </a:r>
            <a:r>
              <a:rPr lang="uk-UA" b="1" dirty="0"/>
              <a:t> </a:t>
            </a:r>
            <a:endParaRPr lang="en-GB" b="1" dirty="0"/>
          </a:p>
        </p:txBody>
      </p:sp>
      <p:sp>
        <p:nvSpPr>
          <p:cNvPr id="3" name="Content Placeholder 2">
            <a:extLst>
              <a:ext uri="{FF2B5EF4-FFF2-40B4-BE49-F238E27FC236}">
                <a16:creationId xmlns:a16="http://schemas.microsoft.com/office/drawing/2014/main" id="{4B71C96B-66ED-657D-70DC-2F565B45E43C}"/>
              </a:ext>
            </a:extLst>
          </p:cNvPr>
          <p:cNvSpPr>
            <a:spLocks noGrp="1"/>
          </p:cNvSpPr>
          <p:nvPr>
            <p:ph idx="1"/>
          </p:nvPr>
        </p:nvSpPr>
        <p:spPr>
          <a:xfrm>
            <a:off x="497006" y="3896860"/>
            <a:ext cx="4308835" cy="2540589"/>
          </a:xfrm>
        </p:spPr>
        <p:txBody>
          <a:bodyPr>
            <a:normAutofit/>
          </a:bodyPr>
          <a:lstStyle/>
          <a:p>
            <a:pPr marL="0" indent="0">
              <a:buNone/>
            </a:pPr>
            <a:r>
              <a:rPr lang="en-US" sz="2000" dirty="0"/>
              <a:t>SQL query template</a:t>
            </a:r>
            <a:r>
              <a:rPr lang="pl-PL" sz="2000" dirty="0"/>
              <a:t>:</a:t>
            </a:r>
          </a:p>
          <a:p>
            <a:pPr marL="0" indent="0">
              <a:buNone/>
            </a:pPr>
            <a:endParaRPr lang="uk-UA" sz="2400" b="1" dirty="0"/>
          </a:p>
          <a:p>
            <a:pPr marL="0" indent="0">
              <a:buNone/>
            </a:pPr>
            <a:r>
              <a:rPr lang="en-GB" b="1" dirty="0">
                <a:solidFill>
                  <a:srgbClr val="309070"/>
                </a:solidFill>
                <a:highlight>
                  <a:srgbClr val="FFCC66"/>
                </a:highlight>
              </a:rPr>
              <a:t>SELECT * </a:t>
            </a:r>
          </a:p>
          <a:p>
            <a:pPr marL="0" indent="0">
              <a:buNone/>
            </a:pPr>
            <a:r>
              <a:rPr lang="en-GB" b="1" dirty="0">
                <a:solidFill>
                  <a:srgbClr val="309070"/>
                </a:solidFill>
                <a:highlight>
                  <a:srgbClr val="FFCC66"/>
                </a:highlight>
              </a:rPr>
              <a:t>FROM “</a:t>
            </a:r>
            <a:r>
              <a:rPr lang="en-GB" b="1" dirty="0" err="1">
                <a:solidFill>
                  <a:srgbClr val="309070"/>
                </a:solidFill>
                <a:highlight>
                  <a:srgbClr val="FFCC66"/>
                </a:highlight>
              </a:rPr>
              <a:t>Table_name</a:t>
            </a:r>
            <a:r>
              <a:rPr lang="en-GB" b="1" dirty="0">
                <a:solidFill>
                  <a:srgbClr val="309070"/>
                </a:solidFill>
                <a:highlight>
                  <a:srgbClr val="FFCC66"/>
                </a:highlight>
              </a:rPr>
              <a:t>”</a:t>
            </a:r>
          </a:p>
        </p:txBody>
      </p:sp>
      <p:pic>
        <p:nvPicPr>
          <p:cNvPr id="7" name="Picture 6">
            <a:extLst>
              <a:ext uri="{FF2B5EF4-FFF2-40B4-BE49-F238E27FC236}">
                <a16:creationId xmlns:a16="http://schemas.microsoft.com/office/drawing/2014/main" id="{5AEAF962-E5B7-CA04-5154-870160A2E6E9}"/>
              </a:ext>
            </a:extLst>
          </p:cNvPr>
          <p:cNvPicPr>
            <a:picLocks noChangeAspect="1"/>
          </p:cNvPicPr>
          <p:nvPr/>
        </p:nvPicPr>
        <p:blipFill>
          <a:blip r:embed="rId2"/>
          <a:stretch>
            <a:fillRect/>
          </a:stretch>
        </p:blipFill>
        <p:spPr>
          <a:xfrm>
            <a:off x="7909089" y="2437351"/>
            <a:ext cx="3658111" cy="2819794"/>
          </a:xfrm>
          <a:prstGeom prst="rect">
            <a:avLst/>
          </a:prstGeom>
        </p:spPr>
      </p:pic>
      <p:cxnSp>
        <p:nvCxnSpPr>
          <p:cNvPr id="10" name="Straight Arrow Connector 9">
            <a:extLst>
              <a:ext uri="{FF2B5EF4-FFF2-40B4-BE49-F238E27FC236}">
                <a16:creationId xmlns:a16="http://schemas.microsoft.com/office/drawing/2014/main" id="{46FC692F-85DE-6201-5602-0C8A76831646}"/>
              </a:ext>
            </a:extLst>
          </p:cNvPr>
          <p:cNvCxnSpPr>
            <a:cxnSpLocks/>
          </p:cNvCxnSpPr>
          <p:nvPr/>
        </p:nvCxnSpPr>
        <p:spPr>
          <a:xfrm flipV="1">
            <a:off x="3280012" y="2714920"/>
            <a:ext cx="4855320" cy="2161880"/>
          </a:xfrm>
          <a:prstGeom prst="straightConnector1">
            <a:avLst/>
          </a:prstGeom>
          <a:ln w="38100">
            <a:solidFill>
              <a:srgbClr val="309070"/>
            </a:solidFill>
            <a:tailEnd type="triangle"/>
          </a:ln>
        </p:spPr>
        <p:style>
          <a:lnRef idx="3">
            <a:schemeClr val="accent6"/>
          </a:lnRef>
          <a:fillRef idx="0">
            <a:schemeClr val="accent6"/>
          </a:fillRef>
          <a:effectRef idx="2">
            <a:schemeClr val="accent6"/>
          </a:effectRef>
          <a:fontRef idx="minor">
            <a:schemeClr val="tx1"/>
          </a:fontRef>
        </p:style>
      </p:cxnSp>
      <p:sp>
        <p:nvSpPr>
          <p:cNvPr id="12" name="TextBox 11">
            <a:extLst>
              <a:ext uri="{FF2B5EF4-FFF2-40B4-BE49-F238E27FC236}">
                <a16:creationId xmlns:a16="http://schemas.microsoft.com/office/drawing/2014/main" id="{2D6CD0B5-EB8A-3A06-11A5-316C806D3658}"/>
              </a:ext>
            </a:extLst>
          </p:cNvPr>
          <p:cNvSpPr txBox="1"/>
          <p:nvPr/>
        </p:nvSpPr>
        <p:spPr>
          <a:xfrm>
            <a:off x="415725" y="2761085"/>
            <a:ext cx="7054755" cy="400110"/>
          </a:xfrm>
          <a:prstGeom prst="rect">
            <a:avLst/>
          </a:prstGeom>
          <a:noFill/>
        </p:spPr>
        <p:txBody>
          <a:bodyPr wrap="square">
            <a:spAutoFit/>
          </a:bodyPr>
          <a:lstStyle/>
          <a:p>
            <a:r>
              <a:rPr lang="en-US" sz="2000" dirty="0"/>
              <a:t>Outputs the full table with all fields and records</a:t>
            </a:r>
            <a:endParaRPr lang="uk-UA" sz="2000" dirty="0"/>
          </a:p>
        </p:txBody>
      </p:sp>
    </p:spTree>
    <p:extLst>
      <p:ext uri="{BB962C8B-B14F-4D97-AF65-F5344CB8AC3E}">
        <p14:creationId xmlns:p14="http://schemas.microsoft.com/office/powerpoint/2010/main" val="4999188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79B2A-DC4E-99F8-2B3E-D966F446A915}"/>
              </a:ext>
            </a:extLst>
          </p:cNvPr>
          <p:cNvSpPr>
            <a:spLocks noGrp="1"/>
          </p:cNvSpPr>
          <p:nvPr>
            <p:ph type="title"/>
          </p:nvPr>
        </p:nvSpPr>
        <p:spPr/>
        <p:txBody>
          <a:bodyPr/>
          <a:lstStyle/>
          <a:p>
            <a:r>
              <a:rPr lang="en-GB" b="1" dirty="0"/>
              <a:t>1.1</a:t>
            </a:r>
            <a:r>
              <a:rPr lang="uk-UA" b="1" dirty="0"/>
              <a:t>.</a:t>
            </a:r>
            <a:r>
              <a:rPr lang="en-GB" b="1" dirty="0"/>
              <a:t> SELECT </a:t>
            </a:r>
          </a:p>
        </p:txBody>
      </p:sp>
      <p:sp>
        <p:nvSpPr>
          <p:cNvPr id="4" name="Content Placeholder 2">
            <a:extLst>
              <a:ext uri="{FF2B5EF4-FFF2-40B4-BE49-F238E27FC236}">
                <a16:creationId xmlns:a16="http://schemas.microsoft.com/office/drawing/2014/main" id="{CEFE8D6B-044E-F29A-170C-03C52EDE51A7}"/>
              </a:ext>
            </a:extLst>
          </p:cNvPr>
          <p:cNvSpPr>
            <a:spLocks noGrp="1"/>
          </p:cNvSpPr>
          <p:nvPr>
            <p:ph idx="1"/>
          </p:nvPr>
        </p:nvSpPr>
        <p:spPr>
          <a:xfrm>
            <a:off x="935939" y="2116209"/>
            <a:ext cx="6134807" cy="4741791"/>
          </a:xfrm>
        </p:spPr>
        <p:txBody>
          <a:bodyPr>
            <a:normAutofit fontScale="92500" lnSpcReduction="10000"/>
          </a:bodyPr>
          <a:lstStyle/>
          <a:p>
            <a:pPr marL="0" indent="0">
              <a:buNone/>
            </a:pPr>
            <a:r>
              <a:rPr lang="en-US" sz="2000" dirty="0"/>
              <a:t>Outputs only specific columns of the table, not the entire table</a:t>
            </a:r>
          </a:p>
          <a:p>
            <a:endParaRPr lang="uk-UA" dirty="0"/>
          </a:p>
          <a:p>
            <a:pPr marL="0" indent="0">
              <a:buNone/>
            </a:pPr>
            <a:r>
              <a:rPr lang="en-US" sz="2000" b="1" dirty="0"/>
              <a:t>SQL query template:</a:t>
            </a:r>
          </a:p>
          <a:p>
            <a:pPr marL="0" indent="0">
              <a:buNone/>
            </a:pPr>
            <a:endParaRPr lang="uk-UA" sz="1800" b="1" dirty="0"/>
          </a:p>
          <a:p>
            <a:pPr marL="0" indent="0">
              <a:buNone/>
            </a:pPr>
            <a:r>
              <a:rPr lang="en-GB" b="1" dirty="0">
                <a:solidFill>
                  <a:srgbClr val="FFCC66"/>
                </a:solidFill>
                <a:highlight>
                  <a:srgbClr val="6699FF"/>
                </a:highlight>
              </a:rPr>
              <a:t>SELECT  “</a:t>
            </a:r>
            <a:r>
              <a:rPr lang="en-GB" b="1" dirty="0" err="1">
                <a:solidFill>
                  <a:srgbClr val="FFCC66"/>
                </a:solidFill>
                <a:highlight>
                  <a:srgbClr val="6699FF"/>
                </a:highlight>
              </a:rPr>
              <a:t>Column_name</a:t>
            </a:r>
            <a:r>
              <a:rPr lang="en-GB" b="1" dirty="0">
                <a:solidFill>
                  <a:srgbClr val="FFCC66"/>
                </a:solidFill>
                <a:highlight>
                  <a:srgbClr val="6699FF"/>
                </a:highlight>
              </a:rPr>
              <a:t>”</a:t>
            </a:r>
          </a:p>
          <a:p>
            <a:pPr marL="0" indent="0">
              <a:buNone/>
            </a:pPr>
            <a:r>
              <a:rPr lang="en-GB" b="1" dirty="0">
                <a:solidFill>
                  <a:srgbClr val="FFCC66"/>
                </a:solidFill>
                <a:highlight>
                  <a:srgbClr val="6699FF"/>
                </a:highlight>
              </a:rPr>
              <a:t>FROM   “</a:t>
            </a:r>
            <a:r>
              <a:rPr lang="en-GB" b="1" dirty="0" err="1">
                <a:solidFill>
                  <a:srgbClr val="FFCC66"/>
                </a:solidFill>
                <a:highlight>
                  <a:srgbClr val="6699FF"/>
                </a:highlight>
              </a:rPr>
              <a:t>Table_name</a:t>
            </a:r>
            <a:r>
              <a:rPr lang="en-GB" b="1" dirty="0">
                <a:solidFill>
                  <a:srgbClr val="FFCC66"/>
                </a:solidFill>
                <a:highlight>
                  <a:srgbClr val="6699FF"/>
                </a:highlight>
              </a:rPr>
              <a:t>”</a:t>
            </a:r>
          </a:p>
          <a:p>
            <a:pPr marL="0" indent="0">
              <a:buNone/>
            </a:pPr>
            <a:endParaRPr lang="en-GB" sz="2800" b="1" dirty="0">
              <a:solidFill>
                <a:srgbClr val="00B050"/>
              </a:solidFill>
            </a:endParaRPr>
          </a:p>
          <a:p>
            <a:pPr marL="0" indent="0">
              <a:buNone/>
            </a:pPr>
            <a:r>
              <a:rPr lang="en-GB" b="1" dirty="0">
                <a:solidFill>
                  <a:srgbClr val="309070"/>
                </a:solidFill>
                <a:highlight>
                  <a:srgbClr val="FFCC66"/>
                </a:highlight>
              </a:rPr>
              <a:t>SELECT  </a:t>
            </a:r>
          </a:p>
          <a:p>
            <a:pPr marL="0" indent="0">
              <a:buNone/>
            </a:pPr>
            <a:r>
              <a:rPr lang="en-GB" b="1" dirty="0">
                <a:solidFill>
                  <a:srgbClr val="309070"/>
                </a:solidFill>
                <a:highlight>
                  <a:srgbClr val="FFCC66"/>
                </a:highlight>
              </a:rPr>
              <a:t>“</a:t>
            </a:r>
            <a:r>
              <a:rPr lang="en-GB" b="1" dirty="0" err="1">
                <a:solidFill>
                  <a:srgbClr val="309070"/>
                </a:solidFill>
                <a:highlight>
                  <a:srgbClr val="FFCC66"/>
                </a:highlight>
              </a:rPr>
              <a:t>Column_name_A</a:t>
            </a:r>
            <a:r>
              <a:rPr lang="en-GB" b="1" dirty="0">
                <a:solidFill>
                  <a:srgbClr val="309070"/>
                </a:solidFill>
                <a:highlight>
                  <a:srgbClr val="FFCC66"/>
                </a:highlight>
              </a:rPr>
              <a:t>”, </a:t>
            </a:r>
          </a:p>
          <a:p>
            <a:pPr marL="0" indent="0">
              <a:buNone/>
            </a:pPr>
            <a:r>
              <a:rPr lang="en-GB" b="1" dirty="0">
                <a:solidFill>
                  <a:srgbClr val="309070"/>
                </a:solidFill>
                <a:highlight>
                  <a:srgbClr val="FFCC66"/>
                </a:highlight>
              </a:rPr>
              <a:t>“</a:t>
            </a:r>
            <a:r>
              <a:rPr lang="en-GB" b="1" dirty="0" err="1">
                <a:solidFill>
                  <a:srgbClr val="309070"/>
                </a:solidFill>
                <a:highlight>
                  <a:srgbClr val="FFCC66"/>
                </a:highlight>
              </a:rPr>
              <a:t>Column_name_B</a:t>
            </a:r>
            <a:r>
              <a:rPr lang="en-GB" b="1" dirty="0">
                <a:solidFill>
                  <a:srgbClr val="309070"/>
                </a:solidFill>
                <a:highlight>
                  <a:srgbClr val="FFCC66"/>
                </a:highlight>
              </a:rPr>
              <a:t>” </a:t>
            </a:r>
          </a:p>
          <a:p>
            <a:pPr marL="0" indent="0">
              <a:buNone/>
            </a:pPr>
            <a:r>
              <a:rPr lang="en-GB" b="1" dirty="0">
                <a:solidFill>
                  <a:srgbClr val="309070"/>
                </a:solidFill>
                <a:highlight>
                  <a:srgbClr val="FFCC66"/>
                </a:highlight>
              </a:rPr>
              <a:t>FROM  “</a:t>
            </a:r>
            <a:r>
              <a:rPr lang="en-GB" b="1" dirty="0" err="1">
                <a:solidFill>
                  <a:srgbClr val="309070"/>
                </a:solidFill>
                <a:highlight>
                  <a:srgbClr val="FFCC66"/>
                </a:highlight>
              </a:rPr>
              <a:t>Table_name</a:t>
            </a:r>
            <a:r>
              <a:rPr lang="en-GB" b="1" dirty="0">
                <a:solidFill>
                  <a:srgbClr val="309070"/>
                </a:solidFill>
                <a:highlight>
                  <a:srgbClr val="FFCC66"/>
                </a:highlight>
              </a:rPr>
              <a:t>”</a:t>
            </a:r>
          </a:p>
          <a:p>
            <a:pPr marL="0" indent="0">
              <a:buNone/>
            </a:pPr>
            <a:endParaRPr lang="en-GB" sz="1800" b="1" dirty="0">
              <a:solidFill>
                <a:srgbClr val="00B050"/>
              </a:solidFill>
            </a:endParaRPr>
          </a:p>
        </p:txBody>
      </p:sp>
      <p:pic>
        <p:nvPicPr>
          <p:cNvPr id="6" name="Picture 5">
            <a:extLst>
              <a:ext uri="{FF2B5EF4-FFF2-40B4-BE49-F238E27FC236}">
                <a16:creationId xmlns:a16="http://schemas.microsoft.com/office/drawing/2014/main" id="{610FAD4E-B5D6-A897-B084-94E31CE6BAB3}"/>
              </a:ext>
            </a:extLst>
          </p:cNvPr>
          <p:cNvPicPr>
            <a:picLocks noChangeAspect="1"/>
          </p:cNvPicPr>
          <p:nvPr/>
        </p:nvPicPr>
        <p:blipFill>
          <a:blip r:embed="rId2"/>
          <a:stretch>
            <a:fillRect/>
          </a:stretch>
        </p:blipFill>
        <p:spPr>
          <a:xfrm>
            <a:off x="8437884" y="637785"/>
            <a:ext cx="1933845" cy="2791215"/>
          </a:xfrm>
          <a:prstGeom prst="rect">
            <a:avLst/>
          </a:prstGeom>
        </p:spPr>
      </p:pic>
      <p:cxnSp>
        <p:nvCxnSpPr>
          <p:cNvPr id="8" name="Straight Arrow Connector 7">
            <a:extLst>
              <a:ext uri="{FF2B5EF4-FFF2-40B4-BE49-F238E27FC236}">
                <a16:creationId xmlns:a16="http://schemas.microsoft.com/office/drawing/2014/main" id="{59C5FE13-7AC2-9C4F-9843-D0742A2D521D}"/>
              </a:ext>
            </a:extLst>
          </p:cNvPr>
          <p:cNvCxnSpPr>
            <a:cxnSpLocks/>
          </p:cNvCxnSpPr>
          <p:nvPr/>
        </p:nvCxnSpPr>
        <p:spPr>
          <a:xfrm flipV="1">
            <a:off x="4508310" y="857839"/>
            <a:ext cx="4220911" cy="2868000"/>
          </a:xfrm>
          <a:prstGeom prst="straightConnector1">
            <a:avLst/>
          </a:prstGeom>
          <a:ln w="38100">
            <a:solidFill>
              <a:srgbClr val="FFCC66"/>
            </a:solidFill>
            <a:tailEnd type="triangle"/>
          </a:ln>
        </p:spPr>
        <p:style>
          <a:lnRef idx="3">
            <a:schemeClr val="accent6"/>
          </a:lnRef>
          <a:fillRef idx="0">
            <a:schemeClr val="accent6"/>
          </a:fillRef>
          <a:effectRef idx="2">
            <a:schemeClr val="accent6"/>
          </a:effectRef>
          <a:fontRef idx="minor">
            <a:schemeClr val="tx1"/>
          </a:fontRef>
        </p:style>
      </p:cxnSp>
      <p:pic>
        <p:nvPicPr>
          <p:cNvPr id="5" name="Picture 4">
            <a:extLst>
              <a:ext uri="{FF2B5EF4-FFF2-40B4-BE49-F238E27FC236}">
                <a16:creationId xmlns:a16="http://schemas.microsoft.com/office/drawing/2014/main" id="{5DC2147F-5FB5-9B2D-D56E-A771AF900EFC}"/>
              </a:ext>
            </a:extLst>
          </p:cNvPr>
          <p:cNvPicPr>
            <a:picLocks noChangeAspect="1"/>
          </p:cNvPicPr>
          <p:nvPr/>
        </p:nvPicPr>
        <p:blipFill>
          <a:blip r:embed="rId3"/>
          <a:stretch>
            <a:fillRect/>
          </a:stretch>
        </p:blipFill>
        <p:spPr>
          <a:xfrm>
            <a:off x="8437884" y="3649054"/>
            <a:ext cx="2628492" cy="3018783"/>
          </a:xfrm>
          <a:prstGeom prst="rect">
            <a:avLst/>
          </a:prstGeom>
        </p:spPr>
      </p:pic>
      <p:cxnSp>
        <p:nvCxnSpPr>
          <p:cNvPr id="13" name="Straight Arrow Connector 12">
            <a:extLst>
              <a:ext uri="{FF2B5EF4-FFF2-40B4-BE49-F238E27FC236}">
                <a16:creationId xmlns:a16="http://schemas.microsoft.com/office/drawing/2014/main" id="{0ECAB327-5F98-BD57-96A4-5D433F60CA1E}"/>
              </a:ext>
            </a:extLst>
          </p:cNvPr>
          <p:cNvCxnSpPr>
            <a:cxnSpLocks/>
          </p:cNvCxnSpPr>
          <p:nvPr/>
        </p:nvCxnSpPr>
        <p:spPr>
          <a:xfrm flipV="1">
            <a:off x="4003343" y="3725839"/>
            <a:ext cx="4662985" cy="1869743"/>
          </a:xfrm>
          <a:prstGeom prst="straightConnector1">
            <a:avLst/>
          </a:prstGeom>
          <a:ln w="38100">
            <a:solidFill>
              <a:srgbClr val="309070"/>
            </a:solidFill>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7883556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81E62-4C83-E332-2873-25F19CAA2BBE}"/>
              </a:ext>
            </a:extLst>
          </p:cNvPr>
          <p:cNvSpPr>
            <a:spLocks noGrp="1"/>
          </p:cNvSpPr>
          <p:nvPr>
            <p:ph type="title"/>
          </p:nvPr>
        </p:nvSpPr>
        <p:spPr/>
        <p:txBody>
          <a:bodyPr/>
          <a:lstStyle/>
          <a:p>
            <a:r>
              <a:rPr lang="en-GB" b="1" dirty="0"/>
              <a:t>2. WHERE</a:t>
            </a:r>
          </a:p>
        </p:txBody>
      </p:sp>
      <p:sp>
        <p:nvSpPr>
          <p:cNvPr id="3" name="Content Placeholder 2">
            <a:extLst>
              <a:ext uri="{FF2B5EF4-FFF2-40B4-BE49-F238E27FC236}">
                <a16:creationId xmlns:a16="http://schemas.microsoft.com/office/drawing/2014/main" id="{EF72E074-7E9E-F473-1614-F4850D554D79}"/>
              </a:ext>
            </a:extLst>
          </p:cNvPr>
          <p:cNvSpPr>
            <a:spLocks noGrp="1"/>
          </p:cNvSpPr>
          <p:nvPr>
            <p:ph idx="1"/>
          </p:nvPr>
        </p:nvSpPr>
        <p:spPr>
          <a:xfrm>
            <a:off x="219296" y="2132700"/>
            <a:ext cx="7905672" cy="4559252"/>
          </a:xfrm>
        </p:spPr>
        <p:txBody>
          <a:bodyPr>
            <a:normAutofit fontScale="92500" lnSpcReduction="20000"/>
          </a:bodyPr>
          <a:lstStyle/>
          <a:p>
            <a:pPr>
              <a:lnSpc>
                <a:spcPct val="120000"/>
              </a:lnSpc>
            </a:pPr>
            <a:r>
              <a:rPr lang="en-US" sz="2200" dirty="0"/>
              <a:t>Filters table data by a given condition. We can also use conditional operators (BETWEEN, AND, OR).</a:t>
            </a:r>
          </a:p>
          <a:p>
            <a:endParaRPr lang="uk-UA" dirty="0"/>
          </a:p>
          <a:p>
            <a:pPr marL="0" indent="0">
              <a:buNone/>
            </a:pPr>
            <a:r>
              <a:rPr lang="en-US" sz="2000" b="1" dirty="0"/>
              <a:t>SQL query template:</a:t>
            </a:r>
          </a:p>
          <a:p>
            <a:pPr marL="0" indent="0">
              <a:buNone/>
            </a:pPr>
            <a:r>
              <a:rPr lang="en-GB" sz="2600" b="1" dirty="0">
                <a:solidFill>
                  <a:srgbClr val="FFCC66"/>
                </a:solidFill>
                <a:highlight>
                  <a:srgbClr val="6699FF"/>
                </a:highlight>
              </a:rPr>
              <a:t>SELECT * FROM "</a:t>
            </a:r>
            <a:r>
              <a:rPr lang="en-GB" sz="2600" b="1" dirty="0" err="1">
                <a:solidFill>
                  <a:srgbClr val="FFCC66"/>
                </a:solidFill>
                <a:highlight>
                  <a:srgbClr val="6699FF"/>
                </a:highlight>
              </a:rPr>
              <a:t>Table_name</a:t>
            </a:r>
            <a:r>
              <a:rPr lang="en-GB" sz="2600" b="1" dirty="0">
                <a:solidFill>
                  <a:srgbClr val="FFCC66"/>
                </a:solidFill>
                <a:highlight>
                  <a:srgbClr val="6699FF"/>
                </a:highlight>
              </a:rPr>
              <a:t>"</a:t>
            </a:r>
            <a:endParaRPr lang="uk-UA" sz="2600" b="1" dirty="0">
              <a:solidFill>
                <a:srgbClr val="FFCC66"/>
              </a:solidFill>
              <a:highlight>
                <a:srgbClr val="6699FF"/>
              </a:highlight>
            </a:endParaRPr>
          </a:p>
          <a:p>
            <a:pPr marL="0" indent="0">
              <a:buNone/>
            </a:pPr>
            <a:r>
              <a:rPr lang="en-GB" sz="2600" b="1" dirty="0">
                <a:solidFill>
                  <a:srgbClr val="FFCC66"/>
                </a:solidFill>
                <a:highlight>
                  <a:srgbClr val="6699FF"/>
                </a:highlight>
              </a:rPr>
              <a:t>WHERE "Table_name"."</a:t>
            </a:r>
            <a:r>
              <a:rPr lang="en-GB" sz="2600" b="1" dirty="0" err="1">
                <a:solidFill>
                  <a:srgbClr val="FFCC66"/>
                </a:solidFill>
                <a:highlight>
                  <a:srgbClr val="6699FF"/>
                </a:highlight>
              </a:rPr>
              <a:t>Column_name</a:t>
            </a:r>
            <a:r>
              <a:rPr lang="en-GB" sz="2600" b="1" dirty="0">
                <a:solidFill>
                  <a:srgbClr val="FFCC66"/>
                </a:solidFill>
                <a:highlight>
                  <a:srgbClr val="6699FF"/>
                </a:highlight>
              </a:rPr>
              <a:t>" = 'value’</a:t>
            </a:r>
          </a:p>
          <a:p>
            <a:pPr marL="0" indent="0">
              <a:buNone/>
            </a:pPr>
            <a:endParaRPr lang="en-GB" sz="2600" b="1" dirty="0">
              <a:solidFill>
                <a:srgbClr val="00B050"/>
              </a:solidFill>
            </a:endParaRPr>
          </a:p>
          <a:p>
            <a:pPr marL="0" indent="0">
              <a:buNone/>
            </a:pPr>
            <a:r>
              <a:rPr lang="en-GB" sz="2600" b="1" dirty="0">
                <a:solidFill>
                  <a:srgbClr val="309070"/>
                </a:solidFill>
                <a:highlight>
                  <a:srgbClr val="FFCC66"/>
                </a:highlight>
              </a:rPr>
              <a:t>SELECT  </a:t>
            </a:r>
          </a:p>
          <a:p>
            <a:pPr marL="0" indent="0">
              <a:buNone/>
            </a:pPr>
            <a:r>
              <a:rPr lang="en-GB" sz="2600" b="1" dirty="0">
                <a:solidFill>
                  <a:srgbClr val="309070"/>
                </a:solidFill>
                <a:highlight>
                  <a:srgbClr val="FFCC66"/>
                </a:highlight>
              </a:rPr>
              <a:t>t.“</a:t>
            </a:r>
            <a:r>
              <a:rPr lang="en-GB" sz="2600" b="1" dirty="0" err="1">
                <a:solidFill>
                  <a:srgbClr val="309070"/>
                </a:solidFill>
                <a:highlight>
                  <a:srgbClr val="FFCC66"/>
                </a:highlight>
              </a:rPr>
              <a:t>Column_name_A</a:t>
            </a:r>
            <a:r>
              <a:rPr lang="en-GB" sz="2600" b="1" dirty="0">
                <a:solidFill>
                  <a:srgbClr val="309070"/>
                </a:solidFill>
                <a:highlight>
                  <a:srgbClr val="FFCC66"/>
                </a:highlight>
              </a:rPr>
              <a:t>”, </a:t>
            </a:r>
          </a:p>
          <a:p>
            <a:pPr marL="0" indent="0">
              <a:buNone/>
            </a:pPr>
            <a:r>
              <a:rPr lang="en-GB" sz="2600" b="1" dirty="0">
                <a:solidFill>
                  <a:srgbClr val="309070"/>
                </a:solidFill>
                <a:highlight>
                  <a:srgbClr val="FFCC66"/>
                </a:highlight>
              </a:rPr>
              <a:t>t.“</a:t>
            </a:r>
            <a:r>
              <a:rPr lang="en-GB" sz="2600" b="1" dirty="0" err="1">
                <a:solidFill>
                  <a:srgbClr val="309070"/>
                </a:solidFill>
                <a:highlight>
                  <a:srgbClr val="FFCC66"/>
                </a:highlight>
              </a:rPr>
              <a:t>Column_name_B</a:t>
            </a:r>
            <a:r>
              <a:rPr lang="en-GB" sz="2600" b="1" dirty="0">
                <a:solidFill>
                  <a:srgbClr val="309070"/>
                </a:solidFill>
                <a:highlight>
                  <a:srgbClr val="FFCC66"/>
                </a:highlight>
              </a:rPr>
              <a:t>” </a:t>
            </a:r>
          </a:p>
          <a:p>
            <a:pPr marL="0" indent="0">
              <a:buNone/>
            </a:pPr>
            <a:r>
              <a:rPr lang="en-GB" sz="2600" b="1" dirty="0">
                <a:solidFill>
                  <a:srgbClr val="309070"/>
                </a:solidFill>
                <a:highlight>
                  <a:srgbClr val="FFCC66"/>
                </a:highlight>
              </a:rPr>
              <a:t>FROM   “</a:t>
            </a:r>
            <a:r>
              <a:rPr lang="en-GB" sz="2600" b="1" dirty="0" err="1">
                <a:solidFill>
                  <a:srgbClr val="309070"/>
                </a:solidFill>
                <a:highlight>
                  <a:srgbClr val="FFCC66"/>
                </a:highlight>
              </a:rPr>
              <a:t>Table_name</a:t>
            </a:r>
            <a:r>
              <a:rPr lang="en-GB" sz="2600" b="1" dirty="0">
                <a:solidFill>
                  <a:srgbClr val="309070"/>
                </a:solidFill>
                <a:highlight>
                  <a:srgbClr val="FFCC66"/>
                </a:highlight>
              </a:rPr>
              <a:t>” AS t</a:t>
            </a:r>
          </a:p>
          <a:p>
            <a:pPr marL="0" indent="0">
              <a:buNone/>
            </a:pPr>
            <a:r>
              <a:rPr lang="en-GB" sz="2600" b="1" dirty="0">
                <a:solidFill>
                  <a:srgbClr val="309070"/>
                </a:solidFill>
                <a:highlight>
                  <a:srgbClr val="FFCC66"/>
                </a:highlight>
              </a:rPr>
              <a:t>WHERE  t."</a:t>
            </a:r>
            <a:r>
              <a:rPr lang="en-GB" sz="2600" b="1" dirty="0" err="1">
                <a:solidFill>
                  <a:srgbClr val="309070"/>
                </a:solidFill>
                <a:highlight>
                  <a:srgbClr val="FFCC66"/>
                </a:highlight>
              </a:rPr>
              <a:t>Column_name</a:t>
            </a:r>
            <a:r>
              <a:rPr lang="en-GB" sz="2600" b="1" dirty="0">
                <a:solidFill>
                  <a:srgbClr val="309070"/>
                </a:solidFill>
                <a:highlight>
                  <a:srgbClr val="FFCC66"/>
                </a:highlight>
              </a:rPr>
              <a:t>" = ‘value’</a:t>
            </a:r>
          </a:p>
          <a:p>
            <a:pPr marL="0" indent="0">
              <a:buNone/>
            </a:pPr>
            <a:endParaRPr lang="en-GB" sz="2600" b="1" dirty="0">
              <a:solidFill>
                <a:srgbClr val="309070"/>
              </a:solidFill>
            </a:endParaRPr>
          </a:p>
          <a:p>
            <a:pPr marL="0" indent="0">
              <a:buNone/>
            </a:pPr>
            <a:endParaRPr lang="uk-UA" b="1" dirty="0">
              <a:solidFill>
                <a:srgbClr val="00B050"/>
              </a:solidFill>
            </a:endParaRPr>
          </a:p>
          <a:p>
            <a:endParaRPr lang="en-GB" dirty="0"/>
          </a:p>
        </p:txBody>
      </p:sp>
      <p:pic>
        <p:nvPicPr>
          <p:cNvPr id="7" name="Picture 6">
            <a:extLst>
              <a:ext uri="{FF2B5EF4-FFF2-40B4-BE49-F238E27FC236}">
                <a16:creationId xmlns:a16="http://schemas.microsoft.com/office/drawing/2014/main" id="{BB7A4F67-6537-9691-CBA5-F5CAA605D840}"/>
              </a:ext>
            </a:extLst>
          </p:cNvPr>
          <p:cNvPicPr>
            <a:picLocks noChangeAspect="1"/>
          </p:cNvPicPr>
          <p:nvPr/>
        </p:nvPicPr>
        <p:blipFill>
          <a:blip r:embed="rId2"/>
          <a:srcRect t="1857"/>
          <a:stretch>
            <a:fillRect/>
          </a:stretch>
        </p:blipFill>
        <p:spPr>
          <a:xfrm>
            <a:off x="8517371" y="1572771"/>
            <a:ext cx="3296110" cy="1972733"/>
          </a:xfrm>
          <a:prstGeom prst="rect">
            <a:avLst/>
          </a:prstGeom>
        </p:spPr>
      </p:pic>
      <p:cxnSp>
        <p:nvCxnSpPr>
          <p:cNvPr id="9" name="Straight Arrow Connector 8">
            <a:extLst>
              <a:ext uri="{FF2B5EF4-FFF2-40B4-BE49-F238E27FC236}">
                <a16:creationId xmlns:a16="http://schemas.microsoft.com/office/drawing/2014/main" id="{205B70F4-0000-95D8-5D74-BD4F019E30A2}"/>
              </a:ext>
            </a:extLst>
          </p:cNvPr>
          <p:cNvCxnSpPr>
            <a:cxnSpLocks/>
          </p:cNvCxnSpPr>
          <p:nvPr/>
        </p:nvCxnSpPr>
        <p:spPr>
          <a:xfrm flipV="1">
            <a:off x="5659354" y="1916991"/>
            <a:ext cx="2858017" cy="1667819"/>
          </a:xfrm>
          <a:prstGeom prst="straightConnector1">
            <a:avLst/>
          </a:prstGeom>
          <a:ln w="38100">
            <a:solidFill>
              <a:srgbClr val="FFCC66"/>
            </a:solidFill>
            <a:tailEnd type="triangle"/>
          </a:ln>
        </p:spPr>
        <p:style>
          <a:lnRef idx="3">
            <a:schemeClr val="accent1"/>
          </a:lnRef>
          <a:fillRef idx="0">
            <a:schemeClr val="accent1"/>
          </a:fillRef>
          <a:effectRef idx="2">
            <a:schemeClr val="accent1"/>
          </a:effectRef>
          <a:fontRef idx="minor">
            <a:schemeClr val="tx1"/>
          </a:fontRef>
        </p:style>
      </p:cxnSp>
      <p:pic>
        <p:nvPicPr>
          <p:cNvPr id="5" name="Picture 4">
            <a:extLst>
              <a:ext uri="{FF2B5EF4-FFF2-40B4-BE49-F238E27FC236}">
                <a16:creationId xmlns:a16="http://schemas.microsoft.com/office/drawing/2014/main" id="{C7C3801D-D543-BAE1-2C94-E3D3A3A79645}"/>
              </a:ext>
            </a:extLst>
          </p:cNvPr>
          <p:cNvPicPr>
            <a:picLocks noChangeAspect="1"/>
          </p:cNvPicPr>
          <p:nvPr/>
        </p:nvPicPr>
        <p:blipFill>
          <a:blip r:embed="rId3"/>
          <a:stretch>
            <a:fillRect/>
          </a:stretch>
        </p:blipFill>
        <p:spPr>
          <a:xfrm>
            <a:off x="8526470" y="3968398"/>
            <a:ext cx="3143689" cy="2524477"/>
          </a:xfrm>
          <a:prstGeom prst="rect">
            <a:avLst/>
          </a:prstGeom>
        </p:spPr>
      </p:pic>
      <p:cxnSp>
        <p:nvCxnSpPr>
          <p:cNvPr id="16" name="Straight Arrow Connector 15">
            <a:extLst>
              <a:ext uri="{FF2B5EF4-FFF2-40B4-BE49-F238E27FC236}">
                <a16:creationId xmlns:a16="http://schemas.microsoft.com/office/drawing/2014/main" id="{2D22B762-0F5C-FFF0-CDFE-718D840FBFD4}"/>
              </a:ext>
            </a:extLst>
          </p:cNvPr>
          <p:cNvCxnSpPr>
            <a:cxnSpLocks/>
          </p:cNvCxnSpPr>
          <p:nvPr/>
        </p:nvCxnSpPr>
        <p:spPr>
          <a:xfrm flipV="1">
            <a:off x="4485564" y="4430598"/>
            <a:ext cx="4319071" cy="1356053"/>
          </a:xfrm>
          <a:prstGeom prst="straightConnector1">
            <a:avLst/>
          </a:prstGeom>
          <a:ln w="38100">
            <a:solidFill>
              <a:srgbClr val="309070"/>
            </a:solidFill>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44157689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6945A-C88F-D8FD-007C-3102C5DC9AC9}"/>
              </a:ext>
            </a:extLst>
          </p:cNvPr>
          <p:cNvSpPr>
            <a:spLocks noGrp="1"/>
          </p:cNvSpPr>
          <p:nvPr>
            <p:ph type="title"/>
          </p:nvPr>
        </p:nvSpPr>
        <p:spPr/>
        <p:txBody>
          <a:bodyPr/>
          <a:lstStyle/>
          <a:p>
            <a:r>
              <a:rPr lang="en-GB" b="1" dirty="0"/>
              <a:t>3. ORDER BY</a:t>
            </a:r>
          </a:p>
        </p:txBody>
      </p:sp>
      <p:sp>
        <p:nvSpPr>
          <p:cNvPr id="3" name="Content Placeholder 2">
            <a:extLst>
              <a:ext uri="{FF2B5EF4-FFF2-40B4-BE49-F238E27FC236}">
                <a16:creationId xmlns:a16="http://schemas.microsoft.com/office/drawing/2014/main" id="{6BFDA053-6328-AC53-B5A1-12DF67B11EB9}"/>
              </a:ext>
            </a:extLst>
          </p:cNvPr>
          <p:cNvSpPr>
            <a:spLocks noGrp="1"/>
          </p:cNvSpPr>
          <p:nvPr>
            <p:ph idx="1"/>
          </p:nvPr>
        </p:nvSpPr>
        <p:spPr>
          <a:xfrm>
            <a:off x="259307" y="2038066"/>
            <a:ext cx="10034875" cy="4526507"/>
          </a:xfrm>
        </p:spPr>
        <p:txBody>
          <a:bodyPr>
            <a:normAutofit/>
          </a:bodyPr>
          <a:lstStyle/>
          <a:p>
            <a:r>
              <a:rPr lang="uk-UA" sz="2000" dirty="0"/>
              <a:t>Sorts records in a table by the specified column in order:</a:t>
            </a:r>
          </a:p>
          <a:p>
            <a:pPr lvl="1">
              <a:lnSpc>
                <a:spcPct val="100000"/>
              </a:lnSpc>
            </a:pPr>
            <a:r>
              <a:rPr lang="uk-UA" sz="1800" b="1" dirty="0"/>
              <a:t>ASC</a:t>
            </a:r>
            <a:r>
              <a:rPr lang="uk-UA" sz="1800" dirty="0"/>
              <a:t> – ascending (from A to Z or from 0 to 9)</a:t>
            </a:r>
          </a:p>
          <a:p>
            <a:pPr lvl="1">
              <a:lnSpc>
                <a:spcPct val="100000"/>
              </a:lnSpc>
            </a:pPr>
            <a:r>
              <a:rPr lang="uk-UA" sz="1800" b="1" dirty="0"/>
              <a:t>DESC</a:t>
            </a:r>
            <a:r>
              <a:rPr lang="uk-UA" sz="1800" dirty="0"/>
              <a:t> – descending (from Z to A or from 9 to 0)</a:t>
            </a:r>
          </a:p>
          <a:p>
            <a:pPr marL="0" indent="0">
              <a:buNone/>
            </a:pPr>
            <a:endParaRPr lang="en-GB" sz="2400" dirty="0"/>
          </a:p>
          <a:p>
            <a:pPr marL="0" indent="0">
              <a:buNone/>
            </a:pPr>
            <a:r>
              <a:rPr lang="uk-UA" sz="2000" b="1" dirty="0"/>
              <a:t>SQL query template</a:t>
            </a:r>
            <a:r>
              <a:rPr lang="pl-PL" sz="2000" b="1" dirty="0"/>
              <a:t>:</a:t>
            </a:r>
            <a:endParaRPr lang="uk-UA" sz="2000" b="1" dirty="0"/>
          </a:p>
          <a:p>
            <a:pPr marL="0" indent="0">
              <a:buNone/>
            </a:pPr>
            <a:r>
              <a:rPr lang="en-GB" b="1" dirty="0">
                <a:solidFill>
                  <a:srgbClr val="FFCC66"/>
                </a:solidFill>
                <a:highlight>
                  <a:srgbClr val="6699FF"/>
                </a:highlight>
              </a:rPr>
              <a:t>SELECT * FROM "</a:t>
            </a:r>
            <a:r>
              <a:rPr lang="en-GB" b="1" dirty="0" err="1">
                <a:solidFill>
                  <a:srgbClr val="FFCC66"/>
                </a:solidFill>
                <a:highlight>
                  <a:srgbClr val="6699FF"/>
                </a:highlight>
              </a:rPr>
              <a:t>Table_name</a:t>
            </a:r>
            <a:r>
              <a:rPr lang="en-GB" b="1" dirty="0">
                <a:solidFill>
                  <a:srgbClr val="FFCC66"/>
                </a:solidFill>
                <a:highlight>
                  <a:srgbClr val="6699FF"/>
                </a:highlight>
              </a:rPr>
              <a:t>"</a:t>
            </a:r>
            <a:endParaRPr lang="uk-UA" b="1" dirty="0">
              <a:solidFill>
                <a:srgbClr val="FFCC66"/>
              </a:solidFill>
              <a:highlight>
                <a:srgbClr val="6699FF"/>
              </a:highlight>
            </a:endParaRPr>
          </a:p>
          <a:p>
            <a:pPr marL="0" indent="0">
              <a:buNone/>
            </a:pPr>
            <a:r>
              <a:rPr lang="en-GB" b="1" dirty="0">
                <a:solidFill>
                  <a:srgbClr val="FFCC66"/>
                </a:solidFill>
                <a:highlight>
                  <a:srgbClr val="6699FF"/>
                </a:highlight>
              </a:rPr>
              <a:t>ORDER BY "Table_name"."</a:t>
            </a:r>
            <a:r>
              <a:rPr lang="en-GB" b="1" dirty="0" err="1">
                <a:solidFill>
                  <a:srgbClr val="FFCC66"/>
                </a:solidFill>
                <a:highlight>
                  <a:srgbClr val="6699FF"/>
                </a:highlight>
              </a:rPr>
              <a:t>Column_name</a:t>
            </a:r>
            <a:r>
              <a:rPr lang="en-GB" b="1" dirty="0">
                <a:solidFill>
                  <a:srgbClr val="FFCC66"/>
                </a:solidFill>
                <a:highlight>
                  <a:srgbClr val="6699FF"/>
                </a:highlight>
              </a:rPr>
              <a:t>" ASC</a:t>
            </a:r>
          </a:p>
          <a:p>
            <a:pPr marL="0" indent="0">
              <a:buNone/>
            </a:pPr>
            <a:endParaRPr lang="en-GB" sz="2200" dirty="0">
              <a:solidFill>
                <a:schemeClr val="accent1">
                  <a:lumMod val="75000"/>
                </a:schemeClr>
              </a:solidFill>
            </a:endParaRPr>
          </a:p>
          <a:p>
            <a:pPr marL="0" indent="0">
              <a:buNone/>
            </a:pPr>
            <a:r>
              <a:rPr lang="en-GB" b="1" dirty="0">
                <a:solidFill>
                  <a:srgbClr val="309070"/>
                </a:solidFill>
                <a:highlight>
                  <a:srgbClr val="FFCC66"/>
                </a:highlight>
              </a:rPr>
              <a:t>SELECT * FROM "</a:t>
            </a:r>
            <a:r>
              <a:rPr lang="en-GB" b="1" dirty="0" err="1">
                <a:solidFill>
                  <a:srgbClr val="309070"/>
                </a:solidFill>
                <a:highlight>
                  <a:srgbClr val="FFCC66"/>
                </a:highlight>
              </a:rPr>
              <a:t>Table_name</a:t>
            </a:r>
            <a:r>
              <a:rPr lang="en-GB" b="1" dirty="0">
                <a:solidFill>
                  <a:srgbClr val="309070"/>
                </a:solidFill>
                <a:highlight>
                  <a:srgbClr val="FFCC66"/>
                </a:highlight>
              </a:rPr>
              <a:t>"</a:t>
            </a:r>
            <a:endParaRPr lang="uk-UA" b="1" dirty="0">
              <a:solidFill>
                <a:srgbClr val="309070"/>
              </a:solidFill>
              <a:highlight>
                <a:srgbClr val="FFCC66"/>
              </a:highlight>
            </a:endParaRPr>
          </a:p>
          <a:p>
            <a:pPr marL="0" indent="0">
              <a:buNone/>
            </a:pPr>
            <a:r>
              <a:rPr lang="en-GB" b="1" dirty="0">
                <a:solidFill>
                  <a:srgbClr val="309070"/>
                </a:solidFill>
                <a:highlight>
                  <a:srgbClr val="FFCC66"/>
                </a:highlight>
              </a:rPr>
              <a:t>ORDER BY "Table_name"."</a:t>
            </a:r>
            <a:r>
              <a:rPr lang="en-GB" b="1" dirty="0" err="1">
                <a:solidFill>
                  <a:srgbClr val="309070"/>
                </a:solidFill>
                <a:highlight>
                  <a:srgbClr val="FFCC66"/>
                </a:highlight>
              </a:rPr>
              <a:t>Column_name</a:t>
            </a:r>
            <a:r>
              <a:rPr lang="en-GB" b="1" dirty="0">
                <a:solidFill>
                  <a:srgbClr val="309070"/>
                </a:solidFill>
                <a:highlight>
                  <a:srgbClr val="FFCC66"/>
                </a:highlight>
              </a:rPr>
              <a:t>" DESC</a:t>
            </a:r>
          </a:p>
          <a:p>
            <a:pPr marL="0" indent="0">
              <a:buNone/>
            </a:pPr>
            <a:endParaRPr lang="en-GB" dirty="0"/>
          </a:p>
        </p:txBody>
      </p:sp>
      <p:pic>
        <p:nvPicPr>
          <p:cNvPr id="11" name="Picture 10">
            <a:extLst>
              <a:ext uri="{FF2B5EF4-FFF2-40B4-BE49-F238E27FC236}">
                <a16:creationId xmlns:a16="http://schemas.microsoft.com/office/drawing/2014/main" id="{647BC7F0-9F95-14BB-0B11-B434C988F1CE}"/>
              </a:ext>
            </a:extLst>
          </p:cNvPr>
          <p:cNvPicPr>
            <a:picLocks noChangeAspect="1"/>
          </p:cNvPicPr>
          <p:nvPr/>
        </p:nvPicPr>
        <p:blipFill>
          <a:blip r:embed="rId2"/>
          <a:srcRect l="578" r="1308"/>
          <a:stretch>
            <a:fillRect/>
          </a:stretch>
        </p:blipFill>
        <p:spPr>
          <a:xfrm>
            <a:off x="9254739" y="609116"/>
            <a:ext cx="2056263" cy="2857899"/>
          </a:xfrm>
          <a:prstGeom prst="rect">
            <a:avLst/>
          </a:prstGeom>
        </p:spPr>
      </p:pic>
      <p:cxnSp>
        <p:nvCxnSpPr>
          <p:cNvPr id="15" name="Straight Arrow Connector 14">
            <a:extLst>
              <a:ext uri="{FF2B5EF4-FFF2-40B4-BE49-F238E27FC236}">
                <a16:creationId xmlns:a16="http://schemas.microsoft.com/office/drawing/2014/main" id="{404E75C2-DF8E-AFB9-83F2-00787DDC5D76}"/>
              </a:ext>
            </a:extLst>
          </p:cNvPr>
          <p:cNvCxnSpPr>
            <a:cxnSpLocks/>
          </p:cNvCxnSpPr>
          <p:nvPr/>
        </p:nvCxnSpPr>
        <p:spPr>
          <a:xfrm flipV="1">
            <a:off x="6202837" y="1110018"/>
            <a:ext cx="3209569" cy="3179178"/>
          </a:xfrm>
          <a:prstGeom prst="straightConnector1">
            <a:avLst/>
          </a:prstGeom>
          <a:ln w="38100">
            <a:solidFill>
              <a:srgbClr val="FFCC66"/>
            </a:solidFill>
            <a:tailEnd type="triangle"/>
          </a:ln>
        </p:spPr>
        <p:style>
          <a:lnRef idx="3">
            <a:schemeClr val="accent5"/>
          </a:lnRef>
          <a:fillRef idx="0">
            <a:schemeClr val="accent5"/>
          </a:fillRef>
          <a:effectRef idx="2">
            <a:schemeClr val="accent5"/>
          </a:effectRef>
          <a:fontRef idx="minor">
            <a:schemeClr val="tx1"/>
          </a:fontRef>
        </p:style>
      </p:cxnSp>
      <p:pic>
        <p:nvPicPr>
          <p:cNvPr id="20" name="Picture 19">
            <a:extLst>
              <a:ext uri="{FF2B5EF4-FFF2-40B4-BE49-F238E27FC236}">
                <a16:creationId xmlns:a16="http://schemas.microsoft.com/office/drawing/2014/main" id="{F67B72F9-A25A-1A17-DA2C-76784E3163DC}"/>
              </a:ext>
            </a:extLst>
          </p:cNvPr>
          <p:cNvPicPr>
            <a:picLocks noChangeAspect="1"/>
          </p:cNvPicPr>
          <p:nvPr/>
        </p:nvPicPr>
        <p:blipFill>
          <a:blip r:embed="rId3"/>
          <a:srcRect b="652"/>
          <a:stretch>
            <a:fillRect/>
          </a:stretch>
        </p:blipFill>
        <p:spPr>
          <a:xfrm>
            <a:off x="8703882" y="3818343"/>
            <a:ext cx="3157979" cy="2746230"/>
          </a:xfrm>
          <a:prstGeom prst="rect">
            <a:avLst/>
          </a:prstGeom>
        </p:spPr>
      </p:pic>
      <p:cxnSp>
        <p:nvCxnSpPr>
          <p:cNvPr id="18" name="Straight Arrow Connector 17">
            <a:extLst>
              <a:ext uri="{FF2B5EF4-FFF2-40B4-BE49-F238E27FC236}">
                <a16:creationId xmlns:a16="http://schemas.microsoft.com/office/drawing/2014/main" id="{9F1A0069-4A70-11B3-F59B-726001D45E98}"/>
              </a:ext>
            </a:extLst>
          </p:cNvPr>
          <p:cNvCxnSpPr>
            <a:cxnSpLocks/>
          </p:cNvCxnSpPr>
          <p:nvPr/>
        </p:nvCxnSpPr>
        <p:spPr>
          <a:xfrm flipV="1">
            <a:off x="6096000" y="4393865"/>
            <a:ext cx="2675485" cy="998267"/>
          </a:xfrm>
          <a:prstGeom prst="straightConnector1">
            <a:avLst/>
          </a:prstGeom>
          <a:ln w="38100">
            <a:solidFill>
              <a:srgbClr val="309070"/>
            </a:solidFill>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1815178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B04A-2E4C-8E02-BA73-AE7289C8C7BB}"/>
              </a:ext>
            </a:extLst>
          </p:cNvPr>
          <p:cNvSpPr>
            <a:spLocks noGrp="1"/>
          </p:cNvSpPr>
          <p:nvPr>
            <p:ph type="title"/>
          </p:nvPr>
        </p:nvSpPr>
        <p:spPr/>
        <p:txBody>
          <a:bodyPr/>
          <a:lstStyle/>
          <a:p>
            <a:r>
              <a:rPr lang="uk-UA" b="1" dirty="0"/>
              <a:t>4. </a:t>
            </a:r>
            <a:r>
              <a:rPr lang="en-GB" b="1" dirty="0"/>
              <a:t>GROUP BY</a:t>
            </a:r>
          </a:p>
        </p:txBody>
      </p:sp>
      <p:sp>
        <p:nvSpPr>
          <p:cNvPr id="3" name="Content Placeholder 2">
            <a:extLst>
              <a:ext uri="{FF2B5EF4-FFF2-40B4-BE49-F238E27FC236}">
                <a16:creationId xmlns:a16="http://schemas.microsoft.com/office/drawing/2014/main" id="{3EC0D893-A56E-E2D4-7538-CF27E14B6B68}"/>
              </a:ext>
            </a:extLst>
          </p:cNvPr>
          <p:cNvSpPr>
            <a:spLocks noGrp="1"/>
          </p:cNvSpPr>
          <p:nvPr>
            <p:ph idx="1"/>
          </p:nvPr>
        </p:nvSpPr>
        <p:spPr>
          <a:xfrm>
            <a:off x="680321" y="2336872"/>
            <a:ext cx="7490139" cy="4309587"/>
          </a:xfrm>
        </p:spPr>
        <p:txBody>
          <a:bodyPr>
            <a:normAutofit/>
          </a:bodyPr>
          <a:lstStyle/>
          <a:p>
            <a:pPr marL="0" indent="0">
              <a:lnSpc>
                <a:spcPct val="110000"/>
              </a:lnSpc>
              <a:buNone/>
            </a:pPr>
            <a:r>
              <a:rPr lang="uk-UA" sz="2000" b="1" dirty="0"/>
              <a:t>Groups</a:t>
            </a:r>
            <a:r>
              <a:rPr lang="uk-UA" sz="2000" dirty="0"/>
              <a:t> records by the specified column and allows applying aggregate functions (COUNT, SUM, AVG, MAX, MIN, etc.).</a:t>
            </a:r>
          </a:p>
          <a:p>
            <a:pPr marL="0" indent="0">
              <a:lnSpc>
                <a:spcPct val="110000"/>
              </a:lnSpc>
              <a:buNone/>
            </a:pPr>
            <a:endParaRPr lang="ru-RU" dirty="0"/>
          </a:p>
          <a:p>
            <a:pPr marL="0" indent="0">
              <a:buNone/>
            </a:pPr>
            <a:r>
              <a:rPr lang="uk-UA" sz="2000" b="1" dirty="0"/>
              <a:t>SQL query template</a:t>
            </a:r>
            <a:r>
              <a:rPr lang="pl-PL" sz="2000" b="1" dirty="0"/>
              <a:t>:</a:t>
            </a:r>
            <a:endParaRPr lang="uk-UA" sz="2000" b="1" dirty="0"/>
          </a:p>
          <a:p>
            <a:pPr marL="0" indent="0">
              <a:buNone/>
            </a:pPr>
            <a:r>
              <a:rPr lang="en-GB" b="1" dirty="0">
                <a:solidFill>
                  <a:srgbClr val="309070"/>
                </a:solidFill>
                <a:highlight>
                  <a:srgbClr val="FFCC66"/>
                </a:highlight>
              </a:rPr>
              <a:t>SELECT </a:t>
            </a:r>
            <a:endParaRPr lang="uk-UA" b="1" dirty="0">
              <a:solidFill>
                <a:srgbClr val="309070"/>
              </a:solidFill>
              <a:highlight>
                <a:srgbClr val="FFCC66"/>
              </a:highlight>
            </a:endParaRPr>
          </a:p>
          <a:p>
            <a:pPr marL="0" indent="0">
              <a:buNone/>
            </a:pPr>
            <a:r>
              <a:rPr lang="en-GB" b="1" dirty="0">
                <a:solidFill>
                  <a:srgbClr val="309070"/>
                </a:solidFill>
                <a:highlight>
                  <a:srgbClr val="FFCC66"/>
                </a:highlight>
              </a:rPr>
              <a:t>"</a:t>
            </a:r>
            <a:r>
              <a:rPr lang="en-GB" b="1" dirty="0" err="1">
                <a:solidFill>
                  <a:srgbClr val="309070"/>
                </a:solidFill>
                <a:highlight>
                  <a:srgbClr val="FFCC66"/>
                </a:highlight>
              </a:rPr>
              <a:t>Column_name</a:t>
            </a:r>
            <a:r>
              <a:rPr lang="en-GB" b="1" dirty="0">
                <a:solidFill>
                  <a:srgbClr val="309070"/>
                </a:solidFill>
                <a:highlight>
                  <a:srgbClr val="FFCC66"/>
                </a:highlight>
              </a:rPr>
              <a:t>"</a:t>
            </a:r>
            <a:r>
              <a:rPr lang="pl-PL" b="1" dirty="0">
                <a:solidFill>
                  <a:srgbClr val="309070"/>
                </a:solidFill>
                <a:highlight>
                  <a:srgbClr val="FFCC66"/>
                </a:highlight>
              </a:rPr>
              <a:t>,</a:t>
            </a:r>
          </a:p>
          <a:p>
            <a:pPr marL="0" indent="0">
              <a:buNone/>
            </a:pPr>
            <a:r>
              <a:rPr lang="pl-PL" b="1" dirty="0">
                <a:solidFill>
                  <a:srgbClr val="309070"/>
                </a:solidFill>
                <a:highlight>
                  <a:srgbClr val="FFCC66"/>
                </a:highlight>
              </a:rPr>
              <a:t>COUNT(*) AS "</a:t>
            </a:r>
            <a:r>
              <a:rPr lang="en-GB" b="1" dirty="0">
                <a:solidFill>
                  <a:srgbClr val="309070"/>
                </a:solidFill>
                <a:highlight>
                  <a:srgbClr val="FFCC66"/>
                </a:highlight>
              </a:rPr>
              <a:t> </a:t>
            </a:r>
            <a:r>
              <a:rPr lang="en-GB" b="1" dirty="0" err="1">
                <a:solidFill>
                  <a:srgbClr val="309070"/>
                </a:solidFill>
                <a:highlight>
                  <a:srgbClr val="FFCC66"/>
                </a:highlight>
              </a:rPr>
              <a:t>Num_order</a:t>
            </a:r>
            <a:r>
              <a:rPr lang="en-GB" b="1" dirty="0">
                <a:solidFill>
                  <a:srgbClr val="309070"/>
                </a:solidFill>
                <a:highlight>
                  <a:srgbClr val="FFCC66"/>
                </a:highlight>
              </a:rPr>
              <a:t> </a:t>
            </a:r>
            <a:r>
              <a:rPr lang="pl-PL" b="1" dirty="0">
                <a:solidFill>
                  <a:srgbClr val="309070"/>
                </a:solidFill>
                <a:highlight>
                  <a:srgbClr val="FFCC66"/>
                </a:highlight>
              </a:rPr>
              <a:t>"</a:t>
            </a:r>
            <a:r>
              <a:rPr lang="en-GB" b="1" dirty="0">
                <a:solidFill>
                  <a:srgbClr val="309070"/>
                </a:solidFill>
                <a:highlight>
                  <a:srgbClr val="FFCC66"/>
                </a:highlight>
              </a:rPr>
              <a:t> </a:t>
            </a:r>
            <a:endParaRPr lang="uk-UA" b="1" dirty="0">
              <a:solidFill>
                <a:srgbClr val="309070"/>
              </a:solidFill>
              <a:highlight>
                <a:srgbClr val="FFCC66"/>
              </a:highlight>
            </a:endParaRPr>
          </a:p>
          <a:p>
            <a:pPr marL="0" indent="0">
              <a:buNone/>
            </a:pPr>
            <a:r>
              <a:rPr lang="en-GB" b="1" dirty="0">
                <a:solidFill>
                  <a:srgbClr val="309070"/>
                </a:solidFill>
                <a:highlight>
                  <a:srgbClr val="FFCC66"/>
                </a:highlight>
              </a:rPr>
              <a:t>FROM "</a:t>
            </a:r>
            <a:r>
              <a:rPr lang="en-GB" b="1" dirty="0" err="1">
                <a:solidFill>
                  <a:srgbClr val="309070"/>
                </a:solidFill>
                <a:highlight>
                  <a:srgbClr val="FFCC66"/>
                </a:highlight>
              </a:rPr>
              <a:t>Table_name</a:t>
            </a:r>
            <a:r>
              <a:rPr lang="en-GB" b="1" dirty="0">
                <a:solidFill>
                  <a:srgbClr val="309070"/>
                </a:solidFill>
                <a:highlight>
                  <a:srgbClr val="FFCC66"/>
                </a:highlight>
              </a:rPr>
              <a:t>"</a:t>
            </a:r>
            <a:endParaRPr lang="uk-UA" b="1" dirty="0">
              <a:solidFill>
                <a:srgbClr val="309070"/>
              </a:solidFill>
              <a:highlight>
                <a:srgbClr val="FFCC66"/>
              </a:highlight>
            </a:endParaRPr>
          </a:p>
          <a:p>
            <a:pPr marL="0" indent="0">
              <a:buNone/>
            </a:pPr>
            <a:r>
              <a:rPr lang="pl-PL" b="1" dirty="0">
                <a:solidFill>
                  <a:srgbClr val="309070"/>
                </a:solidFill>
                <a:highlight>
                  <a:srgbClr val="FFCC66"/>
                </a:highlight>
              </a:rPr>
              <a:t>GROUP</a:t>
            </a:r>
            <a:r>
              <a:rPr lang="en-GB" b="1" dirty="0">
                <a:solidFill>
                  <a:srgbClr val="309070"/>
                </a:solidFill>
                <a:highlight>
                  <a:srgbClr val="FFCC66"/>
                </a:highlight>
              </a:rPr>
              <a:t> BY "Table_name"."</a:t>
            </a:r>
            <a:r>
              <a:rPr lang="en-GB" b="1" dirty="0" err="1">
                <a:solidFill>
                  <a:srgbClr val="309070"/>
                </a:solidFill>
                <a:highlight>
                  <a:srgbClr val="FFCC66"/>
                </a:highlight>
              </a:rPr>
              <a:t>Column_name</a:t>
            </a:r>
            <a:r>
              <a:rPr lang="en-GB" b="1" dirty="0">
                <a:solidFill>
                  <a:srgbClr val="309070"/>
                </a:solidFill>
                <a:highlight>
                  <a:srgbClr val="FFCC66"/>
                </a:highlight>
              </a:rPr>
              <a:t>"</a:t>
            </a:r>
          </a:p>
          <a:p>
            <a:pPr marL="0" indent="0">
              <a:buNone/>
            </a:pPr>
            <a:endParaRPr lang="en-GB" dirty="0"/>
          </a:p>
        </p:txBody>
      </p:sp>
      <p:pic>
        <p:nvPicPr>
          <p:cNvPr id="6" name="Picture 5">
            <a:extLst>
              <a:ext uri="{FF2B5EF4-FFF2-40B4-BE49-F238E27FC236}">
                <a16:creationId xmlns:a16="http://schemas.microsoft.com/office/drawing/2014/main" id="{0BD45A3E-125A-37E4-0E79-0DACA55C7406}"/>
              </a:ext>
            </a:extLst>
          </p:cNvPr>
          <p:cNvPicPr>
            <a:picLocks noChangeAspect="1"/>
          </p:cNvPicPr>
          <p:nvPr/>
        </p:nvPicPr>
        <p:blipFill>
          <a:blip r:embed="rId2"/>
          <a:stretch>
            <a:fillRect/>
          </a:stretch>
        </p:blipFill>
        <p:spPr>
          <a:xfrm>
            <a:off x="8226315" y="2916708"/>
            <a:ext cx="2734057" cy="2876951"/>
          </a:xfrm>
          <a:prstGeom prst="rect">
            <a:avLst/>
          </a:prstGeom>
        </p:spPr>
      </p:pic>
      <p:cxnSp>
        <p:nvCxnSpPr>
          <p:cNvPr id="7" name="Straight Arrow Connector 6">
            <a:extLst>
              <a:ext uri="{FF2B5EF4-FFF2-40B4-BE49-F238E27FC236}">
                <a16:creationId xmlns:a16="http://schemas.microsoft.com/office/drawing/2014/main" id="{6F023793-345F-1AD4-98AF-0FC939A2FB1E}"/>
              </a:ext>
            </a:extLst>
          </p:cNvPr>
          <p:cNvCxnSpPr>
            <a:cxnSpLocks/>
          </p:cNvCxnSpPr>
          <p:nvPr/>
        </p:nvCxnSpPr>
        <p:spPr>
          <a:xfrm flipV="1">
            <a:off x="4415742" y="3308808"/>
            <a:ext cx="4162650" cy="1338427"/>
          </a:xfrm>
          <a:prstGeom prst="straightConnector1">
            <a:avLst/>
          </a:prstGeom>
          <a:ln w="38100">
            <a:solidFill>
              <a:srgbClr val="309070"/>
            </a:solidFill>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47674425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6191A-FA29-638F-7E26-42632934E36E}"/>
              </a:ext>
            </a:extLst>
          </p:cNvPr>
          <p:cNvSpPr>
            <a:spLocks noGrp="1"/>
          </p:cNvSpPr>
          <p:nvPr>
            <p:ph type="title"/>
          </p:nvPr>
        </p:nvSpPr>
        <p:spPr/>
        <p:txBody>
          <a:bodyPr/>
          <a:lstStyle/>
          <a:p>
            <a:r>
              <a:rPr lang="en-GB" b="1" dirty="0"/>
              <a:t>Joining tables</a:t>
            </a:r>
          </a:p>
        </p:txBody>
      </p:sp>
      <p:sp>
        <p:nvSpPr>
          <p:cNvPr id="3" name="Content Placeholder 2">
            <a:extLst>
              <a:ext uri="{FF2B5EF4-FFF2-40B4-BE49-F238E27FC236}">
                <a16:creationId xmlns:a16="http://schemas.microsoft.com/office/drawing/2014/main" id="{2BA1A64E-1A34-8AFD-8B3E-B1F29F01E4A8}"/>
              </a:ext>
            </a:extLst>
          </p:cNvPr>
          <p:cNvSpPr>
            <a:spLocks noGrp="1"/>
          </p:cNvSpPr>
          <p:nvPr>
            <p:ph idx="1"/>
          </p:nvPr>
        </p:nvSpPr>
        <p:spPr/>
        <p:txBody>
          <a:bodyPr/>
          <a:lstStyle/>
          <a:p>
            <a:r>
              <a:rPr lang="uk-UA" sz="2000" b="1" dirty="0"/>
              <a:t>JOIN</a:t>
            </a:r>
            <a:r>
              <a:rPr lang="uk-UA" sz="2000" dirty="0"/>
              <a:t> – combines data from two tables.</a:t>
            </a:r>
          </a:p>
          <a:p>
            <a:r>
              <a:rPr lang="uk-UA" sz="2000" b="1" dirty="0"/>
              <a:t>JOIN</a:t>
            </a:r>
            <a:r>
              <a:rPr lang="uk-UA" sz="2000" dirty="0"/>
              <a:t> typically combines rows with matching values in the specified columns. Usually, one table contains a </a:t>
            </a:r>
            <a:r>
              <a:rPr lang="uk-UA" sz="2000" b="1" dirty="0">
                <a:solidFill>
                  <a:srgbClr val="FFC000"/>
                </a:solidFill>
              </a:rPr>
              <a:t>primary key</a:t>
            </a:r>
            <a:r>
              <a:rPr lang="uk-UA" sz="2000" dirty="0"/>
              <a:t>, which is a column that uniquely identifies rows in the table. The other table has a column or columns that reference the </a:t>
            </a:r>
            <a:r>
              <a:rPr lang="uk-UA" sz="2000" b="1" dirty="0">
                <a:solidFill>
                  <a:srgbClr val="FFC000"/>
                </a:solidFill>
              </a:rPr>
              <a:t>primary key</a:t>
            </a:r>
            <a:r>
              <a:rPr lang="uk-UA" sz="2000" dirty="0"/>
              <a:t> in the first table. These columns are </a:t>
            </a:r>
            <a:r>
              <a:rPr lang="uk-UA" sz="2000" b="1" dirty="0">
                <a:solidFill>
                  <a:srgbClr val="002060"/>
                </a:solidFill>
              </a:rPr>
              <a:t>foreign keys</a:t>
            </a:r>
            <a:r>
              <a:rPr lang="uk-UA" sz="2000" dirty="0"/>
              <a:t>. The JOIN condition is the equality between the </a:t>
            </a:r>
            <a:r>
              <a:rPr lang="uk-UA" sz="2000" b="1" dirty="0">
                <a:solidFill>
                  <a:srgbClr val="FFC000"/>
                </a:solidFill>
              </a:rPr>
              <a:t>primary key</a:t>
            </a:r>
            <a:r>
              <a:rPr lang="uk-UA" sz="2000" dirty="0">
                <a:solidFill>
                  <a:srgbClr val="FFC000"/>
                </a:solidFill>
              </a:rPr>
              <a:t> </a:t>
            </a:r>
            <a:r>
              <a:rPr lang="uk-UA" sz="2000" dirty="0"/>
              <a:t>columns in one table and the columns that reference them in the other table.</a:t>
            </a:r>
            <a:endParaRPr lang="en-GB" dirty="0"/>
          </a:p>
        </p:txBody>
      </p:sp>
      <p:pic>
        <p:nvPicPr>
          <p:cNvPr id="4" name="Picture 3">
            <a:extLst>
              <a:ext uri="{FF2B5EF4-FFF2-40B4-BE49-F238E27FC236}">
                <a16:creationId xmlns:a16="http://schemas.microsoft.com/office/drawing/2014/main" id="{B1423AFE-0F64-A277-48F7-64AF7C70EF1F}"/>
              </a:ext>
            </a:extLst>
          </p:cNvPr>
          <p:cNvPicPr>
            <a:picLocks noChangeAspect="1"/>
          </p:cNvPicPr>
          <p:nvPr/>
        </p:nvPicPr>
        <p:blipFill>
          <a:blip r:embed="rId2"/>
          <a:srcRect l="4427" t="45320" r="58368"/>
          <a:stretch>
            <a:fillRect/>
          </a:stretch>
        </p:blipFill>
        <p:spPr>
          <a:xfrm>
            <a:off x="1543453" y="5160552"/>
            <a:ext cx="2842983" cy="1551274"/>
          </a:xfrm>
          <a:prstGeom prst="rect">
            <a:avLst/>
          </a:prstGeom>
        </p:spPr>
      </p:pic>
      <p:pic>
        <p:nvPicPr>
          <p:cNvPr id="5" name="Picture 4">
            <a:extLst>
              <a:ext uri="{FF2B5EF4-FFF2-40B4-BE49-F238E27FC236}">
                <a16:creationId xmlns:a16="http://schemas.microsoft.com/office/drawing/2014/main" id="{58DEC3A9-5CD3-EBBD-3D2D-A36324E7A8D1}"/>
              </a:ext>
            </a:extLst>
          </p:cNvPr>
          <p:cNvPicPr>
            <a:picLocks noChangeAspect="1"/>
          </p:cNvPicPr>
          <p:nvPr/>
        </p:nvPicPr>
        <p:blipFill>
          <a:blip r:embed="rId2"/>
          <a:srcRect l="41851" t="45320"/>
          <a:stretch>
            <a:fillRect/>
          </a:stretch>
        </p:blipFill>
        <p:spPr>
          <a:xfrm>
            <a:off x="5775416" y="5150856"/>
            <a:ext cx="4220460" cy="1473465"/>
          </a:xfrm>
          <a:prstGeom prst="rect">
            <a:avLst/>
          </a:prstGeom>
        </p:spPr>
      </p:pic>
      <p:sp>
        <p:nvSpPr>
          <p:cNvPr id="7" name="Frame 6">
            <a:extLst>
              <a:ext uri="{FF2B5EF4-FFF2-40B4-BE49-F238E27FC236}">
                <a16:creationId xmlns:a16="http://schemas.microsoft.com/office/drawing/2014/main" id="{F63EC9D0-0297-1BBE-7BEE-BC933716EC41}"/>
              </a:ext>
            </a:extLst>
          </p:cNvPr>
          <p:cNvSpPr/>
          <p:nvPr/>
        </p:nvSpPr>
        <p:spPr>
          <a:xfrm>
            <a:off x="1553613" y="5160552"/>
            <a:ext cx="659315" cy="1551274"/>
          </a:xfrm>
          <a:prstGeom prst="frame">
            <a:avLst>
              <a:gd name="adj1" fmla="val 7163"/>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 name="Frame 7">
            <a:extLst>
              <a:ext uri="{FF2B5EF4-FFF2-40B4-BE49-F238E27FC236}">
                <a16:creationId xmlns:a16="http://schemas.microsoft.com/office/drawing/2014/main" id="{CAA0B94C-3B51-C761-B060-CE9DF4957C48}"/>
              </a:ext>
            </a:extLst>
          </p:cNvPr>
          <p:cNvSpPr/>
          <p:nvPr/>
        </p:nvSpPr>
        <p:spPr>
          <a:xfrm>
            <a:off x="8825373" y="5150856"/>
            <a:ext cx="1189259" cy="1551274"/>
          </a:xfrm>
          <a:prstGeom prst="frame">
            <a:avLst>
              <a:gd name="adj1" fmla="val 7163"/>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9" name="TextBox 18">
            <a:extLst>
              <a:ext uri="{FF2B5EF4-FFF2-40B4-BE49-F238E27FC236}">
                <a16:creationId xmlns:a16="http://schemas.microsoft.com/office/drawing/2014/main" id="{52F538A6-EB63-89E8-174B-89DE74D051C8}"/>
              </a:ext>
            </a:extLst>
          </p:cNvPr>
          <p:cNvSpPr txBox="1"/>
          <p:nvPr/>
        </p:nvSpPr>
        <p:spPr>
          <a:xfrm>
            <a:off x="869298" y="4760442"/>
            <a:ext cx="2199279" cy="400110"/>
          </a:xfrm>
          <a:prstGeom prst="rect">
            <a:avLst/>
          </a:prstGeom>
          <a:noFill/>
        </p:spPr>
        <p:txBody>
          <a:bodyPr wrap="square">
            <a:spAutoFit/>
          </a:bodyPr>
          <a:lstStyle/>
          <a:p>
            <a:r>
              <a:rPr lang="uk-UA" sz="2000" dirty="0"/>
              <a:t>Table:</a:t>
            </a:r>
            <a:r>
              <a:rPr lang="uk-UA" sz="2000" b="1" dirty="0"/>
              <a:t> </a:t>
            </a:r>
            <a:r>
              <a:rPr lang="en-GB" sz="2000" b="1" dirty="0"/>
              <a:t>Employee</a:t>
            </a:r>
          </a:p>
        </p:txBody>
      </p:sp>
      <p:sp>
        <p:nvSpPr>
          <p:cNvPr id="21" name="TextBox 20">
            <a:extLst>
              <a:ext uri="{FF2B5EF4-FFF2-40B4-BE49-F238E27FC236}">
                <a16:creationId xmlns:a16="http://schemas.microsoft.com/office/drawing/2014/main" id="{ADBB689A-0348-8D8F-C74A-475AF4A23714}"/>
              </a:ext>
            </a:extLst>
          </p:cNvPr>
          <p:cNvSpPr txBox="1"/>
          <p:nvPr/>
        </p:nvSpPr>
        <p:spPr>
          <a:xfrm>
            <a:off x="5090160" y="4760442"/>
            <a:ext cx="6096000" cy="400110"/>
          </a:xfrm>
          <a:prstGeom prst="rect">
            <a:avLst/>
          </a:prstGeom>
          <a:noFill/>
        </p:spPr>
        <p:txBody>
          <a:bodyPr wrap="square">
            <a:spAutoFit/>
          </a:bodyPr>
          <a:lstStyle/>
          <a:p>
            <a:r>
              <a:rPr lang="uk-UA" sz="2000" dirty="0"/>
              <a:t>Table:</a:t>
            </a:r>
            <a:r>
              <a:rPr lang="uk-UA" sz="2000" b="1" dirty="0"/>
              <a:t> </a:t>
            </a:r>
            <a:r>
              <a:rPr lang="en-GB" sz="2000" b="1" dirty="0" err="1"/>
              <a:t>EmployeeDetails</a:t>
            </a:r>
            <a:endParaRPr lang="en-GB" sz="2000" b="1" dirty="0"/>
          </a:p>
        </p:txBody>
      </p:sp>
    </p:spTree>
    <p:extLst>
      <p:ext uri="{BB962C8B-B14F-4D97-AF65-F5344CB8AC3E}">
        <p14:creationId xmlns:p14="http://schemas.microsoft.com/office/powerpoint/2010/main" val="87883089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275EC-571B-A000-7A1F-1710A4464B08}"/>
              </a:ext>
            </a:extLst>
          </p:cNvPr>
          <p:cNvSpPr>
            <a:spLocks noGrp="1"/>
          </p:cNvSpPr>
          <p:nvPr>
            <p:ph type="title"/>
          </p:nvPr>
        </p:nvSpPr>
        <p:spPr/>
        <p:txBody>
          <a:bodyPr/>
          <a:lstStyle/>
          <a:p>
            <a:r>
              <a:rPr lang="en-GB" b="1" dirty="0"/>
              <a:t>5. LEFT JOIN</a:t>
            </a:r>
          </a:p>
        </p:txBody>
      </p:sp>
      <p:sp>
        <p:nvSpPr>
          <p:cNvPr id="3" name="Content Placeholder 2">
            <a:extLst>
              <a:ext uri="{FF2B5EF4-FFF2-40B4-BE49-F238E27FC236}">
                <a16:creationId xmlns:a16="http://schemas.microsoft.com/office/drawing/2014/main" id="{4A3F8930-90A6-E5FB-71DA-8D3ABBAED0F4}"/>
              </a:ext>
            </a:extLst>
          </p:cNvPr>
          <p:cNvSpPr>
            <a:spLocks noGrp="1"/>
          </p:cNvSpPr>
          <p:nvPr>
            <p:ph idx="1"/>
          </p:nvPr>
        </p:nvSpPr>
        <p:spPr>
          <a:xfrm>
            <a:off x="439270" y="4107976"/>
            <a:ext cx="4513848" cy="2684460"/>
          </a:xfrm>
        </p:spPr>
        <p:txBody>
          <a:bodyPr>
            <a:normAutofit/>
          </a:bodyPr>
          <a:lstStyle/>
          <a:p>
            <a:pPr marL="0" indent="0">
              <a:buNone/>
            </a:pPr>
            <a:r>
              <a:rPr lang="uk-UA" sz="2000" b="1" dirty="0"/>
              <a:t>SQL query template</a:t>
            </a:r>
            <a:r>
              <a:rPr lang="pl-PL" sz="2000" b="1" dirty="0"/>
              <a:t>:</a:t>
            </a:r>
            <a:endParaRPr lang="uk-UA" sz="2000" b="1" dirty="0"/>
          </a:p>
          <a:p>
            <a:pPr marL="0" indent="0">
              <a:buNone/>
            </a:pPr>
            <a:r>
              <a:rPr lang="en-GB" b="1" dirty="0">
                <a:solidFill>
                  <a:srgbClr val="309070"/>
                </a:solidFill>
                <a:highlight>
                  <a:srgbClr val="FFCC66"/>
                </a:highlight>
              </a:rPr>
              <a:t>SELECT </a:t>
            </a:r>
            <a:r>
              <a:rPr lang="uk-UA" b="1" dirty="0">
                <a:solidFill>
                  <a:srgbClr val="309070"/>
                </a:solidFill>
                <a:highlight>
                  <a:srgbClr val="FFCC66"/>
                </a:highlight>
              </a:rPr>
              <a:t> *  </a:t>
            </a:r>
            <a:r>
              <a:rPr lang="en-GB" b="1" dirty="0">
                <a:solidFill>
                  <a:srgbClr val="309070"/>
                </a:solidFill>
                <a:highlight>
                  <a:srgbClr val="FFCC66"/>
                </a:highlight>
              </a:rPr>
              <a:t>FROM "</a:t>
            </a:r>
            <a:r>
              <a:rPr lang="en-GB" b="1" dirty="0" err="1">
                <a:solidFill>
                  <a:srgbClr val="309070"/>
                </a:solidFill>
                <a:highlight>
                  <a:srgbClr val="FFCC66"/>
                </a:highlight>
              </a:rPr>
              <a:t>Table_name</a:t>
            </a:r>
            <a:r>
              <a:rPr lang="uk-UA" b="1" dirty="0">
                <a:solidFill>
                  <a:srgbClr val="309070"/>
                </a:solidFill>
                <a:highlight>
                  <a:srgbClr val="FFCC66"/>
                </a:highlight>
              </a:rPr>
              <a:t>_</a:t>
            </a:r>
            <a:r>
              <a:rPr lang="en-GB" b="1" dirty="0">
                <a:solidFill>
                  <a:srgbClr val="309070"/>
                </a:solidFill>
                <a:highlight>
                  <a:srgbClr val="FFCC66"/>
                </a:highlight>
              </a:rPr>
              <a:t>A"  </a:t>
            </a:r>
            <a:r>
              <a:rPr lang="en-GB" b="1" dirty="0" err="1">
                <a:solidFill>
                  <a:srgbClr val="309070"/>
                </a:solidFill>
                <a:highlight>
                  <a:srgbClr val="FFCC66"/>
                </a:highlight>
              </a:rPr>
              <a:t>tA</a:t>
            </a:r>
            <a:r>
              <a:rPr lang="uk-UA" b="1" dirty="0">
                <a:solidFill>
                  <a:srgbClr val="309070"/>
                </a:solidFill>
                <a:highlight>
                  <a:srgbClr val="FFCC66"/>
                </a:highlight>
              </a:rPr>
              <a:t>  </a:t>
            </a:r>
          </a:p>
          <a:p>
            <a:pPr marL="0" indent="0">
              <a:buNone/>
            </a:pPr>
            <a:r>
              <a:rPr lang="en-GB" b="1" dirty="0">
                <a:solidFill>
                  <a:srgbClr val="309070"/>
                </a:solidFill>
                <a:highlight>
                  <a:srgbClr val="FFCC66"/>
                </a:highlight>
              </a:rPr>
              <a:t>LEFT JOIN “</a:t>
            </a:r>
            <a:r>
              <a:rPr lang="en-GB" b="1" dirty="0" err="1">
                <a:solidFill>
                  <a:srgbClr val="309070"/>
                </a:solidFill>
                <a:highlight>
                  <a:srgbClr val="FFCC66"/>
                </a:highlight>
              </a:rPr>
              <a:t>Table_name_B</a:t>
            </a:r>
            <a:r>
              <a:rPr lang="en-GB" b="1" dirty="0">
                <a:solidFill>
                  <a:srgbClr val="309070"/>
                </a:solidFill>
                <a:highlight>
                  <a:srgbClr val="FFCC66"/>
                </a:highlight>
              </a:rPr>
              <a:t>” </a:t>
            </a:r>
            <a:r>
              <a:rPr lang="en-GB" b="1" dirty="0" err="1">
                <a:solidFill>
                  <a:srgbClr val="309070"/>
                </a:solidFill>
                <a:highlight>
                  <a:srgbClr val="FFCC66"/>
                </a:highlight>
              </a:rPr>
              <a:t>tBON</a:t>
            </a:r>
            <a:r>
              <a:rPr lang="en-GB" b="1" dirty="0">
                <a:solidFill>
                  <a:srgbClr val="309070"/>
                </a:solidFill>
                <a:highlight>
                  <a:srgbClr val="FFCC66"/>
                </a:highlight>
              </a:rPr>
              <a:t> </a:t>
            </a:r>
            <a:r>
              <a:rPr lang="en-GB" b="1" dirty="0" err="1">
                <a:solidFill>
                  <a:srgbClr val="309070"/>
                </a:solidFill>
                <a:highlight>
                  <a:srgbClr val="FFCC66"/>
                </a:highlight>
              </a:rPr>
              <a:t>tA</a:t>
            </a:r>
            <a:r>
              <a:rPr lang="en-GB" b="1" dirty="0">
                <a:solidFill>
                  <a:srgbClr val="309070"/>
                </a:solidFill>
                <a:highlight>
                  <a:srgbClr val="FFCC66"/>
                </a:highlight>
              </a:rPr>
              <a:t>.”</a:t>
            </a:r>
            <a:r>
              <a:rPr lang="en-GB" b="1" dirty="0" err="1">
                <a:solidFill>
                  <a:srgbClr val="309070"/>
                </a:solidFill>
                <a:highlight>
                  <a:srgbClr val="FFCC66"/>
                </a:highlight>
              </a:rPr>
              <a:t>Id_tA</a:t>
            </a:r>
            <a:r>
              <a:rPr lang="en-GB" b="1" dirty="0">
                <a:solidFill>
                  <a:srgbClr val="309070"/>
                </a:solidFill>
                <a:highlight>
                  <a:srgbClr val="FFCC66"/>
                </a:highlight>
              </a:rPr>
              <a:t>” = </a:t>
            </a:r>
            <a:r>
              <a:rPr lang="en-GB" b="1" dirty="0" err="1">
                <a:solidFill>
                  <a:srgbClr val="309070"/>
                </a:solidFill>
                <a:highlight>
                  <a:srgbClr val="FFCC66"/>
                </a:highlight>
              </a:rPr>
              <a:t>tB</a:t>
            </a:r>
            <a:r>
              <a:rPr lang="en-GB" b="1" dirty="0">
                <a:solidFill>
                  <a:srgbClr val="309070"/>
                </a:solidFill>
                <a:highlight>
                  <a:srgbClr val="FFCC66"/>
                </a:highlight>
              </a:rPr>
              <a:t>.”</a:t>
            </a:r>
            <a:r>
              <a:rPr lang="en-GB" b="1" dirty="0" err="1">
                <a:solidFill>
                  <a:srgbClr val="309070"/>
                </a:solidFill>
                <a:highlight>
                  <a:srgbClr val="FFCC66"/>
                </a:highlight>
              </a:rPr>
              <a:t>Id_tB</a:t>
            </a:r>
            <a:r>
              <a:rPr lang="en-GB" b="1" dirty="0">
                <a:solidFill>
                  <a:srgbClr val="309070"/>
                </a:solidFill>
                <a:highlight>
                  <a:srgbClr val="FFCC66"/>
                </a:highlight>
              </a:rPr>
              <a:t>”</a:t>
            </a:r>
            <a:endParaRPr lang="uk-UA" b="1" dirty="0">
              <a:solidFill>
                <a:srgbClr val="309070"/>
              </a:solidFill>
              <a:highlight>
                <a:srgbClr val="FFCC66"/>
              </a:highlight>
            </a:endParaRPr>
          </a:p>
          <a:p>
            <a:pPr marL="0" indent="0">
              <a:buNone/>
            </a:pPr>
            <a:endParaRPr lang="en-GB" dirty="0"/>
          </a:p>
        </p:txBody>
      </p:sp>
      <p:pic>
        <p:nvPicPr>
          <p:cNvPr id="13" name="Picture 12">
            <a:extLst>
              <a:ext uri="{FF2B5EF4-FFF2-40B4-BE49-F238E27FC236}">
                <a16:creationId xmlns:a16="http://schemas.microsoft.com/office/drawing/2014/main" id="{83C85FDF-4EFA-0C81-627F-2A217370738E}"/>
              </a:ext>
            </a:extLst>
          </p:cNvPr>
          <p:cNvPicPr>
            <a:picLocks noChangeAspect="1"/>
          </p:cNvPicPr>
          <p:nvPr/>
        </p:nvPicPr>
        <p:blipFill>
          <a:blip r:embed="rId2"/>
          <a:stretch>
            <a:fillRect/>
          </a:stretch>
        </p:blipFill>
        <p:spPr>
          <a:xfrm>
            <a:off x="5279282" y="2837640"/>
            <a:ext cx="6745050" cy="2504240"/>
          </a:xfrm>
          <a:prstGeom prst="rect">
            <a:avLst/>
          </a:prstGeom>
        </p:spPr>
      </p:pic>
      <p:cxnSp>
        <p:nvCxnSpPr>
          <p:cNvPr id="9" name="Straight Arrow Connector 8">
            <a:extLst>
              <a:ext uri="{FF2B5EF4-FFF2-40B4-BE49-F238E27FC236}">
                <a16:creationId xmlns:a16="http://schemas.microsoft.com/office/drawing/2014/main" id="{9F40A67F-ED03-D51E-6F76-74FE53A5FA1D}"/>
              </a:ext>
            </a:extLst>
          </p:cNvPr>
          <p:cNvCxnSpPr>
            <a:cxnSpLocks/>
          </p:cNvCxnSpPr>
          <p:nvPr/>
        </p:nvCxnSpPr>
        <p:spPr>
          <a:xfrm flipV="1">
            <a:off x="3487271" y="3225421"/>
            <a:ext cx="1949087" cy="1274861"/>
          </a:xfrm>
          <a:prstGeom prst="straightConnector1">
            <a:avLst/>
          </a:prstGeom>
          <a:ln w="38100">
            <a:solidFill>
              <a:srgbClr val="309070"/>
            </a:solidFill>
            <a:tailEnd type="triangle"/>
          </a:ln>
        </p:spPr>
        <p:style>
          <a:lnRef idx="3">
            <a:schemeClr val="accent6"/>
          </a:lnRef>
          <a:fillRef idx="0">
            <a:schemeClr val="accent6"/>
          </a:fillRef>
          <a:effectRef idx="2">
            <a:schemeClr val="accent6"/>
          </a:effectRef>
          <a:fontRef idx="minor">
            <a:schemeClr val="tx1"/>
          </a:fontRef>
        </p:style>
      </p:cxnSp>
      <p:sp>
        <p:nvSpPr>
          <p:cNvPr id="7" name="Frame 6">
            <a:extLst>
              <a:ext uri="{FF2B5EF4-FFF2-40B4-BE49-F238E27FC236}">
                <a16:creationId xmlns:a16="http://schemas.microsoft.com/office/drawing/2014/main" id="{59BAA01C-F07E-FB64-0E8C-5986031384DB}"/>
              </a:ext>
            </a:extLst>
          </p:cNvPr>
          <p:cNvSpPr/>
          <p:nvPr/>
        </p:nvSpPr>
        <p:spPr>
          <a:xfrm>
            <a:off x="5275170" y="3993843"/>
            <a:ext cx="2846896" cy="1334513"/>
          </a:xfrm>
          <a:prstGeom prst="frame">
            <a:avLst>
              <a:gd name="adj1" fmla="val 3519"/>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Frame 9">
            <a:extLst>
              <a:ext uri="{FF2B5EF4-FFF2-40B4-BE49-F238E27FC236}">
                <a16:creationId xmlns:a16="http://schemas.microsoft.com/office/drawing/2014/main" id="{6416A0D8-2978-2D75-1B6B-4472161383A7}"/>
              </a:ext>
            </a:extLst>
          </p:cNvPr>
          <p:cNvSpPr/>
          <p:nvPr/>
        </p:nvSpPr>
        <p:spPr>
          <a:xfrm>
            <a:off x="8122066" y="3984999"/>
            <a:ext cx="3902266" cy="1343357"/>
          </a:xfrm>
          <a:prstGeom prst="frame">
            <a:avLst>
              <a:gd name="adj1" fmla="val 3519"/>
            </a:avLst>
          </a:prstGeom>
          <a:solidFill>
            <a:srgbClr val="6699FF"/>
          </a:solidFill>
          <a:ln>
            <a:solidFill>
              <a:srgbClr val="66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 name="TextBox 4">
            <a:extLst>
              <a:ext uri="{FF2B5EF4-FFF2-40B4-BE49-F238E27FC236}">
                <a16:creationId xmlns:a16="http://schemas.microsoft.com/office/drawing/2014/main" id="{A023E87E-B5D4-E0B1-81F6-FBE8AF76E19B}"/>
              </a:ext>
            </a:extLst>
          </p:cNvPr>
          <p:cNvSpPr txBox="1"/>
          <p:nvPr/>
        </p:nvSpPr>
        <p:spPr>
          <a:xfrm>
            <a:off x="439270" y="2191309"/>
            <a:ext cx="4513849" cy="1631216"/>
          </a:xfrm>
          <a:prstGeom prst="rect">
            <a:avLst/>
          </a:prstGeom>
          <a:noFill/>
        </p:spPr>
        <p:txBody>
          <a:bodyPr wrap="square">
            <a:spAutoFit/>
          </a:bodyPr>
          <a:lstStyle/>
          <a:p>
            <a:r>
              <a:rPr lang="uk-UA" sz="2000" dirty="0"/>
              <a:t>Joins two tables, returning all records from the left table with matching rows from the right table. Rows without a match are filled with NULL.</a:t>
            </a:r>
            <a:endParaRPr lang="en-GB" sz="1800" b="1" dirty="0"/>
          </a:p>
        </p:txBody>
      </p:sp>
    </p:spTree>
    <p:extLst>
      <p:ext uri="{BB962C8B-B14F-4D97-AF65-F5344CB8AC3E}">
        <p14:creationId xmlns:p14="http://schemas.microsoft.com/office/powerpoint/2010/main" val="103988232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83B97-30A8-3079-85B5-8AF2DC7D2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0387BD-ED9E-3FA6-8E62-67E293942D07}"/>
              </a:ext>
            </a:extLst>
          </p:cNvPr>
          <p:cNvSpPr>
            <a:spLocks noGrp="1"/>
          </p:cNvSpPr>
          <p:nvPr>
            <p:ph type="title"/>
          </p:nvPr>
        </p:nvSpPr>
        <p:spPr/>
        <p:txBody>
          <a:bodyPr/>
          <a:lstStyle/>
          <a:p>
            <a:r>
              <a:rPr lang="en-GB" b="1" dirty="0"/>
              <a:t>5.1. RIGHT JOIN</a:t>
            </a:r>
          </a:p>
        </p:txBody>
      </p:sp>
      <p:sp>
        <p:nvSpPr>
          <p:cNvPr id="3" name="Content Placeholder 2">
            <a:extLst>
              <a:ext uri="{FF2B5EF4-FFF2-40B4-BE49-F238E27FC236}">
                <a16:creationId xmlns:a16="http://schemas.microsoft.com/office/drawing/2014/main" id="{48DC89F8-D487-1405-8472-0A83B03ED174}"/>
              </a:ext>
            </a:extLst>
          </p:cNvPr>
          <p:cNvSpPr>
            <a:spLocks noGrp="1"/>
          </p:cNvSpPr>
          <p:nvPr>
            <p:ph idx="1"/>
          </p:nvPr>
        </p:nvSpPr>
        <p:spPr>
          <a:xfrm>
            <a:off x="435523" y="4451322"/>
            <a:ext cx="4537675" cy="2577079"/>
          </a:xfrm>
        </p:spPr>
        <p:txBody>
          <a:bodyPr>
            <a:normAutofit/>
          </a:bodyPr>
          <a:lstStyle/>
          <a:p>
            <a:pPr marL="0" indent="0">
              <a:buNone/>
            </a:pPr>
            <a:r>
              <a:rPr lang="uk-UA" sz="2000" b="1" dirty="0"/>
              <a:t>SQL query template</a:t>
            </a:r>
            <a:r>
              <a:rPr lang="pl-PL" sz="2000" b="1" dirty="0"/>
              <a:t>:</a:t>
            </a:r>
            <a:endParaRPr lang="uk-UA" sz="2000" b="1" dirty="0"/>
          </a:p>
          <a:p>
            <a:pPr marL="0" indent="0">
              <a:buNone/>
            </a:pPr>
            <a:r>
              <a:rPr lang="en-GB" b="1" dirty="0">
                <a:solidFill>
                  <a:srgbClr val="309070"/>
                </a:solidFill>
                <a:highlight>
                  <a:srgbClr val="FFCC66"/>
                </a:highlight>
              </a:rPr>
              <a:t>SELECT </a:t>
            </a:r>
            <a:r>
              <a:rPr lang="uk-UA" b="1" dirty="0">
                <a:solidFill>
                  <a:srgbClr val="309070"/>
                </a:solidFill>
                <a:highlight>
                  <a:srgbClr val="FFCC66"/>
                </a:highlight>
              </a:rPr>
              <a:t> *  </a:t>
            </a:r>
            <a:r>
              <a:rPr lang="en-GB" b="1" dirty="0">
                <a:solidFill>
                  <a:srgbClr val="309070"/>
                </a:solidFill>
                <a:highlight>
                  <a:srgbClr val="FFCC66"/>
                </a:highlight>
              </a:rPr>
              <a:t>FROM "</a:t>
            </a:r>
            <a:r>
              <a:rPr lang="en-GB" b="1" dirty="0" err="1">
                <a:solidFill>
                  <a:srgbClr val="309070"/>
                </a:solidFill>
                <a:highlight>
                  <a:srgbClr val="FFCC66"/>
                </a:highlight>
              </a:rPr>
              <a:t>Table_name</a:t>
            </a:r>
            <a:r>
              <a:rPr lang="uk-UA" b="1" dirty="0">
                <a:solidFill>
                  <a:srgbClr val="309070"/>
                </a:solidFill>
                <a:highlight>
                  <a:srgbClr val="FFCC66"/>
                </a:highlight>
              </a:rPr>
              <a:t>_</a:t>
            </a:r>
            <a:r>
              <a:rPr lang="en-GB" b="1" dirty="0">
                <a:solidFill>
                  <a:srgbClr val="309070"/>
                </a:solidFill>
                <a:highlight>
                  <a:srgbClr val="FFCC66"/>
                </a:highlight>
              </a:rPr>
              <a:t>A"  </a:t>
            </a:r>
            <a:r>
              <a:rPr lang="en-GB" b="1" dirty="0" err="1">
                <a:solidFill>
                  <a:srgbClr val="309070"/>
                </a:solidFill>
                <a:highlight>
                  <a:srgbClr val="FFCC66"/>
                </a:highlight>
              </a:rPr>
              <a:t>tA</a:t>
            </a:r>
            <a:r>
              <a:rPr lang="uk-UA" b="1" dirty="0">
                <a:solidFill>
                  <a:srgbClr val="309070"/>
                </a:solidFill>
                <a:highlight>
                  <a:srgbClr val="FFCC66"/>
                </a:highlight>
              </a:rPr>
              <a:t>  </a:t>
            </a:r>
          </a:p>
          <a:p>
            <a:pPr marL="0" indent="0">
              <a:buNone/>
            </a:pPr>
            <a:r>
              <a:rPr lang="en-GB" b="1" dirty="0">
                <a:solidFill>
                  <a:srgbClr val="309070"/>
                </a:solidFill>
                <a:highlight>
                  <a:srgbClr val="FFCC66"/>
                </a:highlight>
              </a:rPr>
              <a:t>RIGHT JOIN “</a:t>
            </a:r>
            <a:r>
              <a:rPr lang="en-GB" b="1" dirty="0" err="1">
                <a:solidFill>
                  <a:srgbClr val="309070"/>
                </a:solidFill>
                <a:highlight>
                  <a:srgbClr val="FFCC66"/>
                </a:highlight>
              </a:rPr>
              <a:t>Table_name_B</a:t>
            </a:r>
            <a:r>
              <a:rPr lang="en-GB" b="1" dirty="0">
                <a:solidFill>
                  <a:srgbClr val="309070"/>
                </a:solidFill>
                <a:highlight>
                  <a:srgbClr val="FFCC66"/>
                </a:highlight>
              </a:rPr>
              <a:t>” </a:t>
            </a:r>
            <a:r>
              <a:rPr lang="en-GB" b="1" dirty="0" err="1">
                <a:solidFill>
                  <a:srgbClr val="309070"/>
                </a:solidFill>
                <a:highlight>
                  <a:srgbClr val="FFCC66"/>
                </a:highlight>
              </a:rPr>
              <a:t>tB</a:t>
            </a:r>
            <a:r>
              <a:rPr lang="uk-UA" b="1" dirty="0">
                <a:solidFill>
                  <a:srgbClr val="309070"/>
                </a:solidFill>
                <a:highlight>
                  <a:srgbClr val="FFCC66"/>
                </a:highlight>
              </a:rPr>
              <a:t> </a:t>
            </a:r>
            <a:r>
              <a:rPr lang="en-GB" b="1" dirty="0">
                <a:solidFill>
                  <a:srgbClr val="309070"/>
                </a:solidFill>
                <a:highlight>
                  <a:srgbClr val="FFCC66"/>
                </a:highlight>
              </a:rPr>
              <a:t>ON </a:t>
            </a:r>
            <a:r>
              <a:rPr lang="en-GB" b="1" dirty="0" err="1">
                <a:solidFill>
                  <a:srgbClr val="309070"/>
                </a:solidFill>
                <a:highlight>
                  <a:srgbClr val="FFCC66"/>
                </a:highlight>
              </a:rPr>
              <a:t>tA</a:t>
            </a:r>
            <a:r>
              <a:rPr lang="en-GB" b="1" dirty="0">
                <a:solidFill>
                  <a:srgbClr val="309070"/>
                </a:solidFill>
                <a:highlight>
                  <a:srgbClr val="FFCC66"/>
                </a:highlight>
              </a:rPr>
              <a:t>.”</a:t>
            </a:r>
            <a:r>
              <a:rPr lang="en-GB" b="1" dirty="0" err="1">
                <a:solidFill>
                  <a:srgbClr val="309070"/>
                </a:solidFill>
                <a:highlight>
                  <a:srgbClr val="FFCC66"/>
                </a:highlight>
              </a:rPr>
              <a:t>Id_tA</a:t>
            </a:r>
            <a:r>
              <a:rPr lang="en-GB" b="1" dirty="0">
                <a:solidFill>
                  <a:srgbClr val="309070"/>
                </a:solidFill>
                <a:highlight>
                  <a:srgbClr val="FFCC66"/>
                </a:highlight>
              </a:rPr>
              <a:t>” = </a:t>
            </a:r>
            <a:r>
              <a:rPr lang="en-GB" b="1" dirty="0" err="1">
                <a:solidFill>
                  <a:srgbClr val="309070"/>
                </a:solidFill>
                <a:highlight>
                  <a:srgbClr val="FFCC66"/>
                </a:highlight>
              </a:rPr>
              <a:t>tB</a:t>
            </a:r>
            <a:r>
              <a:rPr lang="en-GB" b="1" dirty="0">
                <a:solidFill>
                  <a:srgbClr val="309070"/>
                </a:solidFill>
                <a:highlight>
                  <a:srgbClr val="FFCC66"/>
                </a:highlight>
              </a:rPr>
              <a:t>.”</a:t>
            </a:r>
            <a:r>
              <a:rPr lang="en-GB" b="1" dirty="0" err="1">
                <a:solidFill>
                  <a:srgbClr val="309070"/>
                </a:solidFill>
                <a:highlight>
                  <a:srgbClr val="FFCC66"/>
                </a:highlight>
              </a:rPr>
              <a:t>Id_tB</a:t>
            </a:r>
            <a:r>
              <a:rPr lang="en-GB" b="1" dirty="0">
                <a:solidFill>
                  <a:srgbClr val="309070"/>
                </a:solidFill>
                <a:highlight>
                  <a:srgbClr val="FFCC66"/>
                </a:highlight>
              </a:rPr>
              <a:t>”</a:t>
            </a:r>
            <a:endParaRPr lang="uk-UA" b="1" dirty="0">
              <a:solidFill>
                <a:srgbClr val="309070"/>
              </a:solidFill>
              <a:highlight>
                <a:srgbClr val="FFCC66"/>
              </a:highlight>
            </a:endParaRPr>
          </a:p>
          <a:p>
            <a:pPr marL="0" indent="0">
              <a:buNone/>
            </a:pPr>
            <a:endParaRPr lang="en-GB" dirty="0"/>
          </a:p>
        </p:txBody>
      </p:sp>
      <p:pic>
        <p:nvPicPr>
          <p:cNvPr id="5" name="Picture 4">
            <a:extLst>
              <a:ext uri="{FF2B5EF4-FFF2-40B4-BE49-F238E27FC236}">
                <a16:creationId xmlns:a16="http://schemas.microsoft.com/office/drawing/2014/main" id="{1198C13E-AC7C-8134-FA36-8AFF442B5E61}"/>
              </a:ext>
            </a:extLst>
          </p:cNvPr>
          <p:cNvPicPr>
            <a:picLocks noChangeAspect="1"/>
          </p:cNvPicPr>
          <p:nvPr/>
        </p:nvPicPr>
        <p:blipFill>
          <a:blip r:embed="rId3"/>
          <a:stretch>
            <a:fillRect/>
          </a:stretch>
        </p:blipFill>
        <p:spPr>
          <a:xfrm>
            <a:off x="5069596" y="2588977"/>
            <a:ext cx="6931528" cy="2338623"/>
          </a:xfrm>
          <a:prstGeom prst="rect">
            <a:avLst/>
          </a:prstGeom>
        </p:spPr>
      </p:pic>
      <p:cxnSp>
        <p:nvCxnSpPr>
          <p:cNvPr id="9" name="Straight Arrow Connector 8">
            <a:extLst>
              <a:ext uri="{FF2B5EF4-FFF2-40B4-BE49-F238E27FC236}">
                <a16:creationId xmlns:a16="http://schemas.microsoft.com/office/drawing/2014/main" id="{B0079A3B-B547-43D7-925A-87F7CB0A3C69}"/>
              </a:ext>
            </a:extLst>
          </p:cNvPr>
          <p:cNvCxnSpPr>
            <a:cxnSpLocks/>
          </p:cNvCxnSpPr>
          <p:nvPr/>
        </p:nvCxnSpPr>
        <p:spPr>
          <a:xfrm flipV="1">
            <a:off x="3829635" y="2819923"/>
            <a:ext cx="1388359" cy="1826181"/>
          </a:xfrm>
          <a:prstGeom prst="straightConnector1">
            <a:avLst/>
          </a:prstGeom>
          <a:ln w="38100">
            <a:solidFill>
              <a:srgbClr val="309070"/>
            </a:solidFill>
            <a:tailEnd type="triangle"/>
          </a:ln>
        </p:spPr>
        <p:style>
          <a:lnRef idx="3">
            <a:schemeClr val="accent6"/>
          </a:lnRef>
          <a:fillRef idx="0">
            <a:schemeClr val="accent6"/>
          </a:fillRef>
          <a:effectRef idx="2">
            <a:schemeClr val="accent6"/>
          </a:effectRef>
          <a:fontRef idx="minor">
            <a:schemeClr val="tx1"/>
          </a:fontRef>
        </p:style>
      </p:cxnSp>
      <p:sp>
        <p:nvSpPr>
          <p:cNvPr id="7" name="Frame 6">
            <a:extLst>
              <a:ext uri="{FF2B5EF4-FFF2-40B4-BE49-F238E27FC236}">
                <a16:creationId xmlns:a16="http://schemas.microsoft.com/office/drawing/2014/main" id="{EA5DB8C3-C9C5-15F5-6203-33C023F35FB6}"/>
              </a:ext>
            </a:extLst>
          </p:cNvPr>
          <p:cNvSpPr/>
          <p:nvPr/>
        </p:nvSpPr>
        <p:spPr>
          <a:xfrm>
            <a:off x="5029200" y="3733014"/>
            <a:ext cx="2936449" cy="1225066"/>
          </a:xfrm>
          <a:prstGeom prst="frame">
            <a:avLst>
              <a:gd name="adj1" fmla="val 3030"/>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Frame 9">
            <a:extLst>
              <a:ext uri="{FF2B5EF4-FFF2-40B4-BE49-F238E27FC236}">
                <a16:creationId xmlns:a16="http://schemas.microsoft.com/office/drawing/2014/main" id="{FBDF1E74-BAD5-365F-1C36-896EBE7F5691}"/>
              </a:ext>
            </a:extLst>
          </p:cNvPr>
          <p:cNvSpPr/>
          <p:nvPr/>
        </p:nvSpPr>
        <p:spPr>
          <a:xfrm>
            <a:off x="7965649" y="3733014"/>
            <a:ext cx="4035475" cy="1225066"/>
          </a:xfrm>
          <a:prstGeom prst="frame">
            <a:avLst>
              <a:gd name="adj1" fmla="val 3030"/>
            </a:avLst>
          </a:prstGeom>
          <a:solidFill>
            <a:srgbClr val="6699FF"/>
          </a:solidFill>
          <a:ln>
            <a:solidFill>
              <a:srgbClr val="66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 name="TextBox 5">
            <a:extLst>
              <a:ext uri="{FF2B5EF4-FFF2-40B4-BE49-F238E27FC236}">
                <a16:creationId xmlns:a16="http://schemas.microsoft.com/office/drawing/2014/main" id="{B97B0FC9-4415-C410-EB0E-7D0D682CF315}"/>
              </a:ext>
            </a:extLst>
          </p:cNvPr>
          <p:cNvSpPr txBox="1"/>
          <p:nvPr/>
        </p:nvSpPr>
        <p:spPr>
          <a:xfrm>
            <a:off x="471326" y="2235331"/>
            <a:ext cx="4405474" cy="1631216"/>
          </a:xfrm>
          <a:prstGeom prst="rect">
            <a:avLst/>
          </a:prstGeom>
          <a:noFill/>
        </p:spPr>
        <p:txBody>
          <a:bodyPr wrap="square">
            <a:spAutoFit/>
          </a:bodyPr>
          <a:lstStyle/>
          <a:p>
            <a:r>
              <a:rPr lang="uk-UA" sz="2000" dirty="0"/>
              <a:t>Joins two tables, returning all records from the right table with matching rows from the left table. Rows without a match are filled with NULL.</a:t>
            </a:r>
            <a:endParaRPr lang="en-GB" sz="1800" b="1" dirty="0"/>
          </a:p>
        </p:txBody>
      </p:sp>
    </p:spTree>
    <p:extLst>
      <p:ext uri="{BB962C8B-B14F-4D97-AF65-F5344CB8AC3E}">
        <p14:creationId xmlns:p14="http://schemas.microsoft.com/office/powerpoint/2010/main" val="28156594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A8364-41EC-BF7E-4DCF-E5850DD60A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E4F49-14ED-890F-9FD6-BB74DC5EE456}"/>
              </a:ext>
            </a:extLst>
          </p:cNvPr>
          <p:cNvSpPr>
            <a:spLocks noGrp="1"/>
          </p:cNvSpPr>
          <p:nvPr>
            <p:ph type="title"/>
          </p:nvPr>
        </p:nvSpPr>
        <p:spPr/>
        <p:txBody>
          <a:bodyPr/>
          <a:lstStyle/>
          <a:p>
            <a:r>
              <a:rPr lang="en-GB" b="1" dirty="0"/>
              <a:t>5.2. FULL JOIN</a:t>
            </a:r>
          </a:p>
        </p:txBody>
      </p:sp>
      <p:sp>
        <p:nvSpPr>
          <p:cNvPr id="3" name="Content Placeholder 2">
            <a:extLst>
              <a:ext uri="{FF2B5EF4-FFF2-40B4-BE49-F238E27FC236}">
                <a16:creationId xmlns:a16="http://schemas.microsoft.com/office/drawing/2014/main" id="{9C929F6F-1504-826D-70A9-34252D879920}"/>
              </a:ext>
            </a:extLst>
          </p:cNvPr>
          <p:cNvSpPr>
            <a:spLocks noGrp="1"/>
          </p:cNvSpPr>
          <p:nvPr>
            <p:ph idx="1"/>
          </p:nvPr>
        </p:nvSpPr>
        <p:spPr>
          <a:xfrm>
            <a:off x="680321" y="2336872"/>
            <a:ext cx="4539861" cy="4341431"/>
          </a:xfrm>
        </p:spPr>
        <p:txBody>
          <a:bodyPr>
            <a:normAutofit/>
          </a:bodyPr>
          <a:lstStyle/>
          <a:p>
            <a:pPr marL="0" indent="0">
              <a:lnSpc>
                <a:spcPct val="110000"/>
              </a:lnSpc>
              <a:buNone/>
            </a:pPr>
            <a:r>
              <a:rPr lang="uk-UA" sz="2000" dirty="0"/>
              <a:t>Joins two tables, returning all records from both the left and right tables. Rows without a match are filled with NULL.</a:t>
            </a:r>
          </a:p>
          <a:p>
            <a:pPr marL="0" indent="0">
              <a:lnSpc>
                <a:spcPct val="110000"/>
              </a:lnSpc>
              <a:buNone/>
            </a:pPr>
            <a:endParaRPr lang="en-GB" sz="2000" b="1" dirty="0"/>
          </a:p>
          <a:p>
            <a:pPr marL="0" indent="0">
              <a:buNone/>
            </a:pPr>
            <a:r>
              <a:rPr lang="uk-UA" sz="2000" b="1" dirty="0"/>
              <a:t>SQL query template</a:t>
            </a:r>
            <a:r>
              <a:rPr lang="pl-PL" sz="2000" b="1" dirty="0"/>
              <a:t>:</a:t>
            </a:r>
            <a:endParaRPr lang="uk-UA" sz="2000" b="1" dirty="0"/>
          </a:p>
          <a:p>
            <a:pPr marL="0" indent="0">
              <a:buNone/>
            </a:pPr>
            <a:r>
              <a:rPr lang="en-GB" b="1" dirty="0">
                <a:solidFill>
                  <a:srgbClr val="309070"/>
                </a:solidFill>
                <a:highlight>
                  <a:srgbClr val="FFCC66"/>
                </a:highlight>
              </a:rPr>
              <a:t>SELECT </a:t>
            </a:r>
            <a:r>
              <a:rPr lang="uk-UA" b="1" dirty="0">
                <a:solidFill>
                  <a:srgbClr val="309070"/>
                </a:solidFill>
                <a:highlight>
                  <a:srgbClr val="FFCC66"/>
                </a:highlight>
              </a:rPr>
              <a:t> *  </a:t>
            </a:r>
            <a:r>
              <a:rPr lang="en-GB" b="1" dirty="0">
                <a:solidFill>
                  <a:srgbClr val="309070"/>
                </a:solidFill>
                <a:highlight>
                  <a:srgbClr val="FFCC66"/>
                </a:highlight>
              </a:rPr>
              <a:t>FROM "</a:t>
            </a:r>
            <a:r>
              <a:rPr lang="en-GB" b="1" dirty="0" err="1">
                <a:solidFill>
                  <a:srgbClr val="309070"/>
                </a:solidFill>
                <a:highlight>
                  <a:srgbClr val="FFCC66"/>
                </a:highlight>
              </a:rPr>
              <a:t>Table_name</a:t>
            </a:r>
            <a:r>
              <a:rPr lang="uk-UA" b="1" dirty="0">
                <a:solidFill>
                  <a:srgbClr val="309070"/>
                </a:solidFill>
                <a:highlight>
                  <a:srgbClr val="FFCC66"/>
                </a:highlight>
              </a:rPr>
              <a:t>_</a:t>
            </a:r>
            <a:r>
              <a:rPr lang="en-GB" b="1" dirty="0">
                <a:solidFill>
                  <a:srgbClr val="309070"/>
                </a:solidFill>
                <a:highlight>
                  <a:srgbClr val="FFCC66"/>
                </a:highlight>
              </a:rPr>
              <a:t>A"  </a:t>
            </a:r>
            <a:r>
              <a:rPr lang="en-GB" b="1" dirty="0" err="1">
                <a:solidFill>
                  <a:srgbClr val="309070"/>
                </a:solidFill>
                <a:highlight>
                  <a:srgbClr val="FFCC66"/>
                </a:highlight>
              </a:rPr>
              <a:t>tA</a:t>
            </a:r>
            <a:r>
              <a:rPr lang="uk-UA" b="1" dirty="0">
                <a:solidFill>
                  <a:srgbClr val="309070"/>
                </a:solidFill>
                <a:highlight>
                  <a:srgbClr val="FFCC66"/>
                </a:highlight>
              </a:rPr>
              <a:t>  </a:t>
            </a:r>
          </a:p>
          <a:p>
            <a:pPr marL="0" indent="0">
              <a:buNone/>
            </a:pPr>
            <a:r>
              <a:rPr lang="en-GB" b="1" dirty="0">
                <a:solidFill>
                  <a:srgbClr val="309070"/>
                </a:solidFill>
                <a:highlight>
                  <a:srgbClr val="FFCC66"/>
                </a:highlight>
              </a:rPr>
              <a:t>FULL JOIN “</a:t>
            </a:r>
            <a:r>
              <a:rPr lang="en-GB" b="1" dirty="0" err="1">
                <a:solidFill>
                  <a:srgbClr val="309070"/>
                </a:solidFill>
                <a:highlight>
                  <a:srgbClr val="FFCC66"/>
                </a:highlight>
              </a:rPr>
              <a:t>Table_name_B</a:t>
            </a:r>
            <a:r>
              <a:rPr lang="en-GB" b="1" dirty="0">
                <a:solidFill>
                  <a:srgbClr val="309070"/>
                </a:solidFill>
                <a:highlight>
                  <a:srgbClr val="FFCC66"/>
                </a:highlight>
              </a:rPr>
              <a:t>” </a:t>
            </a:r>
            <a:r>
              <a:rPr lang="en-GB" b="1" dirty="0" err="1">
                <a:solidFill>
                  <a:srgbClr val="309070"/>
                </a:solidFill>
                <a:highlight>
                  <a:srgbClr val="FFCC66"/>
                </a:highlight>
              </a:rPr>
              <a:t>tB</a:t>
            </a:r>
            <a:r>
              <a:rPr lang="uk-UA" b="1" dirty="0">
                <a:solidFill>
                  <a:srgbClr val="309070"/>
                </a:solidFill>
                <a:highlight>
                  <a:srgbClr val="FFCC66"/>
                </a:highlight>
              </a:rPr>
              <a:t> </a:t>
            </a:r>
            <a:r>
              <a:rPr lang="en-GB" b="1" dirty="0">
                <a:solidFill>
                  <a:srgbClr val="309070"/>
                </a:solidFill>
                <a:highlight>
                  <a:srgbClr val="FFCC66"/>
                </a:highlight>
              </a:rPr>
              <a:t>ON </a:t>
            </a:r>
            <a:r>
              <a:rPr lang="en-GB" b="1" dirty="0" err="1">
                <a:solidFill>
                  <a:srgbClr val="309070"/>
                </a:solidFill>
                <a:highlight>
                  <a:srgbClr val="FFCC66"/>
                </a:highlight>
              </a:rPr>
              <a:t>tA</a:t>
            </a:r>
            <a:r>
              <a:rPr lang="en-GB" b="1" dirty="0">
                <a:solidFill>
                  <a:srgbClr val="309070"/>
                </a:solidFill>
                <a:highlight>
                  <a:srgbClr val="FFCC66"/>
                </a:highlight>
              </a:rPr>
              <a:t>.”</a:t>
            </a:r>
            <a:r>
              <a:rPr lang="en-GB" b="1" dirty="0" err="1">
                <a:solidFill>
                  <a:srgbClr val="309070"/>
                </a:solidFill>
                <a:highlight>
                  <a:srgbClr val="FFCC66"/>
                </a:highlight>
              </a:rPr>
              <a:t>Id_tA</a:t>
            </a:r>
            <a:r>
              <a:rPr lang="en-GB" b="1" dirty="0">
                <a:solidFill>
                  <a:srgbClr val="309070"/>
                </a:solidFill>
                <a:highlight>
                  <a:srgbClr val="FFCC66"/>
                </a:highlight>
              </a:rPr>
              <a:t>” = </a:t>
            </a:r>
            <a:r>
              <a:rPr lang="en-GB" b="1" dirty="0" err="1">
                <a:solidFill>
                  <a:srgbClr val="309070"/>
                </a:solidFill>
                <a:highlight>
                  <a:srgbClr val="FFCC66"/>
                </a:highlight>
              </a:rPr>
              <a:t>tB</a:t>
            </a:r>
            <a:r>
              <a:rPr lang="en-GB" b="1" dirty="0">
                <a:solidFill>
                  <a:srgbClr val="309070"/>
                </a:solidFill>
                <a:highlight>
                  <a:srgbClr val="FFCC66"/>
                </a:highlight>
              </a:rPr>
              <a:t>.”</a:t>
            </a:r>
            <a:r>
              <a:rPr lang="en-GB" b="1" dirty="0" err="1">
                <a:solidFill>
                  <a:srgbClr val="309070"/>
                </a:solidFill>
                <a:highlight>
                  <a:srgbClr val="FFCC66"/>
                </a:highlight>
              </a:rPr>
              <a:t>Id_tB</a:t>
            </a:r>
            <a:r>
              <a:rPr lang="en-GB" b="1" dirty="0">
                <a:solidFill>
                  <a:srgbClr val="309070"/>
                </a:solidFill>
                <a:highlight>
                  <a:srgbClr val="FFCC66"/>
                </a:highlight>
              </a:rPr>
              <a:t>”</a:t>
            </a:r>
            <a:endParaRPr lang="uk-UA" b="1" dirty="0">
              <a:solidFill>
                <a:srgbClr val="309070"/>
              </a:solidFill>
              <a:highlight>
                <a:srgbClr val="FFCC66"/>
              </a:highlight>
            </a:endParaRPr>
          </a:p>
          <a:p>
            <a:pPr marL="0" indent="0">
              <a:buNone/>
            </a:pPr>
            <a:endParaRPr lang="en-GB" dirty="0"/>
          </a:p>
        </p:txBody>
      </p:sp>
      <p:pic>
        <p:nvPicPr>
          <p:cNvPr id="6" name="Picture 5">
            <a:extLst>
              <a:ext uri="{FF2B5EF4-FFF2-40B4-BE49-F238E27FC236}">
                <a16:creationId xmlns:a16="http://schemas.microsoft.com/office/drawing/2014/main" id="{C8AA287B-ADD7-60FF-4303-A55DB7F65127}"/>
              </a:ext>
            </a:extLst>
          </p:cNvPr>
          <p:cNvPicPr>
            <a:picLocks noChangeAspect="1"/>
          </p:cNvPicPr>
          <p:nvPr/>
        </p:nvPicPr>
        <p:blipFill>
          <a:blip r:embed="rId2"/>
          <a:stretch>
            <a:fillRect/>
          </a:stretch>
        </p:blipFill>
        <p:spPr>
          <a:xfrm>
            <a:off x="5220182" y="2590057"/>
            <a:ext cx="6813622" cy="2486559"/>
          </a:xfrm>
          <a:prstGeom prst="rect">
            <a:avLst/>
          </a:prstGeom>
        </p:spPr>
      </p:pic>
      <p:cxnSp>
        <p:nvCxnSpPr>
          <p:cNvPr id="9" name="Straight Arrow Connector 8">
            <a:extLst>
              <a:ext uri="{FF2B5EF4-FFF2-40B4-BE49-F238E27FC236}">
                <a16:creationId xmlns:a16="http://schemas.microsoft.com/office/drawing/2014/main" id="{BA70FA6C-A5E4-CF3D-ACD6-7B9D2DFD3B00}"/>
              </a:ext>
            </a:extLst>
          </p:cNvPr>
          <p:cNvCxnSpPr>
            <a:cxnSpLocks/>
          </p:cNvCxnSpPr>
          <p:nvPr/>
        </p:nvCxnSpPr>
        <p:spPr>
          <a:xfrm flipV="1">
            <a:off x="3935392" y="2963119"/>
            <a:ext cx="1608881" cy="2113497"/>
          </a:xfrm>
          <a:prstGeom prst="straightConnector1">
            <a:avLst/>
          </a:prstGeom>
          <a:ln w="38100">
            <a:solidFill>
              <a:srgbClr val="309070"/>
            </a:solidFill>
            <a:tailEnd type="triangle"/>
          </a:ln>
        </p:spPr>
        <p:style>
          <a:lnRef idx="3">
            <a:schemeClr val="accent6"/>
          </a:lnRef>
          <a:fillRef idx="0">
            <a:schemeClr val="accent6"/>
          </a:fillRef>
          <a:effectRef idx="2">
            <a:schemeClr val="accent6"/>
          </a:effectRef>
          <a:fontRef idx="minor">
            <a:schemeClr val="tx1"/>
          </a:fontRef>
        </p:style>
      </p:cxnSp>
      <p:sp>
        <p:nvSpPr>
          <p:cNvPr id="10" name="Frame 9">
            <a:extLst>
              <a:ext uri="{FF2B5EF4-FFF2-40B4-BE49-F238E27FC236}">
                <a16:creationId xmlns:a16="http://schemas.microsoft.com/office/drawing/2014/main" id="{5DA07584-F0EB-A8FD-945C-067E745E0A09}"/>
              </a:ext>
            </a:extLst>
          </p:cNvPr>
          <p:cNvSpPr/>
          <p:nvPr/>
        </p:nvSpPr>
        <p:spPr>
          <a:xfrm>
            <a:off x="5194168" y="3745546"/>
            <a:ext cx="2912901" cy="1334513"/>
          </a:xfrm>
          <a:prstGeom prst="frame">
            <a:avLst>
              <a:gd name="adj1" fmla="val 3519"/>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Frame 10">
            <a:extLst>
              <a:ext uri="{FF2B5EF4-FFF2-40B4-BE49-F238E27FC236}">
                <a16:creationId xmlns:a16="http://schemas.microsoft.com/office/drawing/2014/main" id="{C4BF139B-F552-2835-DC2D-A2BAEE45F46D}"/>
              </a:ext>
            </a:extLst>
          </p:cNvPr>
          <p:cNvSpPr/>
          <p:nvPr/>
        </p:nvSpPr>
        <p:spPr>
          <a:xfrm>
            <a:off x="8041064" y="3736702"/>
            <a:ext cx="3992739" cy="1343357"/>
          </a:xfrm>
          <a:prstGeom prst="frame">
            <a:avLst>
              <a:gd name="adj1" fmla="val 3519"/>
            </a:avLst>
          </a:prstGeom>
          <a:solidFill>
            <a:srgbClr val="6699FF"/>
          </a:solidFill>
          <a:ln>
            <a:solidFill>
              <a:srgbClr val="66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117582199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B915C-4A2B-4D64-4697-AD7A26469083}"/>
              </a:ext>
            </a:extLst>
          </p:cNvPr>
          <p:cNvSpPr>
            <a:spLocks noGrp="1"/>
          </p:cNvSpPr>
          <p:nvPr>
            <p:ph type="title"/>
          </p:nvPr>
        </p:nvSpPr>
        <p:spPr/>
        <p:txBody>
          <a:bodyPr/>
          <a:lstStyle/>
          <a:p>
            <a:r>
              <a:rPr lang="uk-UA" b="1" dirty="0"/>
              <a:t>6. </a:t>
            </a:r>
            <a:r>
              <a:rPr lang="en-GB" b="1" dirty="0"/>
              <a:t>STORED PROCEDURE (PROCEDURE)</a:t>
            </a:r>
          </a:p>
        </p:txBody>
      </p:sp>
      <p:sp>
        <p:nvSpPr>
          <p:cNvPr id="3" name="Content Placeholder 2">
            <a:extLst>
              <a:ext uri="{FF2B5EF4-FFF2-40B4-BE49-F238E27FC236}">
                <a16:creationId xmlns:a16="http://schemas.microsoft.com/office/drawing/2014/main" id="{9322777A-395F-0497-4736-AB6BD295B9C7}"/>
              </a:ext>
            </a:extLst>
          </p:cNvPr>
          <p:cNvSpPr>
            <a:spLocks noGrp="1"/>
          </p:cNvSpPr>
          <p:nvPr>
            <p:ph idx="1"/>
          </p:nvPr>
        </p:nvSpPr>
        <p:spPr>
          <a:xfrm>
            <a:off x="1652389" y="2518157"/>
            <a:ext cx="8887221" cy="4059925"/>
          </a:xfrm>
        </p:spPr>
        <p:txBody>
          <a:bodyPr>
            <a:noAutofit/>
          </a:bodyPr>
          <a:lstStyle/>
          <a:p>
            <a:pPr marL="0" indent="0">
              <a:lnSpc>
                <a:spcPct val="110000"/>
              </a:lnSpc>
              <a:buNone/>
            </a:pPr>
            <a:r>
              <a:rPr lang="uk-UA" dirty="0"/>
              <a:t>A </a:t>
            </a:r>
            <a:r>
              <a:rPr lang="uk-UA" b="1" dirty="0"/>
              <a:t>procedure</a:t>
            </a:r>
            <a:r>
              <a:rPr lang="uk-UA" dirty="0"/>
              <a:t> is an SQL instruction stored in the database. Its main purpose is to accept parameters and execute logic according to the developer's intent. If you frequently run the same query, a procedure helps save time by avoiding code repetition. Procedures can be called multiple times, are stored on the server, and run faster than regular queries. They are used for: updating data, checking conditions, processing transactions, etc.</a:t>
            </a:r>
            <a:endParaRPr lang="ru-RU" dirty="0"/>
          </a:p>
        </p:txBody>
      </p:sp>
    </p:spTree>
    <p:extLst>
      <p:ext uri="{BB962C8B-B14F-4D97-AF65-F5344CB8AC3E}">
        <p14:creationId xmlns:p14="http://schemas.microsoft.com/office/powerpoint/2010/main" val="85055006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11892-5D90-FC03-00D2-5A3C52DD94BC}"/>
              </a:ext>
            </a:extLst>
          </p:cNvPr>
          <p:cNvSpPr>
            <a:spLocks noGrp="1"/>
          </p:cNvSpPr>
          <p:nvPr>
            <p:ph type="title"/>
          </p:nvPr>
        </p:nvSpPr>
        <p:spPr/>
        <p:txBody>
          <a:bodyPr/>
          <a:lstStyle/>
          <a:p>
            <a:r>
              <a:rPr lang="uk-UA" b="1" dirty="0"/>
              <a:t>6.1 </a:t>
            </a:r>
            <a:r>
              <a:rPr lang="en-GB" b="1" dirty="0"/>
              <a:t>STORED PROCEDURES (PROCEDURE)</a:t>
            </a:r>
            <a:endParaRPr lang="en-GB" dirty="0"/>
          </a:p>
        </p:txBody>
      </p:sp>
      <p:sp>
        <p:nvSpPr>
          <p:cNvPr id="3" name="Content Placeholder 2">
            <a:extLst>
              <a:ext uri="{FF2B5EF4-FFF2-40B4-BE49-F238E27FC236}">
                <a16:creationId xmlns:a16="http://schemas.microsoft.com/office/drawing/2014/main" id="{A715E0BA-B2C3-CA76-AF9E-EE85F00B6DAD}"/>
              </a:ext>
            </a:extLst>
          </p:cNvPr>
          <p:cNvSpPr>
            <a:spLocks noGrp="1"/>
          </p:cNvSpPr>
          <p:nvPr>
            <p:ph idx="1"/>
          </p:nvPr>
        </p:nvSpPr>
        <p:spPr>
          <a:xfrm>
            <a:off x="246797" y="2039440"/>
            <a:ext cx="11353800" cy="4773138"/>
          </a:xfrm>
        </p:spPr>
        <p:txBody>
          <a:bodyPr>
            <a:normAutofit fontScale="62500" lnSpcReduction="20000"/>
          </a:bodyPr>
          <a:lstStyle/>
          <a:p>
            <a:pPr marL="0" indent="0">
              <a:buNone/>
            </a:pPr>
            <a:r>
              <a:rPr lang="en-GB" sz="3300" b="1" dirty="0">
                <a:solidFill>
                  <a:srgbClr val="309070"/>
                </a:solidFill>
                <a:highlight>
                  <a:srgbClr val="FFCC66"/>
                </a:highlight>
              </a:rPr>
              <a:t>CREATE PROCEDURE [</a:t>
            </a:r>
            <a:r>
              <a:rPr lang="en-GB" sz="3300" b="1" dirty="0" err="1">
                <a:solidFill>
                  <a:srgbClr val="309070"/>
                </a:solidFill>
                <a:highlight>
                  <a:srgbClr val="FFCC66"/>
                </a:highlight>
              </a:rPr>
              <a:t>proc_name</a:t>
            </a:r>
            <a:r>
              <a:rPr lang="en-GB" sz="3300" b="1" dirty="0">
                <a:solidFill>
                  <a:srgbClr val="309070"/>
                </a:solidFill>
                <a:highlight>
                  <a:srgbClr val="FFCC66"/>
                </a:highlight>
              </a:rPr>
              <a:t>]</a:t>
            </a:r>
          </a:p>
          <a:p>
            <a:pPr marL="0" indent="0">
              <a:buNone/>
            </a:pPr>
            <a:r>
              <a:rPr lang="en-GB" sz="3300" b="1" dirty="0">
                <a:solidFill>
                  <a:srgbClr val="309070"/>
                </a:solidFill>
                <a:highlight>
                  <a:srgbClr val="FFCC66"/>
                </a:highlight>
              </a:rPr>
              <a:t>(</a:t>
            </a:r>
          </a:p>
          <a:p>
            <a:pPr marL="457200" lvl="1" indent="0">
              <a:buNone/>
            </a:pPr>
            <a:r>
              <a:rPr lang="en-GB" sz="3300" b="1" dirty="0">
                <a:solidFill>
                  <a:srgbClr val="309070"/>
                </a:solidFill>
                <a:highlight>
                  <a:srgbClr val="FFCC66"/>
                </a:highlight>
              </a:rPr>
              <a:t>[param1] [datatype],</a:t>
            </a:r>
          </a:p>
          <a:p>
            <a:pPr marL="457200" lvl="1" indent="0">
              <a:buNone/>
            </a:pPr>
            <a:r>
              <a:rPr lang="en-GB" sz="3300" b="1" dirty="0">
                <a:solidFill>
                  <a:srgbClr val="309070"/>
                </a:solidFill>
                <a:highlight>
                  <a:srgbClr val="FFCC66"/>
                </a:highlight>
              </a:rPr>
              <a:t>[param2] [datatype]</a:t>
            </a:r>
          </a:p>
          <a:p>
            <a:pPr marL="0" indent="0">
              <a:buNone/>
            </a:pPr>
            <a:r>
              <a:rPr lang="en-GB" sz="3300" b="1" dirty="0">
                <a:solidFill>
                  <a:srgbClr val="309070"/>
                </a:solidFill>
                <a:highlight>
                  <a:srgbClr val="FFCC66"/>
                </a:highlight>
              </a:rPr>
              <a:t>)</a:t>
            </a:r>
          </a:p>
          <a:p>
            <a:pPr marL="0" indent="0">
              <a:buNone/>
            </a:pPr>
            <a:r>
              <a:rPr lang="en-GB" sz="3300" b="1" dirty="0">
                <a:solidFill>
                  <a:srgbClr val="309070"/>
                </a:solidFill>
                <a:highlight>
                  <a:srgbClr val="FFCC66"/>
                </a:highlight>
              </a:rPr>
              <a:t>LANGUAGE </a:t>
            </a:r>
            <a:r>
              <a:rPr lang="en-GB" sz="3300" b="1" dirty="0" err="1">
                <a:solidFill>
                  <a:srgbClr val="309070"/>
                </a:solidFill>
                <a:highlight>
                  <a:srgbClr val="FFCC66"/>
                </a:highlight>
              </a:rPr>
              <a:t>plpgsql</a:t>
            </a:r>
            <a:endParaRPr lang="en-GB" sz="3300" b="1" dirty="0">
              <a:solidFill>
                <a:srgbClr val="309070"/>
              </a:solidFill>
              <a:highlight>
                <a:srgbClr val="FFCC66"/>
              </a:highlight>
            </a:endParaRPr>
          </a:p>
          <a:p>
            <a:pPr marL="0" indent="0">
              <a:buNone/>
            </a:pPr>
            <a:r>
              <a:rPr lang="en-GB" sz="3300" b="1" dirty="0">
                <a:solidFill>
                  <a:srgbClr val="309070"/>
                </a:solidFill>
                <a:highlight>
                  <a:srgbClr val="FFCC66"/>
                </a:highlight>
              </a:rPr>
              <a:t>AS $$</a:t>
            </a:r>
          </a:p>
          <a:p>
            <a:pPr marL="0" indent="0">
              <a:buNone/>
            </a:pPr>
            <a:r>
              <a:rPr lang="en-GB" sz="3300" b="1" dirty="0">
                <a:solidFill>
                  <a:srgbClr val="309070"/>
                </a:solidFill>
                <a:highlight>
                  <a:srgbClr val="FFCC66"/>
                </a:highlight>
              </a:rPr>
              <a:t>BEGIN</a:t>
            </a:r>
          </a:p>
          <a:p>
            <a:pPr marL="0" indent="0">
              <a:buNone/>
            </a:pPr>
            <a:r>
              <a:rPr lang="en-GB" sz="3300" b="1" dirty="0">
                <a:solidFill>
                  <a:srgbClr val="309070"/>
                </a:solidFill>
                <a:highlight>
                  <a:srgbClr val="FFCC66"/>
                </a:highlight>
              </a:rPr>
              <a:t>	-- logic here</a:t>
            </a:r>
          </a:p>
          <a:p>
            <a:pPr marL="0" indent="0">
              <a:buNone/>
            </a:pPr>
            <a:r>
              <a:rPr lang="en-GB" sz="3300" b="1" dirty="0">
                <a:solidFill>
                  <a:srgbClr val="309070"/>
                </a:solidFill>
                <a:highlight>
                  <a:srgbClr val="FFCC66"/>
                </a:highlight>
              </a:rPr>
              <a:t>END;</a:t>
            </a:r>
          </a:p>
          <a:p>
            <a:pPr marL="0" indent="0">
              <a:buNone/>
            </a:pPr>
            <a:r>
              <a:rPr lang="en-GB" sz="3300" b="1" dirty="0">
                <a:solidFill>
                  <a:srgbClr val="309070"/>
                </a:solidFill>
                <a:highlight>
                  <a:srgbClr val="FFCC66"/>
                </a:highlight>
              </a:rPr>
              <a:t>$$</a:t>
            </a:r>
          </a:p>
          <a:p>
            <a:pPr marL="0" indent="0">
              <a:buNone/>
            </a:pPr>
            <a:endParaRPr lang="en-GB" dirty="0"/>
          </a:p>
          <a:p>
            <a:pPr marL="0" indent="0">
              <a:buNone/>
            </a:pPr>
            <a:r>
              <a:rPr lang="en-GB" sz="3300" b="1" dirty="0">
                <a:solidFill>
                  <a:srgbClr val="FFCC66"/>
                </a:solidFill>
                <a:highlight>
                  <a:srgbClr val="6699FF"/>
                </a:highlight>
              </a:rPr>
              <a:t>DROP PROCEDURE [</a:t>
            </a:r>
            <a:r>
              <a:rPr lang="en-GB" sz="3300" b="1" dirty="0" err="1">
                <a:solidFill>
                  <a:srgbClr val="FFCC66"/>
                </a:solidFill>
                <a:highlight>
                  <a:srgbClr val="6699FF"/>
                </a:highlight>
              </a:rPr>
              <a:t>proc_name</a:t>
            </a:r>
            <a:r>
              <a:rPr lang="en-GB" sz="3300" b="1" dirty="0">
                <a:solidFill>
                  <a:srgbClr val="FFCC66"/>
                </a:solidFill>
                <a:highlight>
                  <a:srgbClr val="6699FF"/>
                </a:highlight>
              </a:rPr>
              <a:t>]([datatype], [datatype], [datatype]);</a:t>
            </a:r>
          </a:p>
          <a:p>
            <a:pPr marL="0" indent="0">
              <a:buNone/>
            </a:pPr>
            <a:r>
              <a:rPr lang="en-GB" sz="3300" b="1" dirty="0">
                <a:solidFill>
                  <a:srgbClr val="6699FF"/>
                </a:solidFill>
                <a:highlight>
                  <a:srgbClr val="FFCC66"/>
                </a:highlight>
              </a:rPr>
              <a:t>CALL [</a:t>
            </a:r>
            <a:r>
              <a:rPr lang="en-GB" sz="3300" b="1" dirty="0" err="1">
                <a:solidFill>
                  <a:srgbClr val="6699FF"/>
                </a:solidFill>
                <a:highlight>
                  <a:srgbClr val="FFCC66"/>
                </a:highlight>
              </a:rPr>
              <a:t>proc_name</a:t>
            </a:r>
            <a:r>
              <a:rPr lang="en-GB" sz="3300" b="1" dirty="0">
                <a:solidFill>
                  <a:srgbClr val="6699FF"/>
                </a:solidFill>
                <a:highlight>
                  <a:srgbClr val="FFCC66"/>
                </a:highlight>
              </a:rPr>
              <a:t>] ( [Id], [param2], [param2]);</a:t>
            </a:r>
          </a:p>
          <a:p>
            <a:pPr marL="0" indent="0">
              <a:buNone/>
            </a:pPr>
            <a:endParaRPr lang="en-GB" dirty="0">
              <a:solidFill>
                <a:srgbClr val="00B050"/>
              </a:solidFill>
            </a:endParaRPr>
          </a:p>
        </p:txBody>
      </p:sp>
      <p:pic>
        <p:nvPicPr>
          <p:cNvPr id="5" name="Picture 4">
            <a:extLst>
              <a:ext uri="{FF2B5EF4-FFF2-40B4-BE49-F238E27FC236}">
                <a16:creationId xmlns:a16="http://schemas.microsoft.com/office/drawing/2014/main" id="{A7D4E7D6-3CE2-7B77-27AC-5F2397FD1247}"/>
              </a:ext>
            </a:extLst>
          </p:cNvPr>
          <p:cNvPicPr>
            <a:picLocks noChangeAspect="1"/>
          </p:cNvPicPr>
          <p:nvPr/>
        </p:nvPicPr>
        <p:blipFill>
          <a:blip r:embed="rId2"/>
          <a:srcRect r="12032"/>
          <a:stretch>
            <a:fillRect/>
          </a:stretch>
        </p:blipFill>
        <p:spPr>
          <a:xfrm>
            <a:off x="7675084" y="2332217"/>
            <a:ext cx="4084245" cy="2883556"/>
          </a:xfrm>
          <a:prstGeom prst="rect">
            <a:avLst/>
          </a:prstGeom>
        </p:spPr>
      </p:pic>
      <p:cxnSp>
        <p:nvCxnSpPr>
          <p:cNvPr id="7" name="Straight Arrow Connector 6">
            <a:extLst>
              <a:ext uri="{FF2B5EF4-FFF2-40B4-BE49-F238E27FC236}">
                <a16:creationId xmlns:a16="http://schemas.microsoft.com/office/drawing/2014/main" id="{140CDA39-B78D-E461-F826-A6A24F0917F1}"/>
              </a:ext>
            </a:extLst>
          </p:cNvPr>
          <p:cNvCxnSpPr>
            <a:cxnSpLocks/>
          </p:cNvCxnSpPr>
          <p:nvPr/>
        </p:nvCxnSpPr>
        <p:spPr>
          <a:xfrm flipV="1">
            <a:off x="3553905" y="2852382"/>
            <a:ext cx="4279910" cy="333878"/>
          </a:xfrm>
          <a:prstGeom prst="straightConnector1">
            <a:avLst/>
          </a:prstGeom>
          <a:ln w="38100">
            <a:solidFill>
              <a:srgbClr val="309070"/>
            </a:solidFill>
            <a:tailEnd type="triangle"/>
          </a:ln>
        </p:spPr>
        <p:style>
          <a:lnRef idx="3">
            <a:schemeClr val="accent6"/>
          </a:lnRef>
          <a:fillRef idx="0">
            <a:schemeClr val="accent6"/>
          </a:fillRef>
          <a:effectRef idx="2">
            <a:schemeClr val="accent6"/>
          </a:effectRef>
          <a:fontRef idx="minor">
            <a:schemeClr val="tx1"/>
          </a:fontRef>
        </p:style>
      </p:cxnSp>
      <p:cxnSp>
        <p:nvCxnSpPr>
          <p:cNvPr id="9" name="Straight Arrow Connector 8">
            <a:extLst>
              <a:ext uri="{FF2B5EF4-FFF2-40B4-BE49-F238E27FC236}">
                <a16:creationId xmlns:a16="http://schemas.microsoft.com/office/drawing/2014/main" id="{43702C6B-D75A-EC5C-66F7-65476DF5D176}"/>
              </a:ext>
            </a:extLst>
          </p:cNvPr>
          <p:cNvCxnSpPr>
            <a:cxnSpLocks/>
          </p:cNvCxnSpPr>
          <p:nvPr/>
        </p:nvCxnSpPr>
        <p:spPr>
          <a:xfrm flipV="1">
            <a:off x="5410986" y="4858462"/>
            <a:ext cx="2385832" cy="1140914"/>
          </a:xfrm>
          <a:prstGeom prst="straightConnector1">
            <a:avLst/>
          </a:prstGeom>
          <a:ln w="38100">
            <a:solidFill>
              <a:srgbClr val="FFCC66"/>
            </a:solidFill>
            <a:tailEnd type="triangle"/>
          </a:ln>
        </p:spPr>
        <p:style>
          <a:lnRef idx="3">
            <a:schemeClr val="accent6"/>
          </a:lnRef>
          <a:fillRef idx="0">
            <a:schemeClr val="accent6"/>
          </a:fillRef>
          <a:effectRef idx="2">
            <a:schemeClr val="accent6"/>
          </a:effectRef>
          <a:fontRef idx="minor">
            <a:schemeClr val="tx1"/>
          </a:fontRef>
        </p:style>
      </p:cxnSp>
      <p:cxnSp>
        <p:nvCxnSpPr>
          <p:cNvPr id="11" name="Straight Arrow Connector 10">
            <a:extLst>
              <a:ext uri="{FF2B5EF4-FFF2-40B4-BE49-F238E27FC236}">
                <a16:creationId xmlns:a16="http://schemas.microsoft.com/office/drawing/2014/main" id="{CDE34DEB-A149-2AAE-FFDB-77956769CFB4}"/>
              </a:ext>
            </a:extLst>
          </p:cNvPr>
          <p:cNvCxnSpPr>
            <a:cxnSpLocks/>
          </p:cNvCxnSpPr>
          <p:nvPr/>
        </p:nvCxnSpPr>
        <p:spPr>
          <a:xfrm flipV="1">
            <a:off x="6574420" y="5266914"/>
            <a:ext cx="3518545" cy="1307506"/>
          </a:xfrm>
          <a:prstGeom prst="straightConnector1">
            <a:avLst/>
          </a:prstGeom>
          <a:ln w="38100">
            <a:solidFill>
              <a:srgbClr val="6699FF"/>
            </a:solidFill>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52073050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0EF74-DF17-8A3F-97C1-8E3E95ABDB7B}"/>
              </a:ext>
            </a:extLst>
          </p:cNvPr>
          <p:cNvSpPr>
            <a:spLocks noGrp="1"/>
          </p:cNvSpPr>
          <p:nvPr>
            <p:ph type="title"/>
          </p:nvPr>
        </p:nvSpPr>
        <p:spPr/>
        <p:txBody>
          <a:bodyPr/>
          <a:lstStyle/>
          <a:p>
            <a:r>
              <a:rPr lang="en-GB" b="1" dirty="0"/>
              <a:t>7. (CTE)</a:t>
            </a:r>
            <a:r>
              <a:rPr lang="en-GB" dirty="0"/>
              <a:t> </a:t>
            </a:r>
            <a:r>
              <a:rPr lang="en-GB" b="1" dirty="0"/>
              <a:t>Common Table Expression</a:t>
            </a:r>
          </a:p>
        </p:txBody>
      </p:sp>
      <p:sp>
        <p:nvSpPr>
          <p:cNvPr id="3" name="Content Placeholder 2">
            <a:extLst>
              <a:ext uri="{FF2B5EF4-FFF2-40B4-BE49-F238E27FC236}">
                <a16:creationId xmlns:a16="http://schemas.microsoft.com/office/drawing/2014/main" id="{2DB89791-3234-84CD-D79E-DDF279554004}"/>
              </a:ext>
            </a:extLst>
          </p:cNvPr>
          <p:cNvSpPr>
            <a:spLocks noGrp="1"/>
          </p:cNvSpPr>
          <p:nvPr>
            <p:ph idx="1"/>
          </p:nvPr>
        </p:nvSpPr>
        <p:spPr>
          <a:xfrm>
            <a:off x="754966" y="2505456"/>
            <a:ext cx="9613861" cy="3599316"/>
          </a:xfrm>
        </p:spPr>
        <p:txBody>
          <a:bodyPr>
            <a:normAutofit/>
          </a:bodyPr>
          <a:lstStyle/>
          <a:p>
            <a:r>
              <a:rPr lang="uk-UA" dirty="0"/>
              <a:t>CTE – A temporary result (virtual table) that can be used within a single query. </a:t>
            </a:r>
          </a:p>
          <a:p>
            <a:endParaRPr lang="uk-UA" dirty="0"/>
          </a:p>
          <a:p>
            <a:r>
              <a:rPr lang="uk-UA" dirty="0"/>
              <a:t>It exists only during the execution of that single query. </a:t>
            </a:r>
          </a:p>
          <a:p>
            <a:endParaRPr lang="uk-UA" dirty="0"/>
          </a:p>
          <a:p>
            <a:r>
              <a:rPr lang="uk-UA" dirty="0"/>
              <a:t>Useful for improving the readability of complex queries.</a:t>
            </a:r>
            <a:endParaRPr lang="en-GB" dirty="0"/>
          </a:p>
        </p:txBody>
      </p:sp>
    </p:spTree>
    <p:extLst>
      <p:ext uri="{BB962C8B-B14F-4D97-AF65-F5344CB8AC3E}">
        <p14:creationId xmlns:p14="http://schemas.microsoft.com/office/powerpoint/2010/main" val="174243847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262DB-83A4-B497-1F32-6854F3F14F32}"/>
              </a:ext>
            </a:extLst>
          </p:cNvPr>
          <p:cNvSpPr>
            <a:spLocks noGrp="1"/>
          </p:cNvSpPr>
          <p:nvPr>
            <p:ph type="title"/>
          </p:nvPr>
        </p:nvSpPr>
        <p:spPr/>
        <p:txBody>
          <a:bodyPr/>
          <a:lstStyle/>
          <a:p>
            <a:r>
              <a:rPr lang="en-GB" b="1" dirty="0"/>
              <a:t>7.1. (CTE)</a:t>
            </a:r>
            <a:r>
              <a:rPr lang="en-GB" dirty="0"/>
              <a:t> </a:t>
            </a:r>
            <a:r>
              <a:rPr lang="en-GB" b="1" dirty="0"/>
              <a:t>Common Table Expression</a:t>
            </a:r>
            <a:endParaRPr lang="en-GB" dirty="0"/>
          </a:p>
        </p:txBody>
      </p:sp>
      <p:sp>
        <p:nvSpPr>
          <p:cNvPr id="3" name="Content Placeholder 2">
            <a:extLst>
              <a:ext uri="{FF2B5EF4-FFF2-40B4-BE49-F238E27FC236}">
                <a16:creationId xmlns:a16="http://schemas.microsoft.com/office/drawing/2014/main" id="{251DA25D-C220-44B8-7BFC-8B23336FD03B}"/>
              </a:ext>
            </a:extLst>
          </p:cNvPr>
          <p:cNvSpPr>
            <a:spLocks noGrp="1"/>
          </p:cNvSpPr>
          <p:nvPr>
            <p:ph idx="1"/>
          </p:nvPr>
        </p:nvSpPr>
        <p:spPr>
          <a:xfrm>
            <a:off x="680322" y="2336873"/>
            <a:ext cx="4578616" cy="3599316"/>
          </a:xfrm>
          <a:ln>
            <a:noFill/>
          </a:ln>
        </p:spPr>
        <p:txBody>
          <a:bodyPr>
            <a:normAutofit/>
          </a:bodyPr>
          <a:lstStyle/>
          <a:p>
            <a:pPr marL="0" indent="0">
              <a:buNone/>
            </a:pPr>
            <a:endParaRPr lang="en-GB" b="1" dirty="0">
              <a:solidFill>
                <a:srgbClr val="309070"/>
              </a:solidFill>
              <a:highlight>
                <a:srgbClr val="FFCC66"/>
              </a:highlight>
            </a:endParaRPr>
          </a:p>
          <a:p>
            <a:pPr marL="0" indent="0">
              <a:buNone/>
            </a:pPr>
            <a:r>
              <a:rPr lang="en-GB" sz="2400" b="1" dirty="0">
                <a:solidFill>
                  <a:srgbClr val="309070"/>
                </a:solidFill>
                <a:highlight>
                  <a:srgbClr val="FFCC66"/>
                </a:highlight>
              </a:rPr>
              <a:t>WITH [CTE_NAME] AS</a:t>
            </a:r>
          </a:p>
          <a:p>
            <a:pPr marL="0" indent="0">
              <a:buNone/>
            </a:pPr>
            <a:r>
              <a:rPr lang="en-GB" sz="2400" b="1" dirty="0">
                <a:solidFill>
                  <a:srgbClr val="309070"/>
                </a:solidFill>
                <a:highlight>
                  <a:srgbClr val="FFCC66"/>
                </a:highlight>
              </a:rPr>
              <a:t>(</a:t>
            </a:r>
          </a:p>
          <a:p>
            <a:pPr marL="0" indent="0">
              <a:buNone/>
            </a:pPr>
            <a:r>
              <a:rPr lang="en-GB" sz="2400" b="1" dirty="0">
                <a:solidFill>
                  <a:srgbClr val="309070"/>
                </a:solidFill>
                <a:highlight>
                  <a:srgbClr val="FFCC66"/>
                </a:highlight>
              </a:rPr>
              <a:t>	SELECT …</a:t>
            </a:r>
          </a:p>
          <a:p>
            <a:pPr marL="0" indent="0">
              <a:buNone/>
            </a:pPr>
            <a:r>
              <a:rPr lang="en-GB" sz="2400" b="1" dirty="0">
                <a:solidFill>
                  <a:srgbClr val="309070"/>
                </a:solidFill>
                <a:highlight>
                  <a:srgbClr val="FFCC66"/>
                </a:highlight>
              </a:rPr>
              <a:t>)</a:t>
            </a:r>
          </a:p>
          <a:p>
            <a:pPr marL="0" indent="0">
              <a:buNone/>
            </a:pPr>
            <a:r>
              <a:rPr lang="en-GB" sz="2400" b="1" dirty="0">
                <a:solidFill>
                  <a:srgbClr val="309070"/>
                </a:solidFill>
                <a:highlight>
                  <a:srgbClr val="FFCC66"/>
                </a:highlight>
              </a:rPr>
              <a:t>SELECT * FROM [CTE_NAME];</a:t>
            </a:r>
          </a:p>
        </p:txBody>
      </p:sp>
      <p:pic>
        <p:nvPicPr>
          <p:cNvPr id="6" name="Picture 5">
            <a:extLst>
              <a:ext uri="{FF2B5EF4-FFF2-40B4-BE49-F238E27FC236}">
                <a16:creationId xmlns:a16="http://schemas.microsoft.com/office/drawing/2014/main" id="{EB836760-0D98-FA00-A677-E2DAA34B8759}"/>
              </a:ext>
            </a:extLst>
          </p:cNvPr>
          <p:cNvPicPr>
            <a:picLocks noChangeAspect="1"/>
          </p:cNvPicPr>
          <p:nvPr/>
        </p:nvPicPr>
        <p:blipFill>
          <a:blip r:embed="rId2"/>
          <a:stretch>
            <a:fillRect/>
          </a:stretch>
        </p:blipFill>
        <p:spPr>
          <a:xfrm>
            <a:off x="6452319" y="2191106"/>
            <a:ext cx="5363323" cy="3972479"/>
          </a:xfrm>
          <a:prstGeom prst="rect">
            <a:avLst/>
          </a:prstGeom>
        </p:spPr>
      </p:pic>
      <p:cxnSp>
        <p:nvCxnSpPr>
          <p:cNvPr id="7" name="Straight Arrow Connector 6">
            <a:extLst>
              <a:ext uri="{FF2B5EF4-FFF2-40B4-BE49-F238E27FC236}">
                <a16:creationId xmlns:a16="http://schemas.microsoft.com/office/drawing/2014/main" id="{8060E459-960F-2ACB-D796-FCAA41C8B2FE}"/>
              </a:ext>
            </a:extLst>
          </p:cNvPr>
          <p:cNvCxnSpPr>
            <a:cxnSpLocks/>
          </p:cNvCxnSpPr>
          <p:nvPr/>
        </p:nvCxnSpPr>
        <p:spPr>
          <a:xfrm>
            <a:off x="4217158" y="2843284"/>
            <a:ext cx="2556681" cy="0"/>
          </a:xfrm>
          <a:prstGeom prst="straightConnector1">
            <a:avLst/>
          </a:prstGeom>
          <a:ln w="38100">
            <a:solidFill>
              <a:srgbClr val="309070"/>
            </a:solidFill>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68807414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BD9A8-0EEA-3970-F448-8EFAA1396DA7}"/>
              </a:ext>
            </a:extLst>
          </p:cNvPr>
          <p:cNvSpPr>
            <a:spLocks noGrp="1"/>
          </p:cNvSpPr>
          <p:nvPr>
            <p:ph type="title"/>
          </p:nvPr>
        </p:nvSpPr>
        <p:spPr/>
        <p:txBody>
          <a:bodyPr/>
          <a:lstStyle/>
          <a:p>
            <a:r>
              <a:rPr lang="uk-UA" b="1" dirty="0"/>
              <a:t>Normalization</a:t>
            </a:r>
            <a:endParaRPr lang="en-GB" b="1" dirty="0"/>
          </a:p>
        </p:txBody>
      </p:sp>
      <p:sp>
        <p:nvSpPr>
          <p:cNvPr id="3" name="Content Placeholder 2">
            <a:extLst>
              <a:ext uri="{FF2B5EF4-FFF2-40B4-BE49-F238E27FC236}">
                <a16:creationId xmlns:a16="http://schemas.microsoft.com/office/drawing/2014/main" id="{2DCB0E1D-7FD4-AB88-2936-B1AF173621B5}"/>
              </a:ext>
            </a:extLst>
          </p:cNvPr>
          <p:cNvSpPr>
            <a:spLocks noGrp="1"/>
          </p:cNvSpPr>
          <p:nvPr>
            <p:ph idx="1"/>
          </p:nvPr>
        </p:nvSpPr>
        <p:spPr>
          <a:xfrm>
            <a:off x="680321" y="2439510"/>
            <a:ext cx="10451099" cy="3599316"/>
          </a:xfrm>
        </p:spPr>
        <p:txBody>
          <a:bodyPr>
            <a:normAutofit/>
          </a:bodyPr>
          <a:lstStyle/>
          <a:p>
            <a:r>
              <a:rPr lang="uk-UA" dirty="0"/>
              <a:t>Brings order to the database.</a:t>
            </a:r>
          </a:p>
          <a:p>
            <a:endParaRPr lang="uk-UA" dirty="0"/>
          </a:p>
          <a:p>
            <a:r>
              <a:rPr lang="uk-UA" dirty="0"/>
              <a:t>Normalization has several key steps called Normal Forms, which follow a sequence (NF1, NF2, NF3).</a:t>
            </a:r>
          </a:p>
          <a:p>
            <a:endParaRPr lang="uk-UA" dirty="0"/>
          </a:p>
          <a:p>
            <a:r>
              <a:rPr lang="uk-UA" dirty="0"/>
              <a:t>Each subsequent normal form requires stricter conditions, progressing from the least strict to the most strict level of database normalization.</a:t>
            </a:r>
          </a:p>
        </p:txBody>
      </p:sp>
    </p:spTree>
    <p:extLst>
      <p:ext uri="{BB962C8B-B14F-4D97-AF65-F5344CB8AC3E}">
        <p14:creationId xmlns:p14="http://schemas.microsoft.com/office/powerpoint/2010/main" val="158473979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8EA70-1352-DCC8-DF27-30F817623E83}"/>
              </a:ext>
            </a:extLst>
          </p:cNvPr>
          <p:cNvSpPr>
            <a:spLocks noGrp="1"/>
          </p:cNvSpPr>
          <p:nvPr>
            <p:ph type="title"/>
          </p:nvPr>
        </p:nvSpPr>
        <p:spPr/>
        <p:txBody>
          <a:bodyPr/>
          <a:lstStyle/>
          <a:p>
            <a:r>
              <a:rPr lang="uk-UA" b="1" dirty="0"/>
              <a:t>Why is database normalization needed?</a:t>
            </a:r>
            <a:endParaRPr lang="uk-UA" dirty="0"/>
          </a:p>
        </p:txBody>
      </p:sp>
      <p:sp>
        <p:nvSpPr>
          <p:cNvPr id="3" name="Content Placeholder 2">
            <a:extLst>
              <a:ext uri="{FF2B5EF4-FFF2-40B4-BE49-F238E27FC236}">
                <a16:creationId xmlns:a16="http://schemas.microsoft.com/office/drawing/2014/main" id="{012D5E5F-3259-B411-D238-35151820C9D8}"/>
              </a:ext>
            </a:extLst>
          </p:cNvPr>
          <p:cNvSpPr>
            <a:spLocks noGrp="1"/>
          </p:cNvSpPr>
          <p:nvPr>
            <p:ph idx="1"/>
          </p:nvPr>
        </p:nvSpPr>
        <p:spPr>
          <a:xfrm>
            <a:off x="680321" y="2805359"/>
            <a:ext cx="5069509" cy="3154000"/>
          </a:xfrm>
        </p:spPr>
        <p:txBody>
          <a:bodyPr>
            <a:normAutofit/>
          </a:bodyPr>
          <a:lstStyle/>
          <a:p>
            <a:r>
              <a:rPr lang="uk-UA" dirty="0"/>
              <a:t>Reduces the load on the server</a:t>
            </a:r>
          </a:p>
          <a:p>
            <a:endParaRPr lang="uk-UA" dirty="0"/>
          </a:p>
          <a:p>
            <a:r>
              <a:rPr lang="uk-UA" dirty="0"/>
              <a:t>Reduces the amount of memory the database occupies</a:t>
            </a:r>
          </a:p>
          <a:p>
            <a:endParaRPr lang="uk-UA" dirty="0"/>
          </a:p>
          <a:p>
            <a:r>
              <a:rPr lang="uk-UA" dirty="0"/>
              <a:t>Increases the execution speed of SQL queries</a:t>
            </a:r>
          </a:p>
        </p:txBody>
      </p:sp>
      <p:pic>
        <p:nvPicPr>
          <p:cNvPr id="5" name="Picture 4" descr="A computer screen shot of a computer&#10;&#10;AI-generated content may be incorrect.">
            <a:extLst>
              <a:ext uri="{FF2B5EF4-FFF2-40B4-BE49-F238E27FC236}">
                <a16:creationId xmlns:a16="http://schemas.microsoft.com/office/drawing/2014/main" id="{331D61AB-D370-A900-37EF-5921B2BCBB87}"/>
              </a:ext>
            </a:extLst>
          </p:cNvPr>
          <p:cNvPicPr>
            <a:picLocks noChangeAspect="1"/>
          </p:cNvPicPr>
          <p:nvPr/>
        </p:nvPicPr>
        <p:blipFill>
          <a:blip r:embed="rId2">
            <a:extLst>
              <a:ext uri="{28A0092B-C50C-407E-A947-70E740481C1C}">
                <a14:useLocalDpi xmlns:a14="http://schemas.microsoft.com/office/drawing/2010/main" val="0"/>
              </a:ext>
            </a:extLst>
          </a:blip>
          <a:srcRect l="20053" t="33939" r="18707" b="33192"/>
          <a:stretch>
            <a:fillRect/>
          </a:stretch>
        </p:blipFill>
        <p:spPr>
          <a:xfrm>
            <a:off x="6376857" y="2805359"/>
            <a:ext cx="5334683" cy="2863174"/>
          </a:xfrm>
          <a:prstGeom prst="rect">
            <a:avLst/>
          </a:prstGeom>
        </p:spPr>
      </p:pic>
    </p:spTree>
    <p:extLst>
      <p:ext uri="{BB962C8B-B14F-4D97-AF65-F5344CB8AC3E}">
        <p14:creationId xmlns:p14="http://schemas.microsoft.com/office/powerpoint/2010/main" val="328416966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21DD5-12BC-51DD-5D9F-8F200B23473F}"/>
              </a:ext>
            </a:extLst>
          </p:cNvPr>
          <p:cNvSpPr>
            <a:spLocks noGrp="1"/>
          </p:cNvSpPr>
          <p:nvPr>
            <p:ph type="title"/>
          </p:nvPr>
        </p:nvSpPr>
        <p:spPr/>
        <p:txBody>
          <a:bodyPr/>
          <a:lstStyle/>
          <a:p>
            <a:r>
              <a:rPr lang="en-GB" b="1" dirty="0"/>
              <a:t>NF1 </a:t>
            </a:r>
          </a:p>
        </p:txBody>
      </p:sp>
      <p:sp>
        <p:nvSpPr>
          <p:cNvPr id="3" name="Content Placeholder 2">
            <a:extLst>
              <a:ext uri="{FF2B5EF4-FFF2-40B4-BE49-F238E27FC236}">
                <a16:creationId xmlns:a16="http://schemas.microsoft.com/office/drawing/2014/main" id="{85066A5C-8905-64D2-8B54-60D4C03EA618}"/>
              </a:ext>
            </a:extLst>
          </p:cNvPr>
          <p:cNvSpPr>
            <a:spLocks noGrp="1"/>
          </p:cNvSpPr>
          <p:nvPr>
            <p:ph idx="1"/>
          </p:nvPr>
        </p:nvSpPr>
        <p:spPr>
          <a:xfrm>
            <a:off x="765412" y="2168624"/>
            <a:ext cx="10515600" cy="4351338"/>
          </a:xfrm>
        </p:spPr>
        <p:txBody>
          <a:bodyPr>
            <a:normAutofit/>
          </a:bodyPr>
          <a:lstStyle/>
          <a:p>
            <a:r>
              <a:rPr lang="uk-UA" sz="2000" dirty="0"/>
              <a:t>All attributes are simple (no data concatenation or combining)</a:t>
            </a:r>
          </a:p>
          <a:p>
            <a:r>
              <a:rPr lang="uk-UA" sz="2000" dirty="0"/>
              <a:t>No repeating attributes (all attributes are non-repeating and non-interchangeable)</a:t>
            </a:r>
          </a:p>
          <a:p>
            <a:r>
              <a:rPr lang="uk-UA" sz="2000" dirty="0"/>
              <a:t>Each cell of the relation contains only a single value</a:t>
            </a:r>
          </a:p>
        </p:txBody>
      </p:sp>
      <p:graphicFrame>
        <p:nvGraphicFramePr>
          <p:cNvPr id="6" name="Table 5">
            <a:extLst>
              <a:ext uri="{FF2B5EF4-FFF2-40B4-BE49-F238E27FC236}">
                <a16:creationId xmlns:a16="http://schemas.microsoft.com/office/drawing/2014/main" id="{69704CAD-81FF-AB6C-7307-EE4EB9CF442B}"/>
              </a:ext>
            </a:extLst>
          </p:cNvPr>
          <p:cNvGraphicFramePr>
            <a:graphicFrameLocks noGrp="1"/>
          </p:cNvGraphicFramePr>
          <p:nvPr>
            <p:extLst>
              <p:ext uri="{D42A27DB-BD31-4B8C-83A1-F6EECF244321}">
                <p14:modId xmlns:p14="http://schemas.microsoft.com/office/powerpoint/2010/main" val="1129604338"/>
              </p:ext>
            </p:extLst>
          </p:nvPr>
        </p:nvGraphicFramePr>
        <p:xfrm>
          <a:off x="478012" y="4244210"/>
          <a:ext cx="5062979" cy="2017336"/>
        </p:xfrm>
        <a:graphic>
          <a:graphicData uri="http://schemas.openxmlformats.org/drawingml/2006/table">
            <a:tbl>
              <a:tblPr firstRow="1" bandRow="1">
                <a:tableStyleId>{5C22544A-7EE6-4342-B048-85BDC9FD1C3A}</a:tableStyleId>
              </a:tblPr>
              <a:tblGrid>
                <a:gridCol w="900785">
                  <a:extLst>
                    <a:ext uri="{9D8B030D-6E8A-4147-A177-3AD203B41FA5}">
                      <a16:colId xmlns:a16="http://schemas.microsoft.com/office/drawing/2014/main" val="3949301401"/>
                    </a:ext>
                  </a:extLst>
                </a:gridCol>
                <a:gridCol w="1630704">
                  <a:extLst>
                    <a:ext uri="{9D8B030D-6E8A-4147-A177-3AD203B41FA5}">
                      <a16:colId xmlns:a16="http://schemas.microsoft.com/office/drawing/2014/main" val="4278716902"/>
                    </a:ext>
                  </a:extLst>
                </a:gridCol>
                <a:gridCol w="1265745">
                  <a:extLst>
                    <a:ext uri="{9D8B030D-6E8A-4147-A177-3AD203B41FA5}">
                      <a16:colId xmlns:a16="http://schemas.microsoft.com/office/drawing/2014/main" val="117177447"/>
                    </a:ext>
                  </a:extLst>
                </a:gridCol>
                <a:gridCol w="1265745">
                  <a:extLst>
                    <a:ext uri="{9D8B030D-6E8A-4147-A177-3AD203B41FA5}">
                      <a16:colId xmlns:a16="http://schemas.microsoft.com/office/drawing/2014/main" val="363622459"/>
                    </a:ext>
                  </a:extLst>
                </a:gridCol>
              </a:tblGrid>
              <a:tr h="504334">
                <a:tc>
                  <a:txBody>
                    <a:bodyPr/>
                    <a:lstStyle/>
                    <a:p>
                      <a:pPr algn="ctr"/>
                      <a:r>
                        <a:rPr lang="en-GB" dirty="0"/>
                        <a:t>Id</a:t>
                      </a:r>
                    </a:p>
                  </a:txBody>
                  <a:tcPr>
                    <a:solidFill>
                      <a:srgbClr val="309070"/>
                    </a:solidFill>
                  </a:tcPr>
                </a:tc>
                <a:tc>
                  <a:txBody>
                    <a:bodyPr/>
                    <a:lstStyle/>
                    <a:p>
                      <a:pPr algn="ctr"/>
                      <a:r>
                        <a:rPr lang="en-GB" dirty="0"/>
                        <a:t>Name</a:t>
                      </a:r>
                    </a:p>
                  </a:txBody>
                  <a:tcPr>
                    <a:solidFill>
                      <a:srgbClr val="309070"/>
                    </a:solidFill>
                  </a:tcPr>
                </a:tc>
                <a:tc>
                  <a:txBody>
                    <a:bodyPr/>
                    <a:lstStyle/>
                    <a:p>
                      <a:pPr algn="ctr"/>
                      <a:r>
                        <a:rPr lang="en-GB" dirty="0"/>
                        <a:t>Surname</a:t>
                      </a:r>
                    </a:p>
                  </a:txBody>
                  <a:tcPr>
                    <a:solidFill>
                      <a:srgbClr val="309070"/>
                    </a:solidFill>
                  </a:tcPr>
                </a:tc>
                <a:tc>
                  <a:txBody>
                    <a:bodyPr/>
                    <a:lstStyle/>
                    <a:p>
                      <a:pPr algn="ctr"/>
                      <a:r>
                        <a:rPr lang="en-GB" dirty="0" err="1"/>
                        <a:t>PC_Id</a:t>
                      </a:r>
                      <a:endParaRPr lang="en-GB" dirty="0"/>
                    </a:p>
                  </a:txBody>
                  <a:tcPr>
                    <a:solidFill>
                      <a:srgbClr val="309070"/>
                    </a:solidFill>
                  </a:tcPr>
                </a:tc>
                <a:extLst>
                  <a:ext uri="{0D108BD9-81ED-4DB2-BD59-A6C34878D82A}">
                    <a16:rowId xmlns:a16="http://schemas.microsoft.com/office/drawing/2014/main" val="781625559"/>
                  </a:ext>
                </a:extLst>
              </a:tr>
              <a:tr h="504334">
                <a:tc>
                  <a:txBody>
                    <a:bodyPr/>
                    <a:lstStyle/>
                    <a:p>
                      <a:pPr lvl="0" algn="ctr"/>
                      <a:r>
                        <a:rPr lang="en-GB" dirty="0"/>
                        <a:t>1</a:t>
                      </a:r>
                    </a:p>
                  </a:txBody>
                  <a:tcPr>
                    <a:solidFill>
                      <a:schemeClr val="accent3">
                        <a:lumMod val="40000"/>
                        <a:lumOff val="60000"/>
                      </a:schemeClr>
                    </a:solidFill>
                  </a:tcPr>
                </a:tc>
                <a:tc>
                  <a:txBody>
                    <a:bodyPr/>
                    <a:lstStyle/>
                    <a:p>
                      <a:pPr algn="ctr"/>
                      <a:r>
                        <a:rPr lang="en-GB" dirty="0"/>
                        <a:t>Ivan</a:t>
                      </a:r>
                    </a:p>
                  </a:txBody>
                  <a:tcPr>
                    <a:solidFill>
                      <a:schemeClr val="accent3">
                        <a:lumMod val="40000"/>
                        <a:lumOff val="60000"/>
                      </a:schemeClr>
                    </a:solidFill>
                  </a:tcPr>
                </a:tc>
                <a:tc>
                  <a:txBody>
                    <a:bodyPr/>
                    <a:lstStyle/>
                    <a:p>
                      <a:pPr algn="ctr"/>
                      <a:r>
                        <a:rPr lang="en-GB" dirty="0"/>
                        <a:t>Korba</a:t>
                      </a:r>
                    </a:p>
                  </a:txBody>
                  <a:tcPr>
                    <a:solidFill>
                      <a:schemeClr val="accent3">
                        <a:lumMod val="40000"/>
                        <a:lumOff val="60000"/>
                      </a:schemeClr>
                    </a:solidFill>
                  </a:tcPr>
                </a:tc>
                <a:tc>
                  <a:txBody>
                    <a:bodyPr/>
                    <a:lstStyle/>
                    <a:p>
                      <a:pPr algn="ctr"/>
                      <a:r>
                        <a:rPr lang="en-GB" sz="1600" dirty="0"/>
                        <a:t>1</a:t>
                      </a:r>
                    </a:p>
                  </a:txBody>
                  <a:tcPr>
                    <a:solidFill>
                      <a:schemeClr val="accent3">
                        <a:lumMod val="40000"/>
                        <a:lumOff val="60000"/>
                      </a:schemeClr>
                    </a:solidFill>
                  </a:tcPr>
                </a:tc>
                <a:extLst>
                  <a:ext uri="{0D108BD9-81ED-4DB2-BD59-A6C34878D82A}">
                    <a16:rowId xmlns:a16="http://schemas.microsoft.com/office/drawing/2014/main" val="2485794682"/>
                  </a:ext>
                </a:extLst>
              </a:tr>
              <a:tr h="504334">
                <a:tc>
                  <a:txBody>
                    <a:bodyPr/>
                    <a:lstStyle/>
                    <a:p>
                      <a:pPr lvl="0" algn="ctr"/>
                      <a:r>
                        <a:rPr lang="en-GB" dirty="0"/>
                        <a:t>2</a:t>
                      </a:r>
                    </a:p>
                  </a:txBody>
                  <a:tcPr>
                    <a:solidFill>
                      <a:schemeClr val="accent3">
                        <a:lumMod val="40000"/>
                        <a:lumOff val="60000"/>
                      </a:schemeClr>
                    </a:solidFill>
                  </a:tcPr>
                </a:tc>
                <a:tc>
                  <a:txBody>
                    <a:bodyPr/>
                    <a:lstStyle/>
                    <a:p>
                      <a:pPr algn="ctr"/>
                      <a:r>
                        <a:rPr lang="en-GB" dirty="0"/>
                        <a:t>Alex</a:t>
                      </a:r>
                    </a:p>
                  </a:txBody>
                  <a:tcPr>
                    <a:solidFill>
                      <a:schemeClr val="accent3">
                        <a:lumMod val="40000"/>
                        <a:lumOff val="60000"/>
                      </a:schemeClr>
                    </a:solidFill>
                  </a:tcPr>
                </a:tc>
                <a:tc>
                  <a:txBody>
                    <a:bodyPr/>
                    <a:lstStyle/>
                    <a:p>
                      <a:pPr algn="ctr"/>
                      <a:r>
                        <a:rPr lang="en-GB" dirty="0" err="1"/>
                        <a:t>Katchenko</a:t>
                      </a:r>
                      <a:endParaRPr lang="en-GB" dirty="0"/>
                    </a:p>
                  </a:txBody>
                  <a:tcPr>
                    <a:solidFill>
                      <a:schemeClr val="accent3">
                        <a:lumMod val="40000"/>
                        <a:lumOff val="60000"/>
                      </a:schemeClr>
                    </a:solidFill>
                  </a:tcPr>
                </a:tc>
                <a:tc>
                  <a:txBody>
                    <a:bodyPr/>
                    <a:lstStyle/>
                    <a:p>
                      <a:pPr algn="ctr"/>
                      <a:r>
                        <a:rPr lang="en-GB" sz="1600" dirty="0"/>
                        <a:t>2</a:t>
                      </a:r>
                    </a:p>
                  </a:txBody>
                  <a:tcPr>
                    <a:solidFill>
                      <a:schemeClr val="accent3">
                        <a:lumMod val="40000"/>
                        <a:lumOff val="60000"/>
                      </a:schemeClr>
                    </a:solidFill>
                  </a:tcPr>
                </a:tc>
                <a:extLst>
                  <a:ext uri="{0D108BD9-81ED-4DB2-BD59-A6C34878D82A}">
                    <a16:rowId xmlns:a16="http://schemas.microsoft.com/office/drawing/2014/main" val="1905000469"/>
                  </a:ext>
                </a:extLst>
              </a:tr>
              <a:tr h="504334">
                <a:tc>
                  <a:txBody>
                    <a:bodyPr/>
                    <a:lstStyle/>
                    <a:p>
                      <a:pPr lvl="0" algn="ctr"/>
                      <a:r>
                        <a:rPr lang="en-GB" dirty="0"/>
                        <a:t>3</a:t>
                      </a:r>
                    </a:p>
                  </a:txBody>
                  <a:tcPr>
                    <a:solidFill>
                      <a:schemeClr val="accent3">
                        <a:lumMod val="40000"/>
                        <a:lumOff val="60000"/>
                      </a:schemeClr>
                    </a:solidFill>
                  </a:tcPr>
                </a:tc>
                <a:tc>
                  <a:txBody>
                    <a:bodyPr/>
                    <a:lstStyle/>
                    <a:p>
                      <a:pPr algn="ctr"/>
                      <a:r>
                        <a:rPr lang="en-GB" dirty="0"/>
                        <a:t>Sofi</a:t>
                      </a:r>
                    </a:p>
                  </a:txBody>
                  <a:tcPr>
                    <a:solidFill>
                      <a:schemeClr val="accent3">
                        <a:lumMod val="40000"/>
                        <a:lumOff val="60000"/>
                      </a:schemeClr>
                    </a:solidFill>
                  </a:tcPr>
                </a:tc>
                <a:tc>
                  <a:txBody>
                    <a:bodyPr/>
                    <a:lstStyle/>
                    <a:p>
                      <a:pPr algn="ctr"/>
                      <a:r>
                        <a:rPr lang="en-GB" dirty="0" err="1"/>
                        <a:t>Chirva</a:t>
                      </a:r>
                      <a:endParaRPr lang="en-GB" dirty="0"/>
                    </a:p>
                  </a:txBody>
                  <a:tcPr>
                    <a:solidFill>
                      <a:schemeClr val="accent3">
                        <a:lumMod val="40000"/>
                        <a:lumOff val="60000"/>
                      </a:schemeClr>
                    </a:solidFill>
                  </a:tcPr>
                </a:tc>
                <a:tc>
                  <a:txBody>
                    <a:bodyPr/>
                    <a:lstStyle/>
                    <a:p>
                      <a:pPr algn="ctr"/>
                      <a:r>
                        <a:rPr lang="en-GB" sz="1600" dirty="0"/>
                        <a:t>3</a:t>
                      </a:r>
                      <a:endParaRPr lang="en-GB" dirty="0"/>
                    </a:p>
                  </a:txBody>
                  <a:tcPr>
                    <a:solidFill>
                      <a:schemeClr val="accent3">
                        <a:lumMod val="40000"/>
                        <a:lumOff val="60000"/>
                      </a:schemeClr>
                    </a:solidFill>
                  </a:tcPr>
                </a:tc>
                <a:extLst>
                  <a:ext uri="{0D108BD9-81ED-4DB2-BD59-A6C34878D82A}">
                    <a16:rowId xmlns:a16="http://schemas.microsoft.com/office/drawing/2014/main" val="1734854310"/>
                  </a:ext>
                </a:extLst>
              </a:tr>
            </a:tbl>
          </a:graphicData>
        </a:graphic>
      </p:graphicFrame>
      <p:graphicFrame>
        <p:nvGraphicFramePr>
          <p:cNvPr id="19" name="Table 18">
            <a:extLst>
              <a:ext uri="{FF2B5EF4-FFF2-40B4-BE49-F238E27FC236}">
                <a16:creationId xmlns:a16="http://schemas.microsoft.com/office/drawing/2014/main" id="{BBCA2250-359F-48C1-3CE1-2C68F806BA61}"/>
              </a:ext>
            </a:extLst>
          </p:cNvPr>
          <p:cNvGraphicFramePr>
            <a:graphicFrameLocks noGrp="1"/>
          </p:cNvGraphicFramePr>
          <p:nvPr>
            <p:extLst>
              <p:ext uri="{D42A27DB-BD31-4B8C-83A1-F6EECF244321}">
                <p14:modId xmlns:p14="http://schemas.microsoft.com/office/powerpoint/2010/main" val="976353842"/>
              </p:ext>
            </p:extLst>
          </p:nvPr>
        </p:nvGraphicFramePr>
        <p:xfrm>
          <a:off x="6505433" y="4176337"/>
          <a:ext cx="5062979" cy="2153082"/>
        </p:xfrm>
        <a:graphic>
          <a:graphicData uri="http://schemas.openxmlformats.org/drawingml/2006/table">
            <a:tbl>
              <a:tblPr firstRow="1" bandRow="1">
                <a:tableStyleId>{5C22544A-7EE6-4342-B048-85BDC9FD1C3A}</a:tableStyleId>
              </a:tblPr>
              <a:tblGrid>
                <a:gridCol w="900785">
                  <a:extLst>
                    <a:ext uri="{9D8B030D-6E8A-4147-A177-3AD203B41FA5}">
                      <a16:colId xmlns:a16="http://schemas.microsoft.com/office/drawing/2014/main" val="3949301401"/>
                    </a:ext>
                  </a:extLst>
                </a:gridCol>
                <a:gridCol w="1630704">
                  <a:extLst>
                    <a:ext uri="{9D8B030D-6E8A-4147-A177-3AD203B41FA5}">
                      <a16:colId xmlns:a16="http://schemas.microsoft.com/office/drawing/2014/main" val="4278716902"/>
                    </a:ext>
                  </a:extLst>
                </a:gridCol>
                <a:gridCol w="1265745">
                  <a:extLst>
                    <a:ext uri="{9D8B030D-6E8A-4147-A177-3AD203B41FA5}">
                      <a16:colId xmlns:a16="http://schemas.microsoft.com/office/drawing/2014/main" val="117177447"/>
                    </a:ext>
                  </a:extLst>
                </a:gridCol>
                <a:gridCol w="1265745">
                  <a:extLst>
                    <a:ext uri="{9D8B030D-6E8A-4147-A177-3AD203B41FA5}">
                      <a16:colId xmlns:a16="http://schemas.microsoft.com/office/drawing/2014/main" val="363622459"/>
                    </a:ext>
                  </a:extLst>
                </a:gridCol>
              </a:tblGrid>
              <a:tr h="504334">
                <a:tc>
                  <a:txBody>
                    <a:bodyPr/>
                    <a:lstStyle/>
                    <a:p>
                      <a:pPr algn="ctr"/>
                      <a:r>
                        <a:rPr lang="en-GB" dirty="0"/>
                        <a:t>Id</a:t>
                      </a:r>
                    </a:p>
                  </a:txBody>
                  <a:tcPr>
                    <a:solidFill>
                      <a:srgbClr val="C00000"/>
                    </a:solidFill>
                  </a:tcPr>
                </a:tc>
                <a:tc>
                  <a:txBody>
                    <a:bodyPr/>
                    <a:lstStyle/>
                    <a:p>
                      <a:pPr algn="ctr"/>
                      <a:r>
                        <a:rPr lang="en-GB" dirty="0"/>
                        <a:t>Name</a:t>
                      </a:r>
                    </a:p>
                  </a:txBody>
                  <a:tcPr>
                    <a:solidFill>
                      <a:srgbClr val="C00000"/>
                    </a:solidFill>
                  </a:tcPr>
                </a:tc>
                <a:tc>
                  <a:txBody>
                    <a:bodyPr/>
                    <a:lstStyle/>
                    <a:p>
                      <a:pPr algn="ctr"/>
                      <a:r>
                        <a:rPr lang="en-GB" dirty="0"/>
                        <a:t>Name</a:t>
                      </a:r>
                    </a:p>
                  </a:txBody>
                  <a:tcPr>
                    <a:solidFill>
                      <a:srgbClr val="C00000"/>
                    </a:solidFill>
                  </a:tcPr>
                </a:tc>
                <a:tc>
                  <a:txBody>
                    <a:bodyPr/>
                    <a:lstStyle/>
                    <a:p>
                      <a:pPr algn="ctr"/>
                      <a:r>
                        <a:rPr lang="en-GB" dirty="0" err="1"/>
                        <a:t>PC_Id</a:t>
                      </a:r>
                      <a:endParaRPr lang="en-GB" dirty="0"/>
                    </a:p>
                  </a:txBody>
                  <a:tcPr>
                    <a:solidFill>
                      <a:srgbClr val="C00000"/>
                    </a:solidFill>
                  </a:tcPr>
                </a:tc>
                <a:extLst>
                  <a:ext uri="{0D108BD9-81ED-4DB2-BD59-A6C34878D82A}">
                    <a16:rowId xmlns:a16="http://schemas.microsoft.com/office/drawing/2014/main" val="781625559"/>
                  </a:ext>
                </a:extLst>
              </a:tr>
              <a:tr h="504334">
                <a:tc>
                  <a:txBody>
                    <a:bodyPr/>
                    <a:lstStyle/>
                    <a:p>
                      <a:pPr lvl="0" algn="ctr"/>
                      <a:r>
                        <a:rPr lang="en-GB" dirty="0"/>
                        <a:t>1</a:t>
                      </a:r>
                    </a:p>
                  </a:txBody>
                  <a:tcPr>
                    <a:solidFill>
                      <a:schemeClr val="accent6">
                        <a:lumMod val="40000"/>
                        <a:lumOff val="60000"/>
                      </a:schemeClr>
                    </a:solidFill>
                  </a:tcPr>
                </a:tc>
                <a:tc>
                  <a:txBody>
                    <a:bodyPr/>
                    <a:lstStyle/>
                    <a:p>
                      <a:pPr algn="ctr"/>
                      <a:r>
                        <a:rPr lang="en-GB" dirty="0"/>
                        <a:t>Ivan123</a:t>
                      </a:r>
                    </a:p>
                  </a:txBody>
                  <a:tcPr>
                    <a:solidFill>
                      <a:schemeClr val="accent6">
                        <a:lumMod val="40000"/>
                        <a:lumOff val="60000"/>
                      </a:schemeClr>
                    </a:solidFill>
                  </a:tcPr>
                </a:tc>
                <a:tc>
                  <a:txBody>
                    <a:bodyPr/>
                    <a:lstStyle/>
                    <a:p>
                      <a:pPr algn="ctr"/>
                      <a:r>
                        <a:rPr lang="en-GB" dirty="0"/>
                        <a:t>Ivan123</a:t>
                      </a:r>
                    </a:p>
                  </a:txBody>
                  <a:tcPr>
                    <a:solidFill>
                      <a:schemeClr val="accent6">
                        <a:lumMod val="40000"/>
                        <a:lumOff val="60000"/>
                      </a:schemeClr>
                    </a:solidFill>
                  </a:tcPr>
                </a:tc>
                <a:tc>
                  <a:txBody>
                    <a:bodyPr/>
                    <a:lstStyle/>
                    <a:p>
                      <a:pPr algn="ctr"/>
                      <a:r>
                        <a:rPr lang="en-GB" sz="1600" dirty="0"/>
                        <a:t>1</a:t>
                      </a:r>
                    </a:p>
                  </a:txBody>
                  <a:tcPr>
                    <a:solidFill>
                      <a:schemeClr val="accent6">
                        <a:lumMod val="40000"/>
                        <a:lumOff val="60000"/>
                      </a:schemeClr>
                    </a:solidFill>
                  </a:tcPr>
                </a:tc>
                <a:extLst>
                  <a:ext uri="{0D108BD9-81ED-4DB2-BD59-A6C34878D82A}">
                    <a16:rowId xmlns:a16="http://schemas.microsoft.com/office/drawing/2014/main" val="2485794682"/>
                  </a:ext>
                </a:extLst>
              </a:tr>
              <a:tr h="504334">
                <a:tc>
                  <a:txBody>
                    <a:bodyPr/>
                    <a:lstStyle/>
                    <a:p>
                      <a:pPr lvl="0" algn="ctr"/>
                      <a:r>
                        <a:rPr lang="en-GB" dirty="0"/>
                        <a:t>2</a:t>
                      </a:r>
                    </a:p>
                  </a:txBody>
                  <a:tcPr>
                    <a:solidFill>
                      <a:schemeClr val="accent6">
                        <a:lumMod val="40000"/>
                        <a:lumOff val="60000"/>
                      </a:schemeClr>
                    </a:solidFill>
                  </a:tcPr>
                </a:tc>
                <a:tc>
                  <a:txBody>
                    <a:bodyPr/>
                    <a:lstStyle/>
                    <a:p>
                      <a:pPr algn="ctr"/>
                      <a:r>
                        <a:rPr lang="en-GB" dirty="0"/>
                        <a:t>Alex, Vitaliy</a:t>
                      </a:r>
                    </a:p>
                  </a:txBody>
                  <a:tcPr>
                    <a:solidFill>
                      <a:schemeClr val="accent6">
                        <a:lumMod val="40000"/>
                        <a:lumOff val="60000"/>
                      </a:schemeClr>
                    </a:solidFill>
                  </a:tcPr>
                </a:tc>
                <a:tc>
                  <a:txBody>
                    <a:bodyPr/>
                    <a:lstStyle/>
                    <a:p>
                      <a:pPr algn="ctr"/>
                      <a:r>
                        <a:rPr lang="en-GB" dirty="0"/>
                        <a:t>Alex, Vitaliy</a:t>
                      </a:r>
                    </a:p>
                  </a:txBody>
                  <a:tcPr>
                    <a:solidFill>
                      <a:schemeClr val="accent6">
                        <a:lumMod val="40000"/>
                        <a:lumOff val="60000"/>
                      </a:schemeClr>
                    </a:solidFill>
                  </a:tcPr>
                </a:tc>
                <a:tc>
                  <a:txBody>
                    <a:bodyPr/>
                    <a:lstStyle/>
                    <a:p>
                      <a:pPr algn="ctr"/>
                      <a:r>
                        <a:rPr lang="en-GB" sz="1600" dirty="0"/>
                        <a:t>2</a:t>
                      </a:r>
                    </a:p>
                  </a:txBody>
                  <a:tcPr>
                    <a:solidFill>
                      <a:schemeClr val="accent6">
                        <a:lumMod val="40000"/>
                        <a:lumOff val="60000"/>
                      </a:schemeClr>
                    </a:solidFill>
                  </a:tcPr>
                </a:tc>
                <a:extLst>
                  <a:ext uri="{0D108BD9-81ED-4DB2-BD59-A6C34878D82A}">
                    <a16:rowId xmlns:a16="http://schemas.microsoft.com/office/drawing/2014/main" val="1905000469"/>
                  </a:ext>
                </a:extLst>
              </a:tr>
              <a:tr h="504334">
                <a:tc>
                  <a:txBody>
                    <a:bodyPr/>
                    <a:lstStyle/>
                    <a:p>
                      <a:pPr lvl="0" algn="ctr"/>
                      <a:r>
                        <a:rPr lang="en-GB" dirty="0"/>
                        <a:t>3</a:t>
                      </a:r>
                    </a:p>
                  </a:txBody>
                  <a:tcPr>
                    <a:solidFill>
                      <a:schemeClr val="accent6">
                        <a:lumMod val="40000"/>
                        <a:lumOff val="60000"/>
                      </a:schemeClr>
                    </a:solidFill>
                  </a:tcPr>
                </a:tc>
                <a:tc>
                  <a:txBody>
                    <a:bodyPr/>
                    <a:lstStyle/>
                    <a:p>
                      <a:pPr algn="ctr"/>
                      <a:r>
                        <a:rPr lang="en-GB" dirty="0"/>
                        <a:t>Sofi</a:t>
                      </a:r>
                    </a:p>
                  </a:txBody>
                  <a:tcPr>
                    <a:solidFill>
                      <a:schemeClr val="accent6">
                        <a:lumMod val="40000"/>
                        <a:lumOff val="60000"/>
                      </a:schemeClr>
                    </a:solidFill>
                  </a:tcPr>
                </a:tc>
                <a:tc>
                  <a:txBody>
                    <a:bodyPr/>
                    <a:lstStyle/>
                    <a:p>
                      <a:pPr algn="ctr"/>
                      <a:r>
                        <a:rPr lang="en-GB" dirty="0"/>
                        <a:t>Sofi</a:t>
                      </a:r>
                    </a:p>
                  </a:txBody>
                  <a:tcPr>
                    <a:solidFill>
                      <a:schemeClr val="accent6">
                        <a:lumMod val="40000"/>
                        <a:lumOff val="60000"/>
                      </a:schemeClr>
                    </a:solidFill>
                  </a:tcPr>
                </a:tc>
                <a:tc>
                  <a:txBody>
                    <a:bodyPr/>
                    <a:lstStyle/>
                    <a:p>
                      <a:pPr algn="ctr"/>
                      <a:r>
                        <a:rPr lang="en-GB" sz="1600" dirty="0"/>
                        <a:t>3</a:t>
                      </a:r>
                      <a:endParaRPr lang="en-GB" dirty="0"/>
                    </a:p>
                  </a:txBody>
                  <a:tcPr>
                    <a:solidFill>
                      <a:schemeClr val="accent6">
                        <a:lumMod val="40000"/>
                        <a:lumOff val="60000"/>
                      </a:schemeClr>
                    </a:solidFill>
                  </a:tcPr>
                </a:tc>
                <a:extLst>
                  <a:ext uri="{0D108BD9-81ED-4DB2-BD59-A6C34878D82A}">
                    <a16:rowId xmlns:a16="http://schemas.microsoft.com/office/drawing/2014/main" val="1734854310"/>
                  </a:ext>
                </a:extLst>
              </a:tr>
            </a:tbl>
          </a:graphicData>
        </a:graphic>
      </p:graphicFrame>
    </p:spTree>
    <p:extLst>
      <p:ext uri="{BB962C8B-B14F-4D97-AF65-F5344CB8AC3E}">
        <p14:creationId xmlns:p14="http://schemas.microsoft.com/office/powerpoint/2010/main" val="8604320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584CE-273F-A808-BEB8-11FF8F2691EE}"/>
              </a:ext>
            </a:extLst>
          </p:cNvPr>
          <p:cNvSpPr>
            <a:spLocks noGrp="1"/>
          </p:cNvSpPr>
          <p:nvPr>
            <p:ph type="title"/>
          </p:nvPr>
        </p:nvSpPr>
        <p:spPr/>
        <p:txBody>
          <a:bodyPr/>
          <a:lstStyle/>
          <a:p>
            <a:r>
              <a:rPr lang="en-GB" b="1" dirty="0"/>
              <a:t>NF2</a:t>
            </a:r>
            <a:endParaRPr lang="en-GB" dirty="0"/>
          </a:p>
        </p:txBody>
      </p:sp>
      <p:sp>
        <p:nvSpPr>
          <p:cNvPr id="3" name="Content Placeholder 2">
            <a:extLst>
              <a:ext uri="{FF2B5EF4-FFF2-40B4-BE49-F238E27FC236}">
                <a16:creationId xmlns:a16="http://schemas.microsoft.com/office/drawing/2014/main" id="{2143C1A6-DBF4-BF16-474F-4B8993C3301D}"/>
              </a:ext>
            </a:extLst>
          </p:cNvPr>
          <p:cNvSpPr>
            <a:spLocks noGrp="1"/>
          </p:cNvSpPr>
          <p:nvPr>
            <p:ph idx="1"/>
          </p:nvPr>
        </p:nvSpPr>
        <p:spPr>
          <a:xfrm>
            <a:off x="680321" y="2118049"/>
            <a:ext cx="9613861" cy="3818140"/>
          </a:xfrm>
        </p:spPr>
        <p:txBody>
          <a:bodyPr>
            <a:normAutofit/>
          </a:bodyPr>
          <a:lstStyle/>
          <a:p>
            <a:r>
              <a:rPr lang="uk-UA" sz="2000" dirty="0"/>
              <a:t>NF2 also has the same rules as NF1</a:t>
            </a:r>
          </a:p>
          <a:p>
            <a:r>
              <a:rPr lang="uk-UA" sz="2000" dirty="0"/>
              <a:t>No partial dependency. That is, all non-key attributes fully depend on the primary key</a:t>
            </a:r>
          </a:p>
          <a:p>
            <a:endParaRPr lang="uk-UA" sz="2000" dirty="0"/>
          </a:p>
        </p:txBody>
      </p:sp>
      <p:graphicFrame>
        <p:nvGraphicFramePr>
          <p:cNvPr id="4" name="Table 3">
            <a:extLst>
              <a:ext uri="{FF2B5EF4-FFF2-40B4-BE49-F238E27FC236}">
                <a16:creationId xmlns:a16="http://schemas.microsoft.com/office/drawing/2014/main" id="{3857D114-C2AE-7313-714C-FA9331C44C40}"/>
              </a:ext>
            </a:extLst>
          </p:cNvPr>
          <p:cNvGraphicFramePr>
            <a:graphicFrameLocks noGrp="1"/>
          </p:cNvGraphicFramePr>
          <p:nvPr>
            <p:extLst>
              <p:ext uri="{D42A27DB-BD31-4B8C-83A1-F6EECF244321}">
                <p14:modId xmlns:p14="http://schemas.microsoft.com/office/powerpoint/2010/main" val="3059162446"/>
              </p:ext>
            </p:extLst>
          </p:nvPr>
        </p:nvGraphicFramePr>
        <p:xfrm>
          <a:off x="680321" y="3429000"/>
          <a:ext cx="4733040" cy="1463040"/>
        </p:xfrm>
        <a:graphic>
          <a:graphicData uri="http://schemas.openxmlformats.org/drawingml/2006/table">
            <a:tbl>
              <a:tblPr firstRow="1" bandRow="1">
                <a:tableStyleId>{5C22544A-7EE6-4342-B048-85BDC9FD1C3A}</a:tableStyleId>
              </a:tblPr>
              <a:tblGrid>
                <a:gridCol w="842084">
                  <a:extLst>
                    <a:ext uri="{9D8B030D-6E8A-4147-A177-3AD203B41FA5}">
                      <a16:colId xmlns:a16="http://schemas.microsoft.com/office/drawing/2014/main" val="3949301401"/>
                    </a:ext>
                  </a:extLst>
                </a:gridCol>
                <a:gridCol w="1524436">
                  <a:extLst>
                    <a:ext uri="{9D8B030D-6E8A-4147-A177-3AD203B41FA5}">
                      <a16:colId xmlns:a16="http://schemas.microsoft.com/office/drawing/2014/main" val="4278716902"/>
                    </a:ext>
                  </a:extLst>
                </a:gridCol>
                <a:gridCol w="1346550">
                  <a:extLst>
                    <a:ext uri="{9D8B030D-6E8A-4147-A177-3AD203B41FA5}">
                      <a16:colId xmlns:a16="http://schemas.microsoft.com/office/drawing/2014/main" val="117177447"/>
                    </a:ext>
                  </a:extLst>
                </a:gridCol>
                <a:gridCol w="1019970">
                  <a:extLst>
                    <a:ext uri="{9D8B030D-6E8A-4147-A177-3AD203B41FA5}">
                      <a16:colId xmlns:a16="http://schemas.microsoft.com/office/drawing/2014/main" val="363622459"/>
                    </a:ext>
                  </a:extLst>
                </a:gridCol>
              </a:tblGrid>
              <a:tr h="362758">
                <a:tc>
                  <a:txBody>
                    <a:bodyPr/>
                    <a:lstStyle/>
                    <a:p>
                      <a:pPr algn="ctr"/>
                      <a:r>
                        <a:rPr lang="en-GB" dirty="0"/>
                        <a:t>Id</a:t>
                      </a:r>
                    </a:p>
                  </a:txBody>
                  <a:tcPr>
                    <a:solidFill>
                      <a:srgbClr val="309070"/>
                    </a:solidFill>
                  </a:tcPr>
                </a:tc>
                <a:tc>
                  <a:txBody>
                    <a:bodyPr/>
                    <a:lstStyle/>
                    <a:p>
                      <a:pPr algn="ctr"/>
                      <a:r>
                        <a:rPr lang="en-GB" dirty="0"/>
                        <a:t>Name</a:t>
                      </a:r>
                    </a:p>
                  </a:txBody>
                  <a:tcPr>
                    <a:solidFill>
                      <a:srgbClr val="309070"/>
                    </a:solidFill>
                  </a:tcPr>
                </a:tc>
                <a:tc>
                  <a:txBody>
                    <a:bodyPr/>
                    <a:lstStyle/>
                    <a:p>
                      <a:pPr algn="ctr"/>
                      <a:r>
                        <a:rPr lang="en-GB" dirty="0"/>
                        <a:t>Surname</a:t>
                      </a:r>
                    </a:p>
                  </a:txBody>
                  <a:tcPr>
                    <a:solidFill>
                      <a:srgbClr val="309070"/>
                    </a:solidFill>
                  </a:tcPr>
                </a:tc>
                <a:tc>
                  <a:txBody>
                    <a:bodyPr/>
                    <a:lstStyle/>
                    <a:p>
                      <a:pPr algn="ctr"/>
                      <a:r>
                        <a:rPr lang="en-GB" dirty="0" err="1"/>
                        <a:t>PC_Id</a:t>
                      </a:r>
                      <a:endParaRPr lang="en-GB" dirty="0"/>
                    </a:p>
                  </a:txBody>
                  <a:tcPr>
                    <a:solidFill>
                      <a:srgbClr val="309070"/>
                    </a:solidFill>
                  </a:tcPr>
                </a:tc>
                <a:extLst>
                  <a:ext uri="{0D108BD9-81ED-4DB2-BD59-A6C34878D82A}">
                    <a16:rowId xmlns:a16="http://schemas.microsoft.com/office/drawing/2014/main" val="781625559"/>
                  </a:ext>
                </a:extLst>
              </a:tr>
              <a:tr h="362758">
                <a:tc>
                  <a:txBody>
                    <a:bodyPr/>
                    <a:lstStyle/>
                    <a:p>
                      <a:pPr lvl="0" algn="ctr"/>
                      <a:r>
                        <a:rPr lang="en-GB" dirty="0"/>
                        <a:t>1</a:t>
                      </a:r>
                    </a:p>
                  </a:txBody>
                  <a:tcPr>
                    <a:solidFill>
                      <a:schemeClr val="accent3">
                        <a:lumMod val="40000"/>
                        <a:lumOff val="60000"/>
                      </a:schemeClr>
                    </a:solidFill>
                  </a:tcPr>
                </a:tc>
                <a:tc>
                  <a:txBody>
                    <a:bodyPr/>
                    <a:lstStyle/>
                    <a:p>
                      <a:pPr algn="ctr"/>
                      <a:r>
                        <a:rPr lang="en-GB" dirty="0"/>
                        <a:t>Ivan</a:t>
                      </a:r>
                    </a:p>
                  </a:txBody>
                  <a:tcPr>
                    <a:solidFill>
                      <a:schemeClr val="accent3">
                        <a:lumMod val="40000"/>
                        <a:lumOff val="60000"/>
                      </a:schemeClr>
                    </a:solidFill>
                  </a:tcPr>
                </a:tc>
                <a:tc>
                  <a:txBody>
                    <a:bodyPr/>
                    <a:lstStyle/>
                    <a:p>
                      <a:pPr algn="ctr"/>
                      <a:r>
                        <a:rPr lang="en-GB" dirty="0"/>
                        <a:t>Korba</a:t>
                      </a:r>
                    </a:p>
                  </a:txBody>
                  <a:tcPr>
                    <a:solidFill>
                      <a:schemeClr val="accent3">
                        <a:lumMod val="40000"/>
                        <a:lumOff val="60000"/>
                      </a:schemeClr>
                    </a:solidFill>
                  </a:tcPr>
                </a:tc>
                <a:tc>
                  <a:txBody>
                    <a:bodyPr/>
                    <a:lstStyle/>
                    <a:p>
                      <a:pPr algn="ctr"/>
                      <a:r>
                        <a:rPr lang="en-GB" sz="1600" dirty="0"/>
                        <a:t>1</a:t>
                      </a:r>
                    </a:p>
                  </a:txBody>
                  <a:tcPr>
                    <a:solidFill>
                      <a:schemeClr val="accent3">
                        <a:lumMod val="40000"/>
                        <a:lumOff val="60000"/>
                      </a:schemeClr>
                    </a:solidFill>
                  </a:tcPr>
                </a:tc>
                <a:extLst>
                  <a:ext uri="{0D108BD9-81ED-4DB2-BD59-A6C34878D82A}">
                    <a16:rowId xmlns:a16="http://schemas.microsoft.com/office/drawing/2014/main" val="2485794682"/>
                  </a:ext>
                </a:extLst>
              </a:tr>
              <a:tr h="362758">
                <a:tc>
                  <a:txBody>
                    <a:bodyPr/>
                    <a:lstStyle/>
                    <a:p>
                      <a:pPr lvl="0" algn="ctr"/>
                      <a:r>
                        <a:rPr lang="en-GB" dirty="0"/>
                        <a:t>2</a:t>
                      </a:r>
                    </a:p>
                  </a:txBody>
                  <a:tcPr>
                    <a:solidFill>
                      <a:schemeClr val="accent3">
                        <a:lumMod val="40000"/>
                        <a:lumOff val="60000"/>
                      </a:schemeClr>
                    </a:solidFill>
                  </a:tcPr>
                </a:tc>
                <a:tc>
                  <a:txBody>
                    <a:bodyPr/>
                    <a:lstStyle/>
                    <a:p>
                      <a:pPr algn="ctr"/>
                      <a:r>
                        <a:rPr lang="en-GB" dirty="0"/>
                        <a:t>Alex</a:t>
                      </a:r>
                    </a:p>
                  </a:txBody>
                  <a:tcPr>
                    <a:solidFill>
                      <a:schemeClr val="accent3">
                        <a:lumMod val="40000"/>
                        <a:lumOff val="60000"/>
                      </a:schemeClr>
                    </a:solidFill>
                  </a:tcPr>
                </a:tc>
                <a:tc>
                  <a:txBody>
                    <a:bodyPr/>
                    <a:lstStyle/>
                    <a:p>
                      <a:pPr algn="ctr"/>
                      <a:r>
                        <a:rPr lang="en-GB" dirty="0" err="1"/>
                        <a:t>Katchenko</a:t>
                      </a:r>
                      <a:endParaRPr lang="en-GB" dirty="0"/>
                    </a:p>
                  </a:txBody>
                  <a:tcPr>
                    <a:solidFill>
                      <a:schemeClr val="accent3">
                        <a:lumMod val="40000"/>
                        <a:lumOff val="60000"/>
                      </a:schemeClr>
                    </a:solidFill>
                  </a:tcPr>
                </a:tc>
                <a:tc>
                  <a:txBody>
                    <a:bodyPr/>
                    <a:lstStyle/>
                    <a:p>
                      <a:pPr algn="ctr"/>
                      <a:r>
                        <a:rPr lang="en-GB" sz="1600" dirty="0"/>
                        <a:t>2</a:t>
                      </a:r>
                    </a:p>
                  </a:txBody>
                  <a:tcPr>
                    <a:solidFill>
                      <a:schemeClr val="accent3">
                        <a:lumMod val="40000"/>
                        <a:lumOff val="60000"/>
                      </a:schemeClr>
                    </a:solidFill>
                  </a:tcPr>
                </a:tc>
                <a:extLst>
                  <a:ext uri="{0D108BD9-81ED-4DB2-BD59-A6C34878D82A}">
                    <a16:rowId xmlns:a16="http://schemas.microsoft.com/office/drawing/2014/main" val="1905000469"/>
                  </a:ext>
                </a:extLst>
              </a:tr>
              <a:tr h="362758">
                <a:tc>
                  <a:txBody>
                    <a:bodyPr/>
                    <a:lstStyle/>
                    <a:p>
                      <a:pPr lvl="0" algn="ctr"/>
                      <a:r>
                        <a:rPr lang="en-GB" dirty="0"/>
                        <a:t>3</a:t>
                      </a:r>
                    </a:p>
                  </a:txBody>
                  <a:tcPr>
                    <a:solidFill>
                      <a:schemeClr val="accent3">
                        <a:lumMod val="40000"/>
                        <a:lumOff val="60000"/>
                      </a:schemeClr>
                    </a:solidFill>
                  </a:tcPr>
                </a:tc>
                <a:tc>
                  <a:txBody>
                    <a:bodyPr/>
                    <a:lstStyle/>
                    <a:p>
                      <a:pPr algn="ctr"/>
                      <a:r>
                        <a:rPr lang="en-GB" dirty="0"/>
                        <a:t>Sofi</a:t>
                      </a:r>
                    </a:p>
                  </a:txBody>
                  <a:tcPr>
                    <a:solidFill>
                      <a:schemeClr val="accent3">
                        <a:lumMod val="40000"/>
                        <a:lumOff val="60000"/>
                      </a:schemeClr>
                    </a:solidFill>
                  </a:tcPr>
                </a:tc>
                <a:tc>
                  <a:txBody>
                    <a:bodyPr/>
                    <a:lstStyle/>
                    <a:p>
                      <a:pPr algn="ctr"/>
                      <a:r>
                        <a:rPr lang="en-GB" dirty="0" err="1"/>
                        <a:t>Chirva</a:t>
                      </a:r>
                      <a:endParaRPr lang="en-GB" dirty="0"/>
                    </a:p>
                  </a:txBody>
                  <a:tcPr>
                    <a:solidFill>
                      <a:schemeClr val="accent3">
                        <a:lumMod val="40000"/>
                        <a:lumOff val="60000"/>
                      </a:schemeClr>
                    </a:solidFill>
                  </a:tcPr>
                </a:tc>
                <a:tc>
                  <a:txBody>
                    <a:bodyPr/>
                    <a:lstStyle/>
                    <a:p>
                      <a:pPr algn="ctr"/>
                      <a:r>
                        <a:rPr lang="en-GB" sz="1600" dirty="0"/>
                        <a:t>3</a:t>
                      </a:r>
                      <a:endParaRPr lang="en-GB" dirty="0"/>
                    </a:p>
                  </a:txBody>
                  <a:tcPr>
                    <a:solidFill>
                      <a:schemeClr val="accent3">
                        <a:lumMod val="40000"/>
                        <a:lumOff val="60000"/>
                      </a:schemeClr>
                    </a:solidFill>
                  </a:tcPr>
                </a:tc>
                <a:extLst>
                  <a:ext uri="{0D108BD9-81ED-4DB2-BD59-A6C34878D82A}">
                    <a16:rowId xmlns:a16="http://schemas.microsoft.com/office/drawing/2014/main" val="1734854310"/>
                  </a:ext>
                </a:extLst>
              </a:tr>
            </a:tbl>
          </a:graphicData>
        </a:graphic>
      </p:graphicFrame>
      <p:graphicFrame>
        <p:nvGraphicFramePr>
          <p:cNvPr id="6" name="Table 5">
            <a:extLst>
              <a:ext uri="{FF2B5EF4-FFF2-40B4-BE49-F238E27FC236}">
                <a16:creationId xmlns:a16="http://schemas.microsoft.com/office/drawing/2014/main" id="{80E2691B-8892-BFDC-3363-E35D41788D9F}"/>
              </a:ext>
            </a:extLst>
          </p:cNvPr>
          <p:cNvGraphicFramePr>
            <a:graphicFrameLocks noGrp="1"/>
          </p:cNvGraphicFramePr>
          <p:nvPr>
            <p:extLst>
              <p:ext uri="{D42A27DB-BD31-4B8C-83A1-F6EECF244321}">
                <p14:modId xmlns:p14="http://schemas.microsoft.com/office/powerpoint/2010/main" val="3400127671"/>
              </p:ext>
            </p:extLst>
          </p:nvPr>
        </p:nvGraphicFramePr>
        <p:xfrm>
          <a:off x="6877907" y="3833069"/>
          <a:ext cx="5201239" cy="2103120"/>
        </p:xfrm>
        <a:graphic>
          <a:graphicData uri="http://schemas.openxmlformats.org/drawingml/2006/table">
            <a:tbl>
              <a:tblPr firstRow="1" bandRow="1">
                <a:tableStyleId>{5C22544A-7EE6-4342-B048-85BDC9FD1C3A}</a:tableStyleId>
              </a:tblPr>
              <a:tblGrid>
                <a:gridCol w="740307">
                  <a:extLst>
                    <a:ext uri="{9D8B030D-6E8A-4147-A177-3AD203B41FA5}">
                      <a16:colId xmlns:a16="http://schemas.microsoft.com/office/drawing/2014/main" val="3949301401"/>
                    </a:ext>
                  </a:extLst>
                </a:gridCol>
                <a:gridCol w="1340188">
                  <a:extLst>
                    <a:ext uri="{9D8B030D-6E8A-4147-A177-3AD203B41FA5}">
                      <a16:colId xmlns:a16="http://schemas.microsoft.com/office/drawing/2014/main" val="4278716902"/>
                    </a:ext>
                  </a:extLst>
                </a:gridCol>
                <a:gridCol w="1156042">
                  <a:extLst>
                    <a:ext uri="{9D8B030D-6E8A-4147-A177-3AD203B41FA5}">
                      <a16:colId xmlns:a16="http://schemas.microsoft.com/office/drawing/2014/main" val="117177447"/>
                    </a:ext>
                  </a:extLst>
                </a:gridCol>
                <a:gridCol w="924454">
                  <a:extLst>
                    <a:ext uri="{9D8B030D-6E8A-4147-A177-3AD203B41FA5}">
                      <a16:colId xmlns:a16="http://schemas.microsoft.com/office/drawing/2014/main" val="363622459"/>
                    </a:ext>
                  </a:extLst>
                </a:gridCol>
                <a:gridCol w="1040248">
                  <a:extLst>
                    <a:ext uri="{9D8B030D-6E8A-4147-A177-3AD203B41FA5}">
                      <a16:colId xmlns:a16="http://schemas.microsoft.com/office/drawing/2014/main" val="2970136821"/>
                    </a:ext>
                  </a:extLst>
                </a:gridCol>
              </a:tblGrid>
              <a:tr h="310911">
                <a:tc>
                  <a:txBody>
                    <a:bodyPr/>
                    <a:lstStyle/>
                    <a:p>
                      <a:pPr algn="ctr"/>
                      <a:r>
                        <a:rPr lang="en-GB" dirty="0"/>
                        <a:t>Id</a:t>
                      </a:r>
                    </a:p>
                  </a:txBody>
                  <a:tcPr>
                    <a:solidFill>
                      <a:srgbClr val="C00000"/>
                    </a:solidFill>
                  </a:tcPr>
                </a:tc>
                <a:tc>
                  <a:txBody>
                    <a:bodyPr/>
                    <a:lstStyle/>
                    <a:p>
                      <a:pPr algn="ctr"/>
                      <a:r>
                        <a:rPr lang="en-GB" dirty="0"/>
                        <a:t>Name</a:t>
                      </a:r>
                    </a:p>
                  </a:txBody>
                  <a:tcPr>
                    <a:solidFill>
                      <a:srgbClr val="C00000"/>
                    </a:solidFill>
                  </a:tcPr>
                </a:tc>
                <a:tc>
                  <a:txBody>
                    <a:bodyPr/>
                    <a:lstStyle/>
                    <a:p>
                      <a:pPr algn="ctr"/>
                      <a:r>
                        <a:rPr lang="en-GB" dirty="0"/>
                        <a:t>Surname</a:t>
                      </a:r>
                    </a:p>
                  </a:txBody>
                  <a:tcPr>
                    <a:solidFill>
                      <a:srgbClr val="C00000"/>
                    </a:solidFill>
                  </a:tcPr>
                </a:tc>
                <a:tc>
                  <a:txBody>
                    <a:bodyPr/>
                    <a:lstStyle/>
                    <a:p>
                      <a:pPr algn="ctr"/>
                      <a:r>
                        <a:rPr lang="en-GB" dirty="0" err="1"/>
                        <a:t>PC_Id</a:t>
                      </a:r>
                      <a:endParaRPr lang="en-GB" dirty="0"/>
                    </a:p>
                  </a:txBody>
                  <a:tcPr>
                    <a:solidFill>
                      <a:srgbClr val="C00000"/>
                    </a:solidFill>
                  </a:tcPr>
                </a:tc>
                <a:tc>
                  <a:txBody>
                    <a:bodyPr/>
                    <a:lstStyle/>
                    <a:p>
                      <a:pPr algn="ctr"/>
                      <a:r>
                        <a:rPr lang="en-GB" dirty="0"/>
                        <a:t>OS</a:t>
                      </a:r>
                    </a:p>
                  </a:txBody>
                  <a:tcPr>
                    <a:solidFill>
                      <a:srgbClr val="C00000"/>
                    </a:solidFill>
                  </a:tcPr>
                </a:tc>
                <a:extLst>
                  <a:ext uri="{0D108BD9-81ED-4DB2-BD59-A6C34878D82A}">
                    <a16:rowId xmlns:a16="http://schemas.microsoft.com/office/drawing/2014/main" val="781625559"/>
                  </a:ext>
                </a:extLst>
              </a:tr>
              <a:tr h="310911">
                <a:tc>
                  <a:txBody>
                    <a:bodyPr/>
                    <a:lstStyle/>
                    <a:p>
                      <a:pPr lvl="0" algn="ctr"/>
                      <a:r>
                        <a:rPr lang="en-GB" dirty="0"/>
                        <a:t>1</a:t>
                      </a:r>
                    </a:p>
                  </a:txBody>
                  <a:tcPr>
                    <a:solidFill>
                      <a:schemeClr val="accent6">
                        <a:lumMod val="40000"/>
                        <a:lumOff val="60000"/>
                      </a:schemeClr>
                    </a:solidFill>
                  </a:tcPr>
                </a:tc>
                <a:tc>
                  <a:txBody>
                    <a:bodyPr/>
                    <a:lstStyle/>
                    <a:p>
                      <a:pPr algn="ctr"/>
                      <a:r>
                        <a:rPr lang="en-GB" dirty="0"/>
                        <a:t>Ivan</a:t>
                      </a:r>
                    </a:p>
                  </a:txBody>
                  <a:tcPr>
                    <a:solidFill>
                      <a:schemeClr val="accent6">
                        <a:lumMod val="40000"/>
                        <a:lumOff val="60000"/>
                      </a:schemeClr>
                    </a:solidFill>
                  </a:tcPr>
                </a:tc>
                <a:tc>
                  <a:txBody>
                    <a:bodyPr/>
                    <a:lstStyle/>
                    <a:p>
                      <a:pPr algn="ctr"/>
                      <a:r>
                        <a:rPr lang="en-GB" dirty="0"/>
                        <a:t>Korba</a:t>
                      </a:r>
                    </a:p>
                  </a:txBody>
                  <a:tcPr>
                    <a:solidFill>
                      <a:schemeClr val="accent6">
                        <a:lumMod val="40000"/>
                        <a:lumOff val="60000"/>
                      </a:schemeClr>
                    </a:solidFill>
                  </a:tcPr>
                </a:tc>
                <a:tc>
                  <a:txBody>
                    <a:bodyPr/>
                    <a:lstStyle/>
                    <a:p>
                      <a:pPr algn="ctr"/>
                      <a:r>
                        <a:rPr lang="en-GB" sz="1600" dirty="0"/>
                        <a:t>1</a:t>
                      </a:r>
                    </a:p>
                  </a:txBody>
                  <a:tcPr>
                    <a:solidFill>
                      <a:schemeClr val="accent6">
                        <a:lumMod val="40000"/>
                        <a:lumOff val="60000"/>
                      </a:schemeClr>
                    </a:solidFill>
                  </a:tcPr>
                </a:tc>
                <a:tc>
                  <a:txBody>
                    <a:bodyPr/>
                    <a:lstStyle/>
                    <a:p>
                      <a:pPr algn="ctr"/>
                      <a:r>
                        <a:rPr lang="en-GB" sz="1600" dirty="0"/>
                        <a:t>Windows</a:t>
                      </a:r>
                    </a:p>
                  </a:txBody>
                  <a:tcPr>
                    <a:solidFill>
                      <a:schemeClr val="accent6">
                        <a:lumMod val="40000"/>
                        <a:lumOff val="60000"/>
                      </a:schemeClr>
                    </a:solidFill>
                  </a:tcPr>
                </a:tc>
                <a:extLst>
                  <a:ext uri="{0D108BD9-81ED-4DB2-BD59-A6C34878D82A}">
                    <a16:rowId xmlns:a16="http://schemas.microsoft.com/office/drawing/2014/main" val="2485794682"/>
                  </a:ext>
                </a:extLst>
              </a:tr>
              <a:tr h="310911">
                <a:tc>
                  <a:txBody>
                    <a:bodyPr/>
                    <a:lstStyle/>
                    <a:p>
                      <a:pPr lvl="0" algn="ctr"/>
                      <a:r>
                        <a:rPr lang="en-GB" dirty="0"/>
                        <a:t>2</a:t>
                      </a:r>
                    </a:p>
                  </a:txBody>
                  <a:tcPr>
                    <a:solidFill>
                      <a:schemeClr val="accent6">
                        <a:lumMod val="40000"/>
                        <a:lumOff val="60000"/>
                      </a:schemeClr>
                    </a:solidFill>
                  </a:tcPr>
                </a:tc>
                <a:tc>
                  <a:txBody>
                    <a:bodyPr/>
                    <a:lstStyle/>
                    <a:p>
                      <a:pPr algn="ctr"/>
                      <a:r>
                        <a:rPr lang="en-GB" dirty="0"/>
                        <a:t>Alex</a:t>
                      </a:r>
                    </a:p>
                  </a:txBody>
                  <a:tcPr>
                    <a:solidFill>
                      <a:schemeClr val="accent6">
                        <a:lumMod val="40000"/>
                        <a:lumOff val="60000"/>
                      </a:schemeClr>
                    </a:solidFill>
                  </a:tcPr>
                </a:tc>
                <a:tc>
                  <a:txBody>
                    <a:bodyPr/>
                    <a:lstStyle/>
                    <a:p>
                      <a:pPr algn="ctr"/>
                      <a:r>
                        <a:rPr lang="en-GB" dirty="0" err="1"/>
                        <a:t>Katchenko</a:t>
                      </a:r>
                      <a:endParaRPr lang="en-GB" dirty="0"/>
                    </a:p>
                  </a:txBody>
                  <a:tcPr>
                    <a:solidFill>
                      <a:schemeClr val="accent6">
                        <a:lumMod val="40000"/>
                        <a:lumOff val="60000"/>
                      </a:schemeClr>
                    </a:solidFill>
                  </a:tcPr>
                </a:tc>
                <a:tc>
                  <a:txBody>
                    <a:bodyPr/>
                    <a:lstStyle/>
                    <a:p>
                      <a:pPr algn="ctr"/>
                      <a:r>
                        <a:rPr lang="en-GB" sz="1600" dirty="0"/>
                        <a:t>2</a:t>
                      </a:r>
                    </a:p>
                  </a:txBody>
                  <a:tcPr>
                    <a:solidFill>
                      <a:schemeClr val="accent6">
                        <a:lumMod val="40000"/>
                        <a:lumOff val="60000"/>
                      </a:schemeClr>
                    </a:solidFill>
                  </a:tcPr>
                </a:tc>
                <a:tc>
                  <a:txBody>
                    <a:bodyPr/>
                    <a:lstStyle/>
                    <a:p>
                      <a:pPr algn="ctr"/>
                      <a:r>
                        <a:rPr lang="en-GB" sz="1800" dirty="0"/>
                        <a:t>macOS</a:t>
                      </a:r>
                      <a:endParaRPr lang="en-GB" sz="1600" dirty="0"/>
                    </a:p>
                  </a:txBody>
                  <a:tcPr>
                    <a:solidFill>
                      <a:schemeClr val="accent6">
                        <a:lumMod val="40000"/>
                        <a:lumOff val="60000"/>
                      </a:schemeClr>
                    </a:solidFill>
                  </a:tcPr>
                </a:tc>
                <a:extLst>
                  <a:ext uri="{0D108BD9-81ED-4DB2-BD59-A6C34878D82A}">
                    <a16:rowId xmlns:a16="http://schemas.microsoft.com/office/drawing/2014/main" val="1905000469"/>
                  </a:ext>
                </a:extLst>
              </a:tr>
              <a:tr h="310911">
                <a:tc>
                  <a:txBody>
                    <a:bodyPr/>
                    <a:lstStyle/>
                    <a:p>
                      <a:pPr lvl="0" algn="ctr"/>
                      <a:r>
                        <a:rPr lang="en-GB" dirty="0"/>
                        <a:t>3</a:t>
                      </a:r>
                    </a:p>
                  </a:txBody>
                  <a:tcPr>
                    <a:solidFill>
                      <a:schemeClr val="accent6">
                        <a:lumMod val="40000"/>
                        <a:lumOff val="60000"/>
                      </a:schemeClr>
                    </a:solidFill>
                  </a:tcPr>
                </a:tc>
                <a:tc>
                  <a:txBody>
                    <a:bodyPr/>
                    <a:lstStyle/>
                    <a:p>
                      <a:pPr algn="ctr"/>
                      <a:r>
                        <a:rPr lang="en-GB" dirty="0"/>
                        <a:t>Sofi</a:t>
                      </a:r>
                    </a:p>
                  </a:txBody>
                  <a:tcPr>
                    <a:solidFill>
                      <a:schemeClr val="accent6">
                        <a:lumMod val="40000"/>
                        <a:lumOff val="60000"/>
                      </a:schemeClr>
                    </a:solidFill>
                  </a:tcPr>
                </a:tc>
                <a:tc>
                  <a:txBody>
                    <a:bodyPr/>
                    <a:lstStyle/>
                    <a:p>
                      <a:pPr algn="ctr"/>
                      <a:r>
                        <a:rPr lang="en-GB" dirty="0" err="1"/>
                        <a:t>Chirva</a:t>
                      </a:r>
                      <a:endParaRPr lang="en-GB" dirty="0"/>
                    </a:p>
                  </a:txBody>
                  <a:tcPr>
                    <a:solidFill>
                      <a:schemeClr val="accent6">
                        <a:lumMod val="40000"/>
                        <a:lumOff val="60000"/>
                      </a:schemeClr>
                    </a:solidFill>
                  </a:tcPr>
                </a:tc>
                <a:tc>
                  <a:txBody>
                    <a:bodyPr/>
                    <a:lstStyle/>
                    <a:p>
                      <a:pPr algn="ctr"/>
                      <a:r>
                        <a:rPr lang="en-GB" sz="1600" dirty="0"/>
                        <a:t>3</a:t>
                      </a:r>
                      <a:endParaRPr lang="en-GB" dirty="0"/>
                    </a:p>
                  </a:txBody>
                  <a:tcPr>
                    <a:solidFill>
                      <a:schemeClr val="accent6">
                        <a:lumMod val="40000"/>
                        <a:lumOff val="60000"/>
                      </a:schemeClr>
                    </a:solidFill>
                  </a:tcPr>
                </a:tc>
                <a:tc>
                  <a:txBody>
                    <a:bodyPr/>
                    <a:lstStyle/>
                    <a:p>
                      <a:pPr algn="ctr"/>
                      <a:r>
                        <a:rPr lang="en-GB" dirty="0"/>
                        <a:t>Linux</a:t>
                      </a:r>
                    </a:p>
                  </a:txBody>
                  <a:tcPr>
                    <a:solidFill>
                      <a:schemeClr val="accent6">
                        <a:lumMod val="40000"/>
                        <a:lumOff val="60000"/>
                      </a:schemeClr>
                    </a:solidFill>
                  </a:tcPr>
                </a:tc>
                <a:extLst>
                  <a:ext uri="{0D108BD9-81ED-4DB2-BD59-A6C34878D82A}">
                    <a16:rowId xmlns:a16="http://schemas.microsoft.com/office/drawing/2014/main" val="1734854310"/>
                  </a:ext>
                </a:extLst>
              </a:tr>
              <a:tr h="310911">
                <a:tc>
                  <a:txBody>
                    <a:bodyPr/>
                    <a:lstStyle/>
                    <a:p>
                      <a:pPr lvl="0" algn="ctr"/>
                      <a:r>
                        <a:rPr lang="en-GB" dirty="0"/>
                        <a:t>3</a:t>
                      </a:r>
                    </a:p>
                  </a:txBody>
                  <a:tcPr>
                    <a:solidFill>
                      <a:schemeClr val="accent6">
                        <a:lumMod val="40000"/>
                        <a:lumOff val="60000"/>
                      </a:schemeClr>
                    </a:solidFill>
                  </a:tcPr>
                </a:tc>
                <a:tc>
                  <a:txBody>
                    <a:bodyPr/>
                    <a:lstStyle/>
                    <a:p>
                      <a:pPr algn="ctr"/>
                      <a:r>
                        <a:rPr lang="en-GB" dirty="0"/>
                        <a:t>Sofi</a:t>
                      </a:r>
                    </a:p>
                  </a:txBody>
                  <a:tcPr>
                    <a:solidFill>
                      <a:schemeClr val="accent6">
                        <a:lumMod val="40000"/>
                        <a:lumOff val="60000"/>
                      </a:schemeClr>
                    </a:solidFill>
                  </a:tcPr>
                </a:tc>
                <a:tc>
                  <a:txBody>
                    <a:bodyPr/>
                    <a:lstStyle/>
                    <a:p>
                      <a:pPr algn="ctr"/>
                      <a:r>
                        <a:rPr lang="en-GB" dirty="0" err="1"/>
                        <a:t>Chirva</a:t>
                      </a:r>
                      <a:endParaRPr lang="en-GB" dirty="0"/>
                    </a:p>
                  </a:txBody>
                  <a:tcPr>
                    <a:solidFill>
                      <a:schemeClr val="accent6">
                        <a:lumMod val="40000"/>
                        <a:lumOff val="60000"/>
                      </a:schemeClr>
                    </a:solidFill>
                  </a:tcPr>
                </a:tc>
                <a:tc>
                  <a:txBody>
                    <a:bodyPr/>
                    <a:lstStyle/>
                    <a:p>
                      <a:pPr algn="ctr"/>
                      <a:r>
                        <a:rPr lang="en-GB" dirty="0"/>
                        <a:t>4</a:t>
                      </a:r>
                    </a:p>
                  </a:txBody>
                  <a:tcPr>
                    <a:solidFill>
                      <a:schemeClr val="accent6">
                        <a:lumMod val="40000"/>
                        <a:lumOff val="60000"/>
                      </a:schemeClr>
                    </a:solidFill>
                  </a:tcPr>
                </a:tc>
                <a:tc>
                  <a:txBody>
                    <a:bodyPr/>
                    <a:lstStyle/>
                    <a:p>
                      <a:pPr algn="ctr"/>
                      <a:r>
                        <a:rPr lang="en-GB" sz="1800" dirty="0"/>
                        <a:t>macOS</a:t>
                      </a:r>
                      <a:endParaRPr lang="en-GB" dirty="0"/>
                    </a:p>
                  </a:txBody>
                  <a:tcPr>
                    <a:solidFill>
                      <a:schemeClr val="accent6">
                        <a:lumMod val="40000"/>
                        <a:lumOff val="60000"/>
                      </a:schemeClr>
                    </a:solidFill>
                  </a:tcPr>
                </a:tc>
                <a:extLst>
                  <a:ext uri="{0D108BD9-81ED-4DB2-BD59-A6C34878D82A}">
                    <a16:rowId xmlns:a16="http://schemas.microsoft.com/office/drawing/2014/main" val="949094930"/>
                  </a:ext>
                </a:extLst>
              </a:tr>
            </a:tbl>
          </a:graphicData>
        </a:graphic>
      </p:graphicFrame>
      <p:graphicFrame>
        <p:nvGraphicFramePr>
          <p:cNvPr id="9" name="Table 8">
            <a:extLst>
              <a:ext uri="{FF2B5EF4-FFF2-40B4-BE49-F238E27FC236}">
                <a16:creationId xmlns:a16="http://schemas.microsoft.com/office/drawing/2014/main" id="{1D348113-031D-5910-759E-0BF25E236FA6}"/>
              </a:ext>
            </a:extLst>
          </p:cNvPr>
          <p:cNvGraphicFramePr>
            <a:graphicFrameLocks noGrp="1"/>
          </p:cNvGraphicFramePr>
          <p:nvPr>
            <p:extLst>
              <p:ext uri="{D42A27DB-BD31-4B8C-83A1-F6EECF244321}">
                <p14:modId xmlns:p14="http://schemas.microsoft.com/office/powerpoint/2010/main" val="264529659"/>
              </p:ext>
            </p:extLst>
          </p:nvPr>
        </p:nvGraphicFramePr>
        <p:xfrm>
          <a:off x="680321" y="4975378"/>
          <a:ext cx="2871458" cy="1828800"/>
        </p:xfrm>
        <a:graphic>
          <a:graphicData uri="http://schemas.openxmlformats.org/drawingml/2006/table">
            <a:tbl>
              <a:tblPr firstRow="1" bandRow="1">
                <a:tableStyleId>{5C22544A-7EE6-4342-B048-85BDC9FD1C3A}</a:tableStyleId>
              </a:tblPr>
              <a:tblGrid>
                <a:gridCol w="1021757">
                  <a:extLst>
                    <a:ext uri="{9D8B030D-6E8A-4147-A177-3AD203B41FA5}">
                      <a16:colId xmlns:a16="http://schemas.microsoft.com/office/drawing/2014/main" val="3949301401"/>
                    </a:ext>
                  </a:extLst>
                </a:gridCol>
                <a:gridCol w="1849701">
                  <a:extLst>
                    <a:ext uri="{9D8B030D-6E8A-4147-A177-3AD203B41FA5}">
                      <a16:colId xmlns:a16="http://schemas.microsoft.com/office/drawing/2014/main" val="4278716902"/>
                    </a:ext>
                  </a:extLst>
                </a:gridCol>
              </a:tblGrid>
              <a:tr h="3273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err="1"/>
                        <a:t>PC_Id</a:t>
                      </a:r>
                      <a:endParaRPr lang="en-GB" dirty="0"/>
                    </a:p>
                  </a:txBody>
                  <a:tcPr>
                    <a:solidFill>
                      <a:srgbClr val="309070"/>
                    </a:solidFill>
                  </a:tcPr>
                </a:tc>
                <a:tc>
                  <a:txBody>
                    <a:bodyPr/>
                    <a:lstStyle/>
                    <a:p>
                      <a:pPr algn="ctr"/>
                      <a:r>
                        <a:rPr lang="en-GB" dirty="0"/>
                        <a:t>OS</a:t>
                      </a:r>
                    </a:p>
                  </a:txBody>
                  <a:tcPr>
                    <a:solidFill>
                      <a:srgbClr val="309070"/>
                    </a:solidFill>
                  </a:tcPr>
                </a:tc>
                <a:extLst>
                  <a:ext uri="{0D108BD9-81ED-4DB2-BD59-A6C34878D82A}">
                    <a16:rowId xmlns:a16="http://schemas.microsoft.com/office/drawing/2014/main" val="781625559"/>
                  </a:ext>
                </a:extLst>
              </a:tr>
              <a:tr h="327328">
                <a:tc>
                  <a:txBody>
                    <a:bodyPr/>
                    <a:lstStyle/>
                    <a:p>
                      <a:pPr lvl="0" algn="ctr"/>
                      <a:r>
                        <a:rPr lang="en-GB" dirty="0"/>
                        <a:t>1</a:t>
                      </a:r>
                    </a:p>
                  </a:txBody>
                  <a:tcPr>
                    <a:solidFill>
                      <a:schemeClr val="accent3">
                        <a:lumMod val="40000"/>
                        <a:lumOff val="60000"/>
                      </a:schemeClr>
                    </a:solidFill>
                  </a:tcPr>
                </a:tc>
                <a:tc>
                  <a:txBody>
                    <a:bodyPr/>
                    <a:lstStyle/>
                    <a:p>
                      <a:pPr algn="ctr"/>
                      <a:r>
                        <a:rPr lang="en-GB" sz="1800" dirty="0"/>
                        <a:t>Windows</a:t>
                      </a:r>
                      <a:endParaRPr lang="en-GB" dirty="0"/>
                    </a:p>
                  </a:txBody>
                  <a:tcPr>
                    <a:solidFill>
                      <a:schemeClr val="accent3">
                        <a:lumMod val="40000"/>
                        <a:lumOff val="60000"/>
                      </a:schemeClr>
                    </a:solidFill>
                  </a:tcPr>
                </a:tc>
                <a:extLst>
                  <a:ext uri="{0D108BD9-81ED-4DB2-BD59-A6C34878D82A}">
                    <a16:rowId xmlns:a16="http://schemas.microsoft.com/office/drawing/2014/main" val="2485794682"/>
                  </a:ext>
                </a:extLst>
              </a:tr>
              <a:tr h="327328">
                <a:tc>
                  <a:txBody>
                    <a:bodyPr/>
                    <a:lstStyle/>
                    <a:p>
                      <a:pPr lvl="0" algn="ctr"/>
                      <a:r>
                        <a:rPr lang="en-GB" dirty="0"/>
                        <a:t>2</a:t>
                      </a:r>
                    </a:p>
                  </a:txBody>
                  <a:tcPr>
                    <a:solidFill>
                      <a:schemeClr val="accent3">
                        <a:lumMod val="40000"/>
                        <a:lumOff val="60000"/>
                      </a:schemeClr>
                    </a:solidFill>
                  </a:tcPr>
                </a:tc>
                <a:tc>
                  <a:txBody>
                    <a:bodyPr/>
                    <a:lstStyle/>
                    <a:p>
                      <a:pPr algn="ctr"/>
                      <a:r>
                        <a:rPr lang="en-GB" sz="1800" dirty="0"/>
                        <a:t>macOS</a:t>
                      </a:r>
                      <a:endParaRPr lang="en-GB" dirty="0"/>
                    </a:p>
                  </a:txBody>
                  <a:tcPr>
                    <a:solidFill>
                      <a:schemeClr val="accent3">
                        <a:lumMod val="40000"/>
                        <a:lumOff val="60000"/>
                      </a:schemeClr>
                    </a:solidFill>
                  </a:tcPr>
                </a:tc>
                <a:extLst>
                  <a:ext uri="{0D108BD9-81ED-4DB2-BD59-A6C34878D82A}">
                    <a16:rowId xmlns:a16="http://schemas.microsoft.com/office/drawing/2014/main" val="1905000469"/>
                  </a:ext>
                </a:extLst>
              </a:tr>
              <a:tr h="327328">
                <a:tc>
                  <a:txBody>
                    <a:bodyPr/>
                    <a:lstStyle/>
                    <a:p>
                      <a:pPr lvl="0" algn="ctr"/>
                      <a:r>
                        <a:rPr lang="en-GB" dirty="0"/>
                        <a:t>3</a:t>
                      </a:r>
                    </a:p>
                  </a:txBody>
                  <a:tcPr>
                    <a:solidFill>
                      <a:schemeClr val="accent3">
                        <a:lumMod val="40000"/>
                        <a:lumOff val="60000"/>
                      </a:schemeClr>
                    </a:solidFill>
                  </a:tcPr>
                </a:tc>
                <a:tc>
                  <a:txBody>
                    <a:bodyPr/>
                    <a:lstStyle/>
                    <a:p>
                      <a:pPr algn="ctr"/>
                      <a:r>
                        <a:rPr lang="en-GB" dirty="0"/>
                        <a:t>Linux</a:t>
                      </a:r>
                    </a:p>
                  </a:txBody>
                  <a:tcPr>
                    <a:solidFill>
                      <a:schemeClr val="accent3">
                        <a:lumMod val="40000"/>
                        <a:lumOff val="60000"/>
                      </a:schemeClr>
                    </a:solidFill>
                  </a:tcPr>
                </a:tc>
                <a:extLst>
                  <a:ext uri="{0D108BD9-81ED-4DB2-BD59-A6C34878D82A}">
                    <a16:rowId xmlns:a16="http://schemas.microsoft.com/office/drawing/2014/main" val="1734854310"/>
                  </a:ext>
                </a:extLst>
              </a:tr>
              <a:tr h="327328">
                <a:tc>
                  <a:txBody>
                    <a:bodyPr/>
                    <a:lstStyle/>
                    <a:p>
                      <a:pPr lvl="0" algn="ctr"/>
                      <a:r>
                        <a:rPr lang="en-GB" dirty="0"/>
                        <a:t>4 </a:t>
                      </a:r>
                    </a:p>
                  </a:txBody>
                  <a:tcPr>
                    <a:solidFill>
                      <a:schemeClr val="accent3">
                        <a:lumMod val="40000"/>
                        <a:lumOff val="60000"/>
                      </a:schemeClr>
                    </a:solidFill>
                  </a:tcPr>
                </a:tc>
                <a:tc>
                  <a:txBody>
                    <a:bodyPr/>
                    <a:lstStyle/>
                    <a:p>
                      <a:pPr algn="ctr"/>
                      <a:r>
                        <a:rPr lang="en-GB" dirty="0"/>
                        <a:t>macOS</a:t>
                      </a:r>
                    </a:p>
                  </a:txBody>
                  <a:tcPr>
                    <a:solidFill>
                      <a:schemeClr val="accent3">
                        <a:lumMod val="40000"/>
                        <a:lumOff val="60000"/>
                      </a:schemeClr>
                    </a:solidFill>
                  </a:tcPr>
                </a:tc>
                <a:extLst>
                  <a:ext uri="{0D108BD9-81ED-4DB2-BD59-A6C34878D82A}">
                    <a16:rowId xmlns:a16="http://schemas.microsoft.com/office/drawing/2014/main" val="4036323203"/>
                  </a:ext>
                </a:extLst>
              </a:tr>
            </a:tbl>
          </a:graphicData>
        </a:graphic>
      </p:graphicFrame>
    </p:spTree>
    <p:extLst>
      <p:ext uri="{BB962C8B-B14F-4D97-AF65-F5344CB8AC3E}">
        <p14:creationId xmlns:p14="http://schemas.microsoft.com/office/powerpoint/2010/main" val="76678292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FC922-70B0-F9E6-369B-710054312349}"/>
              </a:ext>
            </a:extLst>
          </p:cNvPr>
          <p:cNvSpPr>
            <a:spLocks noGrp="1"/>
          </p:cNvSpPr>
          <p:nvPr>
            <p:ph type="title"/>
          </p:nvPr>
        </p:nvSpPr>
        <p:spPr/>
        <p:txBody>
          <a:bodyPr/>
          <a:lstStyle/>
          <a:p>
            <a:r>
              <a:rPr lang="en-GB" b="1" dirty="0"/>
              <a:t>NF3</a:t>
            </a:r>
          </a:p>
        </p:txBody>
      </p:sp>
      <p:sp>
        <p:nvSpPr>
          <p:cNvPr id="3" name="Content Placeholder 2">
            <a:extLst>
              <a:ext uri="{FF2B5EF4-FFF2-40B4-BE49-F238E27FC236}">
                <a16:creationId xmlns:a16="http://schemas.microsoft.com/office/drawing/2014/main" id="{8C401F77-F7B6-2B25-CAE6-6CFA4957DB34}"/>
              </a:ext>
            </a:extLst>
          </p:cNvPr>
          <p:cNvSpPr>
            <a:spLocks noGrp="1"/>
          </p:cNvSpPr>
          <p:nvPr>
            <p:ph idx="1"/>
          </p:nvPr>
        </p:nvSpPr>
        <p:spPr>
          <a:xfrm>
            <a:off x="680321" y="2146042"/>
            <a:ext cx="9613861" cy="3790148"/>
          </a:xfrm>
        </p:spPr>
        <p:txBody>
          <a:bodyPr>
            <a:normAutofit/>
          </a:bodyPr>
          <a:lstStyle/>
          <a:p>
            <a:r>
              <a:rPr lang="uk-UA" sz="2000" dirty="0"/>
              <a:t>NF3 also has the same rules as NF1 and NF2</a:t>
            </a:r>
          </a:p>
          <a:p>
            <a:r>
              <a:rPr lang="uk-UA" sz="2000" dirty="0"/>
              <a:t>No transitive dependency. (No non-key attribute can depend on another non-key attribute)</a:t>
            </a:r>
          </a:p>
          <a:p>
            <a:endParaRPr lang="uk-UA" sz="2000" dirty="0"/>
          </a:p>
          <a:p>
            <a:endParaRPr lang="uk-UA" sz="2000" dirty="0"/>
          </a:p>
        </p:txBody>
      </p:sp>
      <p:graphicFrame>
        <p:nvGraphicFramePr>
          <p:cNvPr id="4" name="Table 3">
            <a:extLst>
              <a:ext uri="{FF2B5EF4-FFF2-40B4-BE49-F238E27FC236}">
                <a16:creationId xmlns:a16="http://schemas.microsoft.com/office/drawing/2014/main" id="{4A4E858D-0639-905F-2A7A-C74289128ADC}"/>
              </a:ext>
            </a:extLst>
          </p:cNvPr>
          <p:cNvGraphicFramePr>
            <a:graphicFrameLocks noGrp="1"/>
          </p:cNvGraphicFramePr>
          <p:nvPr>
            <p:extLst>
              <p:ext uri="{D42A27DB-BD31-4B8C-83A1-F6EECF244321}">
                <p14:modId xmlns:p14="http://schemas.microsoft.com/office/powerpoint/2010/main" val="1866927922"/>
              </p:ext>
            </p:extLst>
          </p:nvPr>
        </p:nvGraphicFramePr>
        <p:xfrm>
          <a:off x="6731160" y="4322210"/>
          <a:ext cx="5015013" cy="1828800"/>
        </p:xfrm>
        <a:graphic>
          <a:graphicData uri="http://schemas.openxmlformats.org/drawingml/2006/table">
            <a:tbl>
              <a:tblPr firstRow="1" bandRow="1">
                <a:tableStyleId>{5C22544A-7EE6-4342-B048-85BDC9FD1C3A}</a:tableStyleId>
              </a:tblPr>
              <a:tblGrid>
                <a:gridCol w="447993">
                  <a:extLst>
                    <a:ext uri="{9D8B030D-6E8A-4147-A177-3AD203B41FA5}">
                      <a16:colId xmlns:a16="http://schemas.microsoft.com/office/drawing/2014/main" val="3949301401"/>
                    </a:ext>
                  </a:extLst>
                </a:gridCol>
                <a:gridCol w="835471">
                  <a:extLst>
                    <a:ext uri="{9D8B030D-6E8A-4147-A177-3AD203B41FA5}">
                      <a16:colId xmlns:a16="http://schemas.microsoft.com/office/drawing/2014/main" val="4278716902"/>
                    </a:ext>
                  </a:extLst>
                </a:gridCol>
                <a:gridCol w="1311346">
                  <a:extLst>
                    <a:ext uri="{9D8B030D-6E8A-4147-A177-3AD203B41FA5}">
                      <a16:colId xmlns:a16="http://schemas.microsoft.com/office/drawing/2014/main" val="117177447"/>
                    </a:ext>
                  </a:extLst>
                </a:gridCol>
                <a:gridCol w="909851">
                  <a:extLst>
                    <a:ext uri="{9D8B030D-6E8A-4147-A177-3AD203B41FA5}">
                      <a16:colId xmlns:a16="http://schemas.microsoft.com/office/drawing/2014/main" val="363622459"/>
                    </a:ext>
                  </a:extLst>
                </a:gridCol>
                <a:gridCol w="1510352">
                  <a:extLst>
                    <a:ext uri="{9D8B030D-6E8A-4147-A177-3AD203B41FA5}">
                      <a16:colId xmlns:a16="http://schemas.microsoft.com/office/drawing/2014/main" val="2970136821"/>
                    </a:ext>
                  </a:extLst>
                </a:gridCol>
              </a:tblGrid>
              <a:tr h="310911">
                <a:tc>
                  <a:txBody>
                    <a:bodyPr/>
                    <a:lstStyle/>
                    <a:p>
                      <a:pPr algn="ctr"/>
                      <a:r>
                        <a:rPr lang="en-GB" dirty="0"/>
                        <a:t>Id</a:t>
                      </a:r>
                    </a:p>
                  </a:txBody>
                  <a:tcPr>
                    <a:solidFill>
                      <a:srgbClr val="C00000"/>
                    </a:solidFill>
                  </a:tcPr>
                </a:tc>
                <a:tc>
                  <a:txBody>
                    <a:bodyPr/>
                    <a:lstStyle/>
                    <a:p>
                      <a:pPr algn="ctr"/>
                      <a:r>
                        <a:rPr lang="en-GB" dirty="0"/>
                        <a:t>Name</a:t>
                      </a:r>
                    </a:p>
                  </a:txBody>
                  <a:tcPr>
                    <a:solidFill>
                      <a:srgbClr val="C00000"/>
                    </a:solidFill>
                  </a:tcPr>
                </a:tc>
                <a:tc>
                  <a:txBody>
                    <a:bodyPr/>
                    <a:lstStyle/>
                    <a:p>
                      <a:pPr algn="ctr"/>
                      <a:r>
                        <a:rPr lang="en-GB" dirty="0"/>
                        <a:t>Surname</a:t>
                      </a:r>
                    </a:p>
                  </a:txBody>
                  <a:tcPr>
                    <a:solidFill>
                      <a:srgbClr val="C00000"/>
                    </a:solidFill>
                  </a:tcPr>
                </a:tc>
                <a:tc>
                  <a:txBody>
                    <a:bodyPr/>
                    <a:lstStyle/>
                    <a:p>
                      <a:pPr algn="ctr"/>
                      <a:r>
                        <a:rPr lang="en-GB" dirty="0" err="1"/>
                        <a:t>PC_Id</a:t>
                      </a:r>
                      <a:endParaRPr lang="en-GB" dirty="0"/>
                    </a:p>
                  </a:txBody>
                  <a:tcPr>
                    <a:solidFill>
                      <a:srgbClr val="C00000"/>
                    </a:solidFill>
                  </a:tcPr>
                </a:tc>
                <a:tc>
                  <a:txBody>
                    <a:bodyPr/>
                    <a:lstStyle/>
                    <a:p>
                      <a:pPr algn="ctr"/>
                      <a:r>
                        <a:rPr lang="en-GB" dirty="0"/>
                        <a:t>OS</a:t>
                      </a:r>
                    </a:p>
                  </a:txBody>
                  <a:tcPr>
                    <a:solidFill>
                      <a:srgbClr val="C00000"/>
                    </a:solidFill>
                  </a:tcPr>
                </a:tc>
                <a:extLst>
                  <a:ext uri="{0D108BD9-81ED-4DB2-BD59-A6C34878D82A}">
                    <a16:rowId xmlns:a16="http://schemas.microsoft.com/office/drawing/2014/main" val="781625559"/>
                  </a:ext>
                </a:extLst>
              </a:tr>
              <a:tr h="310911">
                <a:tc>
                  <a:txBody>
                    <a:bodyPr/>
                    <a:lstStyle/>
                    <a:p>
                      <a:pPr lvl="0" algn="ctr"/>
                      <a:r>
                        <a:rPr lang="en-GB" dirty="0"/>
                        <a:t>1</a:t>
                      </a:r>
                    </a:p>
                  </a:txBody>
                  <a:tcPr>
                    <a:solidFill>
                      <a:schemeClr val="accent6">
                        <a:lumMod val="40000"/>
                        <a:lumOff val="60000"/>
                      </a:schemeClr>
                    </a:solidFill>
                  </a:tcPr>
                </a:tc>
                <a:tc>
                  <a:txBody>
                    <a:bodyPr/>
                    <a:lstStyle/>
                    <a:p>
                      <a:pPr algn="ctr"/>
                      <a:r>
                        <a:rPr lang="en-GB" dirty="0"/>
                        <a:t>Ivan</a:t>
                      </a:r>
                    </a:p>
                  </a:txBody>
                  <a:tcPr>
                    <a:solidFill>
                      <a:schemeClr val="accent6">
                        <a:lumMod val="40000"/>
                        <a:lumOff val="60000"/>
                      </a:schemeClr>
                    </a:solidFill>
                  </a:tcPr>
                </a:tc>
                <a:tc>
                  <a:txBody>
                    <a:bodyPr/>
                    <a:lstStyle/>
                    <a:p>
                      <a:pPr algn="ctr"/>
                      <a:r>
                        <a:rPr lang="en-GB" dirty="0"/>
                        <a:t>Korba</a:t>
                      </a:r>
                    </a:p>
                  </a:txBody>
                  <a:tcPr>
                    <a:solidFill>
                      <a:schemeClr val="accent6">
                        <a:lumMod val="40000"/>
                        <a:lumOff val="60000"/>
                      </a:schemeClr>
                    </a:solidFill>
                  </a:tcPr>
                </a:tc>
                <a:tc>
                  <a:txBody>
                    <a:bodyPr/>
                    <a:lstStyle/>
                    <a:p>
                      <a:pPr algn="ctr"/>
                      <a:r>
                        <a:rPr lang="en-GB" sz="1600" dirty="0"/>
                        <a:t>1</a:t>
                      </a:r>
                    </a:p>
                  </a:txBody>
                  <a:tcPr>
                    <a:solidFill>
                      <a:schemeClr val="accent6">
                        <a:lumMod val="40000"/>
                        <a:lumOff val="60000"/>
                      </a:schemeClr>
                    </a:solidFill>
                  </a:tcPr>
                </a:tc>
                <a:tc>
                  <a:txBody>
                    <a:bodyPr/>
                    <a:lstStyle/>
                    <a:p>
                      <a:pPr algn="ctr"/>
                      <a:r>
                        <a:rPr lang="en-GB" sz="1600" dirty="0"/>
                        <a:t>Windows</a:t>
                      </a:r>
                    </a:p>
                  </a:txBody>
                  <a:tcPr>
                    <a:solidFill>
                      <a:schemeClr val="accent6">
                        <a:lumMod val="40000"/>
                        <a:lumOff val="60000"/>
                      </a:schemeClr>
                    </a:solidFill>
                  </a:tcPr>
                </a:tc>
                <a:extLst>
                  <a:ext uri="{0D108BD9-81ED-4DB2-BD59-A6C34878D82A}">
                    <a16:rowId xmlns:a16="http://schemas.microsoft.com/office/drawing/2014/main" val="2485794682"/>
                  </a:ext>
                </a:extLst>
              </a:tr>
              <a:tr h="310911">
                <a:tc>
                  <a:txBody>
                    <a:bodyPr/>
                    <a:lstStyle/>
                    <a:p>
                      <a:pPr lvl="0" algn="ctr"/>
                      <a:r>
                        <a:rPr lang="en-GB" dirty="0"/>
                        <a:t>2</a:t>
                      </a:r>
                    </a:p>
                  </a:txBody>
                  <a:tcPr>
                    <a:solidFill>
                      <a:schemeClr val="accent6">
                        <a:lumMod val="40000"/>
                        <a:lumOff val="60000"/>
                      </a:schemeClr>
                    </a:solidFill>
                  </a:tcPr>
                </a:tc>
                <a:tc>
                  <a:txBody>
                    <a:bodyPr/>
                    <a:lstStyle/>
                    <a:p>
                      <a:pPr algn="ctr"/>
                      <a:r>
                        <a:rPr lang="en-GB" dirty="0"/>
                        <a:t>Alex</a:t>
                      </a:r>
                    </a:p>
                  </a:txBody>
                  <a:tcPr>
                    <a:solidFill>
                      <a:schemeClr val="accent6">
                        <a:lumMod val="40000"/>
                        <a:lumOff val="60000"/>
                      </a:schemeClr>
                    </a:solidFill>
                  </a:tcPr>
                </a:tc>
                <a:tc>
                  <a:txBody>
                    <a:bodyPr/>
                    <a:lstStyle/>
                    <a:p>
                      <a:pPr algn="ctr"/>
                      <a:r>
                        <a:rPr lang="en-GB" dirty="0" err="1"/>
                        <a:t>Katchenko</a:t>
                      </a:r>
                      <a:endParaRPr lang="en-GB" dirty="0"/>
                    </a:p>
                  </a:txBody>
                  <a:tcPr>
                    <a:solidFill>
                      <a:schemeClr val="accent6">
                        <a:lumMod val="40000"/>
                        <a:lumOff val="60000"/>
                      </a:schemeClr>
                    </a:solidFill>
                  </a:tcPr>
                </a:tc>
                <a:tc>
                  <a:txBody>
                    <a:bodyPr/>
                    <a:lstStyle/>
                    <a:p>
                      <a:pPr algn="ctr"/>
                      <a:r>
                        <a:rPr lang="en-GB" sz="1600" dirty="0"/>
                        <a:t>2</a:t>
                      </a:r>
                    </a:p>
                  </a:txBody>
                  <a:tcPr>
                    <a:solidFill>
                      <a:schemeClr val="accent6">
                        <a:lumMod val="40000"/>
                        <a:lumOff val="60000"/>
                      </a:schemeClr>
                    </a:solidFill>
                  </a:tcPr>
                </a:tc>
                <a:tc>
                  <a:txBody>
                    <a:bodyPr/>
                    <a:lstStyle/>
                    <a:p>
                      <a:pPr algn="ctr"/>
                      <a:r>
                        <a:rPr lang="en-GB" sz="1800" dirty="0"/>
                        <a:t>macOS</a:t>
                      </a:r>
                      <a:endParaRPr lang="en-GB" sz="1600" dirty="0"/>
                    </a:p>
                  </a:txBody>
                  <a:tcPr>
                    <a:solidFill>
                      <a:schemeClr val="accent6">
                        <a:lumMod val="40000"/>
                        <a:lumOff val="60000"/>
                      </a:schemeClr>
                    </a:solidFill>
                  </a:tcPr>
                </a:tc>
                <a:extLst>
                  <a:ext uri="{0D108BD9-81ED-4DB2-BD59-A6C34878D82A}">
                    <a16:rowId xmlns:a16="http://schemas.microsoft.com/office/drawing/2014/main" val="1905000469"/>
                  </a:ext>
                </a:extLst>
              </a:tr>
              <a:tr h="0">
                <a:tc>
                  <a:txBody>
                    <a:bodyPr/>
                    <a:lstStyle/>
                    <a:p>
                      <a:pPr lvl="0" algn="ctr"/>
                      <a:r>
                        <a:rPr lang="en-GB" dirty="0"/>
                        <a:t>3</a:t>
                      </a:r>
                    </a:p>
                  </a:txBody>
                  <a:tcPr>
                    <a:solidFill>
                      <a:schemeClr val="accent6">
                        <a:lumMod val="40000"/>
                        <a:lumOff val="60000"/>
                      </a:schemeClr>
                    </a:solidFill>
                  </a:tcPr>
                </a:tc>
                <a:tc>
                  <a:txBody>
                    <a:bodyPr/>
                    <a:lstStyle/>
                    <a:p>
                      <a:pPr algn="ctr"/>
                      <a:r>
                        <a:rPr lang="en-GB" dirty="0"/>
                        <a:t>Sofi</a:t>
                      </a:r>
                    </a:p>
                  </a:txBody>
                  <a:tcPr>
                    <a:solidFill>
                      <a:schemeClr val="accent6">
                        <a:lumMod val="40000"/>
                        <a:lumOff val="60000"/>
                      </a:schemeClr>
                    </a:solidFill>
                  </a:tcPr>
                </a:tc>
                <a:tc>
                  <a:txBody>
                    <a:bodyPr/>
                    <a:lstStyle/>
                    <a:p>
                      <a:pPr algn="ctr"/>
                      <a:r>
                        <a:rPr lang="en-GB" dirty="0" err="1"/>
                        <a:t>Chirva</a:t>
                      </a:r>
                      <a:endParaRPr lang="en-GB" dirty="0"/>
                    </a:p>
                  </a:txBody>
                  <a:tcPr>
                    <a:solidFill>
                      <a:schemeClr val="accent6">
                        <a:lumMod val="40000"/>
                        <a:lumOff val="60000"/>
                      </a:schemeClr>
                    </a:solidFill>
                  </a:tcPr>
                </a:tc>
                <a:tc>
                  <a:txBody>
                    <a:bodyPr/>
                    <a:lstStyle/>
                    <a:p>
                      <a:pPr algn="ctr"/>
                      <a:r>
                        <a:rPr lang="en-GB" sz="1600" dirty="0"/>
                        <a:t>3</a:t>
                      </a:r>
                      <a:endParaRPr lang="en-GB" dirty="0"/>
                    </a:p>
                  </a:txBody>
                  <a:tcPr>
                    <a:solidFill>
                      <a:schemeClr val="accent6">
                        <a:lumMod val="40000"/>
                        <a:lumOff val="60000"/>
                      </a:schemeClr>
                    </a:solidFill>
                  </a:tcPr>
                </a:tc>
                <a:tc>
                  <a:txBody>
                    <a:bodyPr/>
                    <a:lstStyle/>
                    <a:p>
                      <a:pPr algn="ctr"/>
                      <a:r>
                        <a:rPr lang="en-GB" dirty="0"/>
                        <a:t>Linux</a:t>
                      </a:r>
                    </a:p>
                  </a:txBody>
                  <a:tcPr>
                    <a:solidFill>
                      <a:schemeClr val="accent6">
                        <a:lumMod val="40000"/>
                        <a:lumOff val="60000"/>
                      </a:schemeClr>
                    </a:solidFill>
                  </a:tcPr>
                </a:tc>
                <a:extLst>
                  <a:ext uri="{0D108BD9-81ED-4DB2-BD59-A6C34878D82A}">
                    <a16:rowId xmlns:a16="http://schemas.microsoft.com/office/drawing/2014/main" val="1734854310"/>
                  </a:ext>
                </a:extLst>
              </a:tr>
              <a:tr h="310911">
                <a:tc>
                  <a:txBody>
                    <a:bodyPr/>
                    <a:lstStyle/>
                    <a:p>
                      <a:pPr lvl="0" algn="ctr"/>
                      <a:r>
                        <a:rPr lang="uk-UA" dirty="0"/>
                        <a:t>4</a:t>
                      </a:r>
                      <a:endParaRPr lang="en-GB" dirty="0"/>
                    </a:p>
                  </a:txBody>
                  <a:tcPr>
                    <a:solidFill>
                      <a:schemeClr val="accent6">
                        <a:lumMod val="40000"/>
                        <a:lumOff val="60000"/>
                      </a:schemeClr>
                    </a:solidFill>
                  </a:tcPr>
                </a:tc>
                <a:tc>
                  <a:txBody>
                    <a:bodyPr/>
                    <a:lstStyle/>
                    <a:p>
                      <a:pPr algn="ctr"/>
                      <a:r>
                        <a:rPr lang="en-GB" dirty="0"/>
                        <a:t>Bob</a:t>
                      </a:r>
                    </a:p>
                  </a:txBody>
                  <a:tcPr>
                    <a:solidFill>
                      <a:schemeClr val="accent6">
                        <a:lumMod val="40000"/>
                        <a:lumOff val="60000"/>
                      </a:schemeClr>
                    </a:solidFill>
                  </a:tcPr>
                </a:tc>
                <a:tc>
                  <a:txBody>
                    <a:bodyPr/>
                    <a:lstStyle/>
                    <a:p>
                      <a:pPr algn="ctr"/>
                      <a:r>
                        <a:rPr lang="en-GB" dirty="0"/>
                        <a:t>Jonson</a:t>
                      </a:r>
                    </a:p>
                  </a:txBody>
                  <a:tcPr>
                    <a:solidFill>
                      <a:schemeClr val="accent6">
                        <a:lumMod val="40000"/>
                        <a:lumOff val="60000"/>
                      </a:schemeClr>
                    </a:solidFill>
                  </a:tcPr>
                </a:tc>
                <a:tc>
                  <a:txBody>
                    <a:bodyPr/>
                    <a:lstStyle/>
                    <a:p>
                      <a:pPr algn="ctr"/>
                      <a:r>
                        <a:rPr lang="en-GB" dirty="0"/>
                        <a:t>3</a:t>
                      </a:r>
                    </a:p>
                  </a:txBody>
                  <a:tcPr>
                    <a:solidFill>
                      <a:schemeClr val="accent6">
                        <a:lumMod val="40000"/>
                        <a:lumOff val="60000"/>
                      </a:schemeClr>
                    </a:solidFill>
                  </a:tcPr>
                </a:tc>
                <a:tc>
                  <a:txBody>
                    <a:bodyPr/>
                    <a:lstStyle/>
                    <a:p>
                      <a:pPr algn="ctr"/>
                      <a:r>
                        <a:rPr lang="en-GB" dirty="0"/>
                        <a:t>Linux</a:t>
                      </a:r>
                    </a:p>
                  </a:txBody>
                  <a:tcPr>
                    <a:solidFill>
                      <a:schemeClr val="accent6">
                        <a:lumMod val="40000"/>
                        <a:lumOff val="60000"/>
                      </a:schemeClr>
                    </a:solidFill>
                  </a:tcPr>
                </a:tc>
                <a:extLst>
                  <a:ext uri="{0D108BD9-81ED-4DB2-BD59-A6C34878D82A}">
                    <a16:rowId xmlns:a16="http://schemas.microsoft.com/office/drawing/2014/main" val="949094930"/>
                  </a:ext>
                </a:extLst>
              </a:tr>
            </a:tbl>
          </a:graphicData>
        </a:graphic>
      </p:graphicFrame>
      <p:graphicFrame>
        <p:nvGraphicFramePr>
          <p:cNvPr id="5" name="Table 4">
            <a:extLst>
              <a:ext uri="{FF2B5EF4-FFF2-40B4-BE49-F238E27FC236}">
                <a16:creationId xmlns:a16="http://schemas.microsoft.com/office/drawing/2014/main" id="{CAFAFE52-EC66-4FE5-DA77-0E4982BE7EEC}"/>
              </a:ext>
            </a:extLst>
          </p:cNvPr>
          <p:cNvGraphicFramePr>
            <a:graphicFrameLocks noGrp="1"/>
          </p:cNvGraphicFramePr>
          <p:nvPr>
            <p:extLst>
              <p:ext uri="{D42A27DB-BD31-4B8C-83A1-F6EECF244321}">
                <p14:modId xmlns:p14="http://schemas.microsoft.com/office/powerpoint/2010/main" val="2746123423"/>
              </p:ext>
            </p:extLst>
          </p:nvPr>
        </p:nvGraphicFramePr>
        <p:xfrm>
          <a:off x="797257" y="3374519"/>
          <a:ext cx="4733040" cy="1828800"/>
        </p:xfrm>
        <a:graphic>
          <a:graphicData uri="http://schemas.openxmlformats.org/drawingml/2006/table">
            <a:tbl>
              <a:tblPr firstRow="1" bandRow="1">
                <a:tableStyleId>{5C22544A-7EE6-4342-B048-85BDC9FD1C3A}</a:tableStyleId>
              </a:tblPr>
              <a:tblGrid>
                <a:gridCol w="842084">
                  <a:extLst>
                    <a:ext uri="{9D8B030D-6E8A-4147-A177-3AD203B41FA5}">
                      <a16:colId xmlns:a16="http://schemas.microsoft.com/office/drawing/2014/main" val="3949301401"/>
                    </a:ext>
                  </a:extLst>
                </a:gridCol>
                <a:gridCol w="1524436">
                  <a:extLst>
                    <a:ext uri="{9D8B030D-6E8A-4147-A177-3AD203B41FA5}">
                      <a16:colId xmlns:a16="http://schemas.microsoft.com/office/drawing/2014/main" val="4278716902"/>
                    </a:ext>
                  </a:extLst>
                </a:gridCol>
                <a:gridCol w="1399125">
                  <a:extLst>
                    <a:ext uri="{9D8B030D-6E8A-4147-A177-3AD203B41FA5}">
                      <a16:colId xmlns:a16="http://schemas.microsoft.com/office/drawing/2014/main" val="117177447"/>
                    </a:ext>
                  </a:extLst>
                </a:gridCol>
                <a:gridCol w="967395">
                  <a:extLst>
                    <a:ext uri="{9D8B030D-6E8A-4147-A177-3AD203B41FA5}">
                      <a16:colId xmlns:a16="http://schemas.microsoft.com/office/drawing/2014/main" val="363622459"/>
                    </a:ext>
                  </a:extLst>
                </a:gridCol>
              </a:tblGrid>
              <a:tr h="362758">
                <a:tc>
                  <a:txBody>
                    <a:bodyPr/>
                    <a:lstStyle/>
                    <a:p>
                      <a:pPr algn="ctr"/>
                      <a:r>
                        <a:rPr lang="en-GB" dirty="0"/>
                        <a:t>Id</a:t>
                      </a:r>
                    </a:p>
                  </a:txBody>
                  <a:tcPr>
                    <a:solidFill>
                      <a:srgbClr val="309070"/>
                    </a:solidFill>
                  </a:tcPr>
                </a:tc>
                <a:tc>
                  <a:txBody>
                    <a:bodyPr/>
                    <a:lstStyle/>
                    <a:p>
                      <a:pPr algn="ctr"/>
                      <a:r>
                        <a:rPr lang="en-GB" dirty="0"/>
                        <a:t>Name</a:t>
                      </a:r>
                    </a:p>
                  </a:txBody>
                  <a:tcPr>
                    <a:solidFill>
                      <a:srgbClr val="309070"/>
                    </a:solidFill>
                  </a:tcPr>
                </a:tc>
                <a:tc>
                  <a:txBody>
                    <a:bodyPr/>
                    <a:lstStyle/>
                    <a:p>
                      <a:pPr algn="ctr"/>
                      <a:r>
                        <a:rPr lang="en-GB" dirty="0"/>
                        <a:t>Surname</a:t>
                      </a:r>
                    </a:p>
                  </a:txBody>
                  <a:tcPr>
                    <a:solidFill>
                      <a:srgbClr val="309070"/>
                    </a:solidFill>
                  </a:tcPr>
                </a:tc>
                <a:tc>
                  <a:txBody>
                    <a:bodyPr/>
                    <a:lstStyle/>
                    <a:p>
                      <a:pPr algn="ctr"/>
                      <a:r>
                        <a:rPr lang="en-GB" dirty="0" err="1"/>
                        <a:t>PC_Id</a:t>
                      </a:r>
                      <a:endParaRPr lang="en-GB" dirty="0"/>
                    </a:p>
                  </a:txBody>
                  <a:tcPr>
                    <a:solidFill>
                      <a:srgbClr val="309070"/>
                    </a:solidFill>
                  </a:tcPr>
                </a:tc>
                <a:extLst>
                  <a:ext uri="{0D108BD9-81ED-4DB2-BD59-A6C34878D82A}">
                    <a16:rowId xmlns:a16="http://schemas.microsoft.com/office/drawing/2014/main" val="781625559"/>
                  </a:ext>
                </a:extLst>
              </a:tr>
              <a:tr h="362758">
                <a:tc>
                  <a:txBody>
                    <a:bodyPr/>
                    <a:lstStyle/>
                    <a:p>
                      <a:pPr lvl="0" algn="ctr"/>
                      <a:r>
                        <a:rPr lang="en-GB" dirty="0"/>
                        <a:t>1</a:t>
                      </a:r>
                    </a:p>
                  </a:txBody>
                  <a:tcPr>
                    <a:solidFill>
                      <a:schemeClr val="accent3">
                        <a:lumMod val="40000"/>
                        <a:lumOff val="60000"/>
                      </a:schemeClr>
                    </a:solidFill>
                  </a:tcPr>
                </a:tc>
                <a:tc>
                  <a:txBody>
                    <a:bodyPr/>
                    <a:lstStyle/>
                    <a:p>
                      <a:pPr algn="ctr"/>
                      <a:r>
                        <a:rPr lang="en-GB" dirty="0"/>
                        <a:t>Ivan</a:t>
                      </a:r>
                    </a:p>
                  </a:txBody>
                  <a:tcPr>
                    <a:solidFill>
                      <a:schemeClr val="accent3">
                        <a:lumMod val="40000"/>
                        <a:lumOff val="60000"/>
                      </a:schemeClr>
                    </a:solidFill>
                  </a:tcPr>
                </a:tc>
                <a:tc>
                  <a:txBody>
                    <a:bodyPr/>
                    <a:lstStyle/>
                    <a:p>
                      <a:pPr algn="ctr"/>
                      <a:r>
                        <a:rPr lang="en-GB" dirty="0"/>
                        <a:t>Korba</a:t>
                      </a:r>
                    </a:p>
                  </a:txBody>
                  <a:tcPr>
                    <a:solidFill>
                      <a:schemeClr val="accent3">
                        <a:lumMod val="40000"/>
                        <a:lumOff val="60000"/>
                      </a:schemeClr>
                    </a:solidFill>
                  </a:tcPr>
                </a:tc>
                <a:tc>
                  <a:txBody>
                    <a:bodyPr/>
                    <a:lstStyle/>
                    <a:p>
                      <a:pPr algn="ctr"/>
                      <a:r>
                        <a:rPr lang="en-GB" sz="1600" dirty="0"/>
                        <a:t>1</a:t>
                      </a:r>
                    </a:p>
                  </a:txBody>
                  <a:tcPr>
                    <a:solidFill>
                      <a:schemeClr val="accent3">
                        <a:lumMod val="40000"/>
                        <a:lumOff val="60000"/>
                      </a:schemeClr>
                    </a:solidFill>
                  </a:tcPr>
                </a:tc>
                <a:extLst>
                  <a:ext uri="{0D108BD9-81ED-4DB2-BD59-A6C34878D82A}">
                    <a16:rowId xmlns:a16="http://schemas.microsoft.com/office/drawing/2014/main" val="2485794682"/>
                  </a:ext>
                </a:extLst>
              </a:tr>
              <a:tr h="362758">
                <a:tc>
                  <a:txBody>
                    <a:bodyPr/>
                    <a:lstStyle/>
                    <a:p>
                      <a:pPr lvl="0" algn="ctr"/>
                      <a:r>
                        <a:rPr lang="en-GB" dirty="0"/>
                        <a:t>2</a:t>
                      </a:r>
                    </a:p>
                  </a:txBody>
                  <a:tcPr>
                    <a:solidFill>
                      <a:schemeClr val="accent3">
                        <a:lumMod val="40000"/>
                        <a:lumOff val="60000"/>
                      </a:schemeClr>
                    </a:solidFill>
                  </a:tcPr>
                </a:tc>
                <a:tc>
                  <a:txBody>
                    <a:bodyPr/>
                    <a:lstStyle/>
                    <a:p>
                      <a:pPr algn="ctr"/>
                      <a:r>
                        <a:rPr lang="en-GB" dirty="0"/>
                        <a:t>Alex</a:t>
                      </a:r>
                    </a:p>
                  </a:txBody>
                  <a:tcPr>
                    <a:solidFill>
                      <a:schemeClr val="accent3">
                        <a:lumMod val="40000"/>
                        <a:lumOff val="60000"/>
                      </a:schemeClr>
                    </a:solidFill>
                  </a:tcPr>
                </a:tc>
                <a:tc>
                  <a:txBody>
                    <a:bodyPr/>
                    <a:lstStyle/>
                    <a:p>
                      <a:pPr algn="ctr"/>
                      <a:r>
                        <a:rPr lang="en-GB" dirty="0" err="1"/>
                        <a:t>Katchenko</a:t>
                      </a:r>
                      <a:endParaRPr lang="en-GB" dirty="0"/>
                    </a:p>
                  </a:txBody>
                  <a:tcPr>
                    <a:solidFill>
                      <a:schemeClr val="accent3">
                        <a:lumMod val="40000"/>
                        <a:lumOff val="60000"/>
                      </a:schemeClr>
                    </a:solidFill>
                  </a:tcPr>
                </a:tc>
                <a:tc>
                  <a:txBody>
                    <a:bodyPr/>
                    <a:lstStyle/>
                    <a:p>
                      <a:pPr algn="ctr"/>
                      <a:r>
                        <a:rPr lang="en-GB" sz="1600" dirty="0"/>
                        <a:t>2</a:t>
                      </a:r>
                    </a:p>
                  </a:txBody>
                  <a:tcPr>
                    <a:solidFill>
                      <a:schemeClr val="accent3">
                        <a:lumMod val="40000"/>
                        <a:lumOff val="60000"/>
                      </a:schemeClr>
                    </a:solidFill>
                  </a:tcPr>
                </a:tc>
                <a:extLst>
                  <a:ext uri="{0D108BD9-81ED-4DB2-BD59-A6C34878D82A}">
                    <a16:rowId xmlns:a16="http://schemas.microsoft.com/office/drawing/2014/main" val="1905000469"/>
                  </a:ext>
                </a:extLst>
              </a:tr>
              <a:tr h="362758">
                <a:tc>
                  <a:txBody>
                    <a:bodyPr/>
                    <a:lstStyle/>
                    <a:p>
                      <a:pPr lvl="0" algn="ctr"/>
                      <a:r>
                        <a:rPr lang="en-GB" dirty="0"/>
                        <a:t>3</a:t>
                      </a:r>
                    </a:p>
                  </a:txBody>
                  <a:tcPr>
                    <a:solidFill>
                      <a:schemeClr val="accent3">
                        <a:lumMod val="40000"/>
                        <a:lumOff val="60000"/>
                      </a:schemeClr>
                    </a:solidFill>
                  </a:tcPr>
                </a:tc>
                <a:tc>
                  <a:txBody>
                    <a:bodyPr/>
                    <a:lstStyle/>
                    <a:p>
                      <a:pPr algn="ctr"/>
                      <a:r>
                        <a:rPr lang="en-GB" dirty="0"/>
                        <a:t>Sofi</a:t>
                      </a:r>
                    </a:p>
                  </a:txBody>
                  <a:tcPr>
                    <a:solidFill>
                      <a:schemeClr val="accent3">
                        <a:lumMod val="40000"/>
                        <a:lumOff val="60000"/>
                      </a:schemeClr>
                    </a:solidFill>
                  </a:tcPr>
                </a:tc>
                <a:tc>
                  <a:txBody>
                    <a:bodyPr/>
                    <a:lstStyle/>
                    <a:p>
                      <a:pPr algn="ctr"/>
                      <a:r>
                        <a:rPr lang="en-GB" dirty="0" err="1"/>
                        <a:t>Chirva</a:t>
                      </a:r>
                      <a:endParaRPr lang="en-GB" dirty="0"/>
                    </a:p>
                  </a:txBody>
                  <a:tcPr>
                    <a:solidFill>
                      <a:schemeClr val="accent3">
                        <a:lumMod val="40000"/>
                        <a:lumOff val="60000"/>
                      </a:schemeClr>
                    </a:solidFill>
                  </a:tcPr>
                </a:tc>
                <a:tc>
                  <a:txBody>
                    <a:bodyPr/>
                    <a:lstStyle/>
                    <a:p>
                      <a:pPr algn="ctr"/>
                      <a:r>
                        <a:rPr lang="en-GB" sz="1600" dirty="0"/>
                        <a:t>3</a:t>
                      </a:r>
                      <a:endParaRPr lang="en-GB" dirty="0"/>
                    </a:p>
                  </a:txBody>
                  <a:tcPr>
                    <a:solidFill>
                      <a:schemeClr val="accent3">
                        <a:lumMod val="40000"/>
                        <a:lumOff val="60000"/>
                      </a:schemeClr>
                    </a:solidFill>
                  </a:tcPr>
                </a:tc>
                <a:extLst>
                  <a:ext uri="{0D108BD9-81ED-4DB2-BD59-A6C34878D82A}">
                    <a16:rowId xmlns:a16="http://schemas.microsoft.com/office/drawing/2014/main" val="1734854310"/>
                  </a:ext>
                </a:extLst>
              </a:tr>
              <a:tr h="362758">
                <a:tc>
                  <a:txBody>
                    <a:bodyPr/>
                    <a:lstStyle/>
                    <a:p>
                      <a:pPr lvl="0" algn="ctr"/>
                      <a:r>
                        <a:rPr lang="uk-UA" dirty="0"/>
                        <a:t>4</a:t>
                      </a:r>
                      <a:endParaRPr lang="en-GB" dirty="0"/>
                    </a:p>
                  </a:txBody>
                  <a:tcPr>
                    <a:solidFill>
                      <a:schemeClr val="accent3">
                        <a:lumMod val="40000"/>
                        <a:lumOff val="60000"/>
                      </a:schemeClr>
                    </a:solidFill>
                  </a:tcPr>
                </a:tc>
                <a:tc>
                  <a:txBody>
                    <a:bodyPr/>
                    <a:lstStyle/>
                    <a:p>
                      <a:pPr algn="ctr"/>
                      <a:r>
                        <a:rPr lang="en-GB" dirty="0"/>
                        <a:t>Bob</a:t>
                      </a:r>
                    </a:p>
                  </a:txBody>
                  <a:tcPr>
                    <a:solidFill>
                      <a:schemeClr val="accent3">
                        <a:lumMod val="40000"/>
                        <a:lumOff val="60000"/>
                      </a:schemeClr>
                    </a:solidFill>
                  </a:tcPr>
                </a:tc>
                <a:tc>
                  <a:txBody>
                    <a:bodyPr/>
                    <a:lstStyle/>
                    <a:p>
                      <a:pPr algn="ctr"/>
                      <a:r>
                        <a:rPr lang="en-GB" dirty="0"/>
                        <a:t>Jonson</a:t>
                      </a:r>
                    </a:p>
                  </a:txBody>
                  <a:tcPr>
                    <a:solidFill>
                      <a:schemeClr val="accent3">
                        <a:lumMod val="40000"/>
                        <a:lumOff val="60000"/>
                      </a:schemeClr>
                    </a:solidFill>
                  </a:tcPr>
                </a:tc>
                <a:tc>
                  <a:txBody>
                    <a:bodyPr/>
                    <a:lstStyle/>
                    <a:p>
                      <a:pPr algn="ctr"/>
                      <a:r>
                        <a:rPr lang="en-GB" dirty="0"/>
                        <a:t>3</a:t>
                      </a:r>
                    </a:p>
                  </a:txBody>
                  <a:tcPr>
                    <a:solidFill>
                      <a:schemeClr val="accent3">
                        <a:lumMod val="40000"/>
                        <a:lumOff val="60000"/>
                      </a:schemeClr>
                    </a:solidFill>
                  </a:tcPr>
                </a:tc>
                <a:extLst>
                  <a:ext uri="{0D108BD9-81ED-4DB2-BD59-A6C34878D82A}">
                    <a16:rowId xmlns:a16="http://schemas.microsoft.com/office/drawing/2014/main" val="359510194"/>
                  </a:ext>
                </a:extLst>
              </a:tr>
            </a:tbl>
          </a:graphicData>
        </a:graphic>
      </p:graphicFrame>
      <p:graphicFrame>
        <p:nvGraphicFramePr>
          <p:cNvPr id="6" name="Table 5">
            <a:extLst>
              <a:ext uri="{FF2B5EF4-FFF2-40B4-BE49-F238E27FC236}">
                <a16:creationId xmlns:a16="http://schemas.microsoft.com/office/drawing/2014/main" id="{B89A81F0-37C9-6671-5837-02D49EBDA189}"/>
              </a:ext>
            </a:extLst>
          </p:cNvPr>
          <p:cNvGraphicFramePr>
            <a:graphicFrameLocks noGrp="1"/>
          </p:cNvGraphicFramePr>
          <p:nvPr>
            <p:extLst>
              <p:ext uri="{D42A27DB-BD31-4B8C-83A1-F6EECF244321}">
                <p14:modId xmlns:p14="http://schemas.microsoft.com/office/powerpoint/2010/main" val="3536847929"/>
              </p:ext>
            </p:extLst>
          </p:nvPr>
        </p:nvGraphicFramePr>
        <p:xfrm>
          <a:off x="797257" y="5286196"/>
          <a:ext cx="3007936" cy="1463040"/>
        </p:xfrm>
        <a:graphic>
          <a:graphicData uri="http://schemas.openxmlformats.org/drawingml/2006/table">
            <a:tbl>
              <a:tblPr firstRow="1" bandRow="1">
                <a:tableStyleId>{5C22544A-7EE6-4342-B048-85BDC9FD1C3A}</a:tableStyleId>
              </a:tblPr>
              <a:tblGrid>
                <a:gridCol w="1070320">
                  <a:extLst>
                    <a:ext uri="{9D8B030D-6E8A-4147-A177-3AD203B41FA5}">
                      <a16:colId xmlns:a16="http://schemas.microsoft.com/office/drawing/2014/main" val="3949301401"/>
                    </a:ext>
                  </a:extLst>
                </a:gridCol>
                <a:gridCol w="1937616">
                  <a:extLst>
                    <a:ext uri="{9D8B030D-6E8A-4147-A177-3AD203B41FA5}">
                      <a16:colId xmlns:a16="http://schemas.microsoft.com/office/drawing/2014/main" val="4278716902"/>
                    </a:ext>
                  </a:extLst>
                </a:gridCol>
              </a:tblGrid>
              <a:tr h="3146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err="1"/>
                        <a:t>PC_Id</a:t>
                      </a:r>
                      <a:endParaRPr lang="en-GB" dirty="0"/>
                    </a:p>
                  </a:txBody>
                  <a:tcPr>
                    <a:solidFill>
                      <a:srgbClr val="309070"/>
                    </a:solidFill>
                  </a:tcPr>
                </a:tc>
                <a:tc>
                  <a:txBody>
                    <a:bodyPr/>
                    <a:lstStyle/>
                    <a:p>
                      <a:pPr algn="ctr"/>
                      <a:r>
                        <a:rPr lang="en-GB" dirty="0"/>
                        <a:t>OS</a:t>
                      </a:r>
                    </a:p>
                  </a:txBody>
                  <a:tcPr>
                    <a:solidFill>
                      <a:srgbClr val="309070"/>
                    </a:solidFill>
                  </a:tcPr>
                </a:tc>
                <a:extLst>
                  <a:ext uri="{0D108BD9-81ED-4DB2-BD59-A6C34878D82A}">
                    <a16:rowId xmlns:a16="http://schemas.microsoft.com/office/drawing/2014/main" val="781625559"/>
                  </a:ext>
                </a:extLst>
              </a:tr>
              <a:tr h="322362">
                <a:tc>
                  <a:txBody>
                    <a:bodyPr/>
                    <a:lstStyle/>
                    <a:p>
                      <a:pPr lvl="0" algn="ctr"/>
                      <a:r>
                        <a:rPr lang="en-GB" dirty="0"/>
                        <a:t>1</a:t>
                      </a:r>
                    </a:p>
                  </a:txBody>
                  <a:tcPr>
                    <a:solidFill>
                      <a:schemeClr val="accent3">
                        <a:lumMod val="40000"/>
                        <a:lumOff val="60000"/>
                      </a:schemeClr>
                    </a:solidFill>
                  </a:tcPr>
                </a:tc>
                <a:tc>
                  <a:txBody>
                    <a:bodyPr/>
                    <a:lstStyle/>
                    <a:p>
                      <a:pPr algn="ctr"/>
                      <a:r>
                        <a:rPr lang="en-GB" sz="1800" dirty="0"/>
                        <a:t>Windows</a:t>
                      </a:r>
                      <a:endParaRPr lang="en-GB" dirty="0"/>
                    </a:p>
                  </a:txBody>
                  <a:tcPr>
                    <a:solidFill>
                      <a:schemeClr val="accent3">
                        <a:lumMod val="40000"/>
                        <a:lumOff val="60000"/>
                      </a:schemeClr>
                    </a:solidFill>
                  </a:tcPr>
                </a:tc>
                <a:extLst>
                  <a:ext uri="{0D108BD9-81ED-4DB2-BD59-A6C34878D82A}">
                    <a16:rowId xmlns:a16="http://schemas.microsoft.com/office/drawing/2014/main" val="2485794682"/>
                  </a:ext>
                </a:extLst>
              </a:tr>
              <a:tr h="322362">
                <a:tc>
                  <a:txBody>
                    <a:bodyPr/>
                    <a:lstStyle/>
                    <a:p>
                      <a:pPr lvl="0" algn="ctr"/>
                      <a:r>
                        <a:rPr lang="en-GB" dirty="0"/>
                        <a:t>2</a:t>
                      </a:r>
                    </a:p>
                  </a:txBody>
                  <a:tcPr>
                    <a:solidFill>
                      <a:schemeClr val="accent3">
                        <a:lumMod val="40000"/>
                        <a:lumOff val="60000"/>
                      </a:schemeClr>
                    </a:solidFill>
                  </a:tcPr>
                </a:tc>
                <a:tc>
                  <a:txBody>
                    <a:bodyPr/>
                    <a:lstStyle/>
                    <a:p>
                      <a:pPr algn="ctr"/>
                      <a:r>
                        <a:rPr lang="en-GB" sz="1800" dirty="0"/>
                        <a:t>macOS</a:t>
                      </a:r>
                      <a:endParaRPr lang="en-GB" dirty="0"/>
                    </a:p>
                  </a:txBody>
                  <a:tcPr>
                    <a:solidFill>
                      <a:schemeClr val="accent3">
                        <a:lumMod val="40000"/>
                        <a:lumOff val="60000"/>
                      </a:schemeClr>
                    </a:solidFill>
                  </a:tcPr>
                </a:tc>
                <a:extLst>
                  <a:ext uri="{0D108BD9-81ED-4DB2-BD59-A6C34878D82A}">
                    <a16:rowId xmlns:a16="http://schemas.microsoft.com/office/drawing/2014/main" val="1905000469"/>
                  </a:ext>
                </a:extLst>
              </a:tr>
              <a:tr h="322362">
                <a:tc>
                  <a:txBody>
                    <a:bodyPr/>
                    <a:lstStyle/>
                    <a:p>
                      <a:pPr lvl="0" algn="ctr"/>
                      <a:r>
                        <a:rPr lang="en-GB" dirty="0"/>
                        <a:t>3</a:t>
                      </a:r>
                    </a:p>
                  </a:txBody>
                  <a:tcPr>
                    <a:solidFill>
                      <a:schemeClr val="accent3">
                        <a:lumMod val="40000"/>
                        <a:lumOff val="60000"/>
                      </a:schemeClr>
                    </a:solidFill>
                  </a:tcPr>
                </a:tc>
                <a:tc>
                  <a:txBody>
                    <a:bodyPr/>
                    <a:lstStyle/>
                    <a:p>
                      <a:pPr algn="ctr"/>
                      <a:r>
                        <a:rPr lang="en-GB" dirty="0"/>
                        <a:t>Linux</a:t>
                      </a:r>
                    </a:p>
                  </a:txBody>
                  <a:tcPr>
                    <a:solidFill>
                      <a:schemeClr val="accent3">
                        <a:lumMod val="40000"/>
                        <a:lumOff val="60000"/>
                      </a:schemeClr>
                    </a:solidFill>
                  </a:tcPr>
                </a:tc>
                <a:extLst>
                  <a:ext uri="{0D108BD9-81ED-4DB2-BD59-A6C34878D82A}">
                    <a16:rowId xmlns:a16="http://schemas.microsoft.com/office/drawing/2014/main" val="1734854310"/>
                  </a:ext>
                </a:extLst>
              </a:tr>
            </a:tbl>
          </a:graphicData>
        </a:graphic>
      </p:graphicFrame>
    </p:spTree>
    <p:extLst>
      <p:ext uri="{BB962C8B-B14F-4D97-AF65-F5344CB8AC3E}">
        <p14:creationId xmlns:p14="http://schemas.microsoft.com/office/powerpoint/2010/main" val="988937591"/>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 dockstate="right" visibility="0" width="438"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3E697D8-12DC-4657-8695-53AC934C9FAD}">
  <we:reference id="a3b40b4f-8edf-490e-9df1-7e66f93912bf" version="1.2.0.0" store="EXCatalog" storeType="EXCatalog"/>
  <we:alternateReferences>
    <we:reference id="WA104380526" version="1.2.0.0" store="en-US"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09735D50-BC1B-4129-87F7-2F8A74B1600C}">
  <we:reference id="WA200010001" version="1.0.0.1" store="Omex" storeType="OMEX"/>
  <we:alternateReferences>
    <we:reference id="WA200010001" version="1.0.0.1" store="WA200010001"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TM04033917[[fn=Berlin]]</Template>
  <TotalTime>7097</TotalTime>
  <Words>4319</Words>
  <Application>Microsoft Office PowerPoint</Application>
  <PresentationFormat>Widescreen</PresentationFormat>
  <Paragraphs>830</Paragraphs>
  <Slides>100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100</vt:i4>
      </vt:variant>
    </vt:vector>
  </HeadingPairs>
  <TitlesOfParts>
    <vt:vector size="105" baseType="lpstr">
      <vt:lpstr>Arial</vt:lpstr>
      <vt:lpstr>Calibri</vt:lpstr>
      <vt:lpstr>Trebuchet MS</vt:lpstr>
      <vt:lpstr>Trebuchet MS (Body)</vt:lpstr>
      <vt:lpstr>Berlin</vt:lpstr>
      <vt:lpstr>Backend &amp; Database</vt:lpstr>
      <vt:lpstr>Repository Link</vt:lpstr>
      <vt:lpstr>Contents</vt:lpstr>
      <vt:lpstr>PowerPoint Presentation</vt:lpstr>
      <vt:lpstr>.NET</vt:lpstr>
      <vt:lpstr>What is C# ?</vt:lpstr>
      <vt:lpstr>C# Syntax</vt:lpstr>
      <vt:lpstr>Data types</vt:lpstr>
      <vt:lpstr>Code: Data types</vt:lpstr>
      <vt:lpstr>Code: Data types</vt:lpstr>
      <vt:lpstr>Types: Value and Reference</vt:lpstr>
      <vt:lpstr>Code: Value types &amp; Reference types</vt:lpstr>
      <vt:lpstr>Console: Value types &amp; Reference types</vt:lpstr>
      <vt:lpstr>Backend</vt:lpstr>
      <vt:lpstr>Why is the backend important for a website?</vt:lpstr>
      <vt:lpstr>Database</vt:lpstr>
      <vt:lpstr>ASP.NET</vt:lpstr>
      <vt:lpstr>IDE </vt:lpstr>
      <vt:lpstr>Visual Studio</vt:lpstr>
      <vt:lpstr>VS Graphical Interface</vt:lpstr>
      <vt:lpstr>VS Graphical Interface</vt:lpstr>
      <vt:lpstr>Tests — "Test Explorer"</vt:lpstr>
      <vt:lpstr>Client-Server Architecture</vt:lpstr>
      <vt:lpstr>Client-Server Architecture</vt:lpstr>
      <vt:lpstr>HTTP: How Request and Response Work</vt:lpstr>
      <vt:lpstr>Most Common HTTP Method Operations</vt:lpstr>
      <vt:lpstr>HTTP status codes:</vt:lpstr>
      <vt:lpstr>Swagger</vt:lpstr>
      <vt:lpstr>Swagger – List of Endpoints</vt:lpstr>
      <vt:lpstr>Swagger - Get All Projects</vt:lpstr>
      <vt:lpstr>Swagger - Get All Projects</vt:lpstr>
      <vt:lpstr>Swagger - Get All Projects</vt:lpstr>
      <vt:lpstr>Swagger - Update Project</vt:lpstr>
      <vt:lpstr>Contents</vt:lpstr>
      <vt:lpstr>Design: Class Diagram in UML</vt:lpstr>
      <vt:lpstr>Design: Entity-Relationship Diagram</vt:lpstr>
      <vt:lpstr>Endpoint</vt:lpstr>
      <vt:lpstr>Project pattern DTO (Data Transfer Object)</vt:lpstr>
      <vt:lpstr>Приклад використання DTO</vt:lpstr>
      <vt:lpstr>ORM (EF) / Procedure</vt:lpstr>
      <vt:lpstr>Entity Framework</vt:lpstr>
      <vt:lpstr>ORM</vt:lpstr>
      <vt:lpstr>Procedure </vt:lpstr>
      <vt:lpstr>Middleware</vt:lpstr>
      <vt:lpstr>Middleware</vt:lpstr>
      <vt:lpstr>Middleware Pipeline</vt:lpstr>
      <vt:lpstr>Req/Resp HTTP lifecycle – GET All</vt:lpstr>
      <vt:lpstr>Code: Endpoint Get All</vt:lpstr>
      <vt:lpstr>Req/Resp HTTP lifecycle - Get by ID with employees</vt:lpstr>
      <vt:lpstr>Code: Endpoint Get by Id</vt:lpstr>
      <vt:lpstr>Req/Resp HTTP lifecycle - POST</vt:lpstr>
      <vt:lpstr>Code: Endpoint Post</vt:lpstr>
      <vt:lpstr>Req/Resp HTTP lifecycle– PUT</vt:lpstr>
      <vt:lpstr>Code: Endpoint Put</vt:lpstr>
      <vt:lpstr>Req/Resp HTTP lifecycle - DELETE</vt:lpstr>
      <vt:lpstr>Code: Endpoint Delete</vt:lpstr>
      <vt:lpstr>Contents</vt:lpstr>
      <vt:lpstr>Error - 404 Not found </vt:lpstr>
      <vt:lpstr>Code: Error - 404 Not found </vt:lpstr>
      <vt:lpstr>Error – 400 Bad request</vt:lpstr>
      <vt:lpstr>Code: Error – 400 Bad request</vt:lpstr>
      <vt:lpstr>Unit Tests vs Integration Tests</vt:lpstr>
      <vt:lpstr> Testing and the Arrange, Act and Assert (AAA) Pattern  </vt:lpstr>
      <vt:lpstr>Arrange</vt:lpstr>
      <vt:lpstr>Act</vt:lpstr>
      <vt:lpstr>Assert</vt:lpstr>
      <vt:lpstr>Code: Unit test</vt:lpstr>
      <vt:lpstr>Code: Integration test</vt:lpstr>
      <vt:lpstr>Code: Integration test</vt:lpstr>
      <vt:lpstr>PowerPoint Presentation</vt:lpstr>
      <vt:lpstr>SQL &amp; NoSQL</vt:lpstr>
      <vt:lpstr>SQL Database Characteristics</vt:lpstr>
      <vt:lpstr>Breakdown of a Table Structure in SQL</vt:lpstr>
      <vt:lpstr>Popular SQL Database Systems</vt:lpstr>
      <vt:lpstr>NoSQL Database Characteristics</vt:lpstr>
      <vt:lpstr>Popular NoSQL Database Systems</vt:lpstr>
      <vt:lpstr>Relational Database Management System</vt:lpstr>
      <vt:lpstr>Database Server</vt:lpstr>
      <vt:lpstr>SQL and Its Syntax</vt:lpstr>
      <vt:lpstr>INSERT INTO</vt:lpstr>
      <vt:lpstr>Contents</vt:lpstr>
      <vt:lpstr>Logical and Physical Execution of SQL Statements</vt:lpstr>
      <vt:lpstr>1. SELECT  </vt:lpstr>
      <vt:lpstr>1.1. SELECT </vt:lpstr>
      <vt:lpstr>2. WHERE</vt:lpstr>
      <vt:lpstr>3. ORDER BY</vt:lpstr>
      <vt:lpstr>4. GROUP BY</vt:lpstr>
      <vt:lpstr>Joining tables</vt:lpstr>
      <vt:lpstr>5. LEFT JOIN</vt:lpstr>
      <vt:lpstr>5.1. RIGHT JOIN</vt:lpstr>
      <vt:lpstr>5.2. FULL JOIN</vt:lpstr>
      <vt:lpstr>6. STORED PROCEDURE (PROCEDURE)</vt:lpstr>
      <vt:lpstr>6.1 STORED PROCEDURES (PROCEDURE)</vt:lpstr>
      <vt:lpstr>7. (CTE) Common Table Expression</vt:lpstr>
      <vt:lpstr>7.1. (CTE) Common Table Expression</vt:lpstr>
      <vt:lpstr>Normalization</vt:lpstr>
      <vt:lpstr>Why is database normalization needed?</vt:lpstr>
      <vt:lpstr>NF1 </vt:lpstr>
      <vt:lpstr>NF2</vt:lpstr>
      <vt:lpstr>NF3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Ruslan Pidhainyi</dc:creator>
  <cp:lastModifiedBy>Ruslan Pidhainyi</cp:lastModifiedBy>
  <cp:revision>684</cp:revision>
  <dcterms:created xsi:type="dcterms:W3CDTF">2025-07-02T07:12:02Z</dcterms:created>
  <dcterms:modified xsi:type="dcterms:W3CDTF">2026-06-06T11:11:49Z</dcterms:modified>
</cp:coreProperties>
</file>